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6" r:id="rId1"/>
    <p:sldMasterId id="2147483840" r:id="rId2"/>
  </p:sldMasterIdLst>
  <p:notesMasterIdLst>
    <p:notesMasterId r:id="rId44"/>
  </p:notesMasterIdLst>
  <p:sldIdLst>
    <p:sldId id="1541" r:id="rId3"/>
    <p:sldId id="1773" r:id="rId4"/>
    <p:sldId id="1712" r:id="rId5"/>
    <p:sldId id="1792" r:id="rId6"/>
    <p:sldId id="1789" r:id="rId7"/>
    <p:sldId id="1793" r:id="rId8"/>
    <p:sldId id="1794" r:id="rId9"/>
    <p:sldId id="1799" r:id="rId10"/>
    <p:sldId id="1800" r:id="rId11"/>
    <p:sldId id="1801" r:id="rId12"/>
    <p:sldId id="1802" r:id="rId13"/>
    <p:sldId id="1803" r:id="rId14"/>
    <p:sldId id="1804" r:id="rId15"/>
    <p:sldId id="1805" r:id="rId16"/>
    <p:sldId id="1808" r:id="rId17"/>
    <p:sldId id="1810" r:id="rId18"/>
    <p:sldId id="1809" r:id="rId19"/>
    <p:sldId id="1811" r:id="rId20"/>
    <p:sldId id="1812" r:id="rId21"/>
    <p:sldId id="1813" r:id="rId22"/>
    <p:sldId id="1814" r:id="rId23"/>
    <p:sldId id="1815" r:id="rId24"/>
    <p:sldId id="1816" r:id="rId25"/>
    <p:sldId id="1806" r:id="rId26"/>
    <p:sldId id="1807" r:id="rId27"/>
    <p:sldId id="1817" r:id="rId28"/>
    <p:sldId id="1818" r:id="rId29"/>
    <p:sldId id="1819" r:id="rId30"/>
    <p:sldId id="1820" r:id="rId31"/>
    <p:sldId id="1821" r:id="rId32"/>
    <p:sldId id="1823" r:id="rId33"/>
    <p:sldId id="1822" r:id="rId34"/>
    <p:sldId id="1824" r:id="rId35"/>
    <p:sldId id="1825" r:id="rId36"/>
    <p:sldId id="1826" r:id="rId37"/>
    <p:sldId id="1827" r:id="rId38"/>
    <p:sldId id="1828" r:id="rId39"/>
    <p:sldId id="1830" r:id="rId40"/>
    <p:sldId id="1831" r:id="rId41"/>
    <p:sldId id="1832" r:id="rId42"/>
    <p:sldId id="1833" r:id="rId43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 hwt" initials="hh" lastIdx="1" clrIdx="0">
    <p:extLst>
      <p:ext uri="{19B8F6BF-5375-455C-9EA6-DF929625EA0E}">
        <p15:presenceInfo xmlns:p15="http://schemas.microsoft.com/office/powerpoint/2012/main" userId="31ad2c1f73f72afa" providerId="Windows Live"/>
      </p:ext>
    </p:extLst>
  </p:cmAuthor>
  <p:cmAuthor id="2" name="HAN" initials="H" lastIdx="3" clrIdx="1">
    <p:extLst>
      <p:ext uri="{19B8F6BF-5375-455C-9EA6-DF929625EA0E}">
        <p15:presenceInfo xmlns:p15="http://schemas.microsoft.com/office/powerpoint/2012/main" userId="H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FFFF"/>
    <a:srgbClr val="A6E0E0"/>
    <a:srgbClr val="0152A3"/>
    <a:srgbClr val="333399"/>
    <a:srgbClr val="003399"/>
    <a:srgbClr val="FFCCFF"/>
    <a:srgbClr val="0074BF"/>
    <a:srgbClr val="CC33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46" autoAdjust="0"/>
    <p:restoredTop sz="96055" autoAdjust="0"/>
  </p:normalViewPr>
  <p:slideViewPr>
    <p:cSldViewPr>
      <p:cViewPr varScale="1">
        <p:scale>
          <a:sx n="88" d="100"/>
          <a:sy n="88" d="100"/>
        </p:scale>
        <p:origin x="78" y="591"/>
      </p:cViewPr>
      <p:guideLst>
        <p:guide orient="horz" pos="2205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-20084"/>
    </p:cViewPr>
  </p:sorterViewPr>
  <p:notesViewPr>
    <p:cSldViewPr>
      <p:cViewPr varScale="1">
        <p:scale>
          <a:sx n="65" d="100"/>
          <a:sy n="65" d="100"/>
        </p:scale>
        <p:origin x="12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7B49EF33-1BF8-49F7-918D-11EE9F04FB28}" type="datetimeFigureOut">
              <a:rPr lang="zh-CN" altLang="en-US"/>
              <a:pPr>
                <a:defRPr/>
              </a:pPr>
              <a:t>2025/11/10</a:t>
            </a:fld>
            <a:endParaRPr lang="en-US" altLang="zh-CN"/>
          </a:p>
        </p:txBody>
      </p:sp>
      <p:sp>
        <p:nvSpPr>
          <p:cNvPr id="3076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616E1B-D57C-4DD9-8C78-E9F14A888E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04908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BD6B8-9E6D-49A1-BE7C-D7662EE87E6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872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8706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5760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8603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37877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5001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58491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2562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12192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3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0"/>
            <a:ext cx="10862997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27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29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23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08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36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2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48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96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321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2025/11/10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269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9131395" y="6462759"/>
            <a:ext cx="28448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406400" y="76200"/>
            <a:ext cx="72136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3339" y="1206759"/>
            <a:ext cx="11832856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099"/>
            <a:ext cx="12182149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3936" y="148312"/>
            <a:ext cx="11904133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12192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01013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>
                <a:solidFill>
                  <a:srgbClr val="000000"/>
                </a:solidFill>
              </a:rPr>
              <a:pPr/>
              <a:t>2025/11/10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1630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FBBF7-0857-4E0C-8BA6-6E15C623885C}" type="datetime1">
              <a:rPr lang="zh-CN" altLang="en-US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0A3BD-B17F-41BC-AD2B-B1F4D871CD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9260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88401-22E9-4153-B0F5-3C3505E5B3D2}" type="datetime1">
              <a:rPr lang="zh-CN" altLang="en-US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AA37B-31F2-46EE-90A4-68D9AA6A43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20952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CAC6C-B0AD-4F0E-9446-33370F30D5FC}" type="datetime1">
              <a:rPr lang="zh-CN" altLang="en-US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A47DD-4F3B-4B0E-A7D4-817BFF4C49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85926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9184" y="981075"/>
            <a:ext cx="57912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3584" y="981075"/>
            <a:ext cx="57912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99703" y="71438"/>
            <a:ext cx="166370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2345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9AC0E-F239-4395-A14B-CA68D9010451}" type="datetime1">
              <a:rPr lang="zh-CN" altLang="en-US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E5A60-ACBF-4E9D-8250-BA2475CAEA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13424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7D333-2B55-4460-872C-65971AEBE282}" type="datetime1">
              <a:rPr lang="zh-CN" altLang="en-US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155E1-15C7-4BC0-8F47-E13BA6600D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99703" y="71438"/>
            <a:ext cx="166370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3205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15911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ACA26-EDE1-4762-BE66-94A7EAAFB3D1}" type="datetime1">
              <a:rPr lang="zh-CN" altLang="en-US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461BE-3140-4BB3-A330-A3E92F9AD8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30612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41047-FBFB-4E30-BFC4-5930808DCF04}" type="datetime1">
              <a:rPr lang="zh-CN" altLang="en-US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BCEF3C-935F-45BB-9C47-4C73976C44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48714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3EDD8-01BB-47F8-8E6D-2645728DF3F1}" type="datetime1">
              <a:rPr lang="zh-CN" altLang="en-US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F2E81-A0D5-41DE-88A7-2A2FFF4DBF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1880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078384" y="71439"/>
            <a:ext cx="2946400" cy="6391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39184" y="71439"/>
            <a:ext cx="8636000" cy="6391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7B442F-28AC-43F0-93B7-FE355784DBDB}" type="datetime1">
              <a:rPr lang="zh-CN" altLang="en-US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735D7-0ECB-4EE2-86E4-B3A13F216C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37555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184" y="71438"/>
            <a:ext cx="117856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39184" y="981075"/>
            <a:ext cx="57912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3584" y="981075"/>
            <a:ext cx="57912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7A132-778D-41EB-A2E6-EEFB736A1018}" type="datetime1">
              <a:rPr lang="zh-CN" altLang="en-US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7858A-8586-41E6-A722-1234A2DFF6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0185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2025/11/10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2444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67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9184" y="981075"/>
            <a:ext cx="11785600" cy="548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08000" y="6537326"/>
            <a:ext cx="3048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aseline="0">
                <a:latin typeface="Arial" charset="0"/>
              </a:defRPr>
            </a:lvl1pPr>
          </a:lstStyle>
          <a:p>
            <a:pPr>
              <a:defRPr/>
            </a:pPr>
            <a:fld id="{618C75BF-420F-46A9-BC7D-C03727AB3FB9}" type="datetime1">
              <a:rPr lang="zh-CN" altLang="en-US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59200" y="6553200"/>
            <a:ext cx="4267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28000" y="6537326"/>
            <a:ext cx="3657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aseline="0"/>
            </a:lvl1pPr>
          </a:lstStyle>
          <a:p>
            <a:pPr>
              <a:defRPr/>
            </a:pPr>
            <a:fld id="{959C821A-6763-4EB6-8588-90DEC90268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39184" y="71438"/>
            <a:ext cx="117856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 flipV="1">
            <a:off x="239184" y="908050"/>
            <a:ext cx="11808883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131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anose="02030600000101010101" pitchFamily="18" charset="-127"/>
        <a:buChar char="-"/>
        <a:defRPr sz="2400" b="1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1559496" y="2204864"/>
            <a:ext cx="9108504" cy="2160240"/>
          </a:xfrm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Chapter 8-3  </a:t>
            </a:r>
            <a:b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Recursion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Queue and</a:t>
            </a:r>
            <a:b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Character Strings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56039" y="404664"/>
            <a:ext cx="413760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2800" b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计算机系统概论</a:t>
            </a:r>
            <a:endParaRPr lang="en-US" altLang="zh-CN" sz="2800" b="1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to Computing Systems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CS1002A.03</a:t>
            </a: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90C891-C131-444B-9AF7-1A31767C050D}"/>
              </a:ext>
            </a:extLst>
          </p:cNvPr>
          <p:cNvSpPr txBox="1"/>
          <p:nvPr/>
        </p:nvSpPr>
        <p:spPr>
          <a:xfrm>
            <a:off x="4164971" y="5114174"/>
            <a:ext cx="3857594" cy="15806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baseline="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Tahoma" panose="020B0604030504040204" pitchFamily="34" charset="0"/>
              </a:rPr>
              <a:t>苗付友</a:t>
            </a:r>
            <a:endParaRPr lang="en-US" altLang="zh-CN" sz="2800" b="1" baseline="0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mfy@ustc.edu.cn</a:t>
            </a:r>
            <a:br>
              <a:rPr lang="en-US" altLang="zh-CN" sz="14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zh-CN" sz="14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2025 </a:t>
            </a:r>
            <a:r>
              <a:rPr lang="en-US" altLang="zh-CN" sz="14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Fall</a:t>
            </a: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b="1" baseline="0" dirty="0">
              <a:solidFill>
                <a:schemeClr val="bg2">
                  <a:lumMod val="1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baseline="0" dirty="0">
                <a:solidFill>
                  <a:srgbClr val="1F497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计算机科学与技术学院</a:t>
            </a:r>
            <a:endParaRPr lang="en-US" altLang="zh-CN" sz="2800" b="1" baseline="0" dirty="0">
              <a:solidFill>
                <a:srgbClr val="1F497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aseline="0" dirty="0">
                <a:solidFill>
                  <a:srgbClr val="1F497D"/>
                </a:solidFill>
                <a:latin typeface="Calibri"/>
                <a:ea typeface="华文新魏" panose="02010800040101010101" pitchFamily="2" charset="-122"/>
              </a:rPr>
              <a:t>School of Computer Science and Technology</a:t>
            </a:r>
            <a:endParaRPr lang="zh-CN" altLang="en-US" sz="1600" baseline="0" dirty="0">
              <a:solidFill>
                <a:srgbClr val="1F497D"/>
              </a:solidFill>
              <a:latin typeface="Calibri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6172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91798" y="224844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altLang="zh-CN" sz="3200" b="1" baseline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Outline</a:t>
            </a:r>
            <a:endParaRPr lang="zh-CN" altLang="en-US" sz="3200" b="1" baseline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9913" y="2250933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03399"/>
                </a:solidFill>
                <a:latin typeface="微软雅黑" panose="020B0503020204020204" pitchFamily="34" charset="-122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1544" y="2157968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1998182" y="2804988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3740748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383371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A Machine Structure</a:t>
            </a:r>
            <a:r>
              <a:rPr lang="zh-CN" altLang="en-US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von Neumann Model</a:t>
            </a:r>
            <a:r>
              <a:rPr lang="zh-CN" altLang="en-US" sz="2400" b="1" kern="0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 </a:t>
            </a:r>
            <a:endParaRPr lang="en-US" altLang="zh-CN" sz="2400" b="1" baseline="0" dirty="0">
              <a:solidFill>
                <a:srgbClr val="333399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2943469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3036434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1962670" y="35970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1998182" y="360226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9913" y="2250933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lvl="0"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Recursion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852" y="2157968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1998182" y="2804988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7">
            <a:extLst>
              <a:ext uri="{FF2B5EF4-FFF2-40B4-BE49-F238E27FC236}">
                <a16:creationId xmlns:a16="http://schemas.microsoft.com/office/drawing/2014/main" id="{047A8819-B4AD-4244-8485-A1CB09ACB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3740748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27" name="矩形 17">
            <a:extLst>
              <a:ext uri="{FF2B5EF4-FFF2-40B4-BE49-F238E27FC236}">
                <a16:creationId xmlns:a16="http://schemas.microsoft.com/office/drawing/2014/main" id="{E26AD7B7-5D32-472A-9C9B-92B0AB7E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383371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lvl="0"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03399"/>
                </a:solidFill>
                <a:latin typeface="微软雅黑" panose="020B0503020204020204" pitchFamily="34" charset="-122"/>
              </a:rPr>
              <a:t>Character Strings</a:t>
            </a:r>
          </a:p>
        </p:txBody>
      </p:sp>
      <p:sp>
        <p:nvSpPr>
          <p:cNvPr id="36" name="Text Box 17">
            <a:extLst>
              <a:ext uri="{FF2B5EF4-FFF2-40B4-BE49-F238E27FC236}">
                <a16:creationId xmlns:a16="http://schemas.microsoft.com/office/drawing/2014/main" id="{9B45BD7D-C4D7-4601-AD57-FA71F5BB8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2943469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40" name="矩形 17">
            <a:extLst>
              <a:ext uri="{FF2B5EF4-FFF2-40B4-BE49-F238E27FC236}">
                <a16:creationId xmlns:a16="http://schemas.microsoft.com/office/drawing/2014/main" id="{E3124882-A1D5-4906-A753-74527C97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3036434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lvl="0"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The Queue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78863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69EE673B-8A09-4F93-B343-2464F4B7CD26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2025/11/10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50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7BEFEB77-5D07-4107-9B09-F25808391CD6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3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Recursion</a:t>
            </a:r>
            <a:endParaRPr lang="zh-CN" altLang="en-US" b="0" dirty="0"/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/>
              <a:t>Recursion is a mechanism for expressing a function </a:t>
            </a:r>
            <a:r>
              <a:rPr lang="en-US" altLang="zh-CN" b="0" i="1" dirty="0"/>
              <a:t>in terms of itself</a:t>
            </a:r>
            <a:r>
              <a:rPr lang="en-US" altLang="zh-CN" b="0" dirty="0"/>
              <a:t>.</a:t>
            </a:r>
          </a:p>
          <a:p>
            <a:r>
              <a:rPr lang="en-US" altLang="zh-CN" b="0" dirty="0"/>
              <a:t>When used appropriately, the expressive power of recursion is going to save us a lot of headaches</a:t>
            </a:r>
          </a:p>
          <a:p>
            <a:r>
              <a:rPr lang="en-US" altLang="zh-CN" b="0" dirty="0"/>
              <a:t>Otherwise, it results in longer execution time and wasted energy</a:t>
            </a:r>
          </a:p>
        </p:txBody>
      </p:sp>
    </p:spTree>
    <p:extLst>
      <p:ext uri="{BB962C8B-B14F-4D97-AF65-F5344CB8AC3E}">
        <p14:creationId xmlns:p14="http://schemas.microsoft.com/office/powerpoint/2010/main" val="1670161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30C0BE-17F1-4176-B480-2AFE02A86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Bad Example: Factorial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7DDAD0DD-B43F-4BD1-8028-1098B76A19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3831" y="1740223"/>
            <a:ext cx="5644339" cy="4449807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E78F99-0262-4FB3-BC83-648F850F4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D9FB92-4697-43A2-A7AD-D0A5301CA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73C5D8-2914-4F47-BB61-985E2BEC2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6BA975-39A3-4842-ABFF-DC44BCC4E359}"/>
              </a:ext>
            </a:extLst>
          </p:cNvPr>
          <p:cNvSpPr/>
          <p:nvPr/>
        </p:nvSpPr>
        <p:spPr>
          <a:xfrm>
            <a:off x="2063552" y="1052736"/>
            <a:ext cx="3676584" cy="502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dirty="0"/>
              <a:t>To compute n!=n*(n-1)!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288824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C2FB93-CF6F-4709-8D83-E201424E6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dirty="0"/>
              <a:t>FACT       ST R1, Save1       ; </a:t>
            </a:r>
            <a:r>
              <a:rPr lang="en-US" altLang="zh-CN" sz="1800" b="0" dirty="0" err="1">
                <a:solidFill>
                  <a:srgbClr val="0000FF"/>
                </a:solidFill>
              </a:rPr>
              <a:t>Callee</a:t>
            </a:r>
            <a:r>
              <a:rPr lang="en-US" altLang="zh-CN" sz="1800" b="0" dirty="0">
                <a:solidFill>
                  <a:srgbClr val="0000FF"/>
                </a:solidFill>
              </a:rPr>
              <a:t> save R1</a:t>
            </a:r>
            <a:endParaRPr lang="en-US" altLang="zh-CN" b="0" dirty="0">
              <a:solidFill>
                <a:srgbClr val="0000FF"/>
              </a:solidFill>
            </a:endParaRPr>
          </a:p>
          <a:p>
            <a:r>
              <a:rPr lang="en-US" altLang="zh-CN" b="0" dirty="0"/>
              <a:t>               ADD R1,R0,#-1    ; </a:t>
            </a:r>
            <a:r>
              <a:rPr lang="en-US" altLang="zh-CN" sz="1800" b="0" dirty="0">
                <a:solidFill>
                  <a:srgbClr val="0000FF"/>
                </a:solidFill>
              </a:rPr>
              <a:t>Test if R0=1</a:t>
            </a:r>
            <a:endParaRPr lang="en-US" altLang="zh-CN" b="0" dirty="0">
              <a:solidFill>
                <a:srgbClr val="0000FF"/>
              </a:solidFill>
            </a:endParaRPr>
          </a:p>
          <a:p>
            <a:r>
              <a:rPr lang="en-US" altLang="zh-CN" b="0" dirty="0"/>
              <a:t>               </a:t>
            </a:r>
            <a:r>
              <a:rPr lang="en-US" altLang="zh-CN" b="0" dirty="0" err="1"/>
              <a:t>BRz</a:t>
            </a:r>
            <a:r>
              <a:rPr lang="en-US" altLang="zh-CN" b="0" dirty="0"/>
              <a:t> DONE           ; </a:t>
            </a:r>
            <a:r>
              <a:rPr lang="en-US" altLang="zh-CN" sz="1400" b="0" dirty="0">
                <a:solidFill>
                  <a:srgbClr val="0000FF"/>
                </a:solidFill>
              </a:rPr>
              <a:t>If R0=1, R0 also contains (1)!, so we are done</a:t>
            </a:r>
            <a:endParaRPr lang="en-US" altLang="zh-CN" b="0" dirty="0">
              <a:solidFill>
                <a:srgbClr val="0000FF"/>
              </a:solidFill>
            </a:endParaRPr>
          </a:p>
          <a:p>
            <a:r>
              <a:rPr lang="en-US" altLang="zh-CN" b="0" dirty="0"/>
              <a:t>               ADD R1,R0,#</a:t>
            </a:r>
            <a:r>
              <a:rPr lang="en-US" altLang="zh-CN" sz="2000" b="0" dirty="0"/>
              <a:t>0      ; </a:t>
            </a:r>
            <a:r>
              <a:rPr lang="en-US" altLang="zh-CN" sz="1400" b="0" dirty="0">
                <a:solidFill>
                  <a:srgbClr val="0000FF"/>
                </a:solidFill>
              </a:rPr>
              <a:t>Save n in R1, to be used after we compute (n-1)!</a:t>
            </a:r>
            <a:endParaRPr lang="en-US" altLang="zh-CN" sz="2000" b="0" dirty="0">
              <a:solidFill>
                <a:srgbClr val="0000FF"/>
              </a:solidFill>
            </a:endParaRPr>
          </a:p>
          <a:p>
            <a:r>
              <a:rPr lang="en-US" altLang="zh-CN" b="0" dirty="0"/>
              <a:t>               ADD R0,R1, #-1   </a:t>
            </a:r>
            <a:r>
              <a:rPr lang="en-US" altLang="zh-CN" sz="2000" b="0" dirty="0"/>
              <a:t>; </a:t>
            </a:r>
            <a:r>
              <a:rPr lang="en-US" altLang="zh-CN" sz="1600" b="0" dirty="0">
                <a:solidFill>
                  <a:srgbClr val="0000FF"/>
                </a:solidFill>
              </a:rPr>
              <a:t>Set R0 to n-1, and then call FACT</a:t>
            </a:r>
            <a:endParaRPr lang="en-US" altLang="zh-CN" b="0" dirty="0">
              <a:solidFill>
                <a:srgbClr val="0000FF"/>
              </a:solidFill>
            </a:endParaRPr>
          </a:p>
          <a:p>
            <a:r>
              <a:rPr lang="en-US" altLang="zh-CN" b="0" dirty="0"/>
              <a:t> B            JSR FACT             ; </a:t>
            </a:r>
            <a:r>
              <a:rPr lang="en-US" altLang="zh-CN" sz="1800" b="0" dirty="0">
                <a:solidFill>
                  <a:srgbClr val="0000FF"/>
                </a:solidFill>
              </a:rPr>
              <a:t>On RET, R0 will contain (n-1)!</a:t>
            </a:r>
            <a:endParaRPr lang="en-US" altLang="zh-CN" b="0" dirty="0">
              <a:solidFill>
                <a:srgbClr val="0000FF"/>
              </a:solidFill>
            </a:endParaRPr>
          </a:p>
          <a:p>
            <a:r>
              <a:rPr lang="pt-BR" altLang="zh-CN" b="0" dirty="0"/>
              <a:t>               MUL R0,R0,R1      ; </a:t>
            </a:r>
            <a:r>
              <a:rPr lang="pt-BR" altLang="zh-CN" sz="1600" b="0" dirty="0">
                <a:solidFill>
                  <a:srgbClr val="0000FF"/>
                </a:solidFill>
              </a:rPr>
              <a:t>Multiply n times (n-1)!, yielding n! in R0</a:t>
            </a:r>
            <a:endParaRPr lang="pt-BR" altLang="zh-CN" b="0" dirty="0">
              <a:solidFill>
                <a:srgbClr val="0000FF"/>
              </a:solidFill>
            </a:endParaRPr>
          </a:p>
          <a:p>
            <a:r>
              <a:rPr lang="en-US" altLang="zh-CN" b="0" dirty="0"/>
              <a:t>DONE     LD R1, Save1        ; </a:t>
            </a:r>
            <a:r>
              <a:rPr lang="en-US" altLang="zh-CN" sz="1800" b="0" dirty="0" err="1">
                <a:solidFill>
                  <a:srgbClr val="0000FF"/>
                </a:solidFill>
              </a:rPr>
              <a:t>Callee</a:t>
            </a:r>
            <a:r>
              <a:rPr lang="en-US" altLang="zh-CN" sz="1800" b="0" dirty="0">
                <a:solidFill>
                  <a:srgbClr val="0000FF"/>
                </a:solidFill>
              </a:rPr>
              <a:t> restore R1</a:t>
            </a:r>
            <a:endParaRPr lang="en-US" altLang="zh-CN" b="0" dirty="0">
              <a:solidFill>
                <a:srgbClr val="0000FF"/>
              </a:solidFill>
            </a:endParaRPr>
          </a:p>
          <a:p>
            <a:r>
              <a:rPr lang="en-US" altLang="zh-CN" b="0" dirty="0"/>
              <a:t>               RET</a:t>
            </a:r>
          </a:p>
          <a:p>
            <a:r>
              <a:rPr lang="en-US" altLang="zh-CN" b="0" dirty="0"/>
              <a:t>Save1     .BLKW 1</a:t>
            </a:r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7F6D18E-23BC-4908-8DA6-98AA576E8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Bad Example: Factorial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37A4DB-2EB3-4A4F-957E-3AD385F45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B23C0F-42DF-4B9A-921E-619F81D39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0AB904-DFC9-468C-9B90-6B3510473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73019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208268-040D-4DBD-91E4-223B0966C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5B8E0C-199F-4840-B20E-9828F7364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4F97C3-E7F0-417C-A526-8C4F9FD42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8BCA145-A7A9-4A82-B8CA-BB9409FF1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389" y="0"/>
            <a:ext cx="3770797" cy="6858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C754DD1-8E37-4DCF-B0CB-59FA1C2A28B2}"/>
              </a:ext>
            </a:extLst>
          </p:cNvPr>
          <p:cNvSpPr txBox="1"/>
          <p:nvPr/>
        </p:nvSpPr>
        <p:spPr>
          <a:xfrm>
            <a:off x="6240016" y="1268761"/>
            <a:ext cx="40324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 Calling Program:  A JSR FACT:      </a:t>
            </a:r>
            <a:r>
              <a:rPr lang="en-US" altLang="zh-CN" dirty="0">
                <a:sym typeface="Wingdings" panose="05000000000000000000" pitchFamily="2" charset="2"/>
              </a:rPr>
              <a:t>A+1 R7</a:t>
            </a:r>
          </a:p>
          <a:p>
            <a:r>
              <a:rPr lang="en-US" altLang="zh-CN" dirty="0">
                <a:sym typeface="Wingdings" panose="05000000000000000000" pitchFamily="2" charset="2"/>
              </a:rPr>
              <a:t>In #1: B JSR FACT:   B+1 R7    </a:t>
            </a:r>
          </a:p>
          <a:p>
            <a:endParaRPr lang="en-US" altLang="zh-CN" dirty="0">
              <a:sym typeface="Wingdings" panose="05000000000000000000" pitchFamily="2" charset="2"/>
            </a:endParaRPr>
          </a:p>
          <a:p>
            <a:r>
              <a:rPr lang="en-US" altLang="zh-CN" dirty="0">
                <a:sym typeface="Wingdings" panose="05000000000000000000" pitchFamily="2" charset="2"/>
              </a:rPr>
              <a:t>R7=A+1  is wiped out by B+1,,   can not return.</a:t>
            </a:r>
            <a:endParaRPr lang="zh-CN" altLang="en-US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CD1B2EEA-A4B1-4EED-8F16-C901B25F9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4185" y="71439"/>
            <a:ext cx="5068403" cy="765175"/>
          </a:xfrm>
        </p:spPr>
        <p:txBody>
          <a:bodyPr/>
          <a:lstStyle/>
          <a:p>
            <a:r>
              <a:rPr lang="en-US" altLang="zh-CN" b="0" dirty="0"/>
              <a:t>Bad Example: Factorial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535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4D649-DF56-480F-90D8-5E680531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Recursive subroutine FACT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A59EA9-857E-4362-B1AF-CE456BF7E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300" b="0" dirty="0"/>
              <a:t>FACT ADD R6,R6,#-1</a:t>
            </a:r>
          </a:p>
          <a:p>
            <a:r>
              <a:rPr lang="en-US" altLang="zh-CN" sz="1300" b="0" dirty="0"/>
              <a:t>              STR R1,R6,#0 ; Push Caller’s R1 on the stack, so we can use R1.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ADD R1,R0,#-1 ; If n=1, we are done since 1! = 1</a:t>
            </a:r>
          </a:p>
          <a:p>
            <a:r>
              <a:rPr lang="en-US" altLang="zh-CN" sz="1300" b="0" dirty="0"/>
              <a:t>               </a:t>
            </a:r>
            <a:r>
              <a:rPr lang="en-US" altLang="zh-CN" sz="1300" b="0" dirty="0" err="1"/>
              <a:t>BRz</a:t>
            </a:r>
            <a:r>
              <a:rPr lang="en-US" altLang="zh-CN" sz="1300" b="0" dirty="0"/>
              <a:t> NO_RECURSE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ADD R6,R6,#-1</a:t>
            </a:r>
          </a:p>
          <a:p>
            <a:r>
              <a:rPr lang="en-US" altLang="zh-CN" sz="1300" b="0" dirty="0"/>
              <a:t>                STR R7,R6,#0 ; Push return linkage onto stack</a:t>
            </a:r>
          </a:p>
          <a:p>
            <a:r>
              <a:rPr lang="en-US" altLang="zh-CN" sz="1300" b="0" dirty="0"/>
              <a:t>                ADD R6,R6,#-1</a:t>
            </a:r>
          </a:p>
          <a:p>
            <a:r>
              <a:rPr lang="en-US" altLang="zh-CN" sz="1300" b="0" dirty="0"/>
              <a:t>                STR R0,R6,#0 ; Push n on the stack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ADD R0,R0,#-1 ; Form n-1, argument of JSR</a:t>
            </a:r>
          </a:p>
          <a:p>
            <a:r>
              <a:rPr lang="en-US" altLang="zh-CN" sz="1300" b="0" dirty="0"/>
              <a:t>         B     JSR FACT</a:t>
            </a:r>
          </a:p>
          <a:p>
            <a:r>
              <a:rPr lang="en-US" altLang="zh-CN" sz="1300" b="0" dirty="0"/>
              <a:t>                LDR R1,R6,#0 ; Pop n from the stack</a:t>
            </a:r>
          </a:p>
          <a:p>
            <a:r>
              <a:rPr lang="en-US" altLang="zh-CN" sz="1300" b="0" dirty="0"/>
              <a:t>                ADD R6,R6,#1</a:t>
            </a:r>
          </a:p>
          <a:p>
            <a:r>
              <a:rPr lang="pt-BR" altLang="zh-CN" sz="1300" b="0" dirty="0"/>
              <a:t>                 MUL R0,R0,R1 ; form n*(n-1)!</a:t>
            </a:r>
          </a:p>
          <a:p>
            <a:r>
              <a:rPr lang="en-US" altLang="zh-CN" sz="1300" b="0" dirty="0"/>
              <a:t>;                </a:t>
            </a:r>
          </a:p>
          <a:p>
            <a:r>
              <a:rPr lang="pt-BR" altLang="zh-CN" sz="1300" b="0" dirty="0"/>
              <a:t>                 LDR R7,R6,#0 ; Pop return linkage into R7</a:t>
            </a:r>
          </a:p>
          <a:p>
            <a:r>
              <a:rPr lang="en-US" altLang="zh-CN" sz="1300" b="0" dirty="0"/>
              <a:t>                 ADD R6,R6,#1</a:t>
            </a:r>
          </a:p>
          <a:p>
            <a:pPr marL="0" indent="0">
              <a:buNone/>
            </a:pPr>
            <a:r>
              <a:rPr lang="pt-BR" altLang="zh-CN" sz="1300" b="0" dirty="0"/>
              <a:t> NO_RECURSE LDR R1,R6,#0 ; Pop caller’s R1 back into R1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en-US" altLang="zh-CN" sz="1300" b="0" dirty="0"/>
              <a:t>                 RET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0CC2CB-E69F-45C7-9FA2-DF32A790D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C25EE6-8BCB-4BF7-ACAC-AB84C8CA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DA9CD5-A16D-4BB2-AD76-B79E221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40BDFC3-98B8-4E79-8C4B-31F614AD2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200" y="1015356"/>
            <a:ext cx="1985554" cy="275626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A7CBA1B-6111-44DC-B366-E608BF123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312" y="3992880"/>
            <a:ext cx="1854926" cy="278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28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4D649-DF56-480F-90D8-5E680531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Recursive subroutine FACT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A59EA9-857E-4362-B1AF-CE456BF7E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300" b="0" dirty="0"/>
              <a:t>FACT ADD R6,R6,#-1</a:t>
            </a:r>
          </a:p>
          <a:p>
            <a:r>
              <a:rPr lang="en-US" altLang="zh-CN" sz="1300" b="0" dirty="0"/>
              <a:t>                </a:t>
            </a:r>
            <a:r>
              <a:rPr lang="en-US" altLang="zh-CN" sz="1300" b="0" dirty="0">
                <a:solidFill>
                  <a:srgbClr val="0000FF"/>
                </a:solidFill>
              </a:rPr>
              <a:t>STR R1,R6,#0 </a:t>
            </a:r>
            <a:r>
              <a:rPr lang="en-US" altLang="zh-CN" sz="1300" b="0" dirty="0"/>
              <a:t>; Push Caller’s R1 on the stack, so we can use R1.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</a:t>
            </a:r>
            <a:r>
              <a:rPr lang="en-US" altLang="zh-CN" sz="1300" b="0" dirty="0">
                <a:solidFill>
                  <a:srgbClr val="0000FF"/>
                </a:solidFill>
              </a:rPr>
              <a:t>ADD R1,R0,#-1 </a:t>
            </a:r>
            <a:r>
              <a:rPr lang="en-US" altLang="zh-CN" sz="1300" b="0" dirty="0"/>
              <a:t>; If n=1, we are done since 1! = 1</a:t>
            </a:r>
          </a:p>
          <a:p>
            <a:r>
              <a:rPr lang="en-US" altLang="zh-CN" sz="1300" b="0" dirty="0"/>
              <a:t>                </a:t>
            </a:r>
            <a:r>
              <a:rPr lang="en-US" altLang="zh-CN" sz="1300" b="0" dirty="0" err="1"/>
              <a:t>BRz</a:t>
            </a:r>
            <a:r>
              <a:rPr lang="en-US" altLang="zh-CN" sz="1300" b="0" dirty="0"/>
              <a:t> NO_RECURSE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ADD R6,R6,#-1</a:t>
            </a:r>
          </a:p>
          <a:p>
            <a:r>
              <a:rPr lang="en-US" altLang="zh-CN" sz="1300" b="0" dirty="0"/>
              <a:t>                 STR R7,R6,#0 ; Push return linkage onto stack</a:t>
            </a:r>
          </a:p>
          <a:p>
            <a:r>
              <a:rPr lang="en-US" altLang="zh-CN" sz="1300" b="0" dirty="0"/>
              <a:t>                 ADD R6,R6,#-1</a:t>
            </a:r>
          </a:p>
          <a:p>
            <a:r>
              <a:rPr lang="en-US" altLang="zh-CN" sz="1300" b="0" dirty="0"/>
              <a:t>                 STR R0,R6,#0 ; Push n on the stack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ADD R0,R0,#-1 ; Form n-1, argument of JSR</a:t>
            </a:r>
          </a:p>
          <a:p>
            <a:r>
              <a:rPr lang="en-US" altLang="zh-CN" sz="1300" b="0" dirty="0"/>
              <a:t>        B       JSR FACT</a:t>
            </a:r>
          </a:p>
          <a:p>
            <a:r>
              <a:rPr lang="en-US" altLang="zh-CN" sz="1300" b="0" dirty="0"/>
              <a:t>                 LDR R1,R6,#0 ; Pop n from the stack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pt-BR" altLang="zh-CN" sz="1300" b="0" dirty="0"/>
              <a:t>                 MUL R0,R0,R1 ; form n*(n-1)!</a:t>
            </a:r>
          </a:p>
          <a:p>
            <a:r>
              <a:rPr lang="en-US" altLang="zh-CN" sz="1300" b="0" dirty="0"/>
              <a:t>;</a:t>
            </a:r>
          </a:p>
          <a:p>
            <a:r>
              <a:rPr lang="pt-BR" altLang="zh-CN" sz="1300" b="0" dirty="0"/>
              <a:t>                 LDR R7,R6,#0 ; Pop return linkage into R7</a:t>
            </a:r>
          </a:p>
          <a:p>
            <a:r>
              <a:rPr lang="en-US" altLang="zh-CN" sz="1300" b="0" dirty="0"/>
              <a:t>                 ADD R6,R6,#1</a:t>
            </a:r>
          </a:p>
          <a:p>
            <a:pPr marL="0" indent="0">
              <a:buNone/>
            </a:pPr>
            <a:r>
              <a:rPr lang="pt-BR" altLang="zh-CN" sz="1300" b="0" dirty="0"/>
              <a:t> NO_RECURSE LDR R1,R6,#0 ; Pop caller’s R1 back into R1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en-US" altLang="zh-CN" sz="1300" b="0" dirty="0"/>
              <a:t>                 RET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0CC2CB-E69F-45C7-9FA2-DF32A790D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C25EE6-8BCB-4BF7-ACAC-AB84C8CA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DA9CD5-A16D-4BB2-AD76-B79E221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8</a:t>
            </a:fld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EEE471-6B1E-4840-B614-09A135727CA4}"/>
              </a:ext>
            </a:extLst>
          </p:cNvPr>
          <p:cNvSpPr/>
          <p:nvPr/>
        </p:nvSpPr>
        <p:spPr bwMode="auto">
          <a:xfrm>
            <a:off x="7032104" y="1979463"/>
            <a:ext cx="1944216" cy="417646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A0F6E72-6963-404A-83D0-E532AC0D2396}"/>
              </a:ext>
            </a:extLst>
          </p:cNvPr>
          <p:cNvCxnSpPr/>
          <p:nvPr/>
        </p:nvCxnSpPr>
        <p:spPr bwMode="auto">
          <a:xfrm>
            <a:off x="7032104" y="267626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4545F15-E305-4B5F-BEEE-E5710B0C5113}"/>
              </a:ext>
            </a:extLst>
          </p:cNvPr>
          <p:cNvCxnSpPr/>
          <p:nvPr/>
        </p:nvCxnSpPr>
        <p:spPr bwMode="auto">
          <a:xfrm>
            <a:off x="7032104" y="3252326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61727FB-DCF6-4E30-B556-611286C9DA47}"/>
              </a:ext>
            </a:extLst>
          </p:cNvPr>
          <p:cNvCxnSpPr/>
          <p:nvPr/>
        </p:nvCxnSpPr>
        <p:spPr bwMode="auto">
          <a:xfrm>
            <a:off x="7032104" y="384596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54E67AB-981D-4AD2-9320-AC85B3B66705}"/>
              </a:ext>
            </a:extLst>
          </p:cNvPr>
          <p:cNvCxnSpPr/>
          <p:nvPr/>
        </p:nvCxnSpPr>
        <p:spPr bwMode="auto">
          <a:xfrm>
            <a:off x="7032104" y="442203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8B497D8-F75D-4767-8842-95FB08B212B2}"/>
              </a:ext>
            </a:extLst>
          </p:cNvPr>
          <p:cNvCxnSpPr/>
          <p:nvPr/>
        </p:nvCxnSpPr>
        <p:spPr bwMode="auto">
          <a:xfrm>
            <a:off x="7032104" y="441953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CCD5E0E-7590-4386-9ADF-E4A6E5C45A99}"/>
              </a:ext>
            </a:extLst>
          </p:cNvPr>
          <p:cNvCxnSpPr/>
          <p:nvPr/>
        </p:nvCxnSpPr>
        <p:spPr bwMode="auto">
          <a:xfrm>
            <a:off x="7032104" y="499559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89FE49A-122E-4546-ACBB-687445D06858}"/>
              </a:ext>
            </a:extLst>
          </p:cNvPr>
          <p:cNvCxnSpPr/>
          <p:nvPr/>
        </p:nvCxnSpPr>
        <p:spPr bwMode="auto">
          <a:xfrm>
            <a:off x="7032104" y="5589240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4221E5E-E772-4D7C-9E4C-F826D9E005FC}"/>
              </a:ext>
            </a:extLst>
          </p:cNvPr>
          <p:cNvCxnSpPr/>
          <p:nvPr/>
        </p:nvCxnSpPr>
        <p:spPr bwMode="auto">
          <a:xfrm>
            <a:off x="7032104" y="616530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69FD3344-7978-475C-BEE8-FD752542AE14}"/>
              </a:ext>
            </a:extLst>
          </p:cNvPr>
          <p:cNvSpPr txBox="1"/>
          <p:nvPr/>
        </p:nvSpPr>
        <p:spPr>
          <a:xfrm>
            <a:off x="7036026" y="1385822"/>
            <a:ext cx="194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Example:  R0=n=3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6E22CE1-8F52-4C01-880E-72D74B2C13CC}"/>
              </a:ext>
            </a:extLst>
          </p:cNvPr>
          <p:cNvSpPr txBox="1"/>
          <p:nvPr/>
        </p:nvSpPr>
        <p:spPr>
          <a:xfrm>
            <a:off x="7356140" y="5634361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Caller’s R1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5586EAA-6255-4C3B-82A5-CFD2DB8A30B0}"/>
              </a:ext>
            </a:extLst>
          </p:cNvPr>
          <p:cNvSpPr txBox="1"/>
          <p:nvPr/>
        </p:nvSpPr>
        <p:spPr>
          <a:xfrm>
            <a:off x="9024274" y="5707648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</a:rPr>
              <a:t>R0=3, R1=2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6F94317-434F-4A7A-BF97-C5E1D1C0DDBB}"/>
              </a:ext>
            </a:extLst>
          </p:cNvPr>
          <p:cNvSpPr txBox="1"/>
          <p:nvPr/>
        </p:nvSpPr>
        <p:spPr>
          <a:xfrm>
            <a:off x="6343231" y="5662249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Top </a:t>
            </a:r>
            <a:r>
              <a:rPr lang="en-US" altLang="zh-CN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1203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4D649-DF56-480F-90D8-5E680531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Recursive subroutine FACT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A59EA9-857E-4362-B1AF-CE456BF7E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300" b="0" dirty="0"/>
              <a:t>FACT ADD R6,R6,#-1</a:t>
            </a:r>
          </a:p>
          <a:p>
            <a:r>
              <a:rPr lang="en-US" altLang="zh-CN" sz="1300" b="0" dirty="0"/>
              <a:t>                STR R1,R6,#0 ; Push Caller’s R1 on the stack, so we can use R1.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ADD R1,R0,#-1 ; If n=1, we are done since 1! = 1</a:t>
            </a:r>
          </a:p>
          <a:p>
            <a:r>
              <a:rPr lang="en-US" altLang="zh-CN" sz="1300" b="0" dirty="0"/>
              <a:t>                </a:t>
            </a:r>
            <a:r>
              <a:rPr lang="en-US" altLang="zh-CN" sz="1300" b="0" dirty="0" err="1"/>
              <a:t>BRz</a:t>
            </a:r>
            <a:r>
              <a:rPr lang="en-US" altLang="zh-CN" sz="1300" b="0" dirty="0"/>
              <a:t> NO_RECURSE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>
                <a:solidFill>
                  <a:srgbClr val="0000FF"/>
                </a:solidFill>
              </a:rPr>
              <a:t>                 ADD R6,R6,#-1</a:t>
            </a:r>
          </a:p>
          <a:p>
            <a:r>
              <a:rPr lang="en-US" altLang="zh-CN" sz="1300" b="0" dirty="0">
                <a:solidFill>
                  <a:srgbClr val="0000FF"/>
                </a:solidFill>
              </a:rPr>
              <a:t>                 STR R7,R6,#0 ; Push return linkage onto stack</a:t>
            </a:r>
          </a:p>
          <a:p>
            <a:r>
              <a:rPr lang="en-US" altLang="zh-CN" sz="1300" b="0" dirty="0">
                <a:solidFill>
                  <a:srgbClr val="0000FF"/>
                </a:solidFill>
              </a:rPr>
              <a:t>                 ADD R6,R6,#-1</a:t>
            </a:r>
          </a:p>
          <a:p>
            <a:r>
              <a:rPr lang="en-US" altLang="zh-CN" sz="1300" b="0" dirty="0"/>
              <a:t>                 </a:t>
            </a:r>
            <a:r>
              <a:rPr lang="en-US" altLang="zh-CN" sz="1300" b="0" dirty="0">
                <a:solidFill>
                  <a:srgbClr val="0000FF"/>
                </a:solidFill>
              </a:rPr>
              <a:t>STR R0,R6,#0 </a:t>
            </a:r>
            <a:r>
              <a:rPr lang="en-US" altLang="zh-CN" sz="1300" b="0" dirty="0"/>
              <a:t>; Push n on the stack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</a:t>
            </a:r>
            <a:r>
              <a:rPr lang="en-US" altLang="zh-CN" sz="1300" b="0" dirty="0">
                <a:solidFill>
                  <a:srgbClr val="0000FF"/>
                </a:solidFill>
              </a:rPr>
              <a:t>ADD R0,R0,#-1 </a:t>
            </a:r>
            <a:r>
              <a:rPr lang="en-US" altLang="zh-CN" sz="1300" b="0" dirty="0"/>
              <a:t>; Form n-1, argument of JSR</a:t>
            </a:r>
          </a:p>
          <a:p>
            <a:r>
              <a:rPr lang="en-US" altLang="zh-CN" sz="1300" b="0" dirty="0"/>
              <a:t>        B       JSR FACT</a:t>
            </a:r>
          </a:p>
          <a:p>
            <a:r>
              <a:rPr lang="en-US" altLang="zh-CN" sz="1300" b="0" dirty="0"/>
              <a:t>                 LDR R1,R6,#0 ; Pop n from the stack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pt-BR" altLang="zh-CN" sz="1300" b="0" dirty="0"/>
              <a:t>                 MUL R0,R0,R1 ; form n*(n-1)!</a:t>
            </a:r>
          </a:p>
          <a:p>
            <a:r>
              <a:rPr lang="en-US" altLang="zh-CN" sz="1300" b="0" dirty="0"/>
              <a:t>;</a:t>
            </a:r>
          </a:p>
          <a:p>
            <a:r>
              <a:rPr lang="pt-BR" altLang="zh-CN" sz="1300" b="0" dirty="0"/>
              <a:t>                 LDR R7,R6,#0 ; Pop return linkage into R7</a:t>
            </a:r>
          </a:p>
          <a:p>
            <a:r>
              <a:rPr lang="en-US" altLang="zh-CN" sz="1300" b="0" dirty="0"/>
              <a:t>                 ADD R6,R6,#1</a:t>
            </a:r>
          </a:p>
          <a:p>
            <a:pPr marL="0" indent="0">
              <a:buNone/>
            </a:pPr>
            <a:r>
              <a:rPr lang="pt-BR" altLang="zh-CN" sz="1300" b="0" dirty="0"/>
              <a:t> NO_RECURSE LDR R1,R6,#0 ; Pop caller’s R1 back into R1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en-US" altLang="zh-CN" sz="1300" b="0" dirty="0"/>
              <a:t>                 RET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0CC2CB-E69F-45C7-9FA2-DF32A790D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C25EE6-8BCB-4BF7-ACAC-AB84C8CA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DA9CD5-A16D-4BB2-AD76-B79E221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9</a:t>
            </a:fld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EEE471-6B1E-4840-B614-09A135727CA4}"/>
              </a:ext>
            </a:extLst>
          </p:cNvPr>
          <p:cNvSpPr/>
          <p:nvPr/>
        </p:nvSpPr>
        <p:spPr bwMode="auto">
          <a:xfrm>
            <a:off x="7032104" y="1979463"/>
            <a:ext cx="1944216" cy="417646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A0F6E72-6963-404A-83D0-E532AC0D2396}"/>
              </a:ext>
            </a:extLst>
          </p:cNvPr>
          <p:cNvCxnSpPr/>
          <p:nvPr/>
        </p:nvCxnSpPr>
        <p:spPr bwMode="auto">
          <a:xfrm>
            <a:off x="7032104" y="267626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4545F15-E305-4B5F-BEEE-E5710B0C5113}"/>
              </a:ext>
            </a:extLst>
          </p:cNvPr>
          <p:cNvCxnSpPr/>
          <p:nvPr/>
        </p:nvCxnSpPr>
        <p:spPr bwMode="auto">
          <a:xfrm>
            <a:off x="7032104" y="3252326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61727FB-DCF6-4E30-B556-611286C9DA47}"/>
              </a:ext>
            </a:extLst>
          </p:cNvPr>
          <p:cNvCxnSpPr/>
          <p:nvPr/>
        </p:nvCxnSpPr>
        <p:spPr bwMode="auto">
          <a:xfrm>
            <a:off x="7032104" y="384596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54E67AB-981D-4AD2-9320-AC85B3B66705}"/>
              </a:ext>
            </a:extLst>
          </p:cNvPr>
          <p:cNvCxnSpPr/>
          <p:nvPr/>
        </p:nvCxnSpPr>
        <p:spPr bwMode="auto">
          <a:xfrm>
            <a:off x="7032104" y="442203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8B497D8-F75D-4767-8842-95FB08B212B2}"/>
              </a:ext>
            </a:extLst>
          </p:cNvPr>
          <p:cNvCxnSpPr/>
          <p:nvPr/>
        </p:nvCxnSpPr>
        <p:spPr bwMode="auto">
          <a:xfrm>
            <a:off x="7032104" y="441953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CCD5E0E-7590-4386-9ADF-E4A6E5C45A99}"/>
              </a:ext>
            </a:extLst>
          </p:cNvPr>
          <p:cNvCxnSpPr/>
          <p:nvPr/>
        </p:nvCxnSpPr>
        <p:spPr bwMode="auto">
          <a:xfrm>
            <a:off x="7032104" y="499559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89FE49A-122E-4546-ACBB-687445D06858}"/>
              </a:ext>
            </a:extLst>
          </p:cNvPr>
          <p:cNvCxnSpPr/>
          <p:nvPr/>
        </p:nvCxnSpPr>
        <p:spPr bwMode="auto">
          <a:xfrm>
            <a:off x="7032104" y="5589240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4221E5E-E772-4D7C-9E4C-F826D9E005FC}"/>
              </a:ext>
            </a:extLst>
          </p:cNvPr>
          <p:cNvCxnSpPr/>
          <p:nvPr/>
        </p:nvCxnSpPr>
        <p:spPr bwMode="auto">
          <a:xfrm>
            <a:off x="7032104" y="616530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69FD3344-7978-475C-BEE8-FD752542AE14}"/>
              </a:ext>
            </a:extLst>
          </p:cNvPr>
          <p:cNvSpPr txBox="1"/>
          <p:nvPr/>
        </p:nvSpPr>
        <p:spPr>
          <a:xfrm>
            <a:off x="7036026" y="1385822"/>
            <a:ext cx="194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Example:  R0=n=3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6E22CE1-8F52-4C01-880E-72D74B2C13CC}"/>
              </a:ext>
            </a:extLst>
          </p:cNvPr>
          <p:cNvSpPr txBox="1"/>
          <p:nvPr/>
        </p:nvSpPr>
        <p:spPr>
          <a:xfrm>
            <a:off x="7356140" y="5634361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Caller’s R1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5586EAA-6255-4C3B-82A5-CFD2DB8A30B0}"/>
              </a:ext>
            </a:extLst>
          </p:cNvPr>
          <p:cNvSpPr txBox="1"/>
          <p:nvPr/>
        </p:nvSpPr>
        <p:spPr>
          <a:xfrm>
            <a:off x="9024274" y="5707648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R1=2 </a:t>
            </a:r>
            <a:r>
              <a:rPr lang="en-US" altLang="zh-CN" sz="2400" b="1" dirty="0"/>
              <a:t>R0=3</a:t>
            </a:r>
            <a:endParaRPr lang="zh-CN" altLang="en-US" sz="2400" b="1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6F94317-434F-4A7A-BF97-C5E1D1C0DDBB}"/>
              </a:ext>
            </a:extLst>
          </p:cNvPr>
          <p:cNvSpPr txBox="1"/>
          <p:nvPr/>
        </p:nvSpPr>
        <p:spPr>
          <a:xfrm>
            <a:off x="6312024" y="4442929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Top </a:t>
            </a:r>
            <a:r>
              <a:rPr lang="en-US" altLang="zh-CN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DBC2CE-19D8-4A1E-83E0-238E30844415}"/>
              </a:ext>
            </a:extLst>
          </p:cNvPr>
          <p:cNvSpPr txBox="1"/>
          <p:nvPr/>
        </p:nvSpPr>
        <p:spPr>
          <a:xfrm>
            <a:off x="7680176" y="504071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A+1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24BA13C-E0C4-4EEA-8EEF-531625F62772}"/>
              </a:ext>
            </a:extLst>
          </p:cNvPr>
          <p:cNvSpPr txBox="1"/>
          <p:nvPr/>
        </p:nvSpPr>
        <p:spPr>
          <a:xfrm>
            <a:off x="7713107" y="448307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R0=3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A33600-4257-48C8-8AFA-EA74BB619F7C}"/>
              </a:ext>
            </a:extLst>
          </p:cNvPr>
          <p:cNvSpPr txBox="1"/>
          <p:nvPr/>
        </p:nvSpPr>
        <p:spPr>
          <a:xfrm>
            <a:off x="8995597" y="4479547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</a:rPr>
              <a:t>R0=2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888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4D649-DF56-480F-90D8-5E680531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Recursive subroutine FACT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A59EA9-857E-4362-B1AF-CE456BF7E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300" b="0" dirty="0"/>
              <a:t>FACT        </a:t>
            </a:r>
            <a:r>
              <a:rPr lang="en-US" altLang="zh-CN" sz="1300" b="0" dirty="0">
                <a:solidFill>
                  <a:srgbClr val="0000FF"/>
                </a:solidFill>
              </a:rPr>
              <a:t>ADD</a:t>
            </a:r>
            <a:r>
              <a:rPr lang="en-US" altLang="zh-CN" sz="1300" b="0" dirty="0"/>
              <a:t> </a:t>
            </a:r>
            <a:r>
              <a:rPr lang="en-US" altLang="zh-CN" sz="1300" b="0" dirty="0">
                <a:solidFill>
                  <a:srgbClr val="0000FF"/>
                </a:solidFill>
              </a:rPr>
              <a:t>R6,R6,#-1</a:t>
            </a:r>
          </a:p>
          <a:p>
            <a:r>
              <a:rPr lang="en-US" altLang="zh-CN" sz="1300" b="0" dirty="0"/>
              <a:t>                </a:t>
            </a:r>
            <a:r>
              <a:rPr lang="en-US" altLang="zh-CN" sz="1300" b="0" dirty="0">
                <a:solidFill>
                  <a:srgbClr val="0000FF"/>
                </a:solidFill>
              </a:rPr>
              <a:t>STR R1,R6,#0</a:t>
            </a:r>
            <a:r>
              <a:rPr lang="en-US" altLang="zh-CN" sz="1300" b="0" dirty="0"/>
              <a:t> ; Push Caller’s R1 on the stack, so we can use R1.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ADD R1,R0,#-1 ; If n=1, we are done since 1! = 1</a:t>
            </a:r>
          </a:p>
          <a:p>
            <a:r>
              <a:rPr lang="en-US" altLang="zh-CN" sz="1300" b="0" dirty="0"/>
              <a:t>                </a:t>
            </a:r>
            <a:r>
              <a:rPr lang="en-US" altLang="zh-CN" sz="1300" b="0" dirty="0" err="1"/>
              <a:t>BRz</a:t>
            </a:r>
            <a:r>
              <a:rPr lang="en-US" altLang="zh-CN" sz="1300" b="0" dirty="0"/>
              <a:t> NO_RECURSE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>
                <a:solidFill>
                  <a:srgbClr val="0000FF"/>
                </a:solidFill>
              </a:rPr>
              <a:t>                 </a:t>
            </a:r>
            <a:r>
              <a:rPr lang="en-US" altLang="zh-CN" sz="1300" b="0" dirty="0"/>
              <a:t>ADD R6,R6,#-1</a:t>
            </a:r>
          </a:p>
          <a:p>
            <a:r>
              <a:rPr lang="en-US" altLang="zh-CN" sz="1300" b="0" dirty="0"/>
              <a:t>                 STR R7,R6,#0 ; Push return linkage onto stack</a:t>
            </a:r>
          </a:p>
          <a:p>
            <a:r>
              <a:rPr lang="en-US" altLang="zh-CN" sz="1300" b="0" dirty="0"/>
              <a:t>                 ADD R6,R6,#-1</a:t>
            </a:r>
          </a:p>
          <a:p>
            <a:r>
              <a:rPr lang="en-US" altLang="zh-CN" sz="1300" b="0" dirty="0"/>
              <a:t>                 STR R0,R6,#0 ; Push n on the stack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ADD R0,R0,#-1</a:t>
            </a:r>
            <a:r>
              <a:rPr lang="en-US" altLang="zh-CN" sz="1300" b="0" dirty="0">
                <a:solidFill>
                  <a:srgbClr val="0000FF"/>
                </a:solidFill>
              </a:rPr>
              <a:t> </a:t>
            </a:r>
            <a:r>
              <a:rPr lang="en-US" altLang="zh-CN" sz="1300" b="0" dirty="0"/>
              <a:t>; Form n-1, argument of JSR</a:t>
            </a:r>
          </a:p>
          <a:p>
            <a:r>
              <a:rPr lang="en-US" altLang="zh-CN" sz="1300" b="0" dirty="0"/>
              <a:t>        B       </a:t>
            </a:r>
            <a:r>
              <a:rPr lang="en-US" altLang="zh-CN" sz="1300" b="0" dirty="0">
                <a:solidFill>
                  <a:srgbClr val="0000FF"/>
                </a:solidFill>
              </a:rPr>
              <a:t>JSR FACT           </a:t>
            </a:r>
            <a:r>
              <a:rPr lang="en-US" altLang="zh-CN" sz="1300" b="0" dirty="0"/>
              <a:t>;B+1</a:t>
            </a:r>
            <a:r>
              <a:rPr lang="en-US" altLang="zh-CN" sz="1300" b="0" dirty="0">
                <a:sym typeface="Wingdings" panose="05000000000000000000" pitchFamily="2" charset="2"/>
              </a:rPr>
              <a:t>R7</a:t>
            </a:r>
            <a:endParaRPr lang="en-US" altLang="zh-CN" sz="1300" b="0" dirty="0"/>
          </a:p>
          <a:p>
            <a:r>
              <a:rPr lang="en-US" altLang="zh-CN" sz="1300" b="0" dirty="0"/>
              <a:t>                 LDR R1,R6,#0 ; Pop n from the stack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pt-BR" altLang="zh-CN" sz="1300" b="0" dirty="0"/>
              <a:t>                 MUL R0,R0,R1 ; form n*(n-1)!</a:t>
            </a:r>
          </a:p>
          <a:p>
            <a:r>
              <a:rPr lang="en-US" altLang="zh-CN" sz="1300" b="0" dirty="0"/>
              <a:t>;</a:t>
            </a:r>
          </a:p>
          <a:p>
            <a:r>
              <a:rPr lang="pt-BR" altLang="zh-CN" sz="1300" b="0" dirty="0"/>
              <a:t>                 LDR R7,R6,#0 ; Pop return linkage into R7</a:t>
            </a:r>
          </a:p>
          <a:p>
            <a:r>
              <a:rPr lang="en-US" altLang="zh-CN" sz="1300" b="0" dirty="0"/>
              <a:t>                 ADD R6,R6,#1</a:t>
            </a:r>
          </a:p>
          <a:p>
            <a:pPr marL="0" indent="0">
              <a:buNone/>
            </a:pPr>
            <a:r>
              <a:rPr lang="pt-BR" altLang="zh-CN" sz="1300" b="0" dirty="0"/>
              <a:t> NO_RECURSE LDR R1,R6,#0 ; Pop caller’s R1 back into R1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en-US" altLang="zh-CN" sz="1300" b="0" dirty="0"/>
              <a:t>                 RET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0CC2CB-E69F-45C7-9FA2-DF32A790D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C25EE6-8BCB-4BF7-ACAC-AB84C8CA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DA9CD5-A16D-4BB2-AD76-B79E221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10</a:t>
            </a:fld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EEE471-6B1E-4840-B614-09A135727CA4}"/>
              </a:ext>
            </a:extLst>
          </p:cNvPr>
          <p:cNvSpPr/>
          <p:nvPr/>
        </p:nvSpPr>
        <p:spPr bwMode="auto">
          <a:xfrm>
            <a:off x="7032104" y="1979463"/>
            <a:ext cx="1944216" cy="417646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A0F6E72-6963-404A-83D0-E532AC0D2396}"/>
              </a:ext>
            </a:extLst>
          </p:cNvPr>
          <p:cNvCxnSpPr/>
          <p:nvPr/>
        </p:nvCxnSpPr>
        <p:spPr bwMode="auto">
          <a:xfrm>
            <a:off x="7032104" y="267626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4545F15-E305-4B5F-BEEE-E5710B0C5113}"/>
              </a:ext>
            </a:extLst>
          </p:cNvPr>
          <p:cNvCxnSpPr/>
          <p:nvPr/>
        </p:nvCxnSpPr>
        <p:spPr bwMode="auto">
          <a:xfrm>
            <a:off x="7032104" y="3252326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61727FB-DCF6-4E30-B556-611286C9DA47}"/>
              </a:ext>
            </a:extLst>
          </p:cNvPr>
          <p:cNvCxnSpPr/>
          <p:nvPr/>
        </p:nvCxnSpPr>
        <p:spPr bwMode="auto">
          <a:xfrm>
            <a:off x="7032104" y="384596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54E67AB-981D-4AD2-9320-AC85B3B66705}"/>
              </a:ext>
            </a:extLst>
          </p:cNvPr>
          <p:cNvCxnSpPr/>
          <p:nvPr/>
        </p:nvCxnSpPr>
        <p:spPr bwMode="auto">
          <a:xfrm>
            <a:off x="7032104" y="442203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8B497D8-F75D-4767-8842-95FB08B212B2}"/>
              </a:ext>
            </a:extLst>
          </p:cNvPr>
          <p:cNvCxnSpPr/>
          <p:nvPr/>
        </p:nvCxnSpPr>
        <p:spPr bwMode="auto">
          <a:xfrm>
            <a:off x="7032104" y="441953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CCD5E0E-7590-4386-9ADF-E4A6E5C45A99}"/>
              </a:ext>
            </a:extLst>
          </p:cNvPr>
          <p:cNvCxnSpPr/>
          <p:nvPr/>
        </p:nvCxnSpPr>
        <p:spPr bwMode="auto">
          <a:xfrm>
            <a:off x="7032104" y="499559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89FE49A-122E-4546-ACBB-687445D06858}"/>
              </a:ext>
            </a:extLst>
          </p:cNvPr>
          <p:cNvCxnSpPr/>
          <p:nvPr/>
        </p:nvCxnSpPr>
        <p:spPr bwMode="auto">
          <a:xfrm>
            <a:off x="7032104" y="5589240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4221E5E-E772-4D7C-9E4C-F826D9E005FC}"/>
              </a:ext>
            </a:extLst>
          </p:cNvPr>
          <p:cNvCxnSpPr/>
          <p:nvPr/>
        </p:nvCxnSpPr>
        <p:spPr bwMode="auto">
          <a:xfrm>
            <a:off x="7032104" y="616530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69FD3344-7978-475C-BEE8-FD752542AE14}"/>
              </a:ext>
            </a:extLst>
          </p:cNvPr>
          <p:cNvSpPr txBox="1"/>
          <p:nvPr/>
        </p:nvSpPr>
        <p:spPr>
          <a:xfrm>
            <a:off x="7036026" y="1385822"/>
            <a:ext cx="194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Example:  R0=n=3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6E22CE1-8F52-4C01-880E-72D74B2C13CC}"/>
              </a:ext>
            </a:extLst>
          </p:cNvPr>
          <p:cNvSpPr txBox="1"/>
          <p:nvPr/>
        </p:nvSpPr>
        <p:spPr>
          <a:xfrm>
            <a:off x="7356140" y="5634361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Caller’s R1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6F94317-434F-4A7A-BF97-C5E1D1C0DDBB}"/>
              </a:ext>
            </a:extLst>
          </p:cNvPr>
          <p:cNvSpPr txBox="1"/>
          <p:nvPr/>
        </p:nvSpPr>
        <p:spPr>
          <a:xfrm>
            <a:off x="6348328" y="3925439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Top </a:t>
            </a:r>
            <a:r>
              <a:rPr lang="en-US" altLang="zh-CN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DBC2CE-19D8-4A1E-83E0-238E30844415}"/>
              </a:ext>
            </a:extLst>
          </p:cNvPr>
          <p:cNvSpPr txBox="1"/>
          <p:nvPr/>
        </p:nvSpPr>
        <p:spPr>
          <a:xfrm>
            <a:off x="7680176" y="504071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A+1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24BA13C-E0C4-4EEA-8EEF-531625F62772}"/>
              </a:ext>
            </a:extLst>
          </p:cNvPr>
          <p:cNvSpPr txBox="1"/>
          <p:nvPr/>
        </p:nvSpPr>
        <p:spPr>
          <a:xfrm>
            <a:off x="7713107" y="448307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A33600-4257-48C8-8AFA-EA74BB619F7C}"/>
              </a:ext>
            </a:extLst>
          </p:cNvPr>
          <p:cNvSpPr txBox="1"/>
          <p:nvPr/>
        </p:nvSpPr>
        <p:spPr>
          <a:xfrm>
            <a:off x="8996966" y="4454732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R0=2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9778B69-6CAD-4AAE-AB75-1529912CD58C}"/>
              </a:ext>
            </a:extLst>
          </p:cNvPr>
          <p:cNvSpPr/>
          <p:nvPr/>
        </p:nvSpPr>
        <p:spPr>
          <a:xfrm>
            <a:off x="7680176" y="4029096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</a:rPr>
              <a:t>R1=2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03C539C-E0C9-4B5E-BE4F-CB7DEFC2D07F}"/>
              </a:ext>
            </a:extLst>
          </p:cNvPr>
          <p:cNvSpPr txBox="1"/>
          <p:nvPr/>
        </p:nvSpPr>
        <p:spPr>
          <a:xfrm>
            <a:off x="9041562" y="5639079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R1=2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23669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4D649-DF56-480F-90D8-5E680531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Recursive subroutine FACT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A59EA9-857E-4362-B1AF-CE456BF7E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300" b="0" dirty="0"/>
              <a:t>FACT        ADD R6,R6,#-1</a:t>
            </a:r>
          </a:p>
          <a:p>
            <a:r>
              <a:rPr lang="en-US" altLang="zh-CN" sz="1300" b="0" dirty="0"/>
              <a:t>                STR R1,R6,#0 ; Push Caller’s R1 on the stack, so we can use R1.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</a:t>
            </a:r>
            <a:r>
              <a:rPr lang="en-US" altLang="zh-CN" sz="1300" b="0" dirty="0">
                <a:solidFill>
                  <a:srgbClr val="0000FF"/>
                </a:solidFill>
              </a:rPr>
              <a:t>ADD R1,R0,#-1 </a:t>
            </a:r>
            <a:r>
              <a:rPr lang="en-US" altLang="zh-CN" sz="1300" b="0" dirty="0"/>
              <a:t>; If n=1, we are done since 1! = 1</a:t>
            </a:r>
          </a:p>
          <a:p>
            <a:r>
              <a:rPr lang="en-US" altLang="zh-CN" sz="1300" b="0" dirty="0"/>
              <a:t>                </a:t>
            </a:r>
            <a:r>
              <a:rPr lang="en-US" altLang="zh-CN" sz="1300" b="0" dirty="0" err="1"/>
              <a:t>BRz</a:t>
            </a:r>
            <a:r>
              <a:rPr lang="en-US" altLang="zh-CN" sz="1300" b="0" dirty="0"/>
              <a:t> NO_RECURSE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</a:t>
            </a:r>
            <a:r>
              <a:rPr lang="en-US" altLang="zh-CN" sz="1300" b="0" dirty="0">
                <a:solidFill>
                  <a:srgbClr val="0000FF"/>
                </a:solidFill>
              </a:rPr>
              <a:t>ADD R6,R6,#-1</a:t>
            </a:r>
          </a:p>
          <a:p>
            <a:r>
              <a:rPr lang="en-US" altLang="zh-CN" sz="1300" b="0" dirty="0"/>
              <a:t>                 </a:t>
            </a:r>
            <a:r>
              <a:rPr lang="en-US" altLang="zh-CN" sz="1300" b="0" dirty="0">
                <a:solidFill>
                  <a:srgbClr val="0000FF"/>
                </a:solidFill>
              </a:rPr>
              <a:t>STR R7,R6,#0 </a:t>
            </a:r>
            <a:r>
              <a:rPr lang="en-US" altLang="zh-CN" sz="1300" b="0" dirty="0"/>
              <a:t>; Push return linkage onto stack</a:t>
            </a:r>
          </a:p>
          <a:p>
            <a:r>
              <a:rPr lang="en-US" altLang="zh-CN" sz="1300" b="0" dirty="0"/>
              <a:t>                 ADD R6,R6,#-1</a:t>
            </a:r>
          </a:p>
          <a:p>
            <a:r>
              <a:rPr lang="en-US" altLang="zh-CN" sz="1300" b="0" dirty="0"/>
              <a:t>                 STR R0,R6,#0 ; Push n on the stack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ADD R0,R0,#-1 ; Form n-1, argument of JSR</a:t>
            </a:r>
          </a:p>
          <a:p>
            <a:r>
              <a:rPr lang="en-US" altLang="zh-CN" sz="1300" b="0" dirty="0"/>
              <a:t>        B       JSR FACT</a:t>
            </a:r>
          </a:p>
          <a:p>
            <a:r>
              <a:rPr lang="en-US" altLang="zh-CN" sz="1300" b="0" dirty="0"/>
              <a:t>                 LDR R1,R6,#0 ; Pop n from the stack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pt-BR" altLang="zh-CN" sz="1300" b="0" dirty="0"/>
              <a:t>                 MUL R0,R0,R1 ; form n*(n-1)!</a:t>
            </a:r>
          </a:p>
          <a:p>
            <a:r>
              <a:rPr lang="en-US" altLang="zh-CN" sz="1300" b="0" dirty="0"/>
              <a:t>;</a:t>
            </a:r>
          </a:p>
          <a:p>
            <a:r>
              <a:rPr lang="pt-BR" altLang="zh-CN" sz="1300" b="0" dirty="0"/>
              <a:t>                 LDR R7,R6,#0 ; Pop return linkage into R7</a:t>
            </a:r>
          </a:p>
          <a:p>
            <a:r>
              <a:rPr lang="en-US" altLang="zh-CN" sz="1300" b="0" dirty="0"/>
              <a:t>                 ADD R6,R6,#1</a:t>
            </a:r>
          </a:p>
          <a:p>
            <a:pPr marL="0" indent="0">
              <a:buNone/>
            </a:pPr>
            <a:r>
              <a:rPr lang="pt-BR" altLang="zh-CN" sz="1300" b="0" dirty="0"/>
              <a:t> NO_RECURSE LDR R1,R6,#0 ; Pop caller’s R1 back into R1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en-US" altLang="zh-CN" sz="1300" b="0" dirty="0"/>
              <a:t>                 RET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0CC2CB-E69F-45C7-9FA2-DF32A790D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C25EE6-8BCB-4BF7-ACAC-AB84C8CA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DA9CD5-A16D-4BB2-AD76-B79E221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EEE471-6B1E-4840-B614-09A135727CA4}"/>
              </a:ext>
            </a:extLst>
          </p:cNvPr>
          <p:cNvSpPr/>
          <p:nvPr/>
        </p:nvSpPr>
        <p:spPr bwMode="auto">
          <a:xfrm>
            <a:off x="7032104" y="1979463"/>
            <a:ext cx="1944216" cy="417646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A0F6E72-6963-404A-83D0-E532AC0D2396}"/>
              </a:ext>
            </a:extLst>
          </p:cNvPr>
          <p:cNvCxnSpPr/>
          <p:nvPr/>
        </p:nvCxnSpPr>
        <p:spPr bwMode="auto">
          <a:xfrm>
            <a:off x="7032104" y="267626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4545F15-E305-4B5F-BEEE-E5710B0C5113}"/>
              </a:ext>
            </a:extLst>
          </p:cNvPr>
          <p:cNvCxnSpPr/>
          <p:nvPr/>
        </p:nvCxnSpPr>
        <p:spPr bwMode="auto">
          <a:xfrm>
            <a:off x="7032104" y="3252326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61727FB-DCF6-4E30-B556-611286C9DA47}"/>
              </a:ext>
            </a:extLst>
          </p:cNvPr>
          <p:cNvCxnSpPr/>
          <p:nvPr/>
        </p:nvCxnSpPr>
        <p:spPr bwMode="auto">
          <a:xfrm>
            <a:off x="7032104" y="384596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54E67AB-981D-4AD2-9320-AC85B3B66705}"/>
              </a:ext>
            </a:extLst>
          </p:cNvPr>
          <p:cNvCxnSpPr/>
          <p:nvPr/>
        </p:nvCxnSpPr>
        <p:spPr bwMode="auto">
          <a:xfrm>
            <a:off x="7032104" y="442203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8B497D8-F75D-4767-8842-95FB08B212B2}"/>
              </a:ext>
            </a:extLst>
          </p:cNvPr>
          <p:cNvCxnSpPr/>
          <p:nvPr/>
        </p:nvCxnSpPr>
        <p:spPr bwMode="auto">
          <a:xfrm>
            <a:off x="7032104" y="441953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CCD5E0E-7590-4386-9ADF-E4A6E5C45A99}"/>
              </a:ext>
            </a:extLst>
          </p:cNvPr>
          <p:cNvCxnSpPr/>
          <p:nvPr/>
        </p:nvCxnSpPr>
        <p:spPr bwMode="auto">
          <a:xfrm>
            <a:off x="7032104" y="499559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89FE49A-122E-4546-ACBB-687445D06858}"/>
              </a:ext>
            </a:extLst>
          </p:cNvPr>
          <p:cNvCxnSpPr/>
          <p:nvPr/>
        </p:nvCxnSpPr>
        <p:spPr bwMode="auto">
          <a:xfrm>
            <a:off x="7032104" y="5589240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4221E5E-E772-4D7C-9E4C-F826D9E005FC}"/>
              </a:ext>
            </a:extLst>
          </p:cNvPr>
          <p:cNvCxnSpPr/>
          <p:nvPr/>
        </p:nvCxnSpPr>
        <p:spPr bwMode="auto">
          <a:xfrm>
            <a:off x="7032104" y="616530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69FD3344-7978-475C-BEE8-FD752542AE14}"/>
              </a:ext>
            </a:extLst>
          </p:cNvPr>
          <p:cNvSpPr txBox="1"/>
          <p:nvPr/>
        </p:nvSpPr>
        <p:spPr>
          <a:xfrm>
            <a:off x="7036026" y="1385822"/>
            <a:ext cx="194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Example:  R0=n=3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6E22CE1-8F52-4C01-880E-72D74B2C13CC}"/>
              </a:ext>
            </a:extLst>
          </p:cNvPr>
          <p:cNvSpPr txBox="1"/>
          <p:nvPr/>
        </p:nvSpPr>
        <p:spPr>
          <a:xfrm>
            <a:off x="7356140" y="5634361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Caller’s R1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6F94317-434F-4A7A-BF97-C5E1D1C0DDBB}"/>
              </a:ext>
            </a:extLst>
          </p:cNvPr>
          <p:cNvSpPr txBox="1"/>
          <p:nvPr/>
        </p:nvSpPr>
        <p:spPr>
          <a:xfrm>
            <a:off x="6333958" y="3330150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Top </a:t>
            </a:r>
            <a:r>
              <a:rPr lang="en-US" altLang="zh-CN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DBC2CE-19D8-4A1E-83E0-238E30844415}"/>
              </a:ext>
            </a:extLst>
          </p:cNvPr>
          <p:cNvSpPr txBox="1"/>
          <p:nvPr/>
        </p:nvSpPr>
        <p:spPr>
          <a:xfrm>
            <a:off x="7680176" y="504071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A+1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24BA13C-E0C4-4EEA-8EEF-531625F62772}"/>
              </a:ext>
            </a:extLst>
          </p:cNvPr>
          <p:cNvSpPr txBox="1"/>
          <p:nvPr/>
        </p:nvSpPr>
        <p:spPr>
          <a:xfrm>
            <a:off x="7713107" y="448307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A33600-4257-48C8-8AFA-EA74BB619F7C}"/>
              </a:ext>
            </a:extLst>
          </p:cNvPr>
          <p:cNvSpPr txBox="1"/>
          <p:nvPr/>
        </p:nvSpPr>
        <p:spPr>
          <a:xfrm>
            <a:off x="8995597" y="4479547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R0=2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9778B69-6CAD-4AAE-AB75-1529912CD58C}"/>
              </a:ext>
            </a:extLst>
          </p:cNvPr>
          <p:cNvSpPr/>
          <p:nvPr/>
        </p:nvSpPr>
        <p:spPr>
          <a:xfrm>
            <a:off x="7680176" y="4029096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R1=2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03C539C-E0C9-4B5E-BE4F-CB7DEFC2D07F}"/>
              </a:ext>
            </a:extLst>
          </p:cNvPr>
          <p:cNvSpPr txBox="1"/>
          <p:nvPr/>
        </p:nvSpPr>
        <p:spPr>
          <a:xfrm>
            <a:off x="9009251" y="3373386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</a:rPr>
              <a:t>R1=R0-1=1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9C039B-77E2-4055-9A32-3130577719A8}"/>
              </a:ext>
            </a:extLst>
          </p:cNvPr>
          <p:cNvSpPr/>
          <p:nvPr/>
        </p:nvSpPr>
        <p:spPr>
          <a:xfrm>
            <a:off x="7672917" y="3415154"/>
            <a:ext cx="4700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B+1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8273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4D649-DF56-480F-90D8-5E680531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Recursive subroutine FACT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A59EA9-857E-4362-B1AF-CE456BF7E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300" b="0" dirty="0"/>
              <a:t>FACT        ADD R6,R6,#-1</a:t>
            </a:r>
          </a:p>
          <a:p>
            <a:r>
              <a:rPr lang="en-US" altLang="zh-CN" sz="1300" b="0" dirty="0"/>
              <a:t>                STR R1,R6,#0 ; Push Caller’s R1 on the stack, so we can use R1.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ADD R1,R0,#-1 ; If n=1, we are done since 1! = 1</a:t>
            </a:r>
          </a:p>
          <a:p>
            <a:r>
              <a:rPr lang="en-US" altLang="zh-CN" sz="1300" b="0" dirty="0"/>
              <a:t>                </a:t>
            </a:r>
            <a:r>
              <a:rPr lang="en-US" altLang="zh-CN" sz="1300" b="0" dirty="0" err="1"/>
              <a:t>BRz</a:t>
            </a:r>
            <a:r>
              <a:rPr lang="en-US" altLang="zh-CN" sz="1300" b="0" dirty="0"/>
              <a:t> NO_RECURSE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ADD R6,R6,#-1</a:t>
            </a:r>
          </a:p>
          <a:p>
            <a:r>
              <a:rPr lang="en-US" altLang="zh-CN" sz="1300" b="0" dirty="0"/>
              <a:t>                 STR R7,R6,#0 ; Push return linkage onto stack</a:t>
            </a:r>
          </a:p>
          <a:p>
            <a:r>
              <a:rPr lang="en-US" altLang="zh-CN" sz="1300" b="0" dirty="0"/>
              <a:t>                 </a:t>
            </a:r>
            <a:r>
              <a:rPr lang="en-US" altLang="zh-CN" sz="1300" b="0" dirty="0">
                <a:solidFill>
                  <a:srgbClr val="0000FF"/>
                </a:solidFill>
              </a:rPr>
              <a:t>ADD R6,R6,#-1</a:t>
            </a:r>
          </a:p>
          <a:p>
            <a:r>
              <a:rPr lang="en-US" altLang="zh-CN" sz="1300" b="0" dirty="0">
                <a:solidFill>
                  <a:srgbClr val="0000FF"/>
                </a:solidFill>
              </a:rPr>
              <a:t>                 STR R0,R6,#0 </a:t>
            </a:r>
            <a:r>
              <a:rPr lang="en-US" altLang="zh-CN" sz="1300" b="0" dirty="0"/>
              <a:t>; Push n on the stack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</a:t>
            </a:r>
            <a:r>
              <a:rPr lang="en-US" altLang="zh-CN" sz="1300" b="0" dirty="0">
                <a:solidFill>
                  <a:srgbClr val="0000FF"/>
                </a:solidFill>
              </a:rPr>
              <a:t>ADD R0,R0,#-1 </a:t>
            </a:r>
            <a:r>
              <a:rPr lang="en-US" altLang="zh-CN" sz="1300" b="0" dirty="0"/>
              <a:t>; Form n-1, argument of JSR</a:t>
            </a:r>
          </a:p>
          <a:p>
            <a:r>
              <a:rPr lang="en-US" altLang="zh-CN" sz="1300" b="0" dirty="0"/>
              <a:t>        B       JSR FACT</a:t>
            </a:r>
          </a:p>
          <a:p>
            <a:r>
              <a:rPr lang="en-US" altLang="zh-CN" sz="1300" b="0" dirty="0"/>
              <a:t>                 LDR R1,R6,#0 ; Pop n from the stack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pt-BR" altLang="zh-CN" sz="1300" b="0" dirty="0"/>
              <a:t>                 MUL R0,R0,R1 ; form n*(n-1)!</a:t>
            </a:r>
          </a:p>
          <a:p>
            <a:r>
              <a:rPr lang="en-US" altLang="zh-CN" sz="1300" b="0" dirty="0"/>
              <a:t>;</a:t>
            </a:r>
          </a:p>
          <a:p>
            <a:r>
              <a:rPr lang="pt-BR" altLang="zh-CN" sz="1300" b="0" dirty="0"/>
              <a:t>                 LDR R7,R6,#0 ; Pop return linkage into R7</a:t>
            </a:r>
          </a:p>
          <a:p>
            <a:r>
              <a:rPr lang="en-US" altLang="zh-CN" sz="1300" b="0" dirty="0"/>
              <a:t>                 ADD R6,R6,#1</a:t>
            </a:r>
          </a:p>
          <a:p>
            <a:pPr marL="0" indent="0">
              <a:buNone/>
            </a:pPr>
            <a:r>
              <a:rPr lang="pt-BR" altLang="zh-CN" sz="1300" b="0" dirty="0"/>
              <a:t> NO_RECURSE LDR R1,R6,#0 ; Pop caller’s R1 back into R1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en-US" altLang="zh-CN" sz="1300" b="0" dirty="0"/>
              <a:t>                 RET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0CC2CB-E69F-45C7-9FA2-DF32A790D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C25EE6-8BCB-4BF7-ACAC-AB84C8CA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DA9CD5-A16D-4BB2-AD76-B79E221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12</a:t>
            </a:fld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EEE471-6B1E-4840-B614-09A135727CA4}"/>
              </a:ext>
            </a:extLst>
          </p:cNvPr>
          <p:cNvSpPr/>
          <p:nvPr/>
        </p:nvSpPr>
        <p:spPr bwMode="auto">
          <a:xfrm>
            <a:off x="7032104" y="1979463"/>
            <a:ext cx="1944216" cy="417646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A0F6E72-6963-404A-83D0-E532AC0D2396}"/>
              </a:ext>
            </a:extLst>
          </p:cNvPr>
          <p:cNvCxnSpPr/>
          <p:nvPr/>
        </p:nvCxnSpPr>
        <p:spPr bwMode="auto">
          <a:xfrm>
            <a:off x="7032104" y="267626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4545F15-E305-4B5F-BEEE-E5710B0C5113}"/>
              </a:ext>
            </a:extLst>
          </p:cNvPr>
          <p:cNvCxnSpPr/>
          <p:nvPr/>
        </p:nvCxnSpPr>
        <p:spPr bwMode="auto">
          <a:xfrm>
            <a:off x="7032104" y="3252326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61727FB-DCF6-4E30-B556-611286C9DA47}"/>
              </a:ext>
            </a:extLst>
          </p:cNvPr>
          <p:cNvCxnSpPr/>
          <p:nvPr/>
        </p:nvCxnSpPr>
        <p:spPr bwMode="auto">
          <a:xfrm>
            <a:off x="7032104" y="384596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54E67AB-981D-4AD2-9320-AC85B3B66705}"/>
              </a:ext>
            </a:extLst>
          </p:cNvPr>
          <p:cNvCxnSpPr/>
          <p:nvPr/>
        </p:nvCxnSpPr>
        <p:spPr bwMode="auto">
          <a:xfrm>
            <a:off x="7032104" y="442203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8B497D8-F75D-4767-8842-95FB08B212B2}"/>
              </a:ext>
            </a:extLst>
          </p:cNvPr>
          <p:cNvCxnSpPr/>
          <p:nvPr/>
        </p:nvCxnSpPr>
        <p:spPr bwMode="auto">
          <a:xfrm>
            <a:off x="7032104" y="441953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CCD5E0E-7590-4386-9ADF-E4A6E5C45A99}"/>
              </a:ext>
            </a:extLst>
          </p:cNvPr>
          <p:cNvCxnSpPr/>
          <p:nvPr/>
        </p:nvCxnSpPr>
        <p:spPr bwMode="auto">
          <a:xfrm>
            <a:off x="7032104" y="499559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89FE49A-122E-4546-ACBB-687445D06858}"/>
              </a:ext>
            </a:extLst>
          </p:cNvPr>
          <p:cNvCxnSpPr/>
          <p:nvPr/>
        </p:nvCxnSpPr>
        <p:spPr bwMode="auto">
          <a:xfrm>
            <a:off x="7032104" y="5589240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4221E5E-E772-4D7C-9E4C-F826D9E005FC}"/>
              </a:ext>
            </a:extLst>
          </p:cNvPr>
          <p:cNvCxnSpPr/>
          <p:nvPr/>
        </p:nvCxnSpPr>
        <p:spPr bwMode="auto">
          <a:xfrm>
            <a:off x="7032104" y="616530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69FD3344-7978-475C-BEE8-FD752542AE14}"/>
              </a:ext>
            </a:extLst>
          </p:cNvPr>
          <p:cNvSpPr txBox="1"/>
          <p:nvPr/>
        </p:nvSpPr>
        <p:spPr>
          <a:xfrm>
            <a:off x="7036026" y="1385822"/>
            <a:ext cx="194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Example:  R0=n=3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6E22CE1-8F52-4C01-880E-72D74B2C13CC}"/>
              </a:ext>
            </a:extLst>
          </p:cNvPr>
          <p:cNvSpPr txBox="1"/>
          <p:nvPr/>
        </p:nvSpPr>
        <p:spPr>
          <a:xfrm>
            <a:off x="7356140" y="5634361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Caller’s R1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6F94317-434F-4A7A-BF97-C5E1D1C0DDBB}"/>
              </a:ext>
            </a:extLst>
          </p:cNvPr>
          <p:cNvSpPr txBox="1"/>
          <p:nvPr/>
        </p:nvSpPr>
        <p:spPr>
          <a:xfrm>
            <a:off x="6323741" y="2721935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Top </a:t>
            </a:r>
            <a:r>
              <a:rPr lang="en-US" altLang="zh-CN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DBC2CE-19D8-4A1E-83E0-238E30844415}"/>
              </a:ext>
            </a:extLst>
          </p:cNvPr>
          <p:cNvSpPr txBox="1"/>
          <p:nvPr/>
        </p:nvSpPr>
        <p:spPr>
          <a:xfrm>
            <a:off x="7680176" y="504071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A+1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24BA13C-E0C4-4EEA-8EEF-531625F62772}"/>
              </a:ext>
            </a:extLst>
          </p:cNvPr>
          <p:cNvSpPr txBox="1"/>
          <p:nvPr/>
        </p:nvSpPr>
        <p:spPr>
          <a:xfrm>
            <a:off x="7713107" y="448307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9778B69-6CAD-4AAE-AB75-1529912CD58C}"/>
              </a:ext>
            </a:extLst>
          </p:cNvPr>
          <p:cNvSpPr/>
          <p:nvPr/>
        </p:nvSpPr>
        <p:spPr>
          <a:xfrm>
            <a:off x="7680176" y="4029096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R1=2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03C539C-E0C9-4B5E-BE4F-CB7DEFC2D07F}"/>
              </a:ext>
            </a:extLst>
          </p:cNvPr>
          <p:cNvSpPr txBox="1"/>
          <p:nvPr/>
        </p:nvSpPr>
        <p:spPr>
          <a:xfrm>
            <a:off x="9009251" y="3373386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R1=R0-1=1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9C039B-77E2-4055-9A32-3130577719A8}"/>
              </a:ext>
            </a:extLst>
          </p:cNvPr>
          <p:cNvSpPr/>
          <p:nvPr/>
        </p:nvSpPr>
        <p:spPr>
          <a:xfrm>
            <a:off x="7672917" y="3415154"/>
            <a:ext cx="4700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B+1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6230E68-1DD1-4AF8-AEA7-7523B8F4B7F0}"/>
              </a:ext>
            </a:extLst>
          </p:cNvPr>
          <p:cNvSpPr/>
          <p:nvPr/>
        </p:nvSpPr>
        <p:spPr>
          <a:xfrm>
            <a:off x="7623531" y="2761267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R0=2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DB3D282-DCBD-47AA-8F20-4CBD2315004B}"/>
              </a:ext>
            </a:extLst>
          </p:cNvPr>
          <p:cNvSpPr txBox="1"/>
          <p:nvPr/>
        </p:nvSpPr>
        <p:spPr>
          <a:xfrm>
            <a:off x="9091845" y="2651029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</a:rPr>
              <a:t>R0=1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048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4D649-DF56-480F-90D8-5E680531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Recursive subroutine FACT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A59EA9-857E-4362-B1AF-CE456BF7E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8" y="981075"/>
            <a:ext cx="8569076" cy="5481638"/>
          </a:xfrm>
        </p:spPr>
        <p:txBody>
          <a:bodyPr/>
          <a:lstStyle/>
          <a:p>
            <a:r>
              <a:rPr lang="en-US" altLang="zh-CN" sz="1300" b="0" dirty="0"/>
              <a:t>FACT        ADD R6,R6,#-1</a:t>
            </a:r>
          </a:p>
          <a:p>
            <a:r>
              <a:rPr lang="en-US" altLang="zh-CN" sz="1300" b="0" dirty="0"/>
              <a:t>                STR R1,R6,#0 ; Push Caller’s R1 on the stack, so we can use R1.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</a:t>
            </a:r>
            <a:r>
              <a:rPr lang="en-US" altLang="zh-CN" sz="1300" b="0" dirty="0">
                <a:solidFill>
                  <a:schemeClr val="accent1"/>
                </a:solidFill>
              </a:rPr>
              <a:t>ADD R1,R0,#-1 ; </a:t>
            </a:r>
            <a:r>
              <a:rPr lang="en-US" altLang="zh-CN" sz="1300" b="0" dirty="0"/>
              <a:t>If n=1, we are done since 1! = 1</a:t>
            </a:r>
          </a:p>
          <a:p>
            <a:r>
              <a:rPr lang="en-US" altLang="zh-CN" sz="1300" b="0" dirty="0">
                <a:solidFill>
                  <a:schemeClr val="accent1"/>
                </a:solidFill>
              </a:rPr>
              <a:t>                </a:t>
            </a:r>
            <a:r>
              <a:rPr lang="en-US" altLang="zh-CN" sz="1300" b="0" dirty="0" err="1">
                <a:solidFill>
                  <a:schemeClr val="accent1"/>
                </a:solidFill>
              </a:rPr>
              <a:t>BRz</a:t>
            </a:r>
            <a:r>
              <a:rPr lang="en-US" altLang="zh-CN" sz="1300" b="0" dirty="0">
                <a:solidFill>
                  <a:schemeClr val="accent1"/>
                </a:solidFill>
              </a:rPr>
              <a:t> NO_RECURSE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ADD R6,R6,#-1</a:t>
            </a:r>
          </a:p>
          <a:p>
            <a:r>
              <a:rPr lang="en-US" altLang="zh-CN" sz="1300" b="0" dirty="0"/>
              <a:t>                 STR R7,R6,#0 ; Push return linkage onto stack</a:t>
            </a:r>
          </a:p>
          <a:p>
            <a:r>
              <a:rPr lang="en-US" altLang="zh-CN" sz="1300" b="0" dirty="0"/>
              <a:t>                 ADD R6,R6,#-1</a:t>
            </a:r>
          </a:p>
          <a:p>
            <a:r>
              <a:rPr lang="en-US" altLang="zh-CN" sz="1300" b="0" dirty="0"/>
              <a:t>                 STR R0,R6,#0 ; Push n on the stack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ADD R0,R0,#-1</a:t>
            </a:r>
            <a:r>
              <a:rPr lang="en-US" altLang="zh-CN" sz="1300" b="0" dirty="0">
                <a:solidFill>
                  <a:srgbClr val="0000FF"/>
                </a:solidFill>
              </a:rPr>
              <a:t> </a:t>
            </a:r>
            <a:r>
              <a:rPr lang="en-US" altLang="zh-CN" sz="1300" b="0" dirty="0"/>
              <a:t>; Form n-1, argument of JSR</a:t>
            </a:r>
          </a:p>
          <a:p>
            <a:r>
              <a:rPr lang="en-US" altLang="zh-CN" sz="1300" b="0" dirty="0"/>
              <a:t>        B       JSR FACT</a:t>
            </a:r>
          </a:p>
          <a:p>
            <a:r>
              <a:rPr lang="en-US" altLang="zh-CN" sz="1300" b="0" dirty="0"/>
              <a:t>                 LDR R1,R6,#0 ; Pop n from the stack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pt-BR" altLang="zh-CN" sz="1300" b="0" dirty="0"/>
              <a:t>                 MUL R0,R0,R1 ; form n*(n-1)!</a:t>
            </a:r>
          </a:p>
          <a:p>
            <a:r>
              <a:rPr lang="en-US" altLang="zh-CN" sz="1300" b="0" dirty="0"/>
              <a:t>;</a:t>
            </a:r>
          </a:p>
          <a:p>
            <a:r>
              <a:rPr lang="pt-BR" altLang="zh-CN" sz="1300" b="0" dirty="0"/>
              <a:t>                 LDR R7,R6,#0 ; Pop return linkage into R7</a:t>
            </a:r>
          </a:p>
          <a:p>
            <a:r>
              <a:rPr lang="en-US" altLang="zh-CN" sz="1300" b="0" dirty="0"/>
              <a:t>                 ADD R6,R6,#1</a:t>
            </a:r>
          </a:p>
          <a:p>
            <a:pPr marL="0" indent="0">
              <a:buNone/>
            </a:pPr>
            <a:r>
              <a:rPr lang="pt-BR" altLang="zh-CN" sz="1300" b="0" dirty="0"/>
              <a:t> NO_RECURSE LDR R1,R6,#0 ; Pop caller’s R1 back into R1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en-US" altLang="zh-CN" sz="1300" b="0" dirty="0"/>
              <a:t>                 RET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0CC2CB-E69F-45C7-9FA2-DF32A790D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C25EE6-8BCB-4BF7-ACAC-AB84C8CA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DA9CD5-A16D-4BB2-AD76-B79E221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13</a:t>
            </a:fld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EEE471-6B1E-4840-B614-09A135727CA4}"/>
              </a:ext>
            </a:extLst>
          </p:cNvPr>
          <p:cNvSpPr/>
          <p:nvPr/>
        </p:nvSpPr>
        <p:spPr bwMode="auto">
          <a:xfrm>
            <a:off x="7032104" y="1979463"/>
            <a:ext cx="1944216" cy="417646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A0F6E72-6963-404A-83D0-E532AC0D2396}"/>
              </a:ext>
            </a:extLst>
          </p:cNvPr>
          <p:cNvCxnSpPr/>
          <p:nvPr/>
        </p:nvCxnSpPr>
        <p:spPr bwMode="auto">
          <a:xfrm>
            <a:off x="7032104" y="267626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4545F15-E305-4B5F-BEEE-E5710B0C5113}"/>
              </a:ext>
            </a:extLst>
          </p:cNvPr>
          <p:cNvCxnSpPr/>
          <p:nvPr/>
        </p:nvCxnSpPr>
        <p:spPr bwMode="auto">
          <a:xfrm>
            <a:off x="7032104" y="3252326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61727FB-DCF6-4E30-B556-611286C9DA47}"/>
              </a:ext>
            </a:extLst>
          </p:cNvPr>
          <p:cNvCxnSpPr/>
          <p:nvPr/>
        </p:nvCxnSpPr>
        <p:spPr bwMode="auto">
          <a:xfrm>
            <a:off x="7032104" y="384596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54E67AB-981D-4AD2-9320-AC85B3B66705}"/>
              </a:ext>
            </a:extLst>
          </p:cNvPr>
          <p:cNvCxnSpPr/>
          <p:nvPr/>
        </p:nvCxnSpPr>
        <p:spPr bwMode="auto">
          <a:xfrm>
            <a:off x="7032104" y="442203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8B497D8-F75D-4767-8842-95FB08B212B2}"/>
              </a:ext>
            </a:extLst>
          </p:cNvPr>
          <p:cNvCxnSpPr/>
          <p:nvPr/>
        </p:nvCxnSpPr>
        <p:spPr bwMode="auto">
          <a:xfrm>
            <a:off x="7032104" y="441953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CCD5E0E-7590-4386-9ADF-E4A6E5C45A99}"/>
              </a:ext>
            </a:extLst>
          </p:cNvPr>
          <p:cNvCxnSpPr/>
          <p:nvPr/>
        </p:nvCxnSpPr>
        <p:spPr bwMode="auto">
          <a:xfrm>
            <a:off x="7032104" y="499559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89FE49A-122E-4546-ACBB-687445D06858}"/>
              </a:ext>
            </a:extLst>
          </p:cNvPr>
          <p:cNvCxnSpPr/>
          <p:nvPr/>
        </p:nvCxnSpPr>
        <p:spPr bwMode="auto">
          <a:xfrm>
            <a:off x="7032104" y="5589240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4221E5E-E772-4D7C-9E4C-F826D9E005FC}"/>
              </a:ext>
            </a:extLst>
          </p:cNvPr>
          <p:cNvCxnSpPr/>
          <p:nvPr/>
        </p:nvCxnSpPr>
        <p:spPr bwMode="auto">
          <a:xfrm>
            <a:off x="7032104" y="616530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69FD3344-7978-475C-BEE8-FD752542AE14}"/>
              </a:ext>
            </a:extLst>
          </p:cNvPr>
          <p:cNvSpPr txBox="1"/>
          <p:nvPr/>
        </p:nvSpPr>
        <p:spPr>
          <a:xfrm>
            <a:off x="7036026" y="1385822"/>
            <a:ext cx="194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Example:  R0=n=3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6E22CE1-8F52-4C01-880E-72D74B2C13CC}"/>
              </a:ext>
            </a:extLst>
          </p:cNvPr>
          <p:cNvSpPr txBox="1"/>
          <p:nvPr/>
        </p:nvSpPr>
        <p:spPr>
          <a:xfrm>
            <a:off x="7356140" y="5634361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Caller’s R1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6F94317-434F-4A7A-BF97-C5E1D1C0DDBB}"/>
              </a:ext>
            </a:extLst>
          </p:cNvPr>
          <p:cNvSpPr txBox="1"/>
          <p:nvPr/>
        </p:nvSpPr>
        <p:spPr>
          <a:xfrm>
            <a:off x="6314732" y="2077847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Top </a:t>
            </a:r>
            <a:r>
              <a:rPr lang="en-US" altLang="zh-CN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DBC2CE-19D8-4A1E-83E0-238E30844415}"/>
              </a:ext>
            </a:extLst>
          </p:cNvPr>
          <p:cNvSpPr txBox="1"/>
          <p:nvPr/>
        </p:nvSpPr>
        <p:spPr>
          <a:xfrm>
            <a:off x="7680176" y="504071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A+1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24BA13C-E0C4-4EEA-8EEF-531625F62772}"/>
              </a:ext>
            </a:extLst>
          </p:cNvPr>
          <p:cNvSpPr txBox="1"/>
          <p:nvPr/>
        </p:nvSpPr>
        <p:spPr>
          <a:xfrm>
            <a:off x="7713107" y="448307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9778B69-6CAD-4AAE-AB75-1529912CD58C}"/>
              </a:ext>
            </a:extLst>
          </p:cNvPr>
          <p:cNvSpPr/>
          <p:nvPr/>
        </p:nvSpPr>
        <p:spPr>
          <a:xfrm>
            <a:off x="7680176" y="4029096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R1=2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9C039B-77E2-4055-9A32-3130577719A8}"/>
              </a:ext>
            </a:extLst>
          </p:cNvPr>
          <p:cNvSpPr/>
          <p:nvPr/>
        </p:nvSpPr>
        <p:spPr>
          <a:xfrm>
            <a:off x="7672917" y="3415154"/>
            <a:ext cx="4700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B+1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6230E68-1DD1-4AF8-AEA7-7523B8F4B7F0}"/>
              </a:ext>
            </a:extLst>
          </p:cNvPr>
          <p:cNvSpPr/>
          <p:nvPr/>
        </p:nvSpPr>
        <p:spPr>
          <a:xfrm>
            <a:off x="7623531" y="2761267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R0=2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DB3D282-DCBD-47AA-8F20-4CBD2315004B}"/>
              </a:ext>
            </a:extLst>
          </p:cNvPr>
          <p:cNvSpPr txBox="1"/>
          <p:nvPr/>
        </p:nvSpPr>
        <p:spPr>
          <a:xfrm>
            <a:off x="9091845" y="2651029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R0=1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6522B7-F8CF-4A3C-8E40-C65A2151E7F5}"/>
              </a:ext>
            </a:extLst>
          </p:cNvPr>
          <p:cNvSpPr/>
          <p:nvPr/>
        </p:nvSpPr>
        <p:spPr>
          <a:xfrm>
            <a:off x="7671777" y="2201003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R1=1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5457D46-06E6-4298-9B0B-BD39A1901D3E}"/>
              </a:ext>
            </a:extLst>
          </p:cNvPr>
          <p:cNvSpPr txBox="1"/>
          <p:nvPr/>
        </p:nvSpPr>
        <p:spPr>
          <a:xfrm>
            <a:off x="8997103" y="1940067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R1=R0-1=0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9525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4D649-DF56-480F-90D8-5E680531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Recursive subroutine FACT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A59EA9-857E-4362-B1AF-CE456BF7E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8" y="981075"/>
            <a:ext cx="8569076" cy="5481638"/>
          </a:xfrm>
        </p:spPr>
        <p:txBody>
          <a:bodyPr/>
          <a:lstStyle/>
          <a:p>
            <a:r>
              <a:rPr lang="en-US" altLang="zh-CN" sz="1300" b="0" dirty="0"/>
              <a:t>FACT        ADD R6,R6,#-1</a:t>
            </a:r>
          </a:p>
          <a:p>
            <a:r>
              <a:rPr lang="en-US" altLang="zh-CN" sz="1300" b="0" dirty="0"/>
              <a:t>                STR R1,R6,#0 ; Push Caller’s R1 on the stack, so we can use R1.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ADD R1,R0,#-1 ; If n=1, we are done since 1! = 1</a:t>
            </a:r>
          </a:p>
          <a:p>
            <a:r>
              <a:rPr lang="en-US" altLang="zh-CN" sz="1300" b="0" dirty="0"/>
              <a:t>                </a:t>
            </a:r>
            <a:r>
              <a:rPr lang="en-US" altLang="zh-CN" sz="1300" b="0" dirty="0" err="1"/>
              <a:t>BRz</a:t>
            </a:r>
            <a:r>
              <a:rPr lang="en-US" altLang="zh-CN" sz="1300" b="0" dirty="0"/>
              <a:t> NO_RECURSE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ADD R6,R6,#-1</a:t>
            </a:r>
          </a:p>
          <a:p>
            <a:r>
              <a:rPr lang="en-US" altLang="zh-CN" sz="1300" b="0" dirty="0"/>
              <a:t>                 STR R7,R6,#0 ; Push return linkage onto stack</a:t>
            </a:r>
          </a:p>
          <a:p>
            <a:r>
              <a:rPr lang="en-US" altLang="zh-CN" sz="1300" b="0" dirty="0"/>
              <a:t>                 ADD R6,R6,#-1</a:t>
            </a:r>
          </a:p>
          <a:p>
            <a:r>
              <a:rPr lang="en-US" altLang="zh-CN" sz="1300" b="0" dirty="0"/>
              <a:t>                 STR R0,R6,#0 ; Push n on the stack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ADD R0,R0,#-1</a:t>
            </a:r>
            <a:r>
              <a:rPr lang="en-US" altLang="zh-CN" sz="1300" b="0" dirty="0">
                <a:solidFill>
                  <a:srgbClr val="0000FF"/>
                </a:solidFill>
              </a:rPr>
              <a:t> </a:t>
            </a:r>
            <a:r>
              <a:rPr lang="en-US" altLang="zh-CN" sz="1300" b="0" dirty="0"/>
              <a:t>; Form n-1, argument of JSR</a:t>
            </a:r>
          </a:p>
          <a:p>
            <a:r>
              <a:rPr lang="en-US" altLang="zh-CN" sz="1300" b="0" dirty="0"/>
              <a:t>        B       JSR FACT</a:t>
            </a:r>
          </a:p>
          <a:p>
            <a:r>
              <a:rPr lang="en-US" altLang="zh-CN" sz="1300" b="0" dirty="0"/>
              <a:t>                 LDR R1,R6,#0 ; Pop n from the stack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pt-BR" altLang="zh-CN" sz="1300" b="0" dirty="0"/>
              <a:t>                 MUL R0,R0,R1 ; form n*(n-1)!</a:t>
            </a:r>
          </a:p>
          <a:p>
            <a:r>
              <a:rPr lang="en-US" altLang="zh-CN" sz="1300" b="0" dirty="0"/>
              <a:t>;</a:t>
            </a:r>
          </a:p>
          <a:p>
            <a:r>
              <a:rPr lang="pt-BR" altLang="zh-CN" sz="1300" b="0" dirty="0"/>
              <a:t>                 LDR R7,R6,#0 ; Pop return linkage into R7</a:t>
            </a:r>
          </a:p>
          <a:p>
            <a:r>
              <a:rPr lang="en-US" altLang="zh-CN" sz="1300" b="0" dirty="0"/>
              <a:t>                 ADD R6,R6,#1</a:t>
            </a:r>
          </a:p>
          <a:p>
            <a:pPr marL="0" indent="0">
              <a:buNone/>
            </a:pPr>
            <a:r>
              <a:rPr lang="pt-BR" altLang="zh-CN" sz="1300" b="0" dirty="0"/>
              <a:t> </a:t>
            </a:r>
            <a:r>
              <a:rPr lang="pt-BR" altLang="zh-CN" sz="1300" b="0" dirty="0">
                <a:solidFill>
                  <a:srgbClr val="0000FF"/>
                </a:solidFill>
              </a:rPr>
              <a:t>NO_RECURSE LDR R1,R6,#0 ; Pop caller’s R1 back into R1</a:t>
            </a:r>
          </a:p>
          <a:p>
            <a:r>
              <a:rPr lang="en-US" altLang="zh-CN" sz="1300" b="0" dirty="0"/>
              <a:t>                 </a:t>
            </a:r>
            <a:r>
              <a:rPr lang="en-US" altLang="zh-CN" sz="1300" b="0" dirty="0">
                <a:solidFill>
                  <a:srgbClr val="0000FF"/>
                </a:solidFill>
              </a:rPr>
              <a:t>ADD R6,R6,#1</a:t>
            </a:r>
          </a:p>
          <a:p>
            <a:r>
              <a:rPr lang="en-US" altLang="zh-CN" sz="1300" b="0" dirty="0"/>
              <a:t>                 RET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0CC2CB-E69F-45C7-9FA2-DF32A790D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C25EE6-8BCB-4BF7-ACAC-AB84C8CA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DA9CD5-A16D-4BB2-AD76-B79E221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14</a:t>
            </a:fld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EEE471-6B1E-4840-B614-09A135727CA4}"/>
              </a:ext>
            </a:extLst>
          </p:cNvPr>
          <p:cNvSpPr/>
          <p:nvPr/>
        </p:nvSpPr>
        <p:spPr bwMode="auto">
          <a:xfrm>
            <a:off x="7032104" y="1979463"/>
            <a:ext cx="1944216" cy="417646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A0F6E72-6963-404A-83D0-E532AC0D2396}"/>
              </a:ext>
            </a:extLst>
          </p:cNvPr>
          <p:cNvCxnSpPr/>
          <p:nvPr/>
        </p:nvCxnSpPr>
        <p:spPr bwMode="auto">
          <a:xfrm>
            <a:off x="7032104" y="267626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4545F15-E305-4B5F-BEEE-E5710B0C5113}"/>
              </a:ext>
            </a:extLst>
          </p:cNvPr>
          <p:cNvCxnSpPr/>
          <p:nvPr/>
        </p:nvCxnSpPr>
        <p:spPr bwMode="auto">
          <a:xfrm>
            <a:off x="7032104" y="3252326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61727FB-DCF6-4E30-B556-611286C9DA47}"/>
              </a:ext>
            </a:extLst>
          </p:cNvPr>
          <p:cNvCxnSpPr/>
          <p:nvPr/>
        </p:nvCxnSpPr>
        <p:spPr bwMode="auto">
          <a:xfrm>
            <a:off x="7032104" y="384596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54E67AB-981D-4AD2-9320-AC85B3B66705}"/>
              </a:ext>
            </a:extLst>
          </p:cNvPr>
          <p:cNvCxnSpPr/>
          <p:nvPr/>
        </p:nvCxnSpPr>
        <p:spPr bwMode="auto">
          <a:xfrm>
            <a:off x="7032104" y="442203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8B497D8-F75D-4767-8842-95FB08B212B2}"/>
              </a:ext>
            </a:extLst>
          </p:cNvPr>
          <p:cNvCxnSpPr/>
          <p:nvPr/>
        </p:nvCxnSpPr>
        <p:spPr bwMode="auto">
          <a:xfrm>
            <a:off x="7032104" y="441953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CCD5E0E-7590-4386-9ADF-E4A6E5C45A99}"/>
              </a:ext>
            </a:extLst>
          </p:cNvPr>
          <p:cNvCxnSpPr/>
          <p:nvPr/>
        </p:nvCxnSpPr>
        <p:spPr bwMode="auto">
          <a:xfrm>
            <a:off x="7032104" y="499559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89FE49A-122E-4546-ACBB-687445D06858}"/>
              </a:ext>
            </a:extLst>
          </p:cNvPr>
          <p:cNvCxnSpPr/>
          <p:nvPr/>
        </p:nvCxnSpPr>
        <p:spPr bwMode="auto">
          <a:xfrm>
            <a:off x="7032104" y="5589240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4221E5E-E772-4D7C-9E4C-F826D9E005FC}"/>
              </a:ext>
            </a:extLst>
          </p:cNvPr>
          <p:cNvCxnSpPr/>
          <p:nvPr/>
        </p:nvCxnSpPr>
        <p:spPr bwMode="auto">
          <a:xfrm>
            <a:off x="7032104" y="616530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69FD3344-7978-475C-BEE8-FD752542AE14}"/>
              </a:ext>
            </a:extLst>
          </p:cNvPr>
          <p:cNvSpPr txBox="1"/>
          <p:nvPr/>
        </p:nvSpPr>
        <p:spPr>
          <a:xfrm>
            <a:off x="7036026" y="1385822"/>
            <a:ext cx="194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Example:  R0=n=3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6E22CE1-8F52-4C01-880E-72D74B2C13CC}"/>
              </a:ext>
            </a:extLst>
          </p:cNvPr>
          <p:cNvSpPr txBox="1"/>
          <p:nvPr/>
        </p:nvSpPr>
        <p:spPr>
          <a:xfrm>
            <a:off x="7356140" y="5634361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Caller’s R1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6F94317-434F-4A7A-BF97-C5E1D1C0DDBB}"/>
              </a:ext>
            </a:extLst>
          </p:cNvPr>
          <p:cNvSpPr txBox="1"/>
          <p:nvPr/>
        </p:nvSpPr>
        <p:spPr>
          <a:xfrm>
            <a:off x="6327387" y="2764494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Top </a:t>
            </a:r>
            <a:r>
              <a:rPr lang="en-US" altLang="zh-CN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DBC2CE-19D8-4A1E-83E0-238E30844415}"/>
              </a:ext>
            </a:extLst>
          </p:cNvPr>
          <p:cNvSpPr txBox="1"/>
          <p:nvPr/>
        </p:nvSpPr>
        <p:spPr>
          <a:xfrm>
            <a:off x="7680176" y="504071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A+1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24BA13C-E0C4-4EEA-8EEF-531625F62772}"/>
              </a:ext>
            </a:extLst>
          </p:cNvPr>
          <p:cNvSpPr txBox="1"/>
          <p:nvPr/>
        </p:nvSpPr>
        <p:spPr>
          <a:xfrm>
            <a:off x="7713107" y="448307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9778B69-6CAD-4AAE-AB75-1529912CD58C}"/>
              </a:ext>
            </a:extLst>
          </p:cNvPr>
          <p:cNvSpPr/>
          <p:nvPr/>
        </p:nvSpPr>
        <p:spPr>
          <a:xfrm>
            <a:off x="7680176" y="4029096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R1=2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9C039B-77E2-4055-9A32-3130577719A8}"/>
              </a:ext>
            </a:extLst>
          </p:cNvPr>
          <p:cNvSpPr/>
          <p:nvPr/>
        </p:nvSpPr>
        <p:spPr>
          <a:xfrm>
            <a:off x="7672917" y="3415154"/>
            <a:ext cx="4700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B+1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6230E68-1DD1-4AF8-AEA7-7523B8F4B7F0}"/>
              </a:ext>
            </a:extLst>
          </p:cNvPr>
          <p:cNvSpPr/>
          <p:nvPr/>
        </p:nvSpPr>
        <p:spPr>
          <a:xfrm>
            <a:off x="7623531" y="2761267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R0=2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DB3D282-DCBD-47AA-8F20-4CBD2315004B}"/>
              </a:ext>
            </a:extLst>
          </p:cNvPr>
          <p:cNvSpPr txBox="1"/>
          <p:nvPr/>
        </p:nvSpPr>
        <p:spPr>
          <a:xfrm>
            <a:off x="9091845" y="2651029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R0=1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6522B7-F8CF-4A3C-8E40-C65A2151E7F5}"/>
              </a:ext>
            </a:extLst>
          </p:cNvPr>
          <p:cNvSpPr/>
          <p:nvPr/>
        </p:nvSpPr>
        <p:spPr>
          <a:xfrm>
            <a:off x="7671777" y="2201003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R1=1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5457D46-06E6-4298-9B0B-BD39A1901D3E}"/>
              </a:ext>
            </a:extLst>
          </p:cNvPr>
          <p:cNvSpPr txBox="1"/>
          <p:nvPr/>
        </p:nvSpPr>
        <p:spPr>
          <a:xfrm>
            <a:off x="8997103" y="1940067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</a:rPr>
              <a:t>R1=1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3628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4D649-DF56-480F-90D8-5E680531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Recursive subroutine FACT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A59EA9-857E-4362-B1AF-CE456BF7E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8" y="981075"/>
            <a:ext cx="8569076" cy="5481638"/>
          </a:xfrm>
        </p:spPr>
        <p:txBody>
          <a:bodyPr/>
          <a:lstStyle/>
          <a:p>
            <a:r>
              <a:rPr lang="en-US" altLang="zh-CN" sz="1300" b="0" dirty="0"/>
              <a:t>FACT        ADD R6,R6,#-1</a:t>
            </a:r>
          </a:p>
          <a:p>
            <a:r>
              <a:rPr lang="en-US" altLang="zh-CN" sz="1300" b="0" dirty="0"/>
              <a:t>                STR R1,R6,#0 ; Push Caller’s R1 on the stack, so we can use R1.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ADD R1,R0,#-1 ; If n=1, we are done since 1! = 1</a:t>
            </a:r>
          </a:p>
          <a:p>
            <a:r>
              <a:rPr lang="en-US" altLang="zh-CN" sz="1300" b="0" dirty="0"/>
              <a:t>                </a:t>
            </a:r>
            <a:r>
              <a:rPr lang="en-US" altLang="zh-CN" sz="1300" b="0" dirty="0" err="1"/>
              <a:t>BRz</a:t>
            </a:r>
            <a:r>
              <a:rPr lang="en-US" altLang="zh-CN" sz="1300" b="0" dirty="0"/>
              <a:t> NO_RECURSE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ADD R6,R6,#-1</a:t>
            </a:r>
          </a:p>
          <a:p>
            <a:r>
              <a:rPr lang="en-US" altLang="zh-CN" sz="1300" b="0" dirty="0"/>
              <a:t>                 STR R7,R6,#0 ; Push return linkage onto stack</a:t>
            </a:r>
          </a:p>
          <a:p>
            <a:r>
              <a:rPr lang="en-US" altLang="zh-CN" sz="1300" b="0" dirty="0"/>
              <a:t>                 ADD R6,R6,#-1</a:t>
            </a:r>
          </a:p>
          <a:p>
            <a:r>
              <a:rPr lang="en-US" altLang="zh-CN" sz="1300" b="0" dirty="0"/>
              <a:t>                 STR R0,R6,#0 ; Push n on the stack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ADD R0,R0,#-1</a:t>
            </a:r>
            <a:r>
              <a:rPr lang="en-US" altLang="zh-CN" sz="1300" b="0" dirty="0">
                <a:solidFill>
                  <a:srgbClr val="0000FF"/>
                </a:solidFill>
              </a:rPr>
              <a:t> </a:t>
            </a:r>
            <a:r>
              <a:rPr lang="en-US" altLang="zh-CN" sz="1300" b="0" dirty="0"/>
              <a:t>; Form n-1, argument of JSR</a:t>
            </a:r>
          </a:p>
          <a:p>
            <a:r>
              <a:rPr lang="en-US" altLang="zh-CN" sz="1300" b="0" dirty="0"/>
              <a:t>        B       JSR FACT</a:t>
            </a:r>
          </a:p>
          <a:p>
            <a:r>
              <a:rPr lang="en-US" altLang="zh-CN" sz="1300" b="0" dirty="0"/>
              <a:t>                 </a:t>
            </a:r>
            <a:r>
              <a:rPr lang="en-US" altLang="zh-CN" sz="1300" b="0" dirty="0">
                <a:solidFill>
                  <a:srgbClr val="0000FF"/>
                </a:solidFill>
              </a:rPr>
              <a:t>LDR R1,R6,#0 ; Pop n from the stack</a:t>
            </a:r>
          </a:p>
          <a:p>
            <a:r>
              <a:rPr lang="en-US" altLang="zh-CN" sz="1300" b="0" dirty="0">
                <a:solidFill>
                  <a:srgbClr val="0000FF"/>
                </a:solidFill>
              </a:rPr>
              <a:t>                 ADD R6,R6,#1</a:t>
            </a:r>
          </a:p>
          <a:p>
            <a:r>
              <a:rPr lang="pt-BR" altLang="zh-CN" sz="1300" b="0" dirty="0"/>
              <a:t>                 MUL R0,R0,R1 ; form n*(n-1)!</a:t>
            </a:r>
          </a:p>
          <a:p>
            <a:r>
              <a:rPr lang="en-US" altLang="zh-CN" sz="1300" b="0" dirty="0"/>
              <a:t>;</a:t>
            </a:r>
          </a:p>
          <a:p>
            <a:r>
              <a:rPr lang="pt-BR" altLang="zh-CN" sz="1300" b="0" dirty="0"/>
              <a:t>                 LDR R7,R6,#0 ; Pop return linkage into R7</a:t>
            </a:r>
          </a:p>
          <a:p>
            <a:r>
              <a:rPr lang="en-US" altLang="zh-CN" sz="1300" b="0" dirty="0"/>
              <a:t>                 ADD R6,R6,#1</a:t>
            </a:r>
          </a:p>
          <a:p>
            <a:pPr marL="0" indent="0">
              <a:buNone/>
            </a:pPr>
            <a:r>
              <a:rPr lang="pt-BR" altLang="zh-CN" sz="1300" b="0" dirty="0"/>
              <a:t> NO_RECURSE LDR R1,R6,#0 ; Pop caller’s R1 back into R1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en-US" altLang="zh-CN" sz="1300" b="0" dirty="0">
                <a:solidFill>
                  <a:srgbClr val="0000FF"/>
                </a:solidFill>
              </a:rPr>
              <a:t>                 </a:t>
            </a:r>
            <a:r>
              <a:rPr lang="en-US" altLang="zh-CN" sz="1300" b="0" dirty="0"/>
              <a:t>RET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0CC2CB-E69F-45C7-9FA2-DF32A790D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C25EE6-8BCB-4BF7-ACAC-AB84C8CA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DA9CD5-A16D-4BB2-AD76-B79E221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15</a:t>
            </a:fld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EEE471-6B1E-4840-B614-09A135727CA4}"/>
              </a:ext>
            </a:extLst>
          </p:cNvPr>
          <p:cNvSpPr/>
          <p:nvPr/>
        </p:nvSpPr>
        <p:spPr bwMode="auto">
          <a:xfrm>
            <a:off x="7032104" y="1979463"/>
            <a:ext cx="1944216" cy="417646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A0F6E72-6963-404A-83D0-E532AC0D2396}"/>
              </a:ext>
            </a:extLst>
          </p:cNvPr>
          <p:cNvCxnSpPr/>
          <p:nvPr/>
        </p:nvCxnSpPr>
        <p:spPr bwMode="auto">
          <a:xfrm>
            <a:off x="7032104" y="267626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4545F15-E305-4B5F-BEEE-E5710B0C5113}"/>
              </a:ext>
            </a:extLst>
          </p:cNvPr>
          <p:cNvCxnSpPr/>
          <p:nvPr/>
        </p:nvCxnSpPr>
        <p:spPr bwMode="auto">
          <a:xfrm>
            <a:off x="7032104" y="3252326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61727FB-DCF6-4E30-B556-611286C9DA47}"/>
              </a:ext>
            </a:extLst>
          </p:cNvPr>
          <p:cNvCxnSpPr/>
          <p:nvPr/>
        </p:nvCxnSpPr>
        <p:spPr bwMode="auto">
          <a:xfrm>
            <a:off x="7032104" y="384596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54E67AB-981D-4AD2-9320-AC85B3B66705}"/>
              </a:ext>
            </a:extLst>
          </p:cNvPr>
          <p:cNvCxnSpPr/>
          <p:nvPr/>
        </p:nvCxnSpPr>
        <p:spPr bwMode="auto">
          <a:xfrm>
            <a:off x="7032104" y="442203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8B497D8-F75D-4767-8842-95FB08B212B2}"/>
              </a:ext>
            </a:extLst>
          </p:cNvPr>
          <p:cNvCxnSpPr/>
          <p:nvPr/>
        </p:nvCxnSpPr>
        <p:spPr bwMode="auto">
          <a:xfrm>
            <a:off x="7032104" y="441953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CCD5E0E-7590-4386-9ADF-E4A6E5C45A99}"/>
              </a:ext>
            </a:extLst>
          </p:cNvPr>
          <p:cNvCxnSpPr/>
          <p:nvPr/>
        </p:nvCxnSpPr>
        <p:spPr bwMode="auto">
          <a:xfrm>
            <a:off x="7032104" y="499559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89FE49A-122E-4546-ACBB-687445D06858}"/>
              </a:ext>
            </a:extLst>
          </p:cNvPr>
          <p:cNvCxnSpPr/>
          <p:nvPr/>
        </p:nvCxnSpPr>
        <p:spPr bwMode="auto">
          <a:xfrm>
            <a:off x="7032104" y="5589240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4221E5E-E772-4D7C-9E4C-F826D9E005FC}"/>
              </a:ext>
            </a:extLst>
          </p:cNvPr>
          <p:cNvCxnSpPr/>
          <p:nvPr/>
        </p:nvCxnSpPr>
        <p:spPr bwMode="auto">
          <a:xfrm>
            <a:off x="7032104" y="616530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69FD3344-7978-475C-BEE8-FD752542AE14}"/>
              </a:ext>
            </a:extLst>
          </p:cNvPr>
          <p:cNvSpPr txBox="1"/>
          <p:nvPr/>
        </p:nvSpPr>
        <p:spPr>
          <a:xfrm>
            <a:off x="7036026" y="1385822"/>
            <a:ext cx="194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Example:  R0=n=3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6E22CE1-8F52-4C01-880E-72D74B2C13CC}"/>
              </a:ext>
            </a:extLst>
          </p:cNvPr>
          <p:cNvSpPr txBox="1"/>
          <p:nvPr/>
        </p:nvSpPr>
        <p:spPr>
          <a:xfrm>
            <a:off x="7356140" y="5634361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Caller’s R1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6F94317-434F-4A7A-BF97-C5E1D1C0DDBB}"/>
              </a:ext>
            </a:extLst>
          </p:cNvPr>
          <p:cNvSpPr txBox="1"/>
          <p:nvPr/>
        </p:nvSpPr>
        <p:spPr>
          <a:xfrm>
            <a:off x="6323741" y="3306365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Top </a:t>
            </a:r>
            <a:r>
              <a:rPr lang="en-US" altLang="zh-CN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DBC2CE-19D8-4A1E-83E0-238E30844415}"/>
              </a:ext>
            </a:extLst>
          </p:cNvPr>
          <p:cNvSpPr txBox="1"/>
          <p:nvPr/>
        </p:nvSpPr>
        <p:spPr>
          <a:xfrm>
            <a:off x="7680176" y="504071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A+1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24BA13C-E0C4-4EEA-8EEF-531625F62772}"/>
              </a:ext>
            </a:extLst>
          </p:cNvPr>
          <p:cNvSpPr txBox="1"/>
          <p:nvPr/>
        </p:nvSpPr>
        <p:spPr>
          <a:xfrm>
            <a:off x="7713107" y="448307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9778B69-6CAD-4AAE-AB75-1529912CD58C}"/>
              </a:ext>
            </a:extLst>
          </p:cNvPr>
          <p:cNvSpPr/>
          <p:nvPr/>
        </p:nvSpPr>
        <p:spPr>
          <a:xfrm>
            <a:off x="7680176" y="4029096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R1=2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9C039B-77E2-4055-9A32-3130577719A8}"/>
              </a:ext>
            </a:extLst>
          </p:cNvPr>
          <p:cNvSpPr/>
          <p:nvPr/>
        </p:nvSpPr>
        <p:spPr>
          <a:xfrm>
            <a:off x="7672917" y="3415154"/>
            <a:ext cx="4700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B+1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6230E68-1DD1-4AF8-AEA7-7523B8F4B7F0}"/>
              </a:ext>
            </a:extLst>
          </p:cNvPr>
          <p:cNvSpPr/>
          <p:nvPr/>
        </p:nvSpPr>
        <p:spPr>
          <a:xfrm>
            <a:off x="7623531" y="2761267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R0=2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DB3D282-DCBD-47AA-8F20-4CBD2315004B}"/>
              </a:ext>
            </a:extLst>
          </p:cNvPr>
          <p:cNvSpPr txBox="1"/>
          <p:nvPr/>
        </p:nvSpPr>
        <p:spPr>
          <a:xfrm>
            <a:off x="9083824" y="2665682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</a:rPr>
              <a:t>R0=1</a:t>
            </a:r>
            <a:r>
              <a:rPr lang="en-US" altLang="zh-CN" sz="2400" b="1" dirty="0">
                <a:solidFill>
                  <a:srgbClr val="0000FF"/>
                </a:solidFill>
              </a:rPr>
              <a:t> , R1=2  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6522B7-F8CF-4A3C-8E40-C65A2151E7F5}"/>
              </a:ext>
            </a:extLst>
          </p:cNvPr>
          <p:cNvSpPr/>
          <p:nvPr/>
        </p:nvSpPr>
        <p:spPr>
          <a:xfrm>
            <a:off x="7671777" y="2201003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R1=1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545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4D649-DF56-480F-90D8-5E680531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Recursive subroutine FACT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A59EA9-857E-4362-B1AF-CE456BF7E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8" y="981075"/>
            <a:ext cx="8569076" cy="5481638"/>
          </a:xfrm>
        </p:spPr>
        <p:txBody>
          <a:bodyPr/>
          <a:lstStyle/>
          <a:p>
            <a:r>
              <a:rPr lang="en-US" altLang="zh-CN" sz="1300" b="0" dirty="0"/>
              <a:t>FACT        ADD R6,R6,#-1</a:t>
            </a:r>
          </a:p>
          <a:p>
            <a:r>
              <a:rPr lang="en-US" altLang="zh-CN" sz="1300" b="0" dirty="0"/>
              <a:t>                STR R1,R6,#0 ; Push Caller’s R1 on the stack, so we can use R1.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ADD R1,R0,#-1 ; If n=1, we are done since 1! = 1</a:t>
            </a:r>
          </a:p>
          <a:p>
            <a:r>
              <a:rPr lang="en-US" altLang="zh-CN" sz="1300" b="0" dirty="0"/>
              <a:t>                </a:t>
            </a:r>
            <a:r>
              <a:rPr lang="en-US" altLang="zh-CN" sz="1300" b="0" dirty="0" err="1"/>
              <a:t>BRz</a:t>
            </a:r>
            <a:r>
              <a:rPr lang="en-US" altLang="zh-CN" sz="1300" b="0" dirty="0"/>
              <a:t> NO_RECURSE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ADD R6,R6,#-1</a:t>
            </a:r>
          </a:p>
          <a:p>
            <a:r>
              <a:rPr lang="en-US" altLang="zh-CN" sz="1300" b="0" dirty="0"/>
              <a:t>                 STR R7,R6,#0 ; Push return linkage onto stack</a:t>
            </a:r>
          </a:p>
          <a:p>
            <a:r>
              <a:rPr lang="en-US" altLang="zh-CN" sz="1300" b="0" dirty="0"/>
              <a:t>                 ADD R6,R6,#-1</a:t>
            </a:r>
          </a:p>
          <a:p>
            <a:r>
              <a:rPr lang="en-US" altLang="zh-CN" sz="1300" b="0" dirty="0"/>
              <a:t>                 STR R0,R6,#0 ; Push n on the stack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ADD R0,R0,#-1</a:t>
            </a:r>
            <a:r>
              <a:rPr lang="en-US" altLang="zh-CN" sz="1300" b="0" dirty="0">
                <a:solidFill>
                  <a:srgbClr val="0000FF"/>
                </a:solidFill>
              </a:rPr>
              <a:t> </a:t>
            </a:r>
            <a:r>
              <a:rPr lang="en-US" altLang="zh-CN" sz="1300" b="0" dirty="0"/>
              <a:t>; Form n-1, argument of JSR</a:t>
            </a:r>
          </a:p>
          <a:p>
            <a:r>
              <a:rPr lang="en-US" altLang="zh-CN" sz="1300" b="0" dirty="0"/>
              <a:t>        B       JSR FACT</a:t>
            </a:r>
          </a:p>
          <a:p>
            <a:r>
              <a:rPr lang="en-US" altLang="zh-CN" sz="1300" b="0" dirty="0"/>
              <a:t>                 LDR R1,R6,#0 ; Pop n from the stack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pt-BR" altLang="zh-CN" sz="1300" b="0" dirty="0"/>
              <a:t>                 </a:t>
            </a:r>
            <a:r>
              <a:rPr lang="pt-BR" altLang="zh-CN" sz="1300" b="0" dirty="0">
                <a:solidFill>
                  <a:srgbClr val="0000FF"/>
                </a:solidFill>
              </a:rPr>
              <a:t>MUL R0,R0,R1 ; form n*(n-1)!</a:t>
            </a:r>
          </a:p>
          <a:p>
            <a:r>
              <a:rPr lang="en-US" altLang="zh-CN" sz="1300" b="0" dirty="0"/>
              <a:t>;</a:t>
            </a:r>
          </a:p>
          <a:p>
            <a:r>
              <a:rPr lang="pt-BR" altLang="zh-CN" sz="1300" b="0" dirty="0"/>
              <a:t>                 LDR R7,R6,#0 ; Pop return linkage into R7</a:t>
            </a:r>
          </a:p>
          <a:p>
            <a:r>
              <a:rPr lang="en-US" altLang="zh-CN" sz="1300" b="0" dirty="0"/>
              <a:t>                 ADD R6,R6,#1</a:t>
            </a:r>
          </a:p>
          <a:p>
            <a:pPr marL="0" indent="0">
              <a:buNone/>
            </a:pPr>
            <a:r>
              <a:rPr lang="pt-BR" altLang="zh-CN" sz="1300" b="0" dirty="0"/>
              <a:t> NO_RECURSE LDR R1,R6,#0 ; Pop caller’s R1 back into R1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en-US" altLang="zh-CN" sz="1300" b="0" dirty="0">
                <a:solidFill>
                  <a:srgbClr val="0000FF"/>
                </a:solidFill>
              </a:rPr>
              <a:t>                 </a:t>
            </a:r>
            <a:r>
              <a:rPr lang="en-US" altLang="zh-CN" sz="1300" b="0" dirty="0"/>
              <a:t>RET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0CC2CB-E69F-45C7-9FA2-DF32A790D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C25EE6-8BCB-4BF7-ACAC-AB84C8CA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DA9CD5-A16D-4BB2-AD76-B79E221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16</a:t>
            </a:fld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EEE471-6B1E-4840-B614-09A135727CA4}"/>
              </a:ext>
            </a:extLst>
          </p:cNvPr>
          <p:cNvSpPr/>
          <p:nvPr/>
        </p:nvSpPr>
        <p:spPr bwMode="auto">
          <a:xfrm>
            <a:off x="7032104" y="1979463"/>
            <a:ext cx="1944216" cy="417646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A0F6E72-6963-404A-83D0-E532AC0D2396}"/>
              </a:ext>
            </a:extLst>
          </p:cNvPr>
          <p:cNvCxnSpPr/>
          <p:nvPr/>
        </p:nvCxnSpPr>
        <p:spPr bwMode="auto">
          <a:xfrm>
            <a:off x="7032104" y="267626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4545F15-E305-4B5F-BEEE-E5710B0C5113}"/>
              </a:ext>
            </a:extLst>
          </p:cNvPr>
          <p:cNvCxnSpPr/>
          <p:nvPr/>
        </p:nvCxnSpPr>
        <p:spPr bwMode="auto">
          <a:xfrm>
            <a:off x="7032104" y="3252326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61727FB-DCF6-4E30-B556-611286C9DA47}"/>
              </a:ext>
            </a:extLst>
          </p:cNvPr>
          <p:cNvCxnSpPr/>
          <p:nvPr/>
        </p:nvCxnSpPr>
        <p:spPr bwMode="auto">
          <a:xfrm>
            <a:off x="7032104" y="384596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54E67AB-981D-4AD2-9320-AC85B3B66705}"/>
              </a:ext>
            </a:extLst>
          </p:cNvPr>
          <p:cNvCxnSpPr/>
          <p:nvPr/>
        </p:nvCxnSpPr>
        <p:spPr bwMode="auto">
          <a:xfrm>
            <a:off x="7032104" y="442203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8B497D8-F75D-4767-8842-95FB08B212B2}"/>
              </a:ext>
            </a:extLst>
          </p:cNvPr>
          <p:cNvCxnSpPr/>
          <p:nvPr/>
        </p:nvCxnSpPr>
        <p:spPr bwMode="auto">
          <a:xfrm>
            <a:off x="7032104" y="441953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CCD5E0E-7590-4386-9ADF-E4A6E5C45A99}"/>
              </a:ext>
            </a:extLst>
          </p:cNvPr>
          <p:cNvCxnSpPr/>
          <p:nvPr/>
        </p:nvCxnSpPr>
        <p:spPr bwMode="auto">
          <a:xfrm>
            <a:off x="7032104" y="499559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89FE49A-122E-4546-ACBB-687445D06858}"/>
              </a:ext>
            </a:extLst>
          </p:cNvPr>
          <p:cNvCxnSpPr/>
          <p:nvPr/>
        </p:nvCxnSpPr>
        <p:spPr bwMode="auto">
          <a:xfrm>
            <a:off x="7032104" y="5589240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4221E5E-E772-4D7C-9E4C-F826D9E005FC}"/>
              </a:ext>
            </a:extLst>
          </p:cNvPr>
          <p:cNvCxnSpPr/>
          <p:nvPr/>
        </p:nvCxnSpPr>
        <p:spPr bwMode="auto">
          <a:xfrm>
            <a:off x="7032104" y="616530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69FD3344-7978-475C-BEE8-FD752542AE14}"/>
              </a:ext>
            </a:extLst>
          </p:cNvPr>
          <p:cNvSpPr txBox="1"/>
          <p:nvPr/>
        </p:nvSpPr>
        <p:spPr>
          <a:xfrm>
            <a:off x="7036026" y="1385822"/>
            <a:ext cx="194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Example:  R0=n=3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6E22CE1-8F52-4C01-880E-72D74B2C13CC}"/>
              </a:ext>
            </a:extLst>
          </p:cNvPr>
          <p:cNvSpPr txBox="1"/>
          <p:nvPr/>
        </p:nvSpPr>
        <p:spPr>
          <a:xfrm>
            <a:off x="7356140" y="5634361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Caller’s R1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6F94317-434F-4A7A-BF97-C5E1D1C0DDBB}"/>
              </a:ext>
            </a:extLst>
          </p:cNvPr>
          <p:cNvSpPr txBox="1"/>
          <p:nvPr/>
        </p:nvSpPr>
        <p:spPr>
          <a:xfrm>
            <a:off x="6323741" y="3306365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Top </a:t>
            </a:r>
            <a:r>
              <a:rPr lang="en-US" altLang="zh-CN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DBC2CE-19D8-4A1E-83E0-238E30844415}"/>
              </a:ext>
            </a:extLst>
          </p:cNvPr>
          <p:cNvSpPr txBox="1"/>
          <p:nvPr/>
        </p:nvSpPr>
        <p:spPr>
          <a:xfrm>
            <a:off x="7680176" y="504071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A+1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24BA13C-E0C4-4EEA-8EEF-531625F62772}"/>
              </a:ext>
            </a:extLst>
          </p:cNvPr>
          <p:cNvSpPr txBox="1"/>
          <p:nvPr/>
        </p:nvSpPr>
        <p:spPr>
          <a:xfrm>
            <a:off x="7713107" y="448307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9778B69-6CAD-4AAE-AB75-1529912CD58C}"/>
              </a:ext>
            </a:extLst>
          </p:cNvPr>
          <p:cNvSpPr/>
          <p:nvPr/>
        </p:nvSpPr>
        <p:spPr>
          <a:xfrm>
            <a:off x="7680176" y="4029096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R1=2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03C539C-E0C9-4B5E-BE4F-CB7DEFC2D07F}"/>
              </a:ext>
            </a:extLst>
          </p:cNvPr>
          <p:cNvSpPr txBox="1"/>
          <p:nvPr/>
        </p:nvSpPr>
        <p:spPr>
          <a:xfrm>
            <a:off x="9009251" y="3373387"/>
            <a:ext cx="1584176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R0=R0*R1=1*2=2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9C039B-77E2-4055-9A32-3130577719A8}"/>
              </a:ext>
            </a:extLst>
          </p:cNvPr>
          <p:cNvSpPr/>
          <p:nvPr/>
        </p:nvSpPr>
        <p:spPr>
          <a:xfrm>
            <a:off x="7672917" y="3415154"/>
            <a:ext cx="4700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B+1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6230E68-1DD1-4AF8-AEA7-7523B8F4B7F0}"/>
              </a:ext>
            </a:extLst>
          </p:cNvPr>
          <p:cNvSpPr/>
          <p:nvPr/>
        </p:nvSpPr>
        <p:spPr>
          <a:xfrm>
            <a:off x="7623531" y="2761267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R0=2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DB3D282-DCBD-47AA-8F20-4CBD2315004B}"/>
              </a:ext>
            </a:extLst>
          </p:cNvPr>
          <p:cNvSpPr txBox="1"/>
          <p:nvPr/>
        </p:nvSpPr>
        <p:spPr>
          <a:xfrm>
            <a:off x="9083824" y="2665682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R1=2  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6522B7-F8CF-4A3C-8E40-C65A2151E7F5}"/>
              </a:ext>
            </a:extLst>
          </p:cNvPr>
          <p:cNvSpPr/>
          <p:nvPr/>
        </p:nvSpPr>
        <p:spPr>
          <a:xfrm>
            <a:off x="7671777" y="2201003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R1=1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653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4D649-DF56-480F-90D8-5E680531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Recursive subroutine FACT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A59EA9-857E-4362-B1AF-CE456BF7E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8" y="981075"/>
            <a:ext cx="8569076" cy="5481638"/>
          </a:xfrm>
        </p:spPr>
        <p:txBody>
          <a:bodyPr/>
          <a:lstStyle/>
          <a:p>
            <a:r>
              <a:rPr lang="en-US" altLang="zh-CN" sz="1300" b="0" dirty="0"/>
              <a:t>FACT        ADD R6,R6,#-1</a:t>
            </a:r>
          </a:p>
          <a:p>
            <a:r>
              <a:rPr lang="en-US" altLang="zh-CN" sz="1300" b="0" dirty="0"/>
              <a:t>                STR R1,R6,#0 ; Push Caller’s R1 on the stack, so we can use R1.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ADD R1,R0,#-1 ; If n=1, we are done since 1! = 1</a:t>
            </a:r>
          </a:p>
          <a:p>
            <a:r>
              <a:rPr lang="en-US" altLang="zh-CN" sz="1300" b="0" dirty="0"/>
              <a:t>                </a:t>
            </a:r>
            <a:r>
              <a:rPr lang="en-US" altLang="zh-CN" sz="1300" b="0" dirty="0" err="1"/>
              <a:t>BRz</a:t>
            </a:r>
            <a:r>
              <a:rPr lang="en-US" altLang="zh-CN" sz="1300" b="0" dirty="0"/>
              <a:t> NO_RECURSE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ADD R6,R6,#-1</a:t>
            </a:r>
          </a:p>
          <a:p>
            <a:r>
              <a:rPr lang="en-US" altLang="zh-CN" sz="1300" b="0" dirty="0"/>
              <a:t>                 STR R7,R6,#0 ; Push return linkage onto stack</a:t>
            </a:r>
          </a:p>
          <a:p>
            <a:r>
              <a:rPr lang="en-US" altLang="zh-CN" sz="1300" b="0" dirty="0"/>
              <a:t>                 ADD R6,R6,#-1</a:t>
            </a:r>
          </a:p>
          <a:p>
            <a:r>
              <a:rPr lang="en-US" altLang="zh-CN" sz="1300" b="0" dirty="0"/>
              <a:t>                 STR R0,R6,#0 ; Push n on the stack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ADD R0,R0,#-1</a:t>
            </a:r>
            <a:r>
              <a:rPr lang="en-US" altLang="zh-CN" sz="1300" b="0" dirty="0">
                <a:solidFill>
                  <a:srgbClr val="0000FF"/>
                </a:solidFill>
              </a:rPr>
              <a:t> </a:t>
            </a:r>
            <a:r>
              <a:rPr lang="en-US" altLang="zh-CN" sz="1300" b="0" dirty="0"/>
              <a:t>; Form n-1, argument of JSR</a:t>
            </a:r>
          </a:p>
          <a:p>
            <a:r>
              <a:rPr lang="en-US" altLang="zh-CN" sz="1300" b="0" dirty="0"/>
              <a:t>        B       JSR FACT</a:t>
            </a:r>
          </a:p>
          <a:p>
            <a:r>
              <a:rPr lang="en-US" altLang="zh-CN" sz="1300" b="0" dirty="0"/>
              <a:t>                 LDR R1,R6,#0 ; Pop n from the stack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pt-BR" altLang="zh-CN" sz="1300" b="0" dirty="0"/>
              <a:t>                 MUL R0,R0,R1 ; form n*(n-1)!</a:t>
            </a:r>
          </a:p>
          <a:p>
            <a:r>
              <a:rPr lang="en-US" altLang="zh-CN" sz="1300" b="0" dirty="0"/>
              <a:t>;</a:t>
            </a:r>
          </a:p>
          <a:p>
            <a:r>
              <a:rPr lang="pt-BR" altLang="zh-CN" sz="1300" b="0" dirty="0"/>
              <a:t>                 </a:t>
            </a:r>
            <a:r>
              <a:rPr lang="pt-BR" altLang="zh-CN" sz="1300" b="0" dirty="0">
                <a:solidFill>
                  <a:srgbClr val="0000FF"/>
                </a:solidFill>
              </a:rPr>
              <a:t>LDR R7,R6,#0 ; Pop return linkage into R7</a:t>
            </a:r>
          </a:p>
          <a:p>
            <a:r>
              <a:rPr lang="en-US" altLang="zh-CN" sz="1300" b="0" dirty="0">
                <a:solidFill>
                  <a:srgbClr val="0000FF"/>
                </a:solidFill>
              </a:rPr>
              <a:t>                 ADD R6,R6,#1</a:t>
            </a:r>
          </a:p>
          <a:p>
            <a:pPr marL="0" indent="0">
              <a:buNone/>
            </a:pPr>
            <a:r>
              <a:rPr lang="pt-BR" altLang="zh-CN" sz="1300" b="0" dirty="0"/>
              <a:t> NO_RECURSE LDR R1,R6,#0 ; Pop caller’s R1 back into R1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en-US" altLang="zh-CN" sz="1300" b="0" dirty="0">
                <a:solidFill>
                  <a:srgbClr val="0000FF"/>
                </a:solidFill>
              </a:rPr>
              <a:t>                 </a:t>
            </a:r>
            <a:r>
              <a:rPr lang="en-US" altLang="zh-CN" sz="1300" b="0" dirty="0"/>
              <a:t>RET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0CC2CB-E69F-45C7-9FA2-DF32A790D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C25EE6-8BCB-4BF7-ACAC-AB84C8CA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DA9CD5-A16D-4BB2-AD76-B79E221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17</a:t>
            </a:fld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EEE471-6B1E-4840-B614-09A135727CA4}"/>
              </a:ext>
            </a:extLst>
          </p:cNvPr>
          <p:cNvSpPr/>
          <p:nvPr/>
        </p:nvSpPr>
        <p:spPr bwMode="auto">
          <a:xfrm>
            <a:off x="7032104" y="1979463"/>
            <a:ext cx="1944216" cy="417646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A0F6E72-6963-404A-83D0-E532AC0D2396}"/>
              </a:ext>
            </a:extLst>
          </p:cNvPr>
          <p:cNvCxnSpPr/>
          <p:nvPr/>
        </p:nvCxnSpPr>
        <p:spPr bwMode="auto">
          <a:xfrm>
            <a:off x="7032104" y="267626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4545F15-E305-4B5F-BEEE-E5710B0C5113}"/>
              </a:ext>
            </a:extLst>
          </p:cNvPr>
          <p:cNvCxnSpPr/>
          <p:nvPr/>
        </p:nvCxnSpPr>
        <p:spPr bwMode="auto">
          <a:xfrm>
            <a:off x="7032104" y="3252326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61727FB-DCF6-4E30-B556-611286C9DA47}"/>
              </a:ext>
            </a:extLst>
          </p:cNvPr>
          <p:cNvCxnSpPr/>
          <p:nvPr/>
        </p:nvCxnSpPr>
        <p:spPr bwMode="auto">
          <a:xfrm>
            <a:off x="7032104" y="384596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54E67AB-981D-4AD2-9320-AC85B3B66705}"/>
              </a:ext>
            </a:extLst>
          </p:cNvPr>
          <p:cNvCxnSpPr/>
          <p:nvPr/>
        </p:nvCxnSpPr>
        <p:spPr bwMode="auto">
          <a:xfrm>
            <a:off x="7032104" y="442203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8B497D8-F75D-4767-8842-95FB08B212B2}"/>
              </a:ext>
            </a:extLst>
          </p:cNvPr>
          <p:cNvCxnSpPr/>
          <p:nvPr/>
        </p:nvCxnSpPr>
        <p:spPr bwMode="auto">
          <a:xfrm>
            <a:off x="7032104" y="441953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CCD5E0E-7590-4386-9ADF-E4A6E5C45A99}"/>
              </a:ext>
            </a:extLst>
          </p:cNvPr>
          <p:cNvCxnSpPr/>
          <p:nvPr/>
        </p:nvCxnSpPr>
        <p:spPr bwMode="auto">
          <a:xfrm>
            <a:off x="7032104" y="499559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89FE49A-122E-4546-ACBB-687445D06858}"/>
              </a:ext>
            </a:extLst>
          </p:cNvPr>
          <p:cNvCxnSpPr/>
          <p:nvPr/>
        </p:nvCxnSpPr>
        <p:spPr bwMode="auto">
          <a:xfrm>
            <a:off x="7032104" y="5589240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4221E5E-E772-4D7C-9E4C-F826D9E005FC}"/>
              </a:ext>
            </a:extLst>
          </p:cNvPr>
          <p:cNvCxnSpPr/>
          <p:nvPr/>
        </p:nvCxnSpPr>
        <p:spPr bwMode="auto">
          <a:xfrm>
            <a:off x="7032104" y="616530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69FD3344-7978-475C-BEE8-FD752542AE14}"/>
              </a:ext>
            </a:extLst>
          </p:cNvPr>
          <p:cNvSpPr txBox="1"/>
          <p:nvPr/>
        </p:nvSpPr>
        <p:spPr>
          <a:xfrm>
            <a:off x="7036026" y="1385822"/>
            <a:ext cx="194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Example:  R0=n=3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6E22CE1-8F52-4C01-880E-72D74B2C13CC}"/>
              </a:ext>
            </a:extLst>
          </p:cNvPr>
          <p:cNvSpPr txBox="1"/>
          <p:nvPr/>
        </p:nvSpPr>
        <p:spPr>
          <a:xfrm>
            <a:off x="7356140" y="5634361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Caller’s R1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6F94317-434F-4A7A-BF97-C5E1D1C0DDBB}"/>
              </a:ext>
            </a:extLst>
          </p:cNvPr>
          <p:cNvSpPr txBox="1"/>
          <p:nvPr/>
        </p:nvSpPr>
        <p:spPr>
          <a:xfrm>
            <a:off x="6316835" y="3908002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Top </a:t>
            </a:r>
            <a:r>
              <a:rPr lang="en-US" altLang="zh-CN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DBC2CE-19D8-4A1E-83E0-238E30844415}"/>
              </a:ext>
            </a:extLst>
          </p:cNvPr>
          <p:cNvSpPr txBox="1"/>
          <p:nvPr/>
        </p:nvSpPr>
        <p:spPr>
          <a:xfrm>
            <a:off x="7680176" y="504071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A+1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24BA13C-E0C4-4EEA-8EEF-531625F62772}"/>
              </a:ext>
            </a:extLst>
          </p:cNvPr>
          <p:cNvSpPr txBox="1"/>
          <p:nvPr/>
        </p:nvSpPr>
        <p:spPr>
          <a:xfrm>
            <a:off x="7713107" y="448307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9778B69-6CAD-4AAE-AB75-1529912CD58C}"/>
              </a:ext>
            </a:extLst>
          </p:cNvPr>
          <p:cNvSpPr/>
          <p:nvPr/>
        </p:nvSpPr>
        <p:spPr>
          <a:xfrm>
            <a:off x="7680176" y="4029096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R1=2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03C539C-E0C9-4B5E-BE4F-CB7DEFC2D07F}"/>
              </a:ext>
            </a:extLst>
          </p:cNvPr>
          <p:cNvSpPr txBox="1"/>
          <p:nvPr/>
        </p:nvSpPr>
        <p:spPr>
          <a:xfrm>
            <a:off x="9075785" y="3380267"/>
            <a:ext cx="1584176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R0=R0*R1=1*2=2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9C039B-77E2-4055-9A32-3130577719A8}"/>
              </a:ext>
            </a:extLst>
          </p:cNvPr>
          <p:cNvSpPr/>
          <p:nvPr/>
        </p:nvSpPr>
        <p:spPr>
          <a:xfrm>
            <a:off x="7672917" y="3415154"/>
            <a:ext cx="4700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B+1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6230E68-1DD1-4AF8-AEA7-7523B8F4B7F0}"/>
              </a:ext>
            </a:extLst>
          </p:cNvPr>
          <p:cNvSpPr/>
          <p:nvPr/>
        </p:nvSpPr>
        <p:spPr>
          <a:xfrm>
            <a:off x="7623531" y="2761267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R0=2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DB3D282-DCBD-47AA-8F20-4CBD2315004B}"/>
              </a:ext>
            </a:extLst>
          </p:cNvPr>
          <p:cNvSpPr txBox="1"/>
          <p:nvPr/>
        </p:nvSpPr>
        <p:spPr>
          <a:xfrm>
            <a:off x="9083824" y="2665682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R1=2  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6522B7-F8CF-4A3C-8E40-C65A2151E7F5}"/>
              </a:ext>
            </a:extLst>
          </p:cNvPr>
          <p:cNvSpPr/>
          <p:nvPr/>
        </p:nvSpPr>
        <p:spPr>
          <a:xfrm>
            <a:off x="7671777" y="2201003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R1=1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103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4D649-DF56-480F-90D8-5E680531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Recursive subroutine FACT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A59EA9-857E-4362-B1AF-CE456BF7E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8" y="981075"/>
            <a:ext cx="8569076" cy="5481638"/>
          </a:xfrm>
        </p:spPr>
        <p:txBody>
          <a:bodyPr/>
          <a:lstStyle/>
          <a:p>
            <a:r>
              <a:rPr lang="en-US" altLang="zh-CN" sz="1300" b="0" dirty="0"/>
              <a:t>FACT        ADD R6,R6,#-1</a:t>
            </a:r>
          </a:p>
          <a:p>
            <a:r>
              <a:rPr lang="en-US" altLang="zh-CN" sz="1300" b="0" dirty="0"/>
              <a:t>                STR R1,R6,#0 ; Push Caller’s R1 on the stack, so we can use R1.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ADD R1,R0,#-1 ; If n=1, we are done since 1! = 1</a:t>
            </a:r>
          </a:p>
          <a:p>
            <a:r>
              <a:rPr lang="en-US" altLang="zh-CN" sz="1300" b="0" dirty="0"/>
              <a:t>                </a:t>
            </a:r>
            <a:r>
              <a:rPr lang="en-US" altLang="zh-CN" sz="1300" b="0" dirty="0" err="1"/>
              <a:t>BRz</a:t>
            </a:r>
            <a:r>
              <a:rPr lang="en-US" altLang="zh-CN" sz="1300" b="0" dirty="0"/>
              <a:t> NO_RECURSE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ADD R6,R6,#-1</a:t>
            </a:r>
          </a:p>
          <a:p>
            <a:r>
              <a:rPr lang="en-US" altLang="zh-CN" sz="1300" b="0" dirty="0"/>
              <a:t>                 STR R7,R6,#0 ; Push return linkage onto stack</a:t>
            </a:r>
          </a:p>
          <a:p>
            <a:r>
              <a:rPr lang="en-US" altLang="zh-CN" sz="1300" b="0" dirty="0"/>
              <a:t>                 ADD R6,R6,#-1</a:t>
            </a:r>
          </a:p>
          <a:p>
            <a:r>
              <a:rPr lang="en-US" altLang="zh-CN" sz="1300" b="0" dirty="0"/>
              <a:t>                 STR R0,R6,#0 ; Push n on the stack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ADD R0,R0,#-1</a:t>
            </a:r>
            <a:r>
              <a:rPr lang="en-US" altLang="zh-CN" sz="1300" b="0" dirty="0">
                <a:solidFill>
                  <a:srgbClr val="0000FF"/>
                </a:solidFill>
              </a:rPr>
              <a:t> </a:t>
            </a:r>
            <a:r>
              <a:rPr lang="en-US" altLang="zh-CN" sz="1300" b="0" dirty="0"/>
              <a:t>; Form n-1, argument of JSR</a:t>
            </a:r>
          </a:p>
          <a:p>
            <a:r>
              <a:rPr lang="en-US" altLang="zh-CN" sz="1300" b="0" dirty="0"/>
              <a:t>        B       JSR FACT</a:t>
            </a:r>
          </a:p>
          <a:p>
            <a:r>
              <a:rPr lang="en-US" altLang="zh-CN" sz="1300" b="0" dirty="0"/>
              <a:t>                 LDR R1,R6,#0 ; Pop n from the stack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pt-BR" altLang="zh-CN" sz="1300" b="0" dirty="0"/>
              <a:t>                 MUL R0,R0,R1 ; form n*(n-1)!</a:t>
            </a:r>
          </a:p>
          <a:p>
            <a:r>
              <a:rPr lang="en-US" altLang="zh-CN" sz="1300" b="0" dirty="0"/>
              <a:t>;</a:t>
            </a:r>
          </a:p>
          <a:p>
            <a:r>
              <a:rPr lang="pt-BR" altLang="zh-CN" sz="1300" b="0" dirty="0"/>
              <a:t>                 LDR R7,R6,#0 ; Pop return linkage into R7</a:t>
            </a:r>
          </a:p>
          <a:p>
            <a:r>
              <a:rPr lang="en-US" altLang="zh-CN" sz="1300" b="0" dirty="0"/>
              <a:t>                 ADD R6,R6,#1</a:t>
            </a:r>
          </a:p>
          <a:p>
            <a:pPr marL="0" indent="0">
              <a:buNone/>
            </a:pPr>
            <a:r>
              <a:rPr lang="pt-BR" altLang="zh-CN" sz="1300" b="0" dirty="0"/>
              <a:t> NO_RECURSE </a:t>
            </a:r>
            <a:r>
              <a:rPr lang="pt-BR" altLang="zh-CN" sz="1300" b="0" dirty="0">
                <a:solidFill>
                  <a:srgbClr val="0000FF"/>
                </a:solidFill>
              </a:rPr>
              <a:t>LDR R1,R6,#0 ; Pop caller’s R1 back into R1</a:t>
            </a:r>
          </a:p>
          <a:p>
            <a:r>
              <a:rPr lang="en-US" altLang="zh-CN" sz="1300" b="0" dirty="0">
                <a:solidFill>
                  <a:srgbClr val="0000FF"/>
                </a:solidFill>
              </a:rPr>
              <a:t>                 ADD R6,R6,#1</a:t>
            </a:r>
          </a:p>
          <a:p>
            <a:r>
              <a:rPr lang="en-US" altLang="zh-CN" sz="1300" b="0" dirty="0">
                <a:solidFill>
                  <a:srgbClr val="0000FF"/>
                </a:solidFill>
              </a:rPr>
              <a:t>                 </a:t>
            </a:r>
            <a:r>
              <a:rPr lang="en-US" altLang="zh-CN" sz="1300" b="0" dirty="0"/>
              <a:t>RET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0CC2CB-E69F-45C7-9FA2-DF32A790D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C25EE6-8BCB-4BF7-ACAC-AB84C8CA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DA9CD5-A16D-4BB2-AD76-B79E221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18</a:t>
            </a:fld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EEE471-6B1E-4840-B614-09A135727CA4}"/>
              </a:ext>
            </a:extLst>
          </p:cNvPr>
          <p:cNvSpPr/>
          <p:nvPr/>
        </p:nvSpPr>
        <p:spPr bwMode="auto">
          <a:xfrm>
            <a:off x="7032104" y="1979463"/>
            <a:ext cx="1944216" cy="417646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A0F6E72-6963-404A-83D0-E532AC0D2396}"/>
              </a:ext>
            </a:extLst>
          </p:cNvPr>
          <p:cNvCxnSpPr/>
          <p:nvPr/>
        </p:nvCxnSpPr>
        <p:spPr bwMode="auto">
          <a:xfrm>
            <a:off x="7032104" y="267626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4545F15-E305-4B5F-BEEE-E5710B0C5113}"/>
              </a:ext>
            </a:extLst>
          </p:cNvPr>
          <p:cNvCxnSpPr/>
          <p:nvPr/>
        </p:nvCxnSpPr>
        <p:spPr bwMode="auto">
          <a:xfrm>
            <a:off x="7032104" y="3252326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61727FB-DCF6-4E30-B556-611286C9DA47}"/>
              </a:ext>
            </a:extLst>
          </p:cNvPr>
          <p:cNvCxnSpPr/>
          <p:nvPr/>
        </p:nvCxnSpPr>
        <p:spPr bwMode="auto">
          <a:xfrm>
            <a:off x="7032104" y="384596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54E67AB-981D-4AD2-9320-AC85B3B66705}"/>
              </a:ext>
            </a:extLst>
          </p:cNvPr>
          <p:cNvCxnSpPr/>
          <p:nvPr/>
        </p:nvCxnSpPr>
        <p:spPr bwMode="auto">
          <a:xfrm>
            <a:off x="7032104" y="442203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8B497D8-F75D-4767-8842-95FB08B212B2}"/>
              </a:ext>
            </a:extLst>
          </p:cNvPr>
          <p:cNvCxnSpPr/>
          <p:nvPr/>
        </p:nvCxnSpPr>
        <p:spPr bwMode="auto">
          <a:xfrm>
            <a:off x="7032104" y="441953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CCD5E0E-7590-4386-9ADF-E4A6E5C45A99}"/>
              </a:ext>
            </a:extLst>
          </p:cNvPr>
          <p:cNvCxnSpPr/>
          <p:nvPr/>
        </p:nvCxnSpPr>
        <p:spPr bwMode="auto">
          <a:xfrm>
            <a:off x="7032104" y="499559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89FE49A-122E-4546-ACBB-687445D06858}"/>
              </a:ext>
            </a:extLst>
          </p:cNvPr>
          <p:cNvCxnSpPr/>
          <p:nvPr/>
        </p:nvCxnSpPr>
        <p:spPr bwMode="auto">
          <a:xfrm>
            <a:off x="7032104" y="5589240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4221E5E-E772-4D7C-9E4C-F826D9E005FC}"/>
              </a:ext>
            </a:extLst>
          </p:cNvPr>
          <p:cNvCxnSpPr/>
          <p:nvPr/>
        </p:nvCxnSpPr>
        <p:spPr bwMode="auto">
          <a:xfrm>
            <a:off x="7032104" y="616530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69FD3344-7978-475C-BEE8-FD752542AE14}"/>
              </a:ext>
            </a:extLst>
          </p:cNvPr>
          <p:cNvSpPr txBox="1"/>
          <p:nvPr/>
        </p:nvSpPr>
        <p:spPr>
          <a:xfrm>
            <a:off x="7036026" y="1385822"/>
            <a:ext cx="194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Example:  R0=n=3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6E22CE1-8F52-4C01-880E-72D74B2C13CC}"/>
              </a:ext>
            </a:extLst>
          </p:cNvPr>
          <p:cNvSpPr txBox="1"/>
          <p:nvPr/>
        </p:nvSpPr>
        <p:spPr>
          <a:xfrm>
            <a:off x="7356140" y="5634361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Caller’s R1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6F94317-434F-4A7A-BF97-C5E1D1C0DDBB}"/>
              </a:ext>
            </a:extLst>
          </p:cNvPr>
          <p:cNvSpPr txBox="1"/>
          <p:nvPr/>
        </p:nvSpPr>
        <p:spPr>
          <a:xfrm>
            <a:off x="6291166" y="4454443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Top </a:t>
            </a:r>
            <a:r>
              <a:rPr lang="en-US" altLang="zh-CN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DBC2CE-19D8-4A1E-83E0-238E30844415}"/>
              </a:ext>
            </a:extLst>
          </p:cNvPr>
          <p:cNvSpPr txBox="1"/>
          <p:nvPr/>
        </p:nvSpPr>
        <p:spPr>
          <a:xfrm>
            <a:off x="7680176" y="504071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A+1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24BA13C-E0C4-4EEA-8EEF-531625F62772}"/>
              </a:ext>
            </a:extLst>
          </p:cNvPr>
          <p:cNvSpPr txBox="1"/>
          <p:nvPr/>
        </p:nvSpPr>
        <p:spPr>
          <a:xfrm>
            <a:off x="7713107" y="448307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A33600-4257-48C8-8AFA-EA74BB619F7C}"/>
              </a:ext>
            </a:extLst>
          </p:cNvPr>
          <p:cNvSpPr txBox="1"/>
          <p:nvPr/>
        </p:nvSpPr>
        <p:spPr>
          <a:xfrm>
            <a:off x="9083824" y="4029095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</a:rPr>
              <a:t>R1=2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9778B69-6CAD-4AAE-AB75-1529912CD58C}"/>
              </a:ext>
            </a:extLst>
          </p:cNvPr>
          <p:cNvSpPr/>
          <p:nvPr/>
        </p:nvSpPr>
        <p:spPr>
          <a:xfrm>
            <a:off x="7680176" y="4029096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R1=2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03C539C-E0C9-4B5E-BE4F-CB7DEFC2D07F}"/>
              </a:ext>
            </a:extLst>
          </p:cNvPr>
          <p:cNvSpPr txBox="1"/>
          <p:nvPr/>
        </p:nvSpPr>
        <p:spPr>
          <a:xfrm>
            <a:off x="9075785" y="3380267"/>
            <a:ext cx="1584176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R0=R0*R1=1*2=2</a:t>
            </a:r>
            <a:endParaRPr lang="zh-CN" altLang="en-US" sz="2000" b="1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9C039B-77E2-4055-9A32-3130577719A8}"/>
              </a:ext>
            </a:extLst>
          </p:cNvPr>
          <p:cNvSpPr/>
          <p:nvPr/>
        </p:nvSpPr>
        <p:spPr>
          <a:xfrm>
            <a:off x="7672917" y="3415154"/>
            <a:ext cx="4700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B+1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6230E68-1DD1-4AF8-AEA7-7523B8F4B7F0}"/>
              </a:ext>
            </a:extLst>
          </p:cNvPr>
          <p:cNvSpPr/>
          <p:nvPr/>
        </p:nvSpPr>
        <p:spPr>
          <a:xfrm>
            <a:off x="7623531" y="2761267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R0=2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6522B7-F8CF-4A3C-8E40-C65A2151E7F5}"/>
              </a:ext>
            </a:extLst>
          </p:cNvPr>
          <p:cNvSpPr/>
          <p:nvPr/>
        </p:nvSpPr>
        <p:spPr>
          <a:xfrm>
            <a:off x="7671777" y="2201003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R1=1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2390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4D649-DF56-480F-90D8-5E680531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Recursive subroutine FACT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A59EA9-857E-4362-B1AF-CE456BF7E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8" y="981075"/>
            <a:ext cx="8569076" cy="5481638"/>
          </a:xfrm>
        </p:spPr>
        <p:txBody>
          <a:bodyPr/>
          <a:lstStyle/>
          <a:p>
            <a:r>
              <a:rPr lang="en-US" altLang="zh-CN" sz="1300" b="0" dirty="0"/>
              <a:t>FACT        ADD R6,R6,#-1</a:t>
            </a:r>
          </a:p>
          <a:p>
            <a:r>
              <a:rPr lang="en-US" altLang="zh-CN" sz="1300" b="0" dirty="0"/>
              <a:t>                STR R1,R6,#0 ; Push Caller’s R1 on the stack, so we can use R1.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ADD R1,R0,#-1 ; If n=1, we are done since 1! = 1</a:t>
            </a:r>
          </a:p>
          <a:p>
            <a:r>
              <a:rPr lang="en-US" altLang="zh-CN" sz="1300" b="0" dirty="0"/>
              <a:t>                </a:t>
            </a:r>
            <a:r>
              <a:rPr lang="en-US" altLang="zh-CN" sz="1300" b="0" dirty="0" err="1"/>
              <a:t>BRz</a:t>
            </a:r>
            <a:r>
              <a:rPr lang="en-US" altLang="zh-CN" sz="1300" b="0" dirty="0"/>
              <a:t> NO_RECURSE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ADD R6,R6,#-1</a:t>
            </a:r>
          </a:p>
          <a:p>
            <a:r>
              <a:rPr lang="en-US" altLang="zh-CN" sz="1300" b="0" dirty="0"/>
              <a:t>                 STR R7,R6,#0 ; Push return linkage onto stack</a:t>
            </a:r>
          </a:p>
          <a:p>
            <a:r>
              <a:rPr lang="en-US" altLang="zh-CN" sz="1300" b="0" dirty="0"/>
              <a:t>                 ADD R6,R6,#-1</a:t>
            </a:r>
          </a:p>
          <a:p>
            <a:r>
              <a:rPr lang="en-US" altLang="zh-CN" sz="1300" b="0" dirty="0"/>
              <a:t>                 STR R0,R6,#0 ; Push n on the stack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ADD R0,R0,#-1</a:t>
            </a:r>
            <a:r>
              <a:rPr lang="en-US" altLang="zh-CN" sz="1300" b="0" dirty="0">
                <a:solidFill>
                  <a:srgbClr val="0000FF"/>
                </a:solidFill>
              </a:rPr>
              <a:t> </a:t>
            </a:r>
            <a:r>
              <a:rPr lang="en-US" altLang="zh-CN" sz="1300" b="0" dirty="0"/>
              <a:t>; Form n-1, argument of JSR</a:t>
            </a:r>
          </a:p>
          <a:p>
            <a:r>
              <a:rPr lang="en-US" altLang="zh-CN" sz="1300" b="0" dirty="0"/>
              <a:t>        B       JSR FACT</a:t>
            </a:r>
          </a:p>
          <a:p>
            <a:r>
              <a:rPr lang="en-US" altLang="zh-CN" sz="1300" b="0" dirty="0"/>
              <a:t>                 </a:t>
            </a:r>
            <a:r>
              <a:rPr lang="en-US" altLang="zh-CN" sz="1300" b="0" dirty="0">
                <a:solidFill>
                  <a:srgbClr val="0000FF"/>
                </a:solidFill>
              </a:rPr>
              <a:t>LDR R1,R6,#0 ; Pop n from the stack</a:t>
            </a:r>
          </a:p>
          <a:p>
            <a:r>
              <a:rPr lang="en-US" altLang="zh-CN" sz="1300" b="0" dirty="0">
                <a:solidFill>
                  <a:srgbClr val="0000FF"/>
                </a:solidFill>
              </a:rPr>
              <a:t>                 ADD R6,R6,#1</a:t>
            </a:r>
          </a:p>
          <a:p>
            <a:r>
              <a:rPr lang="pt-BR" altLang="zh-CN" sz="1300" b="0" dirty="0"/>
              <a:t>                 MUL R0,R0,R1 ; form n*(n-1)!</a:t>
            </a:r>
          </a:p>
          <a:p>
            <a:r>
              <a:rPr lang="en-US" altLang="zh-CN" sz="1300" b="0" dirty="0"/>
              <a:t>;</a:t>
            </a:r>
          </a:p>
          <a:p>
            <a:r>
              <a:rPr lang="pt-BR" altLang="zh-CN" sz="1300" b="0" dirty="0"/>
              <a:t>                 LDR R7,R6,#0 ; Pop return linkage into R7</a:t>
            </a:r>
          </a:p>
          <a:p>
            <a:r>
              <a:rPr lang="en-US" altLang="zh-CN" sz="1300" b="0" dirty="0"/>
              <a:t>                 ADD R6,R6,#1</a:t>
            </a:r>
          </a:p>
          <a:p>
            <a:pPr marL="0" indent="0">
              <a:buNone/>
            </a:pPr>
            <a:r>
              <a:rPr lang="pt-BR" altLang="zh-CN" sz="1300" b="0" dirty="0"/>
              <a:t> NO_RECURSE LDR R1,R6,#0 ; Pop caller’s R1 back into R1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en-US" altLang="zh-CN" sz="1300" b="0" dirty="0">
                <a:solidFill>
                  <a:srgbClr val="0000FF"/>
                </a:solidFill>
              </a:rPr>
              <a:t>                 </a:t>
            </a:r>
            <a:r>
              <a:rPr lang="en-US" altLang="zh-CN" sz="1300" b="0" dirty="0"/>
              <a:t>RET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0CC2CB-E69F-45C7-9FA2-DF32A790D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C25EE6-8BCB-4BF7-ACAC-AB84C8CA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DA9CD5-A16D-4BB2-AD76-B79E221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19</a:t>
            </a:fld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EEE471-6B1E-4840-B614-09A135727CA4}"/>
              </a:ext>
            </a:extLst>
          </p:cNvPr>
          <p:cNvSpPr/>
          <p:nvPr/>
        </p:nvSpPr>
        <p:spPr bwMode="auto">
          <a:xfrm>
            <a:off x="7032104" y="1979463"/>
            <a:ext cx="1944216" cy="417646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A0F6E72-6963-404A-83D0-E532AC0D2396}"/>
              </a:ext>
            </a:extLst>
          </p:cNvPr>
          <p:cNvCxnSpPr/>
          <p:nvPr/>
        </p:nvCxnSpPr>
        <p:spPr bwMode="auto">
          <a:xfrm>
            <a:off x="7032104" y="267626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4545F15-E305-4B5F-BEEE-E5710B0C5113}"/>
              </a:ext>
            </a:extLst>
          </p:cNvPr>
          <p:cNvCxnSpPr/>
          <p:nvPr/>
        </p:nvCxnSpPr>
        <p:spPr bwMode="auto">
          <a:xfrm>
            <a:off x="7032104" y="3252326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61727FB-DCF6-4E30-B556-611286C9DA47}"/>
              </a:ext>
            </a:extLst>
          </p:cNvPr>
          <p:cNvCxnSpPr/>
          <p:nvPr/>
        </p:nvCxnSpPr>
        <p:spPr bwMode="auto">
          <a:xfrm>
            <a:off x="7032104" y="384596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54E67AB-981D-4AD2-9320-AC85B3B66705}"/>
              </a:ext>
            </a:extLst>
          </p:cNvPr>
          <p:cNvCxnSpPr/>
          <p:nvPr/>
        </p:nvCxnSpPr>
        <p:spPr bwMode="auto">
          <a:xfrm>
            <a:off x="7032104" y="442203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8B497D8-F75D-4767-8842-95FB08B212B2}"/>
              </a:ext>
            </a:extLst>
          </p:cNvPr>
          <p:cNvCxnSpPr/>
          <p:nvPr/>
        </p:nvCxnSpPr>
        <p:spPr bwMode="auto">
          <a:xfrm>
            <a:off x="7032104" y="441953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CCD5E0E-7590-4386-9ADF-E4A6E5C45A99}"/>
              </a:ext>
            </a:extLst>
          </p:cNvPr>
          <p:cNvCxnSpPr/>
          <p:nvPr/>
        </p:nvCxnSpPr>
        <p:spPr bwMode="auto">
          <a:xfrm>
            <a:off x="7032104" y="499559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89FE49A-122E-4546-ACBB-687445D06858}"/>
              </a:ext>
            </a:extLst>
          </p:cNvPr>
          <p:cNvCxnSpPr/>
          <p:nvPr/>
        </p:nvCxnSpPr>
        <p:spPr bwMode="auto">
          <a:xfrm>
            <a:off x="7032104" y="5589240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4221E5E-E772-4D7C-9E4C-F826D9E005FC}"/>
              </a:ext>
            </a:extLst>
          </p:cNvPr>
          <p:cNvCxnSpPr/>
          <p:nvPr/>
        </p:nvCxnSpPr>
        <p:spPr bwMode="auto">
          <a:xfrm>
            <a:off x="7032104" y="616530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69FD3344-7978-475C-BEE8-FD752542AE14}"/>
              </a:ext>
            </a:extLst>
          </p:cNvPr>
          <p:cNvSpPr txBox="1"/>
          <p:nvPr/>
        </p:nvSpPr>
        <p:spPr>
          <a:xfrm>
            <a:off x="7036026" y="1385822"/>
            <a:ext cx="194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Example:  R0=n=3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6E22CE1-8F52-4C01-880E-72D74B2C13CC}"/>
              </a:ext>
            </a:extLst>
          </p:cNvPr>
          <p:cNvSpPr txBox="1"/>
          <p:nvPr/>
        </p:nvSpPr>
        <p:spPr>
          <a:xfrm>
            <a:off x="7356140" y="5634361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Caller’s R1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6F94317-434F-4A7A-BF97-C5E1D1C0DDBB}"/>
              </a:ext>
            </a:extLst>
          </p:cNvPr>
          <p:cNvSpPr txBox="1"/>
          <p:nvPr/>
        </p:nvSpPr>
        <p:spPr>
          <a:xfrm>
            <a:off x="6291008" y="5010602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Top </a:t>
            </a:r>
            <a:r>
              <a:rPr lang="en-US" altLang="zh-CN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DBC2CE-19D8-4A1E-83E0-238E30844415}"/>
              </a:ext>
            </a:extLst>
          </p:cNvPr>
          <p:cNvSpPr txBox="1"/>
          <p:nvPr/>
        </p:nvSpPr>
        <p:spPr>
          <a:xfrm>
            <a:off x="7680176" y="504071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A+1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24BA13C-E0C4-4EEA-8EEF-531625F62772}"/>
              </a:ext>
            </a:extLst>
          </p:cNvPr>
          <p:cNvSpPr txBox="1"/>
          <p:nvPr/>
        </p:nvSpPr>
        <p:spPr>
          <a:xfrm>
            <a:off x="7713107" y="448307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9778B69-6CAD-4AAE-AB75-1529912CD58C}"/>
              </a:ext>
            </a:extLst>
          </p:cNvPr>
          <p:cNvSpPr/>
          <p:nvPr/>
        </p:nvSpPr>
        <p:spPr>
          <a:xfrm>
            <a:off x="7680176" y="4029096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R1=2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03C539C-E0C9-4B5E-BE4F-CB7DEFC2D07F}"/>
              </a:ext>
            </a:extLst>
          </p:cNvPr>
          <p:cNvSpPr txBox="1"/>
          <p:nvPr/>
        </p:nvSpPr>
        <p:spPr>
          <a:xfrm>
            <a:off x="9075785" y="3380267"/>
            <a:ext cx="1584176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R0=R0*R1=1*2=2</a:t>
            </a:r>
            <a:endParaRPr lang="zh-CN" altLang="en-US" sz="2000" b="1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9C039B-77E2-4055-9A32-3130577719A8}"/>
              </a:ext>
            </a:extLst>
          </p:cNvPr>
          <p:cNvSpPr/>
          <p:nvPr/>
        </p:nvSpPr>
        <p:spPr>
          <a:xfrm>
            <a:off x="7672917" y="3415154"/>
            <a:ext cx="4700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B+1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6230E68-1DD1-4AF8-AEA7-7523B8F4B7F0}"/>
              </a:ext>
            </a:extLst>
          </p:cNvPr>
          <p:cNvSpPr/>
          <p:nvPr/>
        </p:nvSpPr>
        <p:spPr>
          <a:xfrm>
            <a:off x="7623531" y="2761267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R0=2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6522B7-F8CF-4A3C-8E40-C65A2151E7F5}"/>
              </a:ext>
            </a:extLst>
          </p:cNvPr>
          <p:cNvSpPr/>
          <p:nvPr/>
        </p:nvSpPr>
        <p:spPr>
          <a:xfrm>
            <a:off x="7671777" y="2201003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R1=1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F63EF99-05BE-4B59-A40F-6B7BCD9676D9}"/>
              </a:ext>
            </a:extLst>
          </p:cNvPr>
          <p:cNvSpPr txBox="1"/>
          <p:nvPr/>
        </p:nvSpPr>
        <p:spPr>
          <a:xfrm>
            <a:off x="9083824" y="4529817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</a:rPr>
              <a:t>R1=3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576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4D649-DF56-480F-90D8-5E680531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Recursive subroutine FACT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A59EA9-857E-4362-B1AF-CE456BF7E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8" y="981075"/>
            <a:ext cx="8569076" cy="5481638"/>
          </a:xfrm>
        </p:spPr>
        <p:txBody>
          <a:bodyPr/>
          <a:lstStyle/>
          <a:p>
            <a:r>
              <a:rPr lang="en-US" altLang="zh-CN" sz="1300" b="0" dirty="0"/>
              <a:t>FACT        ADD R6,R6,#-1</a:t>
            </a:r>
          </a:p>
          <a:p>
            <a:r>
              <a:rPr lang="en-US" altLang="zh-CN" sz="1300" b="0" dirty="0"/>
              <a:t>                STR R1,R6,#0 ; Push Caller’s R1 on the stack, so we can use R1.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ADD R1,R0,#-1 ; If n=1, we are done since 1! = 1</a:t>
            </a:r>
          </a:p>
          <a:p>
            <a:r>
              <a:rPr lang="en-US" altLang="zh-CN" sz="1300" b="0" dirty="0"/>
              <a:t>                </a:t>
            </a:r>
            <a:r>
              <a:rPr lang="en-US" altLang="zh-CN" sz="1300" b="0" dirty="0" err="1"/>
              <a:t>BRz</a:t>
            </a:r>
            <a:r>
              <a:rPr lang="en-US" altLang="zh-CN" sz="1300" b="0" dirty="0"/>
              <a:t> NO_RECURSE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ADD R6,R6,#-1</a:t>
            </a:r>
          </a:p>
          <a:p>
            <a:r>
              <a:rPr lang="en-US" altLang="zh-CN" sz="1300" b="0" dirty="0"/>
              <a:t>                 STR R7,R6,#0 ; Push return linkage onto stack</a:t>
            </a:r>
          </a:p>
          <a:p>
            <a:r>
              <a:rPr lang="en-US" altLang="zh-CN" sz="1300" b="0" dirty="0"/>
              <a:t>                 ADD R6,R6,#-1</a:t>
            </a:r>
          </a:p>
          <a:p>
            <a:r>
              <a:rPr lang="en-US" altLang="zh-CN" sz="1300" b="0" dirty="0"/>
              <a:t>                 STR R0,R6,#0 ; Push n on the stack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ADD R0,R0,#-1</a:t>
            </a:r>
            <a:r>
              <a:rPr lang="en-US" altLang="zh-CN" sz="1300" b="0" dirty="0">
                <a:solidFill>
                  <a:srgbClr val="0000FF"/>
                </a:solidFill>
              </a:rPr>
              <a:t> </a:t>
            </a:r>
            <a:r>
              <a:rPr lang="en-US" altLang="zh-CN" sz="1300" b="0" dirty="0"/>
              <a:t>; Form n-1, argument of JSR</a:t>
            </a:r>
          </a:p>
          <a:p>
            <a:r>
              <a:rPr lang="en-US" altLang="zh-CN" sz="1300" b="0" dirty="0"/>
              <a:t>        B       JSR FACT</a:t>
            </a:r>
          </a:p>
          <a:p>
            <a:r>
              <a:rPr lang="en-US" altLang="zh-CN" sz="1300" b="0" dirty="0"/>
              <a:t>                 LDR R1,R6,#0 ; Pop n from the stack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pt-BR" altLang="zh-CN" sz="1300" b="0" dirty="0"/>
              <a:t>                 </a:t>
            </a:r>
            <a:r>
              <a:rPr lang="pt-BR" altLang="zh-CN" sz="1300" b="0" dirty="0">
                <a:solidFill>
                  <a:srgbClr val="0000FF"/>
                </a:solidFill>
              </a:rPr>
              <a:t>MUL R0,R0,R1 ; form n*(n-1)!</a:t>
            </a:r>
          </a:p>
          <a:p>
            <a:r>
              <a:rPr lang="en-US" altLang="zh-CN" sz="1300" b="0" dirty="0"/>
              <a:t>;</a:t>
            </a:r>
          </a:p>
          <a:p>
            <a:r>
              <a:rPr lang="pt-BR" altLang="zh-CN" sz="1300" b="0" dirty="0"/>
              <a:t>                 LDR R7,R6,#0 ; Pop return linkage into R7</a:t>
            </a:r>
          </a:p>
          <a:p>
            <a:r>
              <a:rPr lang="en-US" altLang="zh-CN" sz="1300" b="0" dirty="0"/>
              <a:t>                 ADD R6,R6,#1</a:t>
            </a:r>
          </a:p>
          <a:p>
            <a:pPr marL="0" indent="0">
              <a:buNone/>
            </a:pPr>
            <a:r>
              <a:rPr lang="pt-BR" altLang="zh-CN" sz="1300" b="0" dirty="0"/>
              <a:t> NO_RECURSE LDR R1,R6,#0 ; Pop caller’s R1 back into R1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en-US" altLang="zh-CN" sz="1300" b="0" dirty="0">
                <a:solidFill>
                  <a:srgbClr val="0000FF"/>
                </a:solidFill>
              </a:rPr>
              <a:t>                 </a:t>
            </a:r>
            <a:r>
              <a:rPr lang="en-US" altLang="zh-CN" sz="1300" b="0" dirty="0"/>
              <a:t>RET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0CC2CB-E69F-45C7-9FA2-DF32A790D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C25EE6-8BCB-4BF7-ACAC-AB84C8CA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DA9CD5-A16D-4BB2-AD76-B79E221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20</a:t>
            </a:fld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EEE471-6B1E-4840-B614-09A135727CA4}"/>
              </a:ext>
            </a:extLst>
          </p:cNvPr>
          <p:cNvSpPr/>
          <p:nvPr/>
        </p:nvSpPr>
        <p:spPr bwMode="auto">
          <a:xfrm>
            <a:off x="7032104" y="1979463"/>
            <a:ext cx="1944216" cy="417646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A0F6E72-6963-404A-83D0-E532AC0D2396}"/>
              </a:ext>
            </a:extLst>
          </p:cNvPr>
          <p:cNvCxnSpPr/>
          <p:nvPr/>
        </p:nvCxnSpPr>
        <p:spPr bwMode="auto">
          <a:xfrm>
            <a:off x="7032104" y="267626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4545F15-E305-4B5F-BEEE-E5710B0C5113}"/>
              </a:ext>
            </a:extLst>
          </p:cNvPr>
          <p:cNvCxnSpPr/>
          <p:nvPr/>
        </p:nvCxnSpPr>
        <p:spPr bwMode="auto">
          <a:xfrm>
            <a:off x="7032104" y="3252326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61727FB-DCF6-4E30-B556-611286C9DA47}"/>
              </a:ext>
            </a:extLst>
          </p:cNvPr>
          <p:cNvCxnSpPr/>
          <p:nvPr/>
        </p:nvCxnSpPr>
        <p:spPr bwMode="auto">
          <a:xfrm>
            <a:off x="7032104" y="384596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54E67AB-981D-4AD2-9320-AC85B3B66705}"/>
              </a:ext>
            </a:extLst>
          </p:cNvPr>
          <p:cNvCxnSpPr/>
          <p:nvPr/>
        </p:nvCxnSpPr>
        <p:spPr bwMode="auto">
          <a:xfrm>
            <a:off x="7032104" y="442203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8B497D8-F75D-4767-8842-95FB08B212B2}"/>
              </a:ext>
            </a:extLst>
          </p:cNvPr>
          <p:cNvCxnSpPr/>
          <p:nvPr/>
        </p:nvCxnSpPr>
        <p:spPr bwMode="auto">
          <a:xfrm>
            <a:off x="7032104" y="441953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CCD5E0E-7590-4386-9ADF-E4A6E5C45A99}"/>
              </a:ext>
            </a:extLst>
          </p:cNvPr>
          <p:cNvCxnSpPr/>
          <p:nvPr/>
        </p:nvCxnSpPr>
        <p:spPr bwMode="auto">
          <a:xfrm>
            <a:off x="7032104" y="499559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89FE49A-122E-4546-ACBB-687445D06858}"/>
              </a:ext>
            </a:extLst>
          </p:cNvPr>
          <p:cNvCxnSpPr/>
          <p:nvPr/>
        </p:nvCxnSpPr>
        <p:spPr bwMode="auto">
          <a:xfrm>
            <a:off x="7032104" y="5589240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4221E5E-E772-4D7C-9E4C-F826D9E005FC}"/>
              </a:ext>
            </a:extLst>
          </p:cNvPr>
          <p:cNvCxnSpPr/>
          <p:nvPr/>
        </p:nvCxnSpPr>
        <p:spPr bwMode="auto">
          <a:xfrm>
            <a:off x="7032104" y="616530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69FD3344-7978-475C-BEE8-FD752542AE14}"/>
              </a:ext>
            </a:extLst>
          </p:cNvPr>
          <p:cNvSpPr txBox="1"/>
          <p:nvPr/>
        </p:nvSpPr>
        <p:spPr>
          <a:xfrm>
            <a:off x="7036026" y="1385822"/>
            <a:ext cx="194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Example:  R0=n=3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6E22CE1-8F52-4C01-880E-72D74B2C13CC}"/>
              </a:ext>
            </a:extLst>
          </p:cNvPr>
          <p:cNvSpPr txBox="1"/>
          <p:nvPr/>
        </p:nvSpPr>
        <p:spPr>
          <a:xfrm>
            <a:off x="7356140" y="5634361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Caller’s R1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6F94317-434F-4A7A-BF97-C5E1D1C0DDBB}"/>
              </a:ext>
            </a:extLst>
          </p:cNvPr>
          <p:cNvSpPr txBox="1"/>
          <p:nvPr/>
        </p:nvSpPr>
        <p:spPr>
          <a:xfrm>
            <a:off x="6316835" y="5030457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Top </a:t>
            </a:r>
            <a:r>
              <a:rPr lang="en-US" altLang="zh-CN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DBC2CE-19D8-4A1E-83E0-238E30844415}"/>
              </a:ext>
            </a:extLst>
          </p:cNvPr>
          <p:cNvSpPr txBox="1"/>
          <p:nvPr/>
        </p:nvSpPr>
        <p:spPr>
          <a:xfrm>
            <a:off x="7680176" y="504071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A+1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24BA13C-E0C4-4EEA-8EEF-531625F62772}"/>
              </a:ext>
            </a:extLst>
          </p:cNvPr>
          <p:cNvSpPr txBox="1"/>
          <p:nvPr/>
        </p:nvSpPr>
        <p:spPr>
          <a:xfrm>
            <a:off x="7713107" y="448307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9778B69-6CAD-4AAE-AB75-1529912CD58C}"/>
              </a:ext>
            </a:extLst>
          </p:cNvPr>
          <p:cNvSpPr/>
          <p:nvPr/>
        </p:nvSpPr>
        <p:spPr>
          <a:xfrm>
            <a:off x="7680176" y="4029096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R1=2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03C539C-E0C9-4B5E-BE4F-CB7DEFC2D07F}"/>
              </a:ext>
            </a:extLst>
          </p:cNvPr>
          <p:cNvSpPr txBox="1"/>
          <p:nvPr/>
        </p:nvSpPr>
        <p:spPr>
          <a:xfrm>
            <a:off x="9075785" y="3380267"/>
            <a:ext cx="1584176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R0=R0*R1=1*2=2</a:t>
            </a:r>
            <a:endParaRPr lang="zh-CN" altLang="en-US" sz="2000" b="1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9C039B-77E2-4055-9A32-3130577719A8}"/>
              </a:ext>
            </a:extLst>
          </p:cNvPr>
          <p:cNvSpPr/>
          <p:nvPr/>
        </p:nvSpPr>
        <p:spPr>
          <a:xfrm>
            <a:off x="7672917" y="3415154"/>
            <a:ext cx="4700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B+1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6230E68-1DD1-4AF8-AEA7-7523B8F4B7F0}"/>
              </a:ext>
            </a:extLst>
          </p:cNvPr>
          <p:cNvSpPr/>
          <p:nvPr/>
        </p:nvSpPr>
        <p:spPr>
          <a:xfrm>
            <a:off x="7623531" y="2761267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R0=2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6522B7-F8CF-4A3C-8E40-C65A2151E7F5}"/>
              </a:ext>
            </a:extLst>
          </p:cNvPr>
          <p:cNvSpPr/>
          <p:nvPr/>
        </p:nvSpPr>
        <p:spPr>
          <a:xfrm>
            <a:off x="7671777" y="2201003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R1=1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F63EF99-05BE-4B59-A40F-6B7BCD9676D9}"/>
              </a:ext>
            </a:extLst>
          </p:cNvPr>
          <p:cNvSpPr txBox="1"/>
          <p:nvPr/>
        </p:nvSpPr>
        <p:spPr>
          <a:xfrm>
            <a:off x="9083824" y="4393814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R1=3</a:t>
            </a:r>
            <a:endParaRPr lang="zh-CN" altLang="en-US" sz="2400" b="1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FE88FA5-38EF-4D5F-A87A-EBF01C1DDF2A}"/>
              </a:ext>
            </a:extLst>
          </p:cNvPr>
          <p:cNvSpPr txBox="1"/>
          <p:nvPr/>
        </p:nvSpPr>
        <p:spPr>
          <a:xfrm>
            <a:off x="9075785" y="4680413"/>
            <a:ext cx="1584176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R0=R0*R1=2*3=6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60450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4D649-DF56-480F-90D8-5E680531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Recursive subroutine FACT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A59EA9-857E-4362-B1AF-CE456BF7E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8" y="981075"/>
            <a:ext cx="8569076" cy="5481638"/>
          </a:xfrm>
        </p:spPr>
        <p:txBody>
          <a:bodyPr/>
          <a:lstStyle/>
          <a:p>
            <a:r>
              <a:rPr lang="en-US" altLang="zh-CN" sz="1300" b="0" dirty="0"/>
              <a:t>FACT        ADD R6,R6,#-1</a:t>
            </a:r>
          </a:p>
          <a:p>
            <a:r>
              <a:rPr lang="en-US" altLang="zh-CN" sz="1300" b="0" dirty="0"/>
              <a:t>                STR R1,R6,#0 ; Push Caller’s R1 on the stack, so we can use R1.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ADD R1,R0,#-1 ; If n=1, we are done since 1! = 1</a:t>
            </a:r>
          </a:p>
          <a:p>
            <a:r>
              <a:rPr lang="en-US" altLang="zh-CN" sz="1300" b="0" dirty="0"/>
              <a:t>                </a:t>
            </a:r>
            <a:r>
              <a:rPr lang="en-US" altLang="zh-CN" sz="1300" b="0" dirty="0" err="1"/>
              <a:t>BRz</a:t>
            </a:r>
            <a:r>
              <a:rPr lang="en-US" altLang="zh-CN" sz="1300" b="0" dirty="0"/>
              <a:t> NO_RECURSE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ADD R6,R6,#-1</a:t>
            </a:r>
          </a:p>
          <a:p>
            <a:r>
              <a:rPr lang="en-US" altLang="zh-CN" sz="1300" b="0" dirty="0"/>
              <a:t>                 STR R7,R6,#0 ; Push return linkage onto stack</a:t>
            </a:r>
          </a:p>
          <a:p>
            <a:r>
              <a:rPr lang="en-US" altLang="zh-CN" sz="1300" b="0" dirty="0"/>
              <a:t>                 ADD R6,R6,#-1</a:t>
            </a:r>
          </a:p>
          <a:p>
            <a:r>
              <a:rPr lang="en-US" altLang="zh-CN" sz="1300" b="0" dirty="0"/>
              <a:t>                 STR R0,R6,#0 ; Push n on the stack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ADD R0,R0,#-1</a:t>
            </a:r>
            <a:r>
              <a:rPr lang="en-US" altLang="zh-CN" sz="1300" b="0" dirty="0">
                <a:solidFill>
                  <a:srgbClr val="0000FF"/>
                </a:solidFill>
              </a:rPr>
              <a:t> </a:t>
            </a:r>
            <a:r>
              <a:rPr lang="en-US" altLang="zh-CN" sz="1300" b="0" dirty="0"/>
              <a:t>; Form n-1, argument of JSR</a:t>
            </a:r>
          </a:p>
          <a:p>
            <a:r>
              <a:rPr lang="en-US" altLang="zh-CN" sz="1300" b="0" dirty="0"/>
              <a:t>        B       JSR FACT</a:t>
            </a:r>
          </a:p>
          <a:p>
            <a:r>
              <a:rPr lang="en-US" altLang="zh-CN" sz="1300" b="0" dirty="0"/>
              <a:t>                 LDR R1,R6,#0 ; Pop n from the stack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pt-BR" altLang="zh-CN" sz="1300" b="0" dirty="0"/>
              <a:t>                 MUL R0,R0,R1 ; form n*(n-1)!</a:t>
            </a:r>
          </a:p>
          <a:p>
            <a:r>
              <a:rPr lang="en-US" altLang="zh-CN" sz="1300" b="0" dirty="0"/>
              <a:t>;</a:t>
            </a:r>
          </a:p>
          <a:p>
            <a:r>
              <a:rPr lang="pt-BR" altLang="zh-CN" sz="1300" b="0" dirty="0"/>
              <a:t>                 </a:t>
            </a:r>
            <a:r>
              <a:rPr lang="pt-BR" altLang="zh-CN" sz="1300" b="0" dirty="0">
                <a:solidFill>
                  <a:srgbClr val="0000FF"/>
                </a:solidFill>
              </a:rPr>
              <a:t>LDR R7,R6,#0 ; Pop return linkage into R7</a:t>
            </a:r>
          </a:p>
          <a:p>
            <a:r>
              <a:rPr lang="en-US" altLang="zh-CN" sz="1300" b="0" dirty="0">
                <a:solidFill>
                  <a:srgbClr val="0000FF"/>
                </a:solidFill>
              </a:rPr>
              <a:t>                 ADD R6,R6,#1</a:t>
            </a:r>
          </a:p>
          <a:p>
            <a:pPr marL="0" indent="0">
              <a:buNone/>
            </a:pPr>
            <a:r>
              <a:rPr lang="pt-BR" altLang="zh-CN" sz="1300" b="0" dirty="0"/>
              <a:t> NO_RECURSE LDR R1,R6,#0 ; Pop caller’s R1 back into R1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en-US" altLang="zh-CN" sz="1300" b="0" dirty="0">
                <a:solidFill>
                  <a:srgbClr val="0000FF"/>
                </a:solidFill>
              </a:rPr>
              <a:t>                 </a:t>
            </a:r>
            <a:r>
              <a:rPr lang="en-US" altLang="zh-CN" sz="1300" b="0" dirty="0"/>
              <a:t>RET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0CC2CB-E69F-45C7-9FA2-DF32A790D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C25EE6-8BCB-4BF7-ACAC-AB84C8CA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DA9CD5-A16D-4BB2-AD76-B79E221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21</a:t>
            </a:fld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EEE471-6B1E-4840-B614-09A135727CA4}"/>
              </a:ext>
            </a:extLst>
          </p:cNvPr>
          <p:cNvSpPr/>
          <p:nvPr/>
        </p:nvSpPr>
        <p:spPr bwMode="auto">
          <a:xfrm>
            <a:off x="7032104" y="1979463"/>
            <a:ext cx="1944216" cy="417646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A0F6E72-6963-404A-83D0-E532AC0D2396}"/>
              </a:ext>
            </a:extLst>
          </p:cNvPr>
          <p:cNvCxnSpPr/>
          <p:nvPr/>
        </p:nvCxnSpPr>
        <p:spPr bwMode="auto">
          <a:xfrm>
            <a:off x="7032104" y="267626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4545F15-E305-4B5F-BEEE-E5710B0C5113}"/>
              </a:ext>
            </a:extLst>
          </p:cNvPr>
          <p:cNvCxnSpPr/>
          <p:nvPr/>
        </p:nvCxnSpPr>
        <p:spPr bwMode="auto">
          <a:xfrm>
            <a:off x="7032104" y="3252326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61727FB-DCF6-4E30-B556-611286C9DA47}"/>
              </a:ext>
            </a:extLst>
          </p:cNvPr>
          <p:cNvCxnSpPr/>
          <p:nvPr/>
        </p:nvCxnSpPr>
        <p:spPr bwMode="auto">
          <a:xfrm>
            <a:off x="7032104" y="384596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54E67AB-981D-4AD2-9320-AC85B3B66705}"/>
              </a:ext>
            </a:extLst>
          </p:cNvPr>
          <p:cNvCxnSpPr/>
          <p:nvPr/>
        </p:nvCxnSpPr>
        <p:spPr bwMode="auto">
          <a:xfrm>
            <a:off x="7032104" y="442203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8B497D8-F75D-4767-8842-95FB08B212B2}"/>
              </a:ext>
            </a:extLst>
          </p:cNvPr>
          <p:cNvCxnSpPr/>
          <p:nvPr/>
        </p:nvCxnSpPr>
        <p:spPr bwMode="auto">
          <a:xfrm>
            <a:off x="7032104" y="441953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CCD5E0E-7590-4386-9ADF-E4A6E5C45A99}"/>
              </a:ext>
            </a:extLst>
          </p:cNvPr>
          <p:cNvCxnSpPr/>
          <p:nvPr/>
        </p:nvCxnSpPr>
        <p:spPr bwMode="auto">
          <a:xfrm>
            <a:off x="7032104" y="499559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89FE49A-122E-4546-ACBB-687445D06858}"/>
              </a:ext>
            </a:extLst>
          </p:cNvPr>
          <p:cNvCxnSpPr/>
          <p:nvPr/>
        </p:nvCxnSpPr>
        <p:spPr bwMode="auto">
          <a:xfrm>
            <a:off x="7032104" y="5589240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4221E5E-E772-4D7C-9E4C-F826D9E005FC}"/>
              </a:ext>
            </a:extLst>
          </p:cNvPr>
          <p:cNvCxnSpPr/>
          <p:nvPr/>
        </p:nvCxnSpPr>
        <p:spPr bwMode="auto">
          <a:xfrm>
            <a:off x="7032104" y="616530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69FD3344-7978-475C-BEE8-FD752542AE14}"/>
              </a:ext>
            </a:extLst>
          </p:cNvPr>
          <p:cNvSpPr txBox="1"/>
          <p:nvPr/>
        </p:nvSpPr>
        <p:spPr>
          <a:xfrm>
            <a:off x="7036026" y="1385822"/>
            <a:ext cx="194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Example:  R0=n=3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6E22CE1-8F52-4C01-880E-72D74B2C13CC}"/>
              </a:ext>
            </a:extLst>
          </p:cNvPr>
          <p:cNvSpPr txBox="1"/>
          <p:nvPr/>
        </p:nvSpPr>
        <p:spPr>
          <a:xfrm>
            <a:off x="7356140" y="5634361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Caller’s R1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6F94317-434F-4A7A-BF97-C5E1D1C0DDBB}"/>
              </a:ext>
            </a:extLst>
          </p:cNvPr>
          <p:cNvSpPr txBox="1"/>
          <p:nvPr/>
        </p:nvSpPr>
        <p:spPr>
          <a:xfrm>
            <a:off x="6272624" y="5650287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Top </a:t>
            </a:r>
            <a:r>
              <a:rPr lang="en-US" altLang="zh-CN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DBC2CE-19D8-4A1E-83E0-238E30844415}"/>
              </a:ext>
            </a:extLst>
          </p:cNvPr>
          <p:cNvSpPr txBox="1"/>
          <p:nvPr/>
        </p:nvSpPr>
        <p:spPr>
          <a:xfrm>
            <a:off x="7680176" y="504071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A+1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24BA13C-E0C4-4EEA-8EEF-531625F62772}"/>
              </a:ext>
            </a:extLst>
          </p:cNvPr>
          <p:cNvSpPr txBox="1"/>
          <p:nvPr/>
        </p:nvSpPr>
        <p:spPr>
          <a:xfrm>
            <a:off x="7713107" y="448307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9778B69-6CAD-4AAE-AB75-1529912CD58C}"/>
              </a:ext>
            </a:extLst>
          </p:cNvPr>
          <p:cNvSpPr/>
          <p:nvPr/>
        </p:nvSpPr>
        <p:spPr>
          <a:xfrm>
            <a:off x="7680176" y="4029096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R1=2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03C539C-E0C9-4B5E-BE4F-CB7DEFC2D07F}"/>
              </a:ext>
            </a:extLst>
          </p:cNvPr>
          <p:cNvSpPr txBox="1"/>
          <p:nvPr/>
        </p:nvSpPr>
        <p:spPr>
          <a:xfrm>
            <a:off x="9075785" y="3380267"/>
            <a:ext cx="1584176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R0=R0*R1=1*2=2</a:t>
            </a:r>
            <a:endParaRPr lang="zh-CN" altLang="en-US" sz="2000" b="1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9C039B-77E2-4055-9A32-3130577719A8}"/>
              </a:ext>
            </a:extLst>
          </p:cNvPr>
          <p:cNvSpPr/>
          <p:nvPr/>
        </p:nvSpPr>
        <p:spPr>
          <a:xfrm>
            <a:off x="7672917" y="3415154"/>
            <a:ext cx="4700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B+1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6230E68-1DD1-4AF8-AEA7-7523B8F4B7F0}"/>
              </a:ext>
            </a:extLst>
          </p:cNvPr>
          <p:cNvSpPr/>
          <p:nvPr/>
        </p:nvSpPr>
        <p:spPr>
          <a:xfrm>
            <a:off x="7623531" y="2761267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R0=2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6522B7-F8CF-4A3C-8E40-C65A2151E7F5}"/>
              </a:ext>
            </a:extLst>
          </p:cNvPr>
          <p:cNvSpPr/>
          <p:nvPr/>
        </p:nvSpPr>
        <p:spPr>
          <a:xfrm>
            <a:off x="7671777" y="2201003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R1=1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F63EF99-05BE-4B59-A40F-6B7BCD9676D9}"/>
              </a:ext>
            </a:extLst>
          </p:cNvPr>
          <p:cNvSpPr txBox="1"/>
          <p:nvPr/>
        </p:nvSpPr>
        <p:spPr>
          <a:xfrm>
            <a:off x="9083824" y="4393814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R1=3</a:t>
            </a:r>
            <a:endParaRPr lang="zh-CN" altLang="en-US" sz="2400" b="1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FE88FA5-38EF-4D5F-A87A-EBF01C1DDF2A}"/>
              </a:ext>
            </a:extLst>
          </p:cNvPr>
          <p:cNvSpPr txBox="1"/>
          <p:nvPr/>
        </p:nvSpPr>
        <p:spPr>
          <a:xfrm>
            <a:off x="9075785" y="4680413"/>
            <a:ext cx="1584176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R0=R0*R1=2*3=6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338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4D649-DF56-480F-90D8-5E680531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Recursive subroutine FACT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A59EA9-857E-4362-B1AF-CE456BF7E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8" y="981075"/>
            <a:ext cx="8569076" cy="5481638"/>
          </a:xfrm>
        </p:spPr>
        <p:txBody>
          <a:bodyPr/>
          <a:lstStyle/>
          <a:p>
            <a:r>
              <a:rPr lang="en-US" altLang="zh-CN" sz="1300" b="0" dirty="0"/>
              <a:t>FACT        ADD R6,R6,#-1</a:t>
            </a:r>
          </a:p>
          <a:p>
            <a:r>
              <a:rPr lang="en-US" altLang="zh-CN" sz="1300" b="0" dirty="0"/>
              <a:t>                STR R1,R6,#0 ; Push Caller’s R1 on the stack, so we can use R1.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ADD R1,R0,#-1 ; If n=1, we are done since 1! = 1</a:t>
            </a:r>
          </a:p>
          <a:p>
            <a:r>
              <a:rPr lang="en-US" altLang="zh-CN" sz="1300" b="0" dirty="0"/>
              <a:t>                </a:t>
            </a:r>
            <a:r>
              <a:rPr lang="en-US" altLang="zh-CN" sz="1300" b="0" dirty="0" err="1"/>
              <a:t>BRz</a:t>
            </a:r>
            <a:r>
              <a:rPr lang="en-US" altLang="zh-CN" sz="1300" b="0" dirty="0"/>
              <a:t> NO_RECURSE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ADD R6,R6,#-1</a:t>
            </a:r>
          </a:p>
          <a:p>
            <a:r>
              <a:rPr lang="en-US" altLang="zh-CN" sz="1300" b="0" dirty="0"/>
              <a:t>                 STR R7,R6,#0 ; Push return linkage onto stack</a:t>
            </a:r>
          </a:p>
          <a:p>
            <a:r>
              <a:rPr lang="en-US" altLang="zh-CN" sz="1300" b="0" dirty="0"/>
              <a:t>                 ADD R6,R6,#-1</a:t>
            </a:r>
          </a:p>
          <a:p>
            <a:r>
              <a:rPr lang="en-US" altLang="zh-CN" sz="1300" b="0" dirty="0"/>
              <a:t>                 STR R0,R6,#0 ; Push n on the stack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ADD R0,R0,#-1</a:t>
            </a:r>
            <a:r>
              <a:rPr lang="en-US" altLang="zh-CN" sz="1300" b="0" dirty="0">
                <a:solidFill>
                  <a:srgbClr val="0000FF"/>
                </a:solidFill>
              </a:rPr>
              <a:t> </a:t>
            </a:r>
            <a:r>
              <a:rPr lang="en-US" altLang="zh-CN" sz="1300" b="0" dirty="0"/>
              <a:t>; Form n-1, argument of JSR</a:t>
            </a:r>
          </a:p>
          <a:p>
            <a:r>
              <a:rPr lang="en-US" altLang="zh-CN" sz="1300" b="0" dirty="0"/>
              <a:t>        B       JSR FACT</a:t>
            </a:r>
          </a:p>
          <a:p>
            <a:r>
              <a:rPr lang="en-US" altLang="zh-CN" sz="1300" b="0" dirty="0"/>
              <a:t>                 LDR R1,R6,#0 ; Pop n from the stack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pt-BR" altLang="zh-CN" sz="1300" b="0" dirty="0"/>
              <a:t>                 MUL R0,R0,R1 ; form n*(n-1)!</a:t>
            </a:r>
          </a:p>
          <a:p>
            <a:r>
              <a:rPr lang="en-US" altLang="zh-CN" sz="1300" b="0" dirty="0"/>
              <a:t>;</a:t>
            </a:r>
          </a:p>
          <a:p>
            <a:r>
              <a:rPr lang="pt-BR" altLang="zh-CN" sz="1300" b="0" dirty="0"/>
              <a:t>                 LDR R7,R6,#0 ; Pop return linkage into R7</a:t>
            </a:r>
          </a:p>
          <a:p>
            <a:r>
              <a:rPr lang="en-US" altLang="zh-CN" sz="1300" b="0" dirty="0"/>
              <a:t>                 ADD R6,R6,#1</a:t>
            </a:r>
          </a:p>
          <a:p>
            <a:pPr marL="0" indent="0">
              <a:buNone/>
            </a:pPr>
            <a:r>
              <a:rPr lang="pt-BR" altLang="zh-CN" sz="1300" b="0" dirty="0"/>
              <a:t> NO_RECURSE </a:t>
            </a:r>
            <a:r>
              <a:rPr lang="pt-BR" altLang="zh-CN" sz="1300" b="0" dirty="0">
                <a:solidFill>
                  <a:srgbClr val="0000FF"/>
                </a:solidFill>
              </a:rPr>
              <a:t>LDR R1,R6,#0 ; Pop caller’s R1 back into R1</a:t>
            </a:r>
          </a:p>
          <a:p>
            <a:r>
              <a:rPr lang="en-US" altLang="zh-CN" sz="1300" b="0" dirty="0">
                <a:solidFill>
                  <a:srgbClr val="0000FF"/>
                </a:solidFill>
              </a:rPr>
              <a:t>                 ADD R6,R6,#</a:t>
            </a:r>
            <a:r>
              <a:rPr lang="en-US" altLang="zh-CN" sz="1300" b="0" dirty="0"/>
              <a:t>1</a:t>
            </a:r>
          </a:p>
          <a:p>
            <a:r>
              <a:rPr lang="en-US" altLang="zh-CN" sz="1300" b="0" dirty="0">
                <a:solidFill>
                  <a:srgbClr val="0000FF"/>
                </a:solidFill>
              </a:rPr>
              <a:t>                 </a:t>
            </a:r>
            <a:r>
              <a:rPr lang="en-US" altLang="zh-CN" sz="1300" b="0" dirty="0"/>
              <a:t>RET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0CC2CB-E69F-45C7-9FA2-DF32A790D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C25EE6-8BCB-4BF7-ACAC-AB84C8CA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DA9CD5-A16D-4BB2-AD76-B79E221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22</a:t>
            </a:fld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EEE471-6B1E-4840-B614-09A135727CA4}"/>
              </a:ext>
            </a:extLst>
          </p:cNvPr>
          <p:cNvSpPr/>
          <p:nvPr/>
        </p:nvSpPr>
        <p:spPr bwMode="auto">
          <a:xfrm>
            <a:off x="7032104" y="1979463"/>
            <a:ext cx="1944216" cy="417646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A0F6E72-6963-404A-83D0-E532AC0D2396}"/>
              </a:ext>
            </a:extLst>
          </p:cNvPr>
          <p:cNvCxnSpPr/>
          <p:nvPr/>
        </p:nvCxnSpPr>
        <p:spPr bwMode="auto">
          <a:xfrm>
            <a:off x="7032104" y="267626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4545F15-E305-4B5F-BEEE-E5710B0C5113}"/>
              </a:ext>
            </a:extLst>
          </p:cNvPr>
          <p:cNvCxnSpPr/>
          <p:nvPr/>
        </p:nvCxnSpPr>
        <p:spPr bwMode="auto">
          <a:xfrm>
            <a:off x="7032104" y="3252326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61727FB-DCF6-4E30-B556-611286C9DA47}"/>
              </a:ext>
            </a:extLst>
          </p:cNvPr>
          <p:cNvCxnSpPr/>
          <p:nvPr/>
        </p:nvCxnSpPr>
        <p:spPr bwMode="auto">
          <a:xfrm>
            <a:off x="7032104" y="384596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54E67AB-981D-4AD2-9320-AC85B3B66705}"/>
              </a:ext>
            </a:extLst>
          </p:cNvPr>
          <p:cNvCxnSpPr/>
          <p:nvPr/>
        </p:nvCxnSpPr>
        <p:spPr bwMode="auto">
          <a:xfrm>
            <a:off x="7032104" y="442203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8B497D8-F75D-4767-8842-95FB08B212B2}"/>
              </a:ext>
            </a:extLst>
          </p:cNvPr>
          <p:cNvCxnSpPr/>
          <p:nvPr/>
        </p:nvCxnSpPr>
        <p:spPr bwMode="auto">
          <a:xfrm>
            <a:off x="7032104" y="441953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CCD5E0E-7590-4386-9ADF-E4A6E5C45A99}"/>
              </a:ext>
            </a:extLst>
          </p:cNvPr>
          <p:cNvCxnSpPr/>
          <p:nvPr/>
        </p:nvCxnSpPr>
        <p:spPr bwMode="auto">
          <a:xfrm>
            <a:off x="7032104" y="499559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89FE49A-122E-4546-ACBB-687445D06858}"/>
              </a:ext>
            </a:extLst>
          </p:cNvPr>
          <p:cNvCxnSpPr/>
          <p:nvPr/>
        </p:nvCxnSpPr>
        <p:spPr bwMode="auto">
          <a:xfrm>
            <a:off x="7032104" y="5589240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4221E5E-E772-4D7C-9E4C-F826D9E005FC}"/>
              </a:ext>
            </a:extLst>
          </p:cNvPr>
          <p:cNvCxnSpPr/>
          <p:nvPr/>
        </p:nvCxnSpPr>
        <p:spPr bwMode="auto">
          <a:xfrm>
            <a:off x="7032104" y="616530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69FD3344-7978-475C-BEE8-FD752542AE14}"/>
              </a:ext>
            </a:extLst>
          </p:cNvPr>
          <p:cNvSpPr txBox="1"/>
          <p:nvPr/>
        </p:nvSpPr>
        <p:spPr>
          <a:xfrm>
            <a:off x="7036026" y="1385822"/>
            <a:ext cx="194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Example:  R0=n=3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6E22CE1-8F52-4C01-880E-72D74B2C13CC}"/>
              </a:ext>
            </a:extLst>
          </p:cNvPr>
          <p:cNvSpPr txBox="1"/>
          <p:nvPr/>
        </p:nvSpPr>
        <p:spPr>
          <a:xfrm>
            <a:off x="7356140" y="5634361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Caller’s R1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5586EAA-6255-4C3B-82A5-CFD2DB8A30B0}"/>
              </a:ext>
            </a:extLst>
          </p:cNvPr>
          <p:cNvSpPr txBox="1"/>
          <p:nvPr/>
        </p:nvSpPr>
        <p:spPr>
          <a:xfrm>
            <a:off x="9024274" y="5707648"/>
            <a:ext cx="1464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</a:rPr>
              <a:t>R1=old value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6F94317-434F-4A7A-BF97-C5E1D1C0DDBB}"/>
              </a:ext>
            </a:extLst>
          </p:cNvPr>
          <p:cNvSpPr txBox="1"/>
          <p:nvPr/>
        </p:nvSpPr>
        <p:spPr>
          <a:xfrm>
            <a:off x="6240016" y="6082426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Top </a:t>
            </a:r>
            <a:r>
              <a:rPr lang="en-US" altLang="zh-CN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DBC2CE-19D8-4A1E-83E0-238E30844415}"/>
              </a:ext>
            </a:extLst>
          </p:cNvPr>
          <p:cNvSpPr txBox="1"/>
          <p:nvPr/>
        </p:nvSpPr>
        <p:spPr>
          <a:xfrm>
            <a:off x="7680176" y="504071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A+1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24BA13C-E0C4-4EEA-8EEF-531625F62772}"/>
              </a:ext>
            </a:extLst>
          </p:cNvPr>
          <p:cNvSpPr txBox="1"/>
          <p:nvPr/>
        </p:nvSpPr>
        <p:spPr>
          <a:xfrm>
            <a:off x="7713107" y="448307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9778B69-6CAD-4AAE-AB75-1529912CD58C}"/>
              </a:ext>
            </a:extLst>
          </p:cNvPr>
          <p:cNvSpPr/>
          <p:nvPr/>
        </p:nvSpPr>
        <p:spPr>
          <a:xfrm>
            <a:off x="7680176" y="4029096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R1=2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9C039B-77E2-4055-9A32-3130577719A8}"/>
              </a:ext>
            </a:extLst>
          </p:cNvPr>
          <p:cNvSpPr/>
          <p:nvPr/>
        </p:nvSpPr>
        <p:spPr>
          <a:xfrm>
            <a:off x="7672917" y="3415154"/>
            <a:ext cx="4700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B+1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6230E68-1DD1-4AF8-AEA7-7523B8F4B7F0}"/>
              </a:ext>
            </a:extLst>
          </p:cNvPr>
          <p:cNvSpPr/>
          <p:nvPr/>
        </p:nvSpPr>
        <p:spPr>
          <a:xfrm>
            <a:off x="7623531" y="2761267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R0=2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6522B7-F8CF-4A3C-8E40-C65A2151E7F5}"/>
              </a:ext>
            </a:extLst>
          </p:cNvPr>
          <p:cNvSpPr/>
          <p:nvPr/>
        </p:nvSpPr>
        <p:spPr>
          <a:xfrm>
            <a:off x="7671777" y="2201003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R1=1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F63EF99-05BE-4B59-A40F-6B7BCD9676D9}"/>
              </a:ext>
            </a:extLst>
          </p:cNvPr>
          <p:cNvSpPr txBox="1"/>
          <p:nvPr/>
        </p:nvSpPr>
        <p:spPr>
          <a:xfrm>
            <a:off x="9083824" y="4393814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R1=3</a:t>
            </a:r>
            <a:endParaRPr lang="zh-CN" altLang="en-US" sz="2400" b="1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FE88FA5-38EF-4D5F-A87A-EBF01C1DDF2A}"/>
              </a:ext>
            </a:extLst>
          </p:cNvPr>
          <p:cNvSpPr txBox="1"/>
          <p:nvPr/>
        </p:nvSpPr>
        <p:spPr>
          <a:xfrm>
            <a:off x="9075785" y="4680413"/>
            <a:ext cx="1584176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R0=R0*R1=2*3=6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5046749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4D649-DF56-480F-90D8-5E680531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Recursive subroutine FACT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A59EA9-857E-4362-B1AF-CE456BF7E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8" y="981075"/>
            <a:ext cx="8569076" cy="5481638"/>
          </a:xfrm>
        </p:spPr>
        <p:txBody>
          <a:bodyPr/>
          <a:lstStyle/>
          <a:p>
            <a:r>
              <a:rPr lang="en-US" altLang="zh-CN" sz="1300" b="0" dirty="0"/>
              <a:t>FACT        ADD R6,R6,#-1</a:t>
            </a:r>
          </a:p>
          <a:p>
            <a:r>
              <a:rPr lang="en-US" altLang="zh-CN" sz="1300" b="0" dirty="0"/>
              <a:t>                STR R1,R6,#0 ; Push Caller’s R1 on the stack, so we can use R1.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ADD R1,R0,#-1 ; If n=1, we are done since 1! = 1</a:t>
            </a:r>
          </a:p>
          <a:p>
            <a:r>
              <a:rPr lang="en-US" altLang="zh-CN" sz="1300" b="0" dirty="0"/>
              <a:t>                </a:t>
            </a:r>
            <a:r>
              <a:rPr lang="en-US" altLang="zh-CN" sz="1300" b="0" dirty="0" err="1"/>
              <a:t>BRz</a:t>
            </a:r>
            <a:r>
              <a:rPr lang="en-US" altLang="zh-CN" sz="1300" b="0" dirty="0"/>
              <a:t> NO_RECURSE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ADD R6,R6,#-1</a:t>
            </a:r>
          </a:p>
          <a:p>
            <a:r>
              <a:rPr lang="en-US" altLang="zh-CN" sz="1300" b="0" dirty="0"/>
              <a:t>                 STR R7,R6,#0 ; Push return linkage onto stack</a:t>
            </a:r>
          </a:p>
          <a:p>
            <a:r>
              <a:rPr lang="en-US" altLang="zh-CN" sz="1300" b="0" dirty="0"/>
              <a:t>                 ADD R6,R6,#-1</a:t>
            </a:r>
          </a:p>
          <a:p>
            <a:r>
              <a:rPr lang="en-US" altLang="zh-CN" sz="1300" b="0" dirty="0"/>
              <a:t>                 STR R0,R6,#0 ; Push n on the stack</a:t>
            </a:r>
          </a:p>
          <a:p>
            <a:r>
              <a:rPr lang="en-US" altLang="zh-CN" sz="1300" b="0" dirty="0"/>
              <a:t>;</a:t>
            </a:r>
          </a:p>
          <a:p>
            <a:r>
              <a:rPr lang="en-US" altLang="zh-CN" sz="1300" b="0" dirty="0"/>
              <a:t>                 ADD R0,R0,#-1</a:t>
            </a:r>
            <a:r>
              <a:rPr lang="en-US" altLang="zh-CN" sz="1300" b="0" dirty="0">
                <a:solidFill>
                  <a:srgbClr val="0000FF"/>
                </a:solidFill>
              </a:rPr>
              <a:t> </a:t>
            </a:r>
            <a:r>
              <a:rPr lang="en-US" altLang="zh-CN" sz="1300" b="0" dirty="0"/>
              <a:t>; Form n-1, argument of JSR</a:t>
            </a:r>
          </a:p>
          <a:p>
            <a:r>
              <a:rPr lang="en-US" altLang="zh-CN" sz="1300" b="0" dirty="0"/>
              <a:t>        B       JSR FACT</a:t>
            </a:r>
          </a:p>
          <a:p>
            <a:r>
              <a:rPr lang="en-US" altLang="zh-CN" sz="1300" b="0" dirty="0"/>
              <a:t>                 LDR R1,R6,#0 ; Pop n from the stack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pt-BR" altLang="zh-CN" sz="1300" b="0" dirty="0"/>
              <a:t>                 MUL R0,R0,R1 ; form n*(n-1)!</a:t>
            </a:r>
          </a:p>
          <a:p>
            <a:r>
              <a:rPr lang="en-US" altLang="zh-CN" sz="1300" b="0" dirty="0"/>
              <a:t>;</a:t>
            </a:r>
          </a:p>
          <a:p>
            <a:r>
              <a:rPr lang="pt-BR" altLang="zh-CN" sz="1300" b="0" dirty="0"/>
              <a:t>                 LDR R7,R6,#0 ; Pop return linkage into R7</a:t>
            </a:r>
          </a:p>
          <a:p>
            <a:r>
              <a:rPr lang="en-US" altLang="zh-CN" sz="1300" b="0" dirty="0"/>
              <a:t>                 ADD R6,R6,#1</a:t>
            </a:r>
          </a:p>
          <a:p>
            <a:pPr marL="0" indent="0">
              <a:buNone/>
            </a:pPr>
            <a:r>
              <a:rPr lang="pt-BR" altLang="zh-CN" sz="1300" b="0" dirty="0"/>
              <a:t> NO_RECURSE LDR R1,R6,#0 ; Pop caller’s R1 back into R1</a:t>
            </a:r>
          </a:p>
          <a:p>
            <a:r>
              <a:rPr lang="en-US" altLang="zh-CN" sz="1300" b="0" dirty="0"/>
              <a:t>                 ADD R6,R6,#1</a:t>
            </a:r>
          </a:p>
          <a:p>
            <a:r>
              <a:rPr lang="en-US" altLang="zh-CN" sz="1300" b="0" dirty="0">
                <a:solidFill>
                  <a:srgbClr val="0000FF"/>
                </a:solidFill>
              </a:rPr>
              <a:t>                 RET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0CC2CB-E69F-45C7-9FA2-DF32A790D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C25EE6-8BCB-4BF7-ACAC-AB84C8CA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DA9CD5-A16D-4BB2-AD76-B79E221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23</a:t>
            </a:fld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EEE471-6B1E-4840-B614-09A135727CA4}"/>
              </a:ext>
            </a:extLst>
          </p:cNvPr>
          <p:cNvSpPr/>
          <p:nvPr/>
        </p:nvSpPr>
        <p:spPr bwMode="auto">
          <a:xfrm>
            <a:off x="7032104" y="1979463"/>
            <a:ext cx="1944216" cy="417646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A0F6E72-6963-404A-83D0-E532AC0D2396}"/>
              </a:ext>
            </a:extLst>
          </p:cNvPr>
          <p:cNvCxnSpPr/>
          <p:nvPr/>
        </p:nvCxnSpPr>
        <p:spPr bwMode="auto">
          <a:xfrm>
            <a:off x="7032104" y="267626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4545F15-E305-4B5F-BEEE-E5710B0C5113}"/>
              </a:ext>
            </a:extLst>
          </p:cNvPr>
          <p:cNvCxnSpPr/>
          <p:nvPr/>
        </p:nvCxnSpPr>
        <p:spPr bwMode="auto">
          <a:xfrm>
            <a:off x="7032104" y="3252326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61727FB-DCF6-4E30-B556-611286C9DA47}"/>
              </a:ext>
            </a:extLst>
          </p:cNvPr>
          <p:cNvCxnSpPr/>
          <p:nvPr/>
        </p:nvCxnSpPr>
        <p:spPr bwMode="auto">
          <a:xfrm>
            <a:off x="7032104" y="384596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54E67AB-981D-4AD2-9320-AC85B3B66705}"/>
              </a:ext>
            </a:extLst>
          </p:cNvPr>
          <p:cNvCxnSpPr/>
          <p:nvPr/>
        </p:nvCxnSpPr>
        <p:spPr bwMode="auto">
          <a:xfrm>
            <a:off x="7032104" y="4422032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8B497D8-F75D-4767-8842-95FB08B212B2}"/>
              </a:ext>
            </a:extLst>
          </p:cNvPr>
          <p:cNvCxnSpPr/>
          <p:nvPr/>
        </p:nvCxnSpPr>
        <p:spPr bwMode="auto">
          <a:xfrm>
            <a:off x="7032104" y="441953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CCD5E0E-7590-4386-9ADF-E4A6E5C45A99}"/>
              </a:ext>
            </a:extLst>
          </p:cNvPr>
          <p:cNvCxnSpPr/>
          <p:nvPr/>
        </p:nvCxnSpPr>
        <p:spPr bwMode="auto">
          <a:xfrm>
            <a:off x="7032104" y="4995598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89FE49A-122E-4546-ACBB-687445D06858}"/>
              </a:ext>
            </a:extLst>
          </p:cNvPr>
          <p:cNvCxnSpPr/>
          <p:nvPr/>
        </p:nvCxnSpPr>
        <p:spPr bwMode="auto">
          <a:xfrm>
            <a:off x="7032104" y="5589240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4221E5E-E772-4D7C-9E4C-F826D9E005FC}"/>
              </a:ext>
            </a:extLst>
          </p:cNvPr>
          <p:cNvCxnSpPr/>
          <p:nvPr/>
        </p:nvCxnSpPr>
        <p:spPr bwMode="auto">
          <a:xfrm>
            <a:off x="7032104" y="6165304"/>
            <a:ext cx="194421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69FD3344-7978-475C-BEE8-FD752542AE14}"/>
              </a:ext>
            </a:extLst>
          </p:cNvPr>
          <p:cNvSpPr txBox="1"/>
          <p:nvPr/>
        </p:nvSpPr>
        <p:spPr>
          <a:xfrm>
            <a:off x="7036026" y="1385822"/>
            <a:ext cx="194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Example:  R0=n=3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6E22CE1-8F52-4C01-880E-72D74B2C13CC}"/>
              </a:ext>
            </a:extLst>
          </p:cNvPr>
          <p:cNvSpPr txBox="1"/>
          <p:nvPr/>
        </p:nvSpPr>
        <p:spPr>
          <a:xfrm>
            <a:off x="7356140" y="5634361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Caller’s R1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5586EAA-6255-4C3B-82A5-CFD2DB8A30B0}"/>
              </a:ext>
            </a:extLst>
          </p:cNvPr>
          <p:cNvSpPr txBox="1"/>
          <p:nvPr/>
        </p:nvSpPr>
        <p:spPr>
          <a:xfrm>
            <a:off x="9024274" y="5707648"/>
            <a:ext cx="1464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R1=old value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6F94317-434F-4A7A-BF97-C5E1D1C0DDBB}"/>
              </a:ext>
            </a:extLst>
          </p:cNvPr>
          <p:cNvSpPr txBox="1"/>
          <p:nvPr/>
        </p:nvSpPr>
        <p:spPr>
          <a:xfrm>
            <a:off x="6240016" y="6082426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Top </a:t>
            </a:r>
            <a:r>
              <a:rPr lang="en-US" altLang="zh-CN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DBC2CE-19D8-4A1E-83E0-238E30844415}"/>
              </a:ext>
            </a:extLst>
          </p:cNvPr>
          <p:cNvSpPr txBox="1"/>
          <p:nvPr/>
        </p:nvSpPr>
        <p:spPr>
          <a:xfrm>
            <a:off x="7680176" y="504071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A+1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24BA13C-E0C4-4EEA-8EEF-531625F62772}"/>
              </a:ext>
            </a:extLst>
          </p:cNvPr>
          <p:cNvSpPr txBox="1"/>
          <p:nvPr/>
        </p:nvSpPr>
        <p:spPr>
          <a:xfrm>
            <a:off x="7713107" y="448307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n=3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9778B69-6CAD-4AAE-AB75-1529912CD58C}"/>
              </a:ext>
            </a:extLst>
          </p:cNvPr>
          <p:cNvSpPr/>
          <p:nvPr/>
        </p:nvSpPr>
        <p:spPr>
          <a:xfrm>
            <a:off x="7680176" y="4029096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R1=2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9C039B-77E2-4055-9A32-3130577719A8}"/>
              </a:ext>
            </a:extLst>
          </p:cNvPr>
          <p:cNvSpPr/>
          <p:nvPr/>
        </p:nvSpPr>
        <p:spPr>
          <a:xfrm>
            <a:off x="7672917" y="3415154"/>
            <a:ext cx="4700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B+1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6230E68-1DD1-4AF8-AEA7-7523B8F4B7F0}"/>
              </a:ext>
            </a:extLst>
          </p:cNvPr>
          <p:cNvSpPr/>
          <p:nvPr/>
        </p:nvSpPr>
        <p:spPr>
          <a:xfrm>
            <a:off x="7623531" y="2761267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R0=2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6522B7-F8CF-4A3C-8E40-C65A2151E7F5}"/>
              </a:ext>
            </a:extLst>
          </p:cNvPr>
          <p:cNvSpPr/>
          <p:nvPr/>
        </p:nvSpPr>
        <p:spPr>
          <a:xfrm>
            <a:off x="7671777" y="2201003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R1=1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FE88FA5-38EF-4D5F-A87A-EBF01C1DDF2A}"/>
              </a:ext>
            </a:extLst>
          </p:cNvPr>
          <p:cNvSpPr txBox="1"/>
          <p:nvPr/>
        </p:nvSpPr>
        <p:spPr>
          <a:xfrm>
            <a:off x="9075785" y="4680413"/>
            <a:ext cx="1584176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R0=R0*R1=2*3=6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A736249-ECA0-4FD4-9636-FCE19BE40C1A}"/>
              </a:ext>
            </a:extLst>
          </p:cNvPr>
          <p:cNvSpPr txBox="1"/>
          <p:nvPr/>
        </p:nvSpPr>
        <p:spPr>
          <a:xfrm>
            <a:off x="7350829" y="6279141"/>
            <a:ext cx="2489587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Return to calling program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00117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0E5022-C2FF-4A4D-BDB8-77C5D22DD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Implementing FACT iteratively (without recursion)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D0E379-4F95-4DEF-9C97-F6D4BFAB6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dirty="0"/>
              <a:t>FACT      ST R1,SAVE_R1</a:t>
            </a:r>
          </a:p>
          <a:p>
            <a:r>
              <a:rPr lang="en-US" altLang="zh-CN" b="0" dirty="0"/>
              <a:t>               ADD R1,R0,#0       ; R1=R0=n</a:t>
            </a:r>
          </a:p>
          <a:p>
            <a:r>
              <a:rPr lang="en-US" altLang="zh-CN" b="0" dirty="0"/>
              <a:t>               ADD R0,R0, #-1     ; R0=n-1</a:t>
            </a:r>
          </a:p>
          <a:p>
            <a:r>
              <a:rPr lang="en-US" altLang="zh-CN" b="0" dirty="0"/>
              <a:t>               </a:t>
            </a:r>
            <a:r>
              <a:rPr lang="en-US" altLang="zh-CN" b="0" dirty="0" err="1"/>
              <a:t>BRz</a:t>
            </a:r>
            <a:r>
              <a:rPr lang="en-US" altLang="zh-CN" b="0" dirty="0"/>
              <a:t> DONE</a:t>
            </a:r>
          </a:p>
          <a:p>
            <a:r>
              <a:rPr lang="pt-BR" altLang="zh-CN" b="0" dirty="0"/>
              <a:t>AGAIN    MUL R1,R1,R0        ; (n*(</a:t>
            </a:r>
            <a:r>
              <a:rPr lang="pt-BR" altLang="zh-CN" b="0" dirty="0">
                <a:solidFill>
                  <a:srgbClr val="FF0000"/>
                </a:solidFill>
              </a:rPr>
              <a:t>n-1</a:t>
            </a:r>
            <a:r>
              <a:rPr lang="pt-BR" altLang="zh-CN" b="0" dirty="0"/>
              <a:t>))*(</a:t>
            </a:r>
            <a:r>
              <a:rPr lang="pt-BR" altLang="zh-CN" b="0" dirty="0">
                <a:solidFill>
                  <a:srgbClr val="0000FF"/>
                </a:solidFill>
              </a:rPr>
              <a:t>n-2</a:t>
            </a:r>
            <a:r>
              <a:rPr lang="pt-BR" altLang="zh-CN" b="0" dirty="0"/>
              <a:t>)...</a:t>
            </a:r>
          </a:p>
          <a:p>
            <a:r>
              <a:rPr lang="en-US" altLang="zh-CN" b="0" dirty="0"/>
              <a:t>               ADD R0,R0,#-1      ; R0 gets next integer for MUL</a:t>
            </a:r>
          </a:p>
          <a:p>
            <a:r>
              <a:rPr lang="en-US" altLang="zh-CN" b="0" dirty="0"/>
              <a:t>               </a:t>
            </a:r>
            <a:r>
              <a:rPr lang="en-US" altLang="zh-CN" b="0" dirty="0" err="1"/>
              <a:t>BRnp</a:t>
            </a:r>
            <a:r>
              <a:rPr lang="en-US" altLang="zh-CN" b="0" dirty="0"/>
              <a:t> AGAIN</a:t>
            </a:r>
          </a:p>
          <a:p>
            <a:r>
              <a:rPr lang="en-US" altLang="zh-CN" b="0" dirty="0"/>
              <a:t>DONE     ADD R0,R1,#0        ; Move n! to R0</a:t>
            </a:r>
          </a:p>
          <a:p>
            <a:r>
              <a:rPr lang="en-US" altLang="zh-CN" b="0" dirty="0"/>
              <a:t>               LD R1,SAVE_R1</a:t>
            </a:r>
          </a:p>
          <a:p>
            <a:r>
              <a:rPr lang="en-US" altLang="zh-CN" b="0" dirty="0"/>
              <a:t>               RET</a:t>
            </a:r>
          </a:p>
          <a:p>
            <a:r>
              <a:rPr lang="en-US" altLang="zh-CN" b="0" dirty="0"/>
              <a:t>SAVE_R1 .BLKW 1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3FC2F2-A12B-4DB2-8B0C-2BEC8F140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31EE59-920E-422B-A62C-BE0A75FC3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6C0EA7-20BF-492B-9893-BE84CE830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95552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361E45-B85E-47C4-BC79-22395793D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Maze: a Good Example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BA3680-D336-427C-A163-E4F2893A0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6080" y="1196753"/>
            <a:ext cx="3726508" cy="5265960"/>
          </a:xfrm>
        </p:spPr>
        <p:txBody>
          <a:bodyPr/>
          <a:lstStyle/>
          <a:p>
            <a:r>
              <a:rPr lang="en-US" altLang="zh-CN" kern="1200" dirty="0">
                <a:latin typeface="Baskerville Old Face" panose="02020602080505020303" pitchFamily="18" charset="0"/>
                <a:ea typeface="宋体" panose="02010600030101010101" pitchFamily="2" charset="-122"/>
              </a:rPr>
              <a:t>Specification of each cell in the maze</a:t>
            </a:r>
          </a:p>
          <a:p>
            <a:pPr lvl="1"/>
            <a:r>
              <a:rPr lang="en-US" altLang="zh-CN" sz="1900" b="0" dirty="0"/>
              <a:t>Bit[4]=1 if there is a door to the outside world; Bit[4]=0 if no door.</a:t>
            </a:r>
          </a:p>
          <a:p>
            <a:pPr lvl="1"/>
            <a:r>
              <a:rPr lang="en-US" altLang="zh-CN" sz="1900" b="0" dirty="0"/>
              <a:t>Bit[3]=1 if there is a door to the cell to the north; Bit[3]=0 if no door.</a:t>
            </a:r>
          </a:p>
          <a:p>
            <a:pPr lvl="1"/>
            <a:r>
              <a:rPr lang="en-US" altLang="zh-CN" sz="1900" b="0" dirty="0"/>
              <a:t>Bit[2]=1 if there is a door to the cell to the east; Bit[2]=0 if no door.</a:t>
            </a:r>
          </a:p>
          <a:p>
            <a:pPr lvl="1"/>
            <a:r>
              <a:rPr lang="en-US" altLang="zh-CN" sz="1900" b="0" dirty="0"/>
              <a:t>Bit[1]=1 if there is a door to the cell to the south; Bit[1]=0 if no door.</a:t>
            </a:r>
          </a:p>
          <a:p>
            <a:pPr lvl="1"/>
            <a:r>
              <a:rPr lang="en-US" altLang="zh-CN" sz="1900" b="0" dirty="0"/>
              <a:t>Bit[0]=1 if there is a door to the cell to the west; Bit[0]=0 if no door.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E96CF9-0E45-40B3-9367-C556F43A7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B149AE-3827-4EFF-B363-B44D4005E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666AB7-D77C-46DE-B19A-53300497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72001D5-2FEA-4FE5-9F6F-FEA9D85B3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925" y="2598496"/>
            <a:ext cx="5524155" cy="365192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510B751-2E3D-43C5-A42F-0555D143564B}"/>
              </a:ext>
            </a:extLst>
          </p:cNvPr>
          <p:cNvSpPr/>
          <p:nvPr/>
        </p:nvSpPr>
        <p:spPr>
          <a:xfrm>
            <a:off x="1199456" y="1196753"/>
            <a:ext cx="552415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aseline="0" dirty="0">
                <a:latin typeface="Baskerville Old Face" panose="02020602080505020303" pitchFamily="18" charset="0"/>
              </a:rPr>
              <a:t>Given a </a:t>
            </a:r>
            <a:r>
              <a:rPr lang="en-US" altLang="zh-CN" sz="2000" baseline="0" dirty="0">
                <a:solidFill>
                  <a:srgbClr val="0000FF"/>
                </a:solidFill>
                <a:latin typeface="Baskerville Old Face" panose="02020602080505020303" pitchFamily="18" charset="0"/>
              </a:rPr>
              <a:t>maze</a:t>
            </a:r>
            <a:r>
              <a:rPr lang="en-US" altLang="zh-CN" sz="2000" baseline="0" dirty="0">
                <a:latin typeface="Baskerville Old Face" panose="02020602080505020303" pitchFamily="18" charset="0"/>
              </a:rPr>
              <a:t> and a </a:t>
            </a:r>
            <a:r>
              <a:rPr lang="en-US" altLang="zh-CN" sz="2000" baseline="0" dirty="0">
                <a:solidFill>
                  <a:srgbClr val="0000FF"/>
                </a:solidFill>
                <a:latin typeface="Baskerville Old Face" panose="02020602080505020303" pitchFamily="18" charset="0"/>
              </a:rPr>
              <a:t>starting position </a:t>
            </a:r>
            <a:r>
              <a:rPr lang="en-US" altLang="zh-CN" sz="2000" baseline="0" dirty="0">
                <a:latin typeface="Baskerville Old Face" panose="02020602080505020303" pitchFamily="18" charset="0"/>
              </a:rPr>
              <a:t>within the maze, write a program that </a:t>
            </a:r>
            <a:r>
              <a:rPr lang="en-US" altLang="zh-CN" sz="2000" baseline="0" dirty="0">
                <a:solidFill>
                  <a:srgbClr val="0000FF"/>
                </a:solidFill>
                <a:latin typeface="Baskerville Old Face" panose="02020602080505020303" pitchFamily="18" charset="0"/>
              </a:rPr>
              <a:t>determines whether or not there is a way out of the maze </a:t>
            </a:r>
            <a:r>
              <a:rPr lang="en-US" altLang="zh-CN" sz="2000" baseline="0" dirty="0">
                <a:latin typeface="Baskerville Old Face" panose="02020602080505020303" pitchFamily="18" charset="0"/>
              </a:rPr>
              <a:t>from your starting position.</a:t>
            </a:r>
            <a:endParaRPr lang="zh-CN" altLang="en-US" sz="2000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0605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E01E75-32F2-4132-B58B-C0EE4277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8" y="908721"/>
            <a:ext cx="5840412" cy="5553993"/>
          </a:xfrm>
        </p:spPr>
        <p:txBody>
          <a:bodyPr/>
          <a:lstStyle/>
          <a:p>
            <a:r>
              <a:rPr lang="en-US" altLang="zh-CN" sz="1200" b="0" dirty="0"/>
              <a:t>00 .ORIG x5000</a:t>
            </a:r>
          </a:p>
          <a:p>
            <a:r>
              <a:rPr lang="en-US" altLang="zh-CN" sz="1200" b="0" dirty="0"/>
              <a:t>01 MAZE  .FILL x0006 ; first row: indices 0 to 5</a:t>
            </a:r>
          </a:p>
          <a:p>
            <a:r>
              <a:rPr lang="en-US" altLang="zh-CN" sz="1200" b="0" dirty="0"/>
              <a:t>02             .FILL x0007</a:t>
            </a:r>
          </a:p>
          <a:p>
            <a:r>
              <a:rPr lang="en-US" altLang="zh-CN" sz="1200" b="0" dirty="0"/>
              <a:t>03             .FILL x0005</a:t>
            </a:r>
          </a:p>
          <a:p>
            <a:r>
              <a:rPr lang="en-US" altLang="zh-CN" sz="1200" b="0" dirty="0"/>
              <a:t>04             .FILL x0005</a:t>
            </a:r>
          </a:p>
          <a:p>
            <a:r>
              <a:rPr lang="en-US" altLang="zh-CN" sz="1200" b="0" dirty="0"/>
              <a:t>05             .FILL x0003</a:t>
            </a:r>
          </a:p>
          <a:p>
            <a:r>
              <a:rPr lang="en-US" altLang="zh-CN" sz="1200" b="0" dirty="0"/>
              <a:t>06             .FILL x0000</a:t>
            </a:r>
          </a:p>
          <a:p>
            <a:r>
              <a:rPr lang="en-US" altLang="zh-CN" sz="1200" b="0" dirty="0"/>
              <a:t>07 ; second row: indices 6 to 11</a:t>
            </a:r>
          </a:p>
          <a:p>
            <a:r>
              <a:rPr lang="en-US" altLang="zh-CN" sz="1200" b="0" dirty="0"/>
              <a:t>08             .FILL x0008</a:t>
            </a:r>
          </a:p>
          <a:p>
            <a:r>
              <a:rPr lang="en-US" altLang="zh-CN" sz="1200" b="0" dirty="0"/>
              <a:t>09             .FILL x000A</a:t>
            </a:r>
          </a:p>
          <a:p>
            <a:r>
              <a:rPr lang="en-US" altLang="zh-CN" sz="1200" b="0" dirty="0"/>
              <a:t>0A             .FILL x0004</a:t>
            </a:r>
          </a:p>
          <a:p>
            <a:r>
              <a:rPr lang="en-US" altLang="zh-CN" sz="1200" b="0" dirty="0"/>
              <a:t>0B             .FILL x0003</a:t>
            </a:r>
          </a:p>
          <a:p>
            <a:r>
              <a:rPr lang="en-US" altLang="zh-CN" sz="1200" b="0" dirty="0"/>
              <a:t>0C             .FILL x000C</a:t>
            </a:r>
          </a:p>
          <a:p>
            <a:r>
              <a:rPr lang="en-US" altLang="zh-CN" sz="1200" b="0" dirty="0"/>
              <a:t>0D             .FILL x0015</a:t>
            </a:r>
          </a:p>
          <a:p>
            <a:r>
              <a:rPr lang="en-US" altLang="zh-CN" sz="1200" b="0" dirty="0"/>
              <a:t>0E ; third row: indices 12 to 17</a:t>
            </a:r>
          </a:p>
          <a:p>
            <a:r>
              <a:rPr lang="en-US" altLang="zh-CN" sz="1200" b="0" dirty="0"/>
              <a:t>0F             .FILL x0000</a:t>
            </a:r>
          </a:p>
          <a:p>
            <a:r>
              <a:rPr lang="en-US" altLang="zh-CN" sz="1200" b="0" dirty="0"/>
              <a:t>10             .FILL x000C</a:t>
            </a:r>
          </a:p>
          <a:p>
            <a:r>
              <a:rPr lang="en-US" altLang="zh-CN" sz="1200" b="0" dirty="0"/>
              <a:t>11             .FILL x0001</a:t>
            </a:r>
          </a:p>
          <a:p>
            <a:r>
              <a:rPr lang="en-US" altLang="zh-CN" sz="1200" b="0" dirty="0"/>
              <a:t>12             .FILL x000A</a:t>
            </a:r>
          </a:p>
          <a:p>
            <a:r>
              <a:rPr lang="en-US" altLang="zh-CN" sz="1200" b="0" dirty="0"/>
              <a:t>13             .FILL x0002</a:t>
            </a:r>
          </a:p>
          <a:p>
            <a:r>
              <a:rPr lang="en-US" altLang="zh-CN" sz="1200" b="0" dirty="0"/>
              <a:t>14             .FILL x0002</a:t>
            </a:r>
          </a:p>
          <a:p>
            <a:r>
              <a:rPr lang="en-US" altLang="zh-CN" sz="1200" b="0" dirty="0"/>
              <a:t>…….</a:t>
            </a:r>
          </a:p>
          <a:p>
            <a:r>
              <a:rPr lang="en-US" altLang="zh-CN" sz="1200" b="0" dirty="0"/>
              <a:t>2A .END</a:t>
            </a:r>
          </a:p>
          <a:p>
            <a:r>
              <a:rPr lang="en-US" altLang="zh-CN" sz="1600" dirty="0">
                <a:solidFill>
                  <a:srgbClr val="0000FF"/>
                </a:solidFill>
              </a:rPr>
              <a:t>Figure 8.22 Specification of the maze of Figure 8.20</a:t>
            </a:r>
            <a:r>
              <a:rPr lang="en-US" altLang="zh-CN" sz="1200" b="0" dirty="0"/>
              <a:t>.</a:t>
            </a:r>
            <a:endParaRPr lang="zh-CN" altLang="en-US" sz="14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2112FF-CCB4-48A2-ADF7-C6204B303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9F0252-B492-4AB2-A0FD-D47703E65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2CC4E2-6A2F-4994-812D-0184172D4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4506F03-A17A-4122-839C-A6D94244C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26" y="1516557"/>
            <a:ext cx="4680520" cy="447274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0974328-09C4-4A52-97A5-3DF2BF80FFB4}"/>
              </a:ext>
            </a:extLst>
          </p:cNvPr>
          <p:cNvSpPr/>
          <p:nvPr/>
        </p:nvSpPr>
        <p:spPr>
          <a:xfrm>
            <a:off x="6312024" y="1772816"/>
            <a:ext cx="6126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MAZE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0450D1B-EFBF-4BB6-AD6E-9B74FFE4F2FB}"/>
              </a:ext>
            </a:extLst>
          </p:cNvPr>
          <p:cNvSpPr/>
          <p:nvPr/>
        </p:nvSpPr>
        <p:spPr>
          <a:xfrm>
            <a:off x="6942353" y="1256038"/>
            <a:ext cx="60144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x5000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EEF651A-146A-4CAB-9AAE-4CC7184A2BF3}"/>
              </a:ext>
            </a:extLst>
          </p:cNvPr>
          <p:cNvSpPr/>
          <p:nvPr/>
        </p:nvSpPr>
        <p:spPr>
          <a:xfrm>
            <a:off x="7664396" y="1256037"/>
            <a:ext cx="60144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x5001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52FA72-43B5-413C-966F-82F9A1D84BA2}"/>
              </a:ext>
            </a:extLst>
          </p:cNvPr>
          <p:cNvSpPr/>
          <p:nvPr/>
        </p:nvSpPr>
        <p:spPr>
          <a:xfrm>
            <a:off x="8386439" y="1256779"/>
            <a:ext cx="60144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x5002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72518F-3579-44E9-8EBD-9B3BB09C42A5}"/>
              </a:ext>
            </a:extLst>
          </p:cNvPr>
          <p:cNvSpPr/>
          <p:nvPr/>
        </p:nvSpPr>
        <p:spPr>
          <a:xfrm>
            <a:off x="9108482" y="1256037"/>
            <a:ext cx="60144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x5003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FF5985-AB7E-4F18-A018-20C1439E4E61}"/>
              </a:ext>
            </a:extLst>
          </p:cNvPr>
          <p:cNvSpPr/>
          <p:nvPr/>
        </p:nvSpPr>
        <p:spPr>
          <a:xfrm>
            <a:off x="9731368" y="1256037"/>
            <a:ext cx="60144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x5004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428EBE-FBAC-4A3A-AEC5-AE5F4F61D7D2}"/>
              </a:ext>
            </a:extLst>
          </p:cNvPr>
          <p:cNvSpPr/>
          <p:nvPr/>
        </p:nvSpPr>
        <p:spPr>
          <a:xfrm>
            <a:off x="10460340" y="1256779"/>
            <a:ext cx="60144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x5005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34186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7AB87E-D083-46F1-867F-985B5B9F3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500" dirty="0"/>
              <a:t>Recursive Subroutine to exit the Maze</a:t>
            </a:r>
            <a:endParaRPr lang="zh-CN" altLang="en-US" sz="2500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540E06D4-B9C0-4E30-B9CE-B35F926673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3248" y="981075"/>
            <a:ext cx="5859481" cy="5481638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EAE2A8-BD64-4EF6-9F0C-04900FE4E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0351C0-A3A0-474F-8EF6-AB2B6D2ED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C235F7-EB85-47B1-8CD0-0EA7B8214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82864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5A1322-33B6-49C4-8A44-24E104FB7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Description of the Algorithm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B36E7A-8739-4E56-ADA3-37058CFDB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600" b="0" dirty="0"/>
              <a:t>a. From our cell, we ask if we can exit. If yes, we are done. We exit with R1=1.</a:t>
            </a:r>
          </a:p>
          <a:p>
            <a:r>
              <a:rPr lang="en-US" altLang="zh-CN" sz="1600" b="0" dirty="0"/>
              <a:t>b. If not, we put a breadcrumb in our cell. Our breadcrumb is bit [15] of the</a:t>
            </a:r>
          </a:p>
          <a:p>
            <a:pPr marL="0" indent="0">
              <a:buNone/>
            </a:pPr>
            <a:r>
              <a:rPr lang="en-US" altLang="zh-CN" sz="1600" b="0" dirty="0"/>
              <a:t>          word corresponding to our current cell. We set it to 1.</a:t>
            </a:r>
          </a:p>
          <a:p>
            <a:r>
              <a:rPr lang="en-US" altLang="zh-CN" sz="1600" b="0" dirty="0"/>
              <a:t>c. We ask two questions: Is there a door to the north, and have we never</a:t>
            </a:r>
          </a:p>
          <a:p>
            <a:pPr marL="0" indent="0">
              <a:buNone/>
            </a:pPr>
            <a:r>
              <a:rPr lang="en-US" altLang="zh-CN" sz="1600" b="0" dirty="0"/>
              <a:t>          visited the cell to the north before? If the answer to both is yes, we set the</a:t>
            </a:r>
          </a:p>
          <a:p>
            <a:pPr marL="0" indent="0">
              <a:buNone/>
            </a:pPr>
            <a:r>
              <a:rPr lang="en-US" altLang="zh-CN" sz="1600" b="0" dirty="0"/>
              <a:t>          address to the cell to the north, and JSR FIND EXIT. </a:t>
            </a:r>
            <a:r>
              <a:rPr lang="en-US" altLang="zh-CN" sz="1400" b="0" dirty="0">
                <a:solidFill>
                  <a:schemeClr val="bg1">
                    <a:lumMod val="95000"/>
                  </a:schemeClr>
                </a:solidFill>
              </a:rPr>
              <a:t>We set the address to</a:t>
            </a:r>
          </a:p>
          <a:p>
            <a:pPr marL="0" indent="0">
              <a:buNone/>
            </a:pPr>
            <a:r>
              <a:rPr lang="en-US" altLang="zh-CN" sz="1400" b="0" dirty="0">
                <a:solidFill>
                  <a:schemeClr val="bg1">
                    <a:lumMod val="95000"/>
                  </a:schemeClr>
                </a:solidFill>
              </a:rPr>
              <a:t>          the cell to the north by simply subtracting 6 from the address of the current cell. Why 6? </a:t>
            </a:r>
          </a:p>
          <a:p>
            <a:pPr marL="0" indent="0">
              <a:buNone/>
            </a:pPr>
            <a:r>
              <a:rPr lang="en-US" altLang="zh-CN" sz="1400" b="0" dirty="0">
                <a:solidFill>
                  <a:schemeClr val="bg1">
                    <a:lumMod val="95000"/>
                  </a:schemeClr>
                </a:solidFill>
              </a:rPr>
              <a:t>          Because the cells are stored in row major order, and the  number of columns in the maze is 6.</a:t>
            </a:r>
          </a:p>
          <a:p>
            <a:r>
              <a:rPr lang="en-US" altLang="zh-CN" sz="1600" b="0" dirty="0"/>
              <a:t>d. If the answer to either question is no, or if going north resulted in failure,</a:t>
            </a:r>
          </a:p>
          <a:p>
            <a:pPr marL="0" indent="0">
              <a:buNone/>
            </a:pPr>
            <a:r>
              <a:rPr lang="en-US" altLang="zh-CN" sz="1600" b="0" dirty="0"/>
              <a:t>          we ask: Is there a door to the east, and have we never visited that cell</a:t>
            </a:r>
          </a:p>
          <a:p>
            <a:pPr marL="0" indent="0">
              <a:buNone/>
            </a:pPr>
            <a:r>
              <a:rPr lang="en-US" altLang="zh-CN" sz="1600" b="0" dirty="0"/>
              <a:t>          before? If the answer to both is yes, we set the address to the address of the</a:t>
            </a:r>
          </a:p>
          <a:p>
            <a:pPr marL="0" indent="0">
              <a:buNone/>
            </a:pPr>
            <a:r>
              <a:rPr lang="en-US" altLang="zh-CN" sz="1600" b="0" dirty="0"/>
              <a:t>          cell to the east (by adding 1 to the address) and JSR FIND EXIT.</a:t>
            </a:r>
          </a:p>
          <a:p>
            <a:r>
              <a:rPr lang="en-US" altLang="zh-CN" sz="1600" b="0" dirty="0"/>
              <a:t>e. If going east does not get us out, we repeat the question for south, and if</a:t>
            </a:r>
          </a:p>
          <a:p>
            <a:pPr marL="0" indent="0">
              <a:buNone/>
            </a:pPr>
            <a:r>
              <a:rPr lang="en-US" altLang="zh-CN" sz="1600" b="0" dirty="0"/>
              <a:t>          that does not work, then for west.</a:t>
            </a:r>
          </a:p>
          <a:p>
            <a:r>
              <a:rPr lang="en-US" altLang="zh-CN" sz="1600" b="0" dirty="0"/>
              <a:t>f. If we end up with no door to the west to a cell we have not visited, or if there</a:t>
            </a:r>
          </a:p>
          <a:p>
            <a:pPr marL="0" indent="0">
              <a:buNone/>
            </a:pPr>
            <a:r>
              <a:rPr lang="en-US" altLang="zh-CN" sz="1600" b="0" dirty="0"/>
              <a:t>         is a door and we haven’t visited, but it results in failure, we are done. We</a:t>
            </a:r>
          </a:p>
          <a:p>
            <a:pPr marL="0" indent="0">
              <a:buNone/>
            </a:pPr>
            <a:r>
              <a:rPr lang="en-US" altLang="zh-CN" sz="1600" b="0" dirty="0"/>
              <a:t>         cannot exit the maze from our starting position. We set R1=0 and return.</a:t>
            </a:r>
            <a:endParaRPr lang="zh-CN" altLang="en-US" sz="16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C230A3-0F7B-4173-8E5D-55AB6233A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B10E1B-ED02-4C59-B838-E63CD031B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B10A5-A5FC-4D1C-B61C-D7DABFA17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38649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51B2B8-7215-4698-851F-20251781F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8" y="116632"/>
            <a:ext cx="4316210" cy="6436568"/>
          </a:xfrm>
          <a:solidFill>
            <a:schemeClr val="bg1">
              <a:alpha val="74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indent="0">
              <a:buNone/>
            </a:pPr>
            <a:r>
              <a:rPr lang="en-US" altLang="zh-CN" sz="1200" b="0" dirty="0">
                <a:solidFill>
                  <a:srgbClr val="0000FF"/>
                </a:solidFill>
              </a:rPr>
              <a:t>; Recursive subroutine that determines if there is </a:t>
            </a:r>
          </a:p>
          <a:p>
            <a:pPr marL="0" indent="0">
              <a:buNone/>
            </a:pPr>
            <a:r>
              <a:rPr lang="en-US" altLang="zh-CN" sz="1200" b="0" dirty="0">
                <a:solidFill>
                  <a:srgbClr val="0000FF"/>
                </a:solidFill>
              </a:rPr>
              <a:t>; a path from current cell to the outside world.</a:t>
            </a:r>
          </a:p>
          <a:p>
            <a:pPr marL="0" indent="0">
              <a:buNone/>
            </a:pPr>
            <a:r>
              <a:rPr lang="en-US" altLang="zh-CN" sz="1200" b="0" dirty="0">
                <a:solidFill>
                  <a:srgbClr val="0000FF"/>
                </a:solidFill>
              </a:rPr>
              <a:t>; </a:t>
            </a:r>
            <a:r>
              <a:rPr lang="en-US" altLang="zh-CN" sz="1200" dirty="0">
                <a:solidFill>
                  <a:srgbClr val="0000FF"/>
                </a:solidFill>
              </a:rPr>
              <a:t>input: R0, current cell address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rgbClr val="0000FF"/>
                </a:solidFill>
              </a:rPr>
              <a:t>; output: R1, YES (1) or NO (0)</a:t>
            </a:r>
          </a:p>
          <a:p>
            <a:pPr marL="0" indent="0">
              <a:buNone/>
            </a:pPr>
            <a:endParaRPr lang="en-US" altLang="zh-CN" sz="1200" b="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sz="1200" b="0" dirty="0"/>
              <a:t>            .ORIG x4000</a:t>
            </a:r>
          </a:p>
          <a:p>
            <a:pPr marL="0" indent="0">
              <a:buNone/>
            </a:pPr>
            <a:r>
              <a:rPr lang="en-US" altLang="zh-CN" sz="1200" b="0" dirty="0"/>
              <a:t>01 </a:t>
            </a:r>
            <a:r>
              <a:rPr lang="en-US" altLang="zh-CN" sz="1200" b="0" dirty="0">
                <a:solidFill>
                  <a:schemeClr val="accent1"/>
                </a:solidFill>
              </a:rPr>
              <a:t>FIND_EXIT </a:t>
            </a:r>
            <a:r>
              <a:rPr lang="en-US" altLang="zh-CN" sz="1200" b="0" dirty="0"/>
              <a:t>; save modified registers into the stack.</a:t>
            </a:r>
          </a:p>
          <a:p>
            <a:pPr marL="0" indent="0">
              <a:buNone/>
            </a:pPr>
            <a:r>
              <a:rPr lang="pt-BR" altLang="zh-CN" sz="1200" b="0" dirty="0"/>
              <a:t>02      ADD R6, R6, #-1</a:t>
            </a:r>
          </a:p>
          <a:p>
            <a:pPr marL="0" indent="0">
              <a:buNone/>
            </a:pPr>
            <a:r>
              <a:rPr lang="en-US" altLang="zh-CN" sz="1200" b="0" dirty="0"/>
              <a:t>03      STR R2, R6, #0 ; </a:t>
            </a:r>
            <a:r>
              <a:rPr lang="en-US" altLang="zh-CN" sz="1200" b="0" dirty="0">
                <a:solidFill>
                  <a:srgbClr val="0000FF"/>
                </a:solidFill>
              </a:rPr>
              <a:t>R2 holds the cell data of the caller</a:t>
            </a:r>
          </a:p>
          <a:p>
            <a:pPr marL="0" indent="0">
              <a:buNone/>
            </a:pPr>
            <a:r>
              <a:rPr lang="pt-BR" altLang="zh-CN" sz="1200" b="0" dirty="0"/>
              <a:t>04      ADD R6, R6, #-1</a:t>
            </a:r>
          </a:p>
          <a:p>
            <a:pPr marL="0" indent="0">
              <a:buNone/>
            </a:pPr>
            <a:r>
              <a:rPr lang="en-US" altLang="zh-CN" sz="1200" b="0" dirty="0"/>
              <a:t>05      STR R3, R6, #0 </a:t>
            </a:r>
            <a:r>
              <a:rPr lang="en-US" altLang="zh-CN" sz="1100" b="0" dirty="0"/>
              <a:t>; </a:t>
            </a:r>
            <a:r>
              <a:rPr lang="en-US" altLang="zh-CN" sz="1100" b="0" dirty="0">
                <a:solidFill>
                  <a:srgbClr val="0000FF"/>
                </a:solidFill>
              </a:rPr>
              <a:t>R3 holds the cell address of the caller</a:t>
            </a:r>
            <a:endParaRPr lang="en-US" altLang="zh-CN" sz="1200" b="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pt-BR" altLang="zh-CN" sz="1200" b="0" dirty="0"/>
              <a:t>06      ADD R6, R6, #-1</a:t>
            </a:r>
          </a:p>
          <a:p>
            <a:pPr marL="0" indent="0">
              <a:buNone/>
            </a:pPr>
            <a:r>
              <a:rPr lang="en-US" altLang="zh-CN" sz="1200" b="0" dirty="0"/>
              <a:t>07      STR R7, R6, #0 ; </a:t>
            </a:r>
            <a:r>
              <a:rPr lang="en-US" altLang="zh-CN" sz="1200" b="0" dirty="0">
                <a:solidFill>
                  <a:srgbClr val="0000FF"/>
                </a:solidFill>
              </a:rPr>
              <a:t>R7 holds the PC of the caller</a:t>
            </a:r>
          </a:p>
          <a:p>
            <a:pPr marL="0" indent="0">
              <a:buNone/>
            </a:pPr>
            <a:r>
              <a:rPr lang="en-US" altLang="zh-CN" sz="1200" b="0" dirty="0"/>
              <a:t>08</a:t>
            </a:r>
          </a:p>
          <a:p>
            <a:pPr marL="0" indent="0">
              <a:buNone/>
            </a:pPr>
            <a:r>
              <a:rPr lang="en-US" altLang="zh-CN" sz="1200" b="0" dirty="0">
                <a:solidFill>
                  <a:srgbClr val="0000FF"/>
                </a:solidFill>
              </a:rPr>
              <a:t>09     ; Move cell address to R3, since we need to use R0</a:t>
            </a:r>
          </a:p>
          <a:p>
            <a:pPr marL="0" indent="0">
              <a:buNone/>
            </a:pPr>
            <a:r>
              <a:rPr lang="en-US" altLang="zh-CN" sz="1200" b="0" dirty="0">
                <a:solidFill>
                  <a:srgbClr val="0000FF"/>
                </a:solidFill>
              </a:rPr>
              <a:t>0A     ; as the input to recursive subroutine calls.</a:t>
            </a:r>
          </a:p>
          <a:p>
            <a:pPr marL="0" indent="0">
              <a:buNone/>
            </a:pPr>
            <a:r>
              <a:rPr lang="pt-BR" altLang="zh-CN" sz="1200" b="0" dirty="0"/>
              <a:t>0B     ADD R3, R0, #0</a:t>
            </a:r>
          </a:p>
          <a:p>
            <a:pPr marL="0" indent="0">
              <a:buNone/>
            </a:pPr>
            <a:r>
              <a:rPr lang="en-US" altLang="zh-CN" sz="1200" b="0" dirty="0"/>
              <a:t>0C</a:t>
            </a:r>
          </a:p>
          <a:p>
            <a:pPr marL="0" indent="0">
              <a:buNone/>
            </a:pPr>
            <a:r>
              <a:rPr lang="en-US" altLang="zh-CN" sz="1200" b="0" dirty="0">
                <a:solidFill>
                  <a:srgbClr val="0000FF"/>
                </a:solidFill>
              </a:rPr>
              <a:t>0D     ; If the exit is in this cell, return YES</a:t>
            </a:r>
          </a:p>
          <a:p>
            <a:pPr marL="0" indent="0">
              <a:buNone/>
            </a:pPr>
            <a:r>
              <a:rPr lang="en-US" altLang="zh-CN" sz="1200" b="0" dirty="0"/>
              <a:t>0E      LDR R2, R0, #0 ; R2 now holds the current cell data</a:t>
            </a:r>
          </a:p>
          <a:p>
            <a:pPr marL="0" indent="0">
              <a:buNone/>
            </a:pPr>
            <a:r>
              <a:rPr lang="pt-BR" altLang="zh-CN" sz="1200" b="0" dirty="0"/>
              <a:t>0F      LD R7, EXIT_MASK</a:t>
            </a:r>
          </a:p>
          <a:p>
            <a:pPr marL="0" indent="0">
              <a:buNone/>
            </a:pPr>
            <a:r>
              <a:rPr lang="pt-BR" altLang="zh-CN" sz="1200" b="0" dirty="0"/>
              <a:t>10      AND R7, R2, R7</a:t>
            </a:r>
          </a:p>
          <a:p>
            <a:pPr marL="0" indent="0">
              <a:buNone/>
            </a:pPr>
            <a:r>
              <a:rPr lang="en-US" altLang="zh-CN" sz="1200" b="0" dirty="0"/>
              <a:t>11      </a:t>
            </a:r>
            <a:r>
              <a:rPr lang="en-US" altLang="zh-CN" sz="1200" b="0" dirty="0" err="1"/>
              <a:t>BRnp</a:t>
            </a:r>
            <a:r>
              <a:rPr lang="en-US" altLang="zh-CN" sz="1200" b="0" dirty="0"/>
              <a:t> DONE_YES</a:t>
            </a:r>
          </a:p>
          <a:p>
            <a:pPr marL="0" indent="0">
              <a:buNone/>
            </a:pPr>
            <a:r>
              <a:rPr lang="en-US" altLang="zh-CN" sz="1200" b="0" dirty="0"/>
              <a:t>12</a:t>
            </a:r>
          </a:p>
          <a:p>
            <a:pPr marL="0" indent="0">
              <a:buNone/>
            </a:pPr>
            <a:r>
              <a:rPr lang="en-US" altLang="zh-CN" sz="1200" b="0" dirty="0">
                <a:solidFill>
                  <a:srgbClr val="0000FF"/>
                </a:solidFill>
              </a:rPr>
              <a:t>13     ; Put breadcrumb in the current cell.</a:t>
            </a:r>
          </a:p>
          <a:p>
            <a:pPr marL="0" indent="0">
              <a:buNone/>
            </a:pPr>
            <a:r>
              <a:rPr lang="en-US" altLang="zh-CN" sz="1200" b="0" dirty="0"/>
              <a:t>14      LD R7, BREADCRUMB</a:t>
            </a:r>
          </a:p>
          <a:p>
            <a:pPr marL="0" indent="0">
              <a:buNone/>
            </a:pPr>
            <a:r>
              <a:rPr lang="pt-BR" altLang="zh-CN" sz="1200" b="0" dirty="0"/>
              <a:t>15      ADD R2, R2, R7</a:t>
            </a:r>
          </a:p>
          <a:p>
            <a:pPr marL="0" indent="0">
              <a:buNone/>
            </a:pPr>
            <a:r>
              <a:rPr lang="pt-BR" altLang="zh-CN" sz="1200" b="0" dirty="0"/>
              <a:t>16      STR R2, R0, #0</a:t>
            </a:r>
          </a:p>
          <a:p>
            <a:pPr marL="0" indent="0">
              <a:buNone/>
            </a:pPr>
            <a:r>
              <a:rPr lang="en-US" altLang="zh-CN" sz="1200" b="0" dirty="0"/>
              <a:t>17</a:t>
            </a:r>
          </a:p>
          <a:p>
            <a:endParaRPr lang="zh-CN" altLang="en-US" sz="8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512FE2-FE70-4437-94CE-9A4263E92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46D570-8E99-40C5-BA54-BA4F6B572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51BACF-20B8-4842-9896-E8A2DF364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8A0210D3-7547-4270-8E57-0C4D943DBFAE}"/>
              </a:ext>
            </a:extLst>
          </p:cNvPr>
          <p:cNvSpPr txBox="1">
            <a:spLocks/>
          </p:cNvSpPr>
          <p:nvPr/>
        </p:nvSpPr>
        <p:spPr bwMode="auto">
          <a:xfrm>
            <a:off x="6095799" y="100757"/>
            <a:ext cx="4464181" cy="6436568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+mn-lt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0" indent="0">
              <a:buNone/>
            </a:pPr>
            <a:r>
              <a:rPr lang="en-US" altLang="zh-CN" sz="1300" b="0" baseline="0" dirty="0">
                <a:solidFill>
                  <a:srgbClr val="0000FF"/>
                </a:solidFill>
              </a:rPr>
              <a:t>18 ; check the north cell for a path to exit</a:t>
            </a:r>
          </a:p>
          <a:p>
            <a:pPr marL="0" indent="0">
              <a:buNone/>
            </a:pPr>
            <a:r>
              <a:rPr lang="en-US" altLang="zh-CN" sz="1300" b="0" baseline="0" dirty="0"/>
              <a:t>19  </a:t>
            </a:r>
            <a:r>
              <a:rPr lang="en-US" altLang="zh-CN" sz="1300" b="0" baseline="0" dirty="0">
                <a:solidFill>
                  <a:schemeClr val="accent1"/>
                </a:solidFill>
              </a:rPr>
              <a:t>CHECK_NORTH </a:t>
            </a:r>
            <a:r>
              <a:rPr lang="en-US" altLang="zh-CN" sz="1300" b="0" baseline="0" dirty="0"/>
              <a:t>LD R7, NORTH_MASK</a:t>
            </a:r>
          </a:p>
          <a:p>
            <a:pPr marL="0" indent="0">
              <a:buNone/>
            </a:pPr>
            <a:r>
              <a:rPr lang="pt-BR" altLang="zh-CN" sz="1300" b="0" baseline="0" dirty="0"/>
              <a:t>1A     AND R7, R2, R7</a:t>
            </a:r>
          </a:p>
          <a:p>
            <a:pPr marL="0" indent="0">
              <a:buNone/>
            </a:pPr>
            <a:r>
              <a:rPr lang="en-US" altLang="zh-CN" sz="1300" b="0" baseline="0" dirty="0"/>
              <a:t>1B     </a:t>
            </a:r>
            <a:r>
              <a:rPr lang="en-US" altLang="zh-CN" sz="1300" b="0" baseline="0" dirty="0" err="1"/>
              <a:t>BRz</a:t>
            </a:r>
            <a:r>
              <a:rPr lang="en-US" altLang="zh-CN" sz="1300" b="0" baseline="0" dirty="0"/>
              <a:t> CHECK_EAST ; </a:t>
            </a:r>
            <a:r>
              <a:rPr lang="en-US" altLang="zh-CN" sz="1200" b="0" baseline="0" dirty="0"/>
              <a:t>If north is blocked, check east</a:t>
            </a:r>
            <a:endParaRPr lang="en-US" altLang="zh-CN" sz="1300" b="0" baseline="0" dirty="0"/>
          </a:p>
          <a:p>
            <a:pPr marL="0" indent="0">
              <a:buNone/>
            </a:pPr>
            <a:r>
              <a:rPr lang="pt-BR" altLang="zh-CN" sz="1300" b="0" baseline="0" dirty="0"/>
              <a:t>1C     LDR R7, R3, #-6</a:t>
            </a:r>
          </a:p>
          <a:p>
            <a:pPr marL="0" indent="0">
              <a:buNone/>
            </a:pPr>
            <a:r>
              <a:rPr lang="en-US" altLang="zh-CN" sz="1300" b="0" baseline="0" dirty="0"/>
              <a:t>1D     </a:t>
            </a:r>
            <a:r>
              <a:rPr lang="en-US" altLang="zh-CN" sz="1300" b="0" baseline="0" dirty="0" err="1"/>
              <a:t>BRn</a:t>
            </a:r>
            <a:r>
              <a:rPr lang="en-US" altLang="zh-CN" sz="1300" b="0" baseline="0" dirty="0"/>
              <a:t> CHECK_EAST ; If a breadcrumb in the north  </a:t>
            </a:r>
          </a:p>
          <a:p>
            <a:pPr marL="0" indent="0">
              <a:buNone/>
            </a:pPr>
            <a:r>
              <a:rPr lang="en-US" altLang="zh-CN" sz="1300" b="0" baseline="0" dirty="0"/>
              <a:t>                            ;cell, check east.  </a:t>
            </a:r>
            <a:r>
              <a:rPr lang="en-US" altLang="zh-CN" sz="1300" b="0" baseline="0" dirty="0">
                <a:solidFill>
                  <a:srgbClr val="0000FF"/>
                </a:solidFill>
              </a:rPr>
              <a:t>bit[15]=1, negative</a:t>
            </a:r>
          </a:p>
          <a:p>
            <a:pPr marL="0" indent="0">
              <a:buNone/>
            </a:pPr>
            <a:r>
              <a:rPr lang="pt-BR" altLang="zh-CN" sz="1300" b="0" baseline="0" dirty="0"/>
              <a:t>1E     ADD R0, R3, #-6</a:t>
            </a:r>
          </a:p>
          <a:p>
            <a:pPr marL="0" indent="0">
              <a:buNone/>
            </a:pPr>
            <a:r>
              <a:rPr lang="en-US" altLang="zh-CN" sz="1300" b="0" baseline="0" dirty="0"/>
              <a:t>1F     JSR FIND_EXIT ; Recursively check the north cell</a:t>
            </a:r>
          </a:p>
          <a:p>
            <a:pPr marL="0" indent="0">
              <a:buNone/>
            </a:pPr>
            <a:r>
              <a:rPr lang="pt-BR" altLang="zh-CN" sz="1300" b="0" baseline="0" dirty="0"/>
              <a:t>20     ADD R1, R1, #0</a:t>
            </a:r>
          </a:p>
          <a:p>
            <a:pPr>
              <a:buAutoNum type="arabicPlain" startAt="21"/>
            </a:pPr>
            <a:r>
              <a:rPr lang="en-US" altLang="zh-CN" sz="1300" b="0" baseline="0" dirty="0"/>
              <a:t>  </a:t>
            </a:r>
            <a:r>
              <a:rPr lang="en-US" altLang="zh-CN" sz="1300" b="0" baseline="0" dirty="0" err="1"/>
              <a:t>BRp</a:t>
            </a:r>
            <a:r>
              <a:rPr lang="en-US" altLang="zh-CN" sz="1300" b="0" baseline="0" dirty="0"/>
              <a:t> DONE_YES ; If a path from north cell found, </a:t>
            </a:r>
          </a:p>
          <a:p>
            <a:pPr>
              <a:buAutoNum type="arabicPlain" startAt="21"/>
            </a:pPr>
            <a:r>
              <a:rPr lang="en-US" altLang="zh-CN" sz="1300" b="0" baseline="0" dirty="0"/>
              <a:t>                          ;return YES</a:t>
            </a:r>
          </a:p>
          <a:p>
            <a:pPr marL="0" indent="0">
              <a:buNone/>
            </a:pPr>
            <a:r>
              <a:rPr lang="en-US" altLang="zh-CN" sz="1300" b="0" baseline="0" dirty="0">
                <a:solidFill>
                  <a:srgbClr val="0000FF"/>
                </a:solidFill>
              </a:rPr>
              <a:t>23  ; check the north cell for a path to exit</a:t>
            </a:r>
          </a:p>
          <a:p>
            <a:pPr marL="0" indent="0">
              <a:buNone/>
            </a:pPr>
            <a:r>
              <a:rPr lang="en-US" altLang="zh-CN" sz="1300" b="0" baseline="0" dirty="0"/>
              <a:t>24 </a:t>
            </a:r>
            <a:r>
              <a:rPr lang="en-US" altLang="zh-CN" sz="1300" b="0" baseline="0" dirty="0">
                <a:solidFill>
                  <a:schemeClr val="accent1"/>
                </a:solidFill>
              </a:rPr>
              <a:t>CHECK_EAST </a:t>
            </a:r>
            <a:r>
              <a:rPr lang="en-US" altLang="zh-CN" sz="1300" b="0" baseline="0" dirty="0"/>
              <a:t>LD R7, EAST_MASK</a:t>
            </a:r>
          </a:p>
          <a:p>
            <a:pPr>
              <a:buAutoNum type="arabicPlain" startAt="25"/>
            </a:pPr>
            <a:r>
              <a:rPr lang="pt-BR" altLang="zh-CN" sz="1300" b="0" baseline="0" dirty="0"/>
              <a:t>  AND R7, R2, R7</a:t>
            </a:r>
          </a:p>
          <a:p>
            <a:pPr>
              <a:buAutoNum type="arabicPlain" startAt="25"/>
            </a:pPr>
            <a:r>
              <a:rPr lang="en-US" altLang="zh-CN" sz="1300" b="0" baseline="0" dirty="0"/>
              <a:t>  </a:t>
            </a:r>
            <a:r>
              <a:rPr lang="en-US" altLang="zh-CN" sz="1300" b="0" baseline="0" dirty="0" err="1"/>
              <a:t>BRz</a:t>
            </a:r>
            <a:r>
              <a:rPr lang="en-US" altLang="zh-CN" sz="1300" b="0" baseline="0" dirty="0"/>
              <a:t> CHECK_SOUTH; </a:t>
            </a:r>
            <a:r>
              <a:rPr lang="en-US" altLang="zh-CN" sz="2800" b="0" baseline="0" dirty="0"/>
              <a:t> </a:t>
            </a:r>
            <a:r>
              <a:rPr lang="en-US" altLang="zh-CN" sz="1400" b="0" baseline="0" dirty="0"/>
              <a:t>If the way to east is</a:t>
            </a:r>
          </a:p>
          <a:p>
            <a:pPr marL="0" indent="0">
              <a:buNone/>
            </a:pPr>
            <a:r>
              <a:rPr lang="en-US" altLang="zh-CN" sz="1400" b="0" baseline="0" dirty="0"/>
              <a:t>                                     ; blocked, check south</a:t>
            </a:r>
            <a:endParaRPr lang="en-US" altLang="zh-CN" sz="1300" b="0" baseline="0" dirty="0"/>
          </a:p>
          <a:p>
            <a:pPr marL="0" indent="0">
              <a:buNone/>
            </a:pPr>
            <a:r>
              <a:rPr lang="pt-BR" altLang="zh-CN" sz="1300" b="0" baseline="0" dirty="0"/>
              <a:t>27     LDR R7, R3, #1</a:t>
            </a:r>
          </a:p>
          <a:p>
            <a:pPr>
              <a:buAutoNum type="arabicPlain" startAt="28"/>
            </a:pPr>
            <a:r>
              <a:rPr lang="en-US" altLang="zh-CN" sz="1300" b="0" baseline="0" dirty="0"/>
              <a:t>  </a:t>
            </a:r>
            <a:r>
              <a:rPr lang="en-US" altLang="zh-CN" sz="1300" b="0" baseline="0" dirty="0" err="1"/>
              <a:t>BRn</a:t>
            </a:r>
            <a:r>
              <a:rPr lang="en-US" altLang="zh-CN" sz="1300" b="0" baseline="0" dirty="0"/>
              <a:t> CHECK_SOUTH </a:t>
            </a:r>
            <a:r>
              <a:rPr lang="en-US" altLang="zh-CN" sz="1400" b="0" baseline="0" dirty="0"/>
              <a:t>; If a breadcrumb in the</a:t>
            </a:r>
          </a:p>
          <a:p>
            <a:pPr marL="0" indent="0">
              <a:buNone/>
            </a:pPr>
            <a:r>
              <a:rPr lang="en-US" altLang="zh-CN" sz="1400" b="0" baseline="0" dirty="0"/>
              <a:t>                                      ; east cell, check south</a:t>
            </a:r>
            <a:endParaRPr lang="en-US" altLang="zh-CN" sz="1300" b="0" baseline="0" dirty="0"/>
          </a:p>
          <a:p>
            <a:pPr marL="0" indent="0">
              <a:buNone/>
            </a:pPr>
            <a:r>
              <a:rPr lang="pt-BR" altLang="zh-CN" sz="1300" b="0" baseline="0" dirty="0"/>
              <a:t>29     ADD R0, R3, #1</a:t>
            </a:r>
          </a:p>
          <a:p>
            <a:pPr marL="0" indent="0">
              <a:buNone/>
            </a:pPr>
            <a:r>
              <a:rPr lang="en-US" altLang="zh-CN" sz="1300" b="0" baseline="0" dirty="0"/>
              <a:t>2A     JSR FIND_EXIT ; Recursively check the east cell</a:t>
            </a:r>
          </a:p>
          <a:p>
            <a:pPr marL="0" indent="0">
              <a:buNone/>
            </a:pPr>
            <a:r>
              <a:rPr lang="pt-BR" altLang="zh-CN" sz="1300" b="0" baseline="0" dirty="0"/>
              <a:t>2B     ADD R1, R1, #0</a:t>
            </a:r>
          </a:p>
          <a:p>
            <a:pPr marL="0" indent="0">
              <a:buNone/>
            </a:pPr>
            <a:r>
              <a:rPr lang="en-US" altLang="zh-CN" sz="1300" b="0" baseline="0" dirty="0"/>
              <a:t>2C     </a:t>
            </a:r>
            <a:r>
              <a:rPr lang="en-US" altLang="zh-CN" sz="1300" b="0" baseline="0" dirty="0" err="1"/>
              <a:t>BRp</a:t>
            </a:r>
            <a:r>
              <a:rPr lang="en-US" altLang="zh-CN" sz="1300" b="0" baseline="0" dirty="0"/>
              <a:t> DONE_YES ; If a path from east cell found, </a:t>
            </a:r>
          </a:p>
          <a:p>
            <a:pPr marL="0" indent="0">
              <a:buNone/>
            </a:pPr>
            <a:r>
              <a:rPr lang="en-US" altLang="zh-CN" sz="1300" b="0" baseline="0" dirty="0"/>
              <a:t>                                    ; return YES,</a:t>
            </a:r>
            <a:endParaRPr lang="zh-CN" altLang="en-US" sz="1300" kern="0" baseline="0" dirty="0"/>
          </a:p>
        </p:txBody>
      </p:sp>
    </p:spTree>
    <p:extLst>
      <p:ext uri="{BB962C8B-B14F-4D97-AF65-F5344CB8AC3E}">
        <p14:creationId xmlns:p14="http://schemas.microsoft.com/office/powerpoint/2010/main" val="24037862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ECF952-8335-4D1B-9FA1-FFEAA61AB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F63CAE-F65C-4759-BD5C-BCC45A746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988D55-DD6D-44AA-A5B0-78CF41D77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3689AB0D-0CB1-417E-AB28-302859355EA6}"/>
              </a:ext>
            </a:extLst>
          </p:cNvPr>
          <p:cNvSpPr txBox="1">
            <a:spLocks/>
          </p:cNvSpPr>
          <p:nvPr/>
        </p:nvSpPr>
        <p:spPr bwMode="auto">
          <a:xfrm>
            <a:off x="1631820" y="86696"/>
            <a:ext cx="4464181" cy="6436568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+mn-lt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0" indent="0">
              <a:buNone/>
            </a:pPr>
            <a:r>
              <a:rPr lang="en-US" altLang="zh-CN" sz="1200" b="0" baseline="0" dirty="0"/>
              <a:t>2E </a:t>
            </a:r>
            <a:r>
              <a:rPr lang="en-US" altLang="zh-CN" sz="1200" b="0" baseline="0" dirty="0">
                <a:solidFill>
                  <a:srgbClr val="0000FF"/>
                </a:solidFill>
              </a:rPr>
              <a:t>; check the south cell for a path to exit</a:t>
            </a:r>
          </a:p>
          <a:p>
            <a:pPr marL="0" indent="0">
              <a:buNone/>
            </a:pPr>
            <a:r>
              <a:rPr lang="en-US" altLang="zh-CN" sz="1200" b="0" baseline="0" dirty="0"/>
              <a:t>2F </a:t>
            </a:r>
            <a:r>
              <a:rPr lang="en-US" altLang="zh-CN" sz="1200" b="0" baseline="0" dirty="0">
                <a:solidFill>
                  <a:srgbClr val="FF0000"/>
                </a:solidFill>
              </a:rPr>
              <a:t>CHECK_SOUTH </a:t>
            </a:r>
            <a:r>
              <a:rPr lang="en-US" altLang="zh-CN" sz="1200" b="0" baseline="0" dirty="0"/>
              <a:t>LD R7, SOUTH_MASK</a:t>
            </a:r>
          </a:p>
          <a:p>
            <a:pPr marL="0" indent="0">
              <a:buNone/>
            </a:pPr>
            <a:r>
              <a:rPr lang="pt-BR" altLang="zh-CN" sz="1200" b="0" baseline="0" dirty="0"/>
              <a:t>30         AND R7, R2, R7</a:t>
            </a:r>
          </a:p>
          <a:p>
            <a:pPr marL="228600" indent="-228600">
              <a:buAutoNum type="arabicPlain" startAt="31"/>
            </a:pPr>
            <a:r>
              <a:rPr lang="en-US" altLang="zh-CN" sz="1200" b="0" baseline="0" dirty="0"/>
              <a:t>        </a:t>
            </a:r>
            <a:r>
              <a:rPr lang="en-US" altLang="zh-CN" sz="1200" b="0" baseline="0" dirty="0" err="1"/>
              <a:t>BRz</a:t>
            </a:r>
            <a:r>
              <a:rPr lang="en-US" altLang="zh-CN" sz="1200" b="0" baseline="0" dirty="0"/>
              <a:t> CHECK_WEST ; If the way to south is blocked,   </a:t>
            </a:r>
          </a:p>
          <a:p>
            <a:pPr marL="0" indent="0">
              <a:buNone/>
            </a:pPr>
            <a:r>
              <a:rPr lang="en-US" altLang="zh-CN" sz="1200" b="0" baseline="0" dirty="0"/>
              <a:t>                                    ;check west</a:t>
            </a:r>
          </a:p>
          <a:p>
            <a:pPr marL="0" indent="0">
              <a:buNone/>
            </a:pPr>
            <a:r>
              <a:rPr lang="pt-BR" altLang="zh-CN" sz="1200" b="0" baseline="0" dirty="0"/>
              <a:t>32         LDR R7, R3, #6</a:t>
            </a:r>
          </a:p>
          <a:p>
            <a:pPr marL="228600" indent="-228600">
              <a:buAutoNum type="arabicPlain" startAt="33"/>
            </a:pPr>
            <a:r>
              <a:rPr lang="en-US" altLang="zh-CN" sz="1200" b="0" baseline="0" dirty="0"/>
              <a:t>        </a:t>
            </a:r>
            <a:r>
              <a:rPr lang="en-US" altLang="zh-CN" sz="1200" b="0" baseline="0" dirty="0" err="1"/>
              <a:t>BRn</a:t>
            </a:r>
            <a:r>
              <a:rPr lang="en-US" altLang="zh-CN" sz="1200" b="0" baseline="0" dirty="0"/>
              <a:t> CHECK_WEST ; If a breadcrumb in the south  </a:t>
            </a:r>
          </a:p>
          <a:p>
            <a:pPr marL="0" indent="0">
              <a:buNone/>
            </a:pPr>
            <a:r>
              <a:rPr lang="en-US" altLang="zh-CN" sz="1200" b="0" baseline="0" dirty="0"/>
              <a:t>                                            ;cell, check west</a:t>
            </a:r>
          </a:p>
          <a:p>
            <a:pPr marL="0" indent="0">
              <a:buNone/>
            </a:pPr>
            <a:r>
              <a:rPr lang="pt-BR" altLang="zh-CN" sz="1200" b="0" baseline="0" dirty="0"/>
              <a:t>34         ADD R0, R3, #6</a:t>
            </a:r>
          </a:p>
          <a:p>
            <a:pPr marL="0" indent="0">
              <a:buNone/>
            </a:pPr>
            <a:r>
              <a:rPr lang="en-US" altLang="zh-CN" sz="1200" b="0" baseline="0" dirty="0"/>
              <a:t>35         JSR FIND_EXIT ; Recursively check the south cell</a:t>
            </a:r>
          </a:p>
          <a:p>
            <a:pPr marL="0" indent="0">
              <a:buNone/>
            </a:pPr>
            <a:r>
              <a:rPr lang="pt-BR" altLang="zh-CN" sz="1200" b="0" baseline="0" dirty="0"/>
              <a:t>36         ADD R1, R1, #0</a:t>
            </a:r>
          </a:p>
          <a:p>
            <a:pPr marL="228600" indent="-228600">
              <a:buAutoNum type="arabicPlain" startAt="37"/>
            </a:pPr>
            <a:r>
              <a:rPr lang="en-US" altLang="zh-CN" sz="1200" b="0" baseline="0" dirty="0"/>
              <a:t>        </a:t>
            </a:r>
            <a:r>
              <a:rPr lang="en-US" altLang="zh-CN" sz="1200" b="0" baseline="0" dirty="0" err="1"/>
              <a:t>BRp</a:t>
            </a:r>
            <a:r>
              <a:rPr lang="en-US" altLang="zh-CN" sz="1200" b="0" baseline="0" dirty="0"/>
              <a:t> DONE_YES ; If a path from south cell found, </a:t>
            </a:r>
          </a:p>
          <a:p>
            <a:pPr marL="0" indent="0">
              <a:buNone/>
            </a:pPr>
            <a:r>
              <a:rPr lang="en-US" altLang="zh-CN" sz="1200" b="0" baseline="0" dirty="0"/>
              <a:t>                                      ;return YES</a:t>
            </a:r>
          </a:p>
          <a:p>
            <a:pPr marL="0" indent="0">
              <a:buNone/>
            </a:pPr>
            <a:r>
              <a:rPr lang="en-US" altLang="zh-CN" sz="1200" b="0" baseline="0" dirty="0"/>
              <a:t>38</a:t>
            </a:r>
          </a:p>
          <a:p>
            <a:pPr marL="0" indent="0">
              <a:buNone/>
            </a:pPr>
            <a:r>
              <a:rPr lang="en-US" altLang="zh-CN" sz="1200" b="0" baseline="0" dirty="0"/>
              <a:t>39 </a:t>
            </a:r>
            <a:r>
              <a:rPr lang="en-US" altLang="zh-CN" sz="1200" b="0" baseline="0" dirty="0">
                <a:solidFill>
                  <a:srgbClr val="0000FF"/>
                </a:solidFill>
              </a:rPr>
              <a:t>; check the west cell for a path to exit</a:t>
            </a:r>
          </a:p>
          <a:p>
            <a:pPr marL="0" indent="0">
              <a:buNone/>
            </a:pPr>
            <a:r>
              <a:rPr lang="en-US" altLang="zh-CN" sz="1200" b="0" baseline="0" dirty="0"/>
              <a:t>3A </a:t>
            </a:r>
            <a:r>
              <a:rPr lang="en-US" altLang="zh-CN" sz="1200" b="0" baseline="0" dirty="0">
                <a:solidFill>
                  <a:srgbClr val="FF0000"/>
                </a:solidFill>
              </a:rPr>
              <a:t>CHECK_WEST </a:t>
            </a:r>
            <a:r>
              <a:rPr lang="en-US" altLang="zh-CN" sz="1200" b="0" baseline="0" dirty="0"/>
              <a:t>LD R7, WEST_MASK</a:t>
            </a:r>
          </a:p>
          <a:p>
            <a:pPr marL="0" indent="0">
              <a:buNone/>
            </a:pPr>
            <a:r>
              <a:rPr lang="pt-BR" altLang="zh-CN" sz="1200" b="0" baseline="0" dirty="0"/>
              <a:t>3B          AND R7, R2, R7</a:t>
            </a:r>
          </a:p>
          <a:p>
            <a:pPr marL="0" indent="0">
              <a:buNone/>
            </a:pPr>
            <a:r>
              <a:rPr lang="en-US" altLang="zh-CN" sz="1200" b="0" baseline="0" dirty="0"/>
              <a:t>3C          </a:t>
            </a:r>
            <a:r>
              <a:rPr lang="en-US" altLang="zh-CN" sz="1200" b="0" baseline="0" dirty="0" err="1"/>
              <a:t>BRz</a:t>
            </a:r>
            <a:r>
              <a:rPr lang="en-US" altLang="zh-CN" sz="1200" b="0" baseline="0" dirty="0"/>
              <a:t> DONE_NO ; If the way to west is blocked,</a:t>
            </a:r>
          </a:p>
          <a:p>
            <a:pPr marL="0" indent="0">
              <a:buNone/>
            </a:pPr>
            <a:r>
              <a:rPr lang="en-US" altLang="zh-CN" sz="1200" b="0" baseline="0" dirty="0"/>
              <a:t>                                        ; return NO</a:t>
            </a:r>
          </a:p>
          <a:p>
            <a:pPr marL="0" indent="0">
              <a:buNone/>
            </a:pPr>
            <a:r>
              <a:rPr lang="pt-BR" altLang="zh-CN" sz="1200" b="0" baseline="0" dirty="0"/>
              <a:t>3D          LDR R7, R3, #-1</a:t>
            </a:r>
          </a:p>
          <a:p>
            <a:pPr marL="0" indent="0">
              <a:buNone/>
            </a:pPr>
            <a:r>
              <a:rPr lang="en-US" altLang="zh-CN" sz="1200" b="0" baseline="0" dirty="0"/>
              <a:t>3E           </a:t>
            </a:r>
            <a:r>
              <a:rPr lang="en-US" altLang="zh-CN" sz="1200" b="0" baseline="0" dirty="0" err="1"/>
              <a:t>BRn</a:t>
            </a:r>
            <a:r>
              <a:rPr lang="en-US" altLang="zh-CN" sz="1200" b="0" baseline="0" dirty="0"/>
              <a:t> DONE_NO ; If a breadcrumb in the west cell,</a:t>
            </a:r>
          </a:p>
          <a:p>
            <a:pPr marL="0" indent="0">
              <a:buNone/>
            </a:pPr>
            <a:r>
              <a:rPr lang="en-US" altLang="zh-CN" sz="1200" b="0" baseline="0" dirty="0"/>
              <a:t>                                         ; return NO</a:t>
            </a:r>
          </a:p>
          <a:p>
            <a:pPr marL="0" indent="0">
              <a:buNone/>
            </a:pPr>
            <a:r>
              <a:rPr lang="pt-BR" altLang="zh-CN" sz="1200" b="0" baseline="0" dirty="0"/>
              <a:t>3F           ADD R0, R3, #-1</a:t>
            </a:r>
          </a:p>
          <a:p>
            <a:pPr marL="0" indent="0">
              <a:buNone/>
            </a:pPr>
            <a:r>
              <a:rPr lang="en-US" altLang="zh-CN" sz="1200" b="0" baseline="0" dirty="0"/>
              <a:t>40           JSR FIND_EXIT ; Recursively check the west cell</a:t>
            </a:r>
          </a:p>
          <a:p>
            <a:pPr marL="0" indent="0">
              <a:buNone/>
            </a:pPr>
            <a:r>
              <a:rPr lang="pt-BR" altLang="zh-CN" sz="1200" b="0" baseline="0" dirty="0"/>
              <a:t>41           ADD R1, R1, #0</a:t>
            </a:r>
          </a:p>
          <a:p>
            <a:pPr marL="228600" indent="-228600">
              <a:buAutoNum type="arabicPlain" startAt="42"/>
            </a:pPr>
            <a:r>
              <a:rPr lang="en-US" altLang="zh-CN" sz="1200" b="0" baseline="0" dirty="0"/>
              <a:t>         </a:t>
            </a:r>
            <a:r>
              <a:rPr lang="en-US" altLang="zh-CN" sz="1200" b="0" baseline="0" dirty="0" err="1"/>
              <a:t>BRp</a:t>
            </a:r>
            <a:r>
              <a:rPr lang="en-US" altLang="zh-CN" sz="1200" b="0" baseline="0" dirty="0"/>
              <a:t> DONE_YES ; If a path from west cell found,</a:t>
            </a:r>
          </a:p>
          <a:p>
            <a:pPr marL="0" indent="0">
              <a:buNone/>
            </a:pPr>
            <a:r>
              <a:rPr lang="en-US" altLang="zh-CN" sz="1200" b="0" baseline="0" dirty="0"/>
              <a:t>                                              ; return YES43</a:t>
            </a:r>
          </a:p>
          <a:p>
            <a:pPr marL="0" indent="0">
              <a:buNone/>
            </a:pPr>
            <a:r>
              <a:rPr lang="en-US" altLang="zh-CN" sz="1200" b="0" baseline="0" dirty="0"/>
              <a:t>44 </a:t>
            </a:r>
            <a:r>
              <a:rPr lang="en-US" altLang="zh-CN" sz="1200" b="0" baseline="0" dirty="0">
                <a:solidFill>
                  <a:schemeClr val="accent1"/>
                </a:solidFill>
              </a:rPr>
              <a:t>DONE_NO </a:t>
            </a:r>
            <a:r>
              <a:rPr lang="en-US" altLang="zh-CN" sz="1200" b="0" baseline="0" dirty="0"/>
              <a:t>AND R1, R1, #0</a:t>
            </a:r>
          </a:p>
          <a:p>
            <a:pPr marL="0" indent="0">
              <a:buNone/>
            </a:pPr>
            <a:r>
              <a:rPr lang="en-US" altLang="zh-CN" sz="1200" b="0" baseline="0" dirty="0"/>
              <a:t>45          BR RESTORE</a:t>
            </a:r>
            <a:endParaRPr lang="zh-CN" altLang="en-US" sz="100" kern="0" baseline="0" dirty="0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47F2F332-BDDA-40FA-8642-887F45919618}"/>
              </a:ext>
            </a:extLst>
          </p:cNvPr>
          <p:cNvSpPr txBox="1">
            <a:spLocks/>
          </p:cNvSpPr>
          <p:nvPr/>
        </p:nvSpPr>
        <p:spPr bwMode="auto">
          <a:xfrm>
            <a:off x="6179986" y="83819"/>
            <a:ext cx="4464181" cy="6436568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+mn-lt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0" indent="0">
              <a:buNone/>
            </a:pPr>
            <a:r>
              <a:rPr lang="en-US" altLang="zh-CN" sz="1400" b="0" baseline="0" dirty="0"/>
              <a:t>46</a:t>
            </a:r>
          </a:p>
          <a:p>
            <a:pPr marL="0" indent="0">
              <a:buNone/>
            </a:pPr>
            <a:r>
              <a:rPr lang="en-US" altLang="zh-CN" sz="1400" b="0" baseline="0" dirty="0"/>
              <a:t>47 </a:t>
            </a:r>
            <a:r>
              <a:rPr lang="en-US" altLang="zh-CN" sz="1400" b="0" baseline="0" dirty="0">
                <a:solidFill>
                  <a:srgbClr val="FF0000"/>
                </a:solidFill>
              </a:rPr>
              <a:t>DONE_YES </a:t>
            </a:r>
            <a:r>
              <a:rPr lang="en-US" altLang="zh-CN" sz="1400" b="0" baseline="0" dirty="0"/>
              <a:t>AND R1, R1, #0</a:t>
            </a:r>
          </a:p>
          <a:p>
            <a:pPr marL="0" indent="0">
              <a:buNone/>
            </a:pPr>
            <a:r>
              <a:rPr lang="pt-BR" altLang="zh-CN" sz="1400" b="0" baseline="0" dirty="0"/>
              <a:t>48          ADD R1, R1, #1</a:t>
            </a:r>
          </a:p>
          <a:p>
            <a:pPr marL="0" indent="0">
              <a:buNone/>
            </a:pPr>
            <a:r>
              <a:rPr lang="en-US" altLang="zh-CN" sz="1400" b="0" baseline="0" dirty="0"/>
              <a:t>49</a:t>
            </a:r>
          </a:p>
          <a:p>
            <a:pPr marL="0" indent="0">
              <a:buNone/>
            </a:pPr>
            <a:r>
              <a:rPr lang="pt-BR" altLang="zh-CN" sz="1400" b="0" baseline="0" dirty="0"/>
              <a:t>4A </a:t>
            </a:r>
            <a:r>
              <a:rPr lang="pt-BR" altLang="zh-CN" sz="1400" b="0" baseline="0" dirty="0">
                <a:solidFill>
                  <a:schemeClr val="accent1"/>
                </a:solidFill>
              </a:rPr>
              <a:t>RESTORE </a:t>
            </a:r>
            <a:r>
              <a:rPr lang="pt-BR" altLang="zh-CN" sz="1400" b="0" baseline="0" dirty="0"/>
              <a:t>ADD R0, R3, #0 ; restore R0 from R3                                                      ;</a:t>
            </a:r>
          </a:p>
          <a:p>
            <a:pPr marL="0" indent="0">
              <a:buNone/>
            </a:pPr>
            <a:r>
              <a:rPr lang="en-US" altLang="zh-CN" sz="1400" b="0" baseline="0" dirty="0"/>
              <a:t>4B  </a:t>
            </a:r>
            <a:r>
              <a:rPr lang="en-US" altLang="zh-CN" sz="1300" b="0" baseline="0" dirty="0">
                <a:solidFill>
                  <a:srgbClr val="0000FF"/>
                </a:solidFill>
              </a:rPr>
              <a:t>; restore the rest of the modified registers </a:t>
            </a:r>
          </a:p>
          <a:p>
            <a:pPr marL="0" indent="0">
              <a:buNone/>
            </a:pPr>
            <a:r>
              <a:rPr lang="en-US" altLang="zh-CN" sz="1300" b="0" baseline="0" dirty="0">
                <a:solidFill>
                  <a:srgbClr val="0000FF"/>
                </a:solidFill>
              </a:rPr>
              <a:t>      ;from the stack.</a:t>
            </a:r>
          </a:p>
          <a:p>
            <a:pPr marL="0" indent="0">
              <a:buNone/>
            </a:pPr>
            <a:r>
              <a:rPr lang="pt-BR" altLang="zh-CN" sz="1400" b="0" baseline="0" dirty="0"/>
              <a:t>4C         LDR R7, R6, #0</a:t>
            </a:r>
          </a:p>
          <a:p>
            <a:pPr marL="0" indent="0">
              <a:buNone/>
            </a:pPr>
            <a:r>
              <a:rPr lang="pt-BR" altLang="zh-CN" sz="1400" b="0" baseline="0" dirty="0"/>
              <a:t>4D         ADD R6, R6, #1</a:t>
            </a:r>
          </a:p>
          <a:p>
            <a:pPr marL="0" indent="0">
              <a:buNone/>
            </a:pPr>
            <a:r>
              <a:rPr lang="pt-BR" altLang="zh-CN" sz="1400" b="0" baseline="0" dirty="0"/>
              <a:t>4E          LDR R3, R6, #0</a:t>
            </a:r>
          </a:p>
          <a:p>
            <a:pPr marL="0" indent="0">
              <a:buNone/>
            </a:pPr>
            <a:r>
              <a:rPr lang="pt-BR" altLang="zh-CN" sz="1400" b="0" baseline="0" dirty="0"/>
              <a:t>4F          ADD R6, R6, #1</a:t>
            </a:r>
          </a:p>
          <a:p>
            <a:pPr marL="0" indent="0">
              <a:buNone/>
            </a:pPr>
            <a:r>
              <a:rPr lang="pt-BR" altLang="zh-CN" sz="1400" b="0" baseline="0" dirty="0"/>
              <a:t>50          LDR R2, R6, #0</a:t>
            </a:r>
          </a:p>
          <a:p>
            <a:pPr marL="0" indent="0">
              <a:buNone/>
            </a:pPr>
            <a:r>
              <a:rPr lang="pt-BR" altLang="zh-CN" sz="1400" b="0" baseline="0" dirty="0"/>
              <a:t>51          ADD R6, R6, #1</a:t>
            </a:r>
          </a:p>
          <a:p>
            <a:pPr marL="0" indent="0">
              <a:buNone/>
            </a:pPr>
            <a:r>
              <a:rPr lang="en-US" altLang="zh-CN" sz="1400" b="0" baseline="0" dirty="0"/>
              <a:t>52          RET</a:t>
            </a:r>
          </a:p>
          <a:p>
            <a:pPr marL="0" indent="0">
              <a:buNone/>
            </a:pPr>
            <a:r>
              <a:rPr lang="en-US" altLang="zh-CN" sz="1400" b="0" baseline="0" dirty="0"/>
              <a:t>53</a:t>
            </a:r>
          </a:p>
          <a:p>
            <a:pPr marL="0" indent="0">
              <a:buNone/>
            </a:pPr>
            <a:r>
              <a:rPr lang="en-US" altLang="zh-CN" sz="1400" b="0" baseline="0" dirty="0"/>
              <a:t>54 </a:t>
            </a:r>
            <a:r>
              <a:rPr lang="en-US" altLang="zh-CN" sz="1400" b="0" baseline="0" dirty="0">
                <a:solidFill>
                  <a:srgbClr val="FF0000"/>
                </a:solidFill>
              </a:rPr>
              <a:t> BREADCRUMB  </a:t>
            </a:r>
            <a:r>
              <a:rPr lang="en-US" altLang="zh-CN" sz="1400" b="0" baseline="0" dirty="0"/>
              <a:t>.FILL  x8000</a:t>
            </a:r>
          </a:p>
          <a:p>
            <a:pPr marL="0" indent="0">
              <a:buNone/>
            </a:pPr>
            <a:r>
              <a:rPr lang="sv-SE" altLang="zh-CN" sz="1400" b="0" baseline="0" dirty="0"/>
              <a:t>55  </a:t>
            </a:r>
            <a:r>
              <a:rPr lang="sv-SE" altLang="zh-CN" sz="1400" b="0" baseline="0" dirty="0">
                <a:solidFill>
                  <a:srgbClr val="FF0000"/>
                </a:solidFill>
              </a:rPr>
              <a:t>EXIT_MASK       </a:t>
            </a:r>
            <a:r>
              <a:rPr lang="sv-SE" altLang="zh-CN" sz="1400" b="0" baseline="0" dirty="0"/>
              <a:t>.FILL  x0010</a:t>
            </a:r>
          </a:p>
          <a:p>
            <a:pPr marL="0" indent="0">
              <a:buNone/>
            </a:pPr>
            <a:r>
              <a:rPr lang="en-US" altLang="zh-CN" sz="1400" b="0" baseline="0" dirty="0"/>
              <a:t>56  </a:t>
            </a:r>
            <a:r>
              <a:rPr lang="en-US" altLang="zh-CN" sz="1400" b="0" baseline="0" dirty="0">
                <a:solidFill>
                  <a:srgbClr val="FF0000"/>
                </a:solidFill>
              </a:rPr>
              <a:t>NORTH_MASK  </a:t>
            </a:r>
            <a:r>
              <a:rPr lang="en-US" altLang="zh-CN" sz="1400" b="0" baseline="0" dirty="0"/>
              <a:t>.FILL  x0008</a:t>
            </a:r>
          </a:p>
          <a:p>
            <a:pPr marL="0" indent="0">
              <a:buNone/>
            </a:pPr>
            <a:r>
              <a:rPr lang="en-US" altLang="zh-CN" sz="1400" b="0" baseline="0" dirty="0"/>
              <a:t>57  </a:t>
            </a:r>
            <a:r>
              <a:rPr lang="en-US" altLang="zh-CN" sz="1400" b="0" baseline="0" dirty="0">
                <a:solidFill>
                  <a:srgbClr val="FF0000"/>
                </a:solidFill>
              </a:rPr>
              <a:t>EAST_MASK      </a:t>
            </a:r>
            <a:r>
              <a:rPr lang="en-US" altLang="zh-CN" sz="1400" b="0" baseline="0" dirty="0"/>
              <a:t>.FILL  x0004</a:t>
            </a:r>
          </a:p>
          <a:p>
            <a:pPr marL="0" indent="0">
              <a:buNone/>
            </a:pPr>
            <a:r>
              <a:rPr lang="en-US" altLang="zh-CN" sz="1400" b="0" baseline="0" dirty="0"/>
              <a:t>58  </a:t>
            </a:r>
            <a:r>
              <a:rPr lang="en-US" altLang="zh-CN" sz="1400" b="0" baseline="0" dirty="0">
                <a:solidFill>
                  <a:srgbClr val="FF0000"/>
                </a:solidFill>
              </a:rPr>
              <a:t>SOUTH_MASK  </a:t>
            </a:r>
            <a:r>
              <a:rPr lang="en-US" altLang="zh-CN" sz="1400" b="0" baseline="0" dirty="0"/>
              <a:t>.FILL  x0002</a:t>
            </a:r>
          </a:p>
          <a:p>
            <a:pPr marL="0" indent="0">
              <a:buNone/>
            </a:pPr>
            <a:r>
              <a:rPr lang="en-US" altLang="zh-CN" sz="1400" b="0" baseline="0" dirty="0"/>
              <a:t>59  </a:t>
            </a:r>
            <a:r>
              <a:rPr lang="en-US" altLang="zh-CN" sz="1400" b="0" baseline="0" dirty="0">
                <a:solidFill>
                  <a:srgbClr val="FF0000"/>
                </a:solidFill>
              </a:rPr>
              <a:t>WEST_MASK     </a:t>
            </a:r>
            <a:r>
              <a:rPr lang="en-US" altLang="zh-CN" sz="1400" b="0" baseline="0" dirty="0"/>
              <a:t>.FILL  x0001</a:t>
            </a:r>
          </a:p>
          <a:p>
            <a:pPr marL="0" indent="0">
              <a:buNone/>
            </a:pPr>
            <a:r>
              <a:rPr lang="en-US" altLang="zh-CN" sz="1400" b="0" baseline="0" dirty="0"/>
              <a:t>5A                           .END</a:t>
            </a:r>
            <a:endParaRPr lang="zh-CN" altLang="en-US" sz="300" kern="0" baseline="0" dirty="0"/>
          </a:p>
        </p:txBody>
      </p:sp>
    </p:spTree>
    <p:extLst>
      <p:ext uri="{BB962C8B-B14F-4D97-AF65-F5344CB8AC3E}">
        <p14:creationId xmlns:p14="http://schemas.microsoft.com/office/powerpoint/2010/main" val="41832575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5431E9-8E44-484A-92F5-83619F824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2.The Queue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91AAD7-5227-4C1F-9BEA-3EA52856D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9576" y="981075"/>
            <a:ext cx="8263012" cy="5481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Definition of Queue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Basic Operations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Wrap-Around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Definition of  full and empty queue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Underflow/Overflow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AECA0F-FA75-48D5-ABC1-C7ED1DE6E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21F9F6-5A52-4F2D-AB76-F4494681C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AF01BB-013D-4006-B417-404969D27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16789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88389E-4452-4333-A2F2-006D14A5C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en-US" altLang="zh-CN" kern="1200" dirty="0">
                <a:solidFill>
                  <a:srgbClr val="003399"/>
                </a:solidFill>
                <a:sym typeface="Times New Roman" panose="02020603050405020304" pitchFamily="18" charset="0"/>
              </a:rPr>
              <a:t>The Definition of Queue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D3028A-7491-4CDC-9545-659328208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629" y="959332"/>
            <a:ext cx="9489915" cy="2325751"/>
          </a:xfrm>
        </p:spPr>
        <p:txBody>
          <a:bodyPr/>
          <a:lstStyle/>
          <a:p>
            <a:r>
              <a:rPr lang="en-US" altLang="zh-CN" sz="2100" dirty="0"/>
              <a:t>Queue</a:t>
            </a:r>
          </a:p>
          <a:p>
            <a:pPr lvl="1"/>
            <a:r>
              <a:rPr lang="en-US" altLang="zh-CN" sz="2100" dirty="0"/>
              <a:t>A data structure with the property of “First in First out”;</a:t>
            </a:r>
          </a:p>
          <a:p>
            <a:pPr lvl="1"/>
            <a:r>
              <a:rPr lang="en-US" altLang="zh-CN" sz="2100" dirty="0">
                <a:solidFill>
                  <a:srgbClr val="FF0000"/>
                </a:solidFill>
              </a:rPr>
              <a:t>Front</a:t>
            </a:r>
            <a:r>
              <a:rPr lang="en-US" altLang="zh-CN" sz="2100" dirty="0"/>
              <a:t> pointer for removing elements from the front of the queue; </a:t>
            </a:r>
            <a:r>
              <a:rPr lang="en-US" altLang="zh-CN" sz="2100" dirty="0">
                <a:solidFill>
                  <a:srgbClr val="FF0000"/>
                </a:solidFill>
              </a:rPr>
              <a:t>Rear</a:t>
            </a:r>
            <a:r>
              <a:rPr lang="en-US" altLang="zh-CN" sz="2100" dirty="0"/>
              <a:t> pointer for inserting into the rear of the queue.</a:t>
            </a:r>
          </a:p>
          <a:p>
            <a:pPr lvl="1"/>
            <a:r>
              <a:rPr lang="en-US" altLang="zh-CN" sz="2100" dirty="0">
                <a:solidFill>
                  <a:srgbClr val="FF0000"/>
                </a:solidFill>
              </a:rPr>
              <a:t>FRONT</a:t>
            </a:r>
            <a:r>
              <a:rPr lang="en-US" altLang="zh-CN" sz="2100" dirty="0"/>
              <a:t> points to the location just in front of the first element in the queue; </a:t>
            </a:r>
            <a:r>
              <a:rPr lang="en-US" altLang="zh-CN" sz="2100" dirty="0">
                <a:solidFill>
                  <a:srgbClr val="FF0000"/>
                </a:solidFill>
              </a:rPr>
              <a:t>Rear</a:t>
            </a:r>
            <a:r>
              <a:rPr lang="en-US" altLang="zh-CN" sz="2100" dirty="0"/>
              <a:t> points to the location of the last element in the queue.</a:t>
            </a:r>
          </a:p>
          <a:p>
            <a:pPr marL="457200" lvl="1" indent="0">
              <a:buNone/>
            </a:pPr>
            <a:endParaRPr lang="zh-CN" altLang="en-US" sz="22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522252-39E9-4F05-AE26-DE55680CF4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05000" y="6537326"/>
            <a:ext cx="2286000" cy="244475"/>
          </a:xfrm>
        </p:spPr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2ACC92-4EB6-40BA-BD27-9577F67D3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3400" y="6553200"/>
            <a:ext cx="3200400" cy="2286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FDA67C-D0CD-4EB9-B97F-9942ACBF3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0000" y="6537326"/>
            <a:ext cx="2743200" cy="244475"/>
          </a:xfrm>
        </p:spPr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1B771E3-2924-4A41-9461-4B51C37BC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558" y="3356992"/>
            <a:ext cx="2050364" cy="259184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9EB68F5-FCD4-4CF5-AB04-1D2FC00B2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092" y="3356992"/>
            <a:ext cx="1951609" cy="254167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37CC680-609D-4586-87E1-29C8591A6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706" y="3356992"/>
            <a:ext cx="1735832" cy="260376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42F9232-D175-4763-AE01-CC14EA5CF3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8208" y="3356992"/>
            <a:ext cx="1944900" cy="254167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B4B866F2-4A23-4DFC-87E1-E75FE3FEE622}"/>
              </a:ext>
            </a:extLst>
          </p:cNvPr>
          <p:cNvSpPr/>
          <p:nvPr/>
        </p:nvSpPr>
        <p:spPr>
          <a:xfrm>
            <a:off x="3071664" y="6010920"/>
            <a:ext cx="65831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aseline="0" dirty="0">
                <a:latin typeface="ProximaNova-Semibold"/>
              </a:rPr>
              <a:t>Figure 8.25 </a:t>
            </a:r>
            <a:r>
              <a:rPr lang="en-US" altLang="zh-CN" baseline="0" dirty="0">
                <a:latin typeface="ProximaNova-Semibold"/>
              </a:rPr>
              <a:t>A queue allocated to memory locations x8000 to x8005.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93004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96F1037F-9892-49F7-B924-50D081384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0266" y="4937123"/>
            <a:ext cx="1448182" cy="184734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68E7669-7624-449B-9180-8379AD376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Basic Operations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15C5DC-58D7-47AA-9E9B-AE1C18CE9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8" y="981076"/>
            <a:ext cx="8839200" cy="5328245"/>
          </a:xfrm>
        </p:spPr>
        <p:txBody>
          <a:bodyPr/>
          <a:lstStyle/>
          <a:p>
            <a:r>
              <a:rPr lang="en-US" altLang="zh-CN" dirty="0"/>
              <a:t>Remove from Front</a:t>
            </a:r>
          </a:p>
          <a:p>
            <a:pPr lvl="1"/>
            <a:r>
              <a:rPr lang="en-US" altLang="zh-CN" b="0" dirty="0"/>
              <a:t>FRONT points to the location just in front of the first element in the queue; R3 stores the FRONT pointer;</a:t>
            </a:r>
          </a:p>
          <a:p>
            <a:pPr lvl="1"/>
            <a:r>
              <a:rPr lang="en-US" altLang="zh-CN" b="0" dirty="0"/>
              <a:t>First incrementing FRONT; then loading the value.</a:t>
            </a:r>
          </a:p>
          <a:p>
            <a:pPr lvl="1"/>
            <a:endParaRPr lang="en-US" altLang="zh-CN" b="0" dirty="0"/>
          </a:p>
          <a:p>
            <a:pPr marL="0" indent="0">
              <a:buNone/>
            </a:pPr>
            <a:r>
              <a:rPr lang="en-US" altLang="zh-CN" b="0" dirty="0"/>
              <a:t>              </a:t>
            </a:r>
            <a:r>
              <a:rPr lang="en-US" altLang="zh-CN" b="0" dirty="0">
                <a:solidFill>
                  <a:srgbClr val="FF0000"/>
                </a:solidFill>
              </a:rPr>
              <a:t>ADD R3,R3,#1</a:t>
            </a:r>
          </a:p>
          <a:p>
            <a:pPr marL="0" indent="0">
              <a:buNone/>
            </a:pPr>
            <a:r>
              <a:rPr lang="en-US" altLang="zh-CN" b="0" dirty="0">
                <a:solidFill>
                  <a:srgbClr val="FF0000"/>
                </a:solidFill>
              </a:rPr>
              <a:t>              LDR  R0,R3,#0</a:t>
            </a:r>
          </a:p>
          <a:p>
            <a:pPr marL="0" indent="0">
              <a:buNone/>
            </a:pPr>
            <a:endParaRPr lang="en-US" altLang="zh-CN" b="0" dirty="0">
              <a:solidFill>
                <a:srgbClr val="FF0000"/>
              </a:solidFill>
            </a:endParaRPr>
          </a:p>
          <a:p>
            <a:r>
              <a:rPr lang="en-US" altLang="zh-CN" dirty="0"/>
              <a:t>Insert at Rear</a:t>
            </a:r>
          </a:p>
          <a:p>
            <a:pPr lvl="1"/>
            <a:r>
              <a:rPr lang="en-US" altLang="zh-CN" b="0" dirty="0"/>
              <a:t>First incrementing REAR; then storing the value. R4 stores the REAR pointer;</a:t>
            </a:r>
          </a:p>
          <a:p>
            <a:pPr lvl="1"/>
            <a:endParaRPr lang="en-US" altLang="zh-CN" dirty="0"/>
          </a:p>
          <a:p>
            <a:pPr marL="0" indent="0">
              <a:buNone/>
            </a:pPr>
            <a:r>
              <a:rPr lang="en-US" altLang="zh-CN" b="0" dirty="0"/>
              <a:t>              </a:t>
            </a:r>
            <a:r>
              <a:rPr lang="en-US" altLang="zh-CN" b="0" dirty="0">
                <a:solidFill>
                  <a:srgbClr val="FF0000"/>
                </a:solidFill>
              </a:rPr>
              <a:t>ADD R4,R4,#1</a:t>
            </a:r>
          </a:p>
          <a:p>
            <a:pPr marL="0" indent="0">
              <a:buNone/>
            </a:pPr>
            <a:r>
              <a:rPr lang="en-US" altLang="zh-CN" b="0" dirty="0">
                <a:solidFill>
                  <a:srgbClr val="FF0000"/>
                </a:solidFill>
              </a:rPr>
              <a:t>              STR  R0,R4,#0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1A3A00-5EEF-449D-80A8-682A27DAC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7711DE-F5F5-44FE-A77A-67A34E49E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F4EB2A-6F43-477B-86AF-9A4F97193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33</a:t>
            </a:fld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02BE9BB-EC06-4ECF-ACC1-0A8FCCCD0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976" y="2492896"/>
            <a:ext cx="1978356" cy="194421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64F711A-E391-44A1-B3AF-A9B41FBB7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273" y="2492896"/>
            <a:ext cx="1663577" cy="1944216"/>
          </a:xfrm>
          <a:prstGeom prst="rect">
            <a:avLst/>
          </a:prstGeom>
        </p:spPr>
      </p:pic>
      <p:sp>
        <p:nvSpPr>
          <p:cNvPr id="9" name="箭头: 右 8">
            <a:extLst>
              <a:ext uri="{FF2B5EF4-FFF2-40B4-BE49-F238E27FC236}">
                <a16:creationId xmlns:a16="http://schemas.microsoft.com/office/drawing/2014/main" id="{E128FCB3-7E08-408F-82AD-F42F0E40A28A}"/>
              </a:ext>
            </a:extLst>
          </p:cNvPr>
          <p:cNvSpPr/>
          <p:nvPr/>
        </p:nvSpPr>
        <p:spPr bwMode="auto">
          <a:xfrm>
            <a:off x="7980015" y="3140968"/>
            <a:ext cx="432048" cy="36004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eaLnBrk="1" hangingPunct="1"/>
            <a:endParaRPr lang="zh-CN" altLang="en-US">
              <a:latin typeface="Arial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F2EA5B1-FEF6-46F3-A119-2EAFAE0EE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744" y="4914631"/>
            <a:ext cx="1708589" cy="1892323"/>
          </a:xfrm>
          <a:prstGeom prst="rect">
            <a:avLst/>
          </a:prstGeom>
        </p:spPr>
      </p:pic>
      <p:sp>
        <p:nvSpPr>
          <p:cNvPr id="12" name="箭头: 右 11">
            <a:extLst>
              <a:ext uri="{FF2B5EF4-FFF2-40B4-BE49-F238E27FC236}">
                <a16:creationId xmlns:a16="http://schemas.microsoft.com/office/drawing/2014/main" id="{1FB3886F-3978-4FBD-99A1-73EEF6D1A44D}"/>
              </a:ext>
            </a:extLst>
          </p:cNvPr>
          <p:cNvSpPr/>
          <p:nvPr/>
        </p:nvSpPr>
        <p:spPr bwMode="auto">
          <a:xfrm>
            <a:off x="7980015" y="5492640"/>
            <a:ext cx="432048" cy="36004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eaLnBrk="1" hangingPunct="1"/>
            <a:endParaRPr lang="zh-CN" alt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094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779094-B29F-495E-AE78-F773D9CC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 Wrap-Around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3DC818-9646-42EB-B099-06F07BDA1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026145"/>
            <a:ext cx="4302375" cy="5481638"/>
          </a:xfrm>
          <a:solidFill>
            <a:srgbClr val="A6E0E0"/>
          </a:solidFill>
          <a:scene3d>
            <a:camera prst="orthographicFront"/>
            <a:lightRig rig="threePt" dir="t"/>
          </a:scene3d>
          <a:sp3d>
            <a:bevelT w="6350" h="82550"/>
          </a:sp3d>
        </p:spPr>
        <p:txBody>
          <a:bodyPr/>
          <a:lstStyle/>
          <a:p>
            <a:r>
              <a:rPr lang="en-US" altLang="zh-CN" dirty="0"/>
              <a:t>Remove</a:t>
            </a:r>
          </a:p>
          <a:p>
            <a:pPr marL="0" indent="0">
              <a:buNone/>
            </a:pPr>
            <a:r>
              <a:rPr lang="en-US" altLang="zh-CN" sz="2000" b="0" dirty="0">
                <a:solidFill>
                  <a:srgbClr val="0000FF"/>
                </a:solidFill>
              </a:rPr>
              <a:t>            ;R3 stores FRONT pointer</a:t>
            </a:r>
          </a:p>
          <a:p>
            <a:pPr marL="0" indent="0">
              <a:buNone/>
            </a:pPr>
            <a:r>
              <a:rPr lang="en-US" altLang="zh-CN" sz="2000" b="0" dirty="0"/>
              <a:t>            LD R2, LAST</a:t>
            </a:r>
          </a:p>
          <a:p>
            <a:pPr marL="0" indent="0">
              <a:buNone/>
            </a:pPr>
            <a:r>
              <a:rPr lang="en-US" altLang="zh-CN" sz="2000" b="0" dirty="0"/>
              <a:t>            ADD R2,R3,R2</a:t>
            </a:r>
          </a:p>
          <a:p>
            <a:pPr marL="0" indent="0">
              <a:buNone/>
            </a:pPr>
            <a:r>
              <a:rPr lang="en-US" altLang="zh-CN" sz="2000" b="0" dirty="0"/>
              <a:t>            </a:t>
            </a:r>
            <a:r>
              <a:rPr lang="en-US" altLang="zh-CN" sz="2000" b="0" dirty="0" err="1"/>
              <a:t>BRnp</a:t>
            </a:r>
            <a:r>
              <a:rPr lang="en-US" altLang="zh-CN" sz="2000" b="0" dirty="0"/>
              <a:t> SKIP_1</a:t>
            </a:r>
          </a:p>
          <a:p>
            <a:pPr marL="0" indent="0">
              <a:buNone/>
            </a:pPr>
            <a:r>
              <a:rPr lang="en-US" altLang="zh-CN" sz="2000" b="0" dirty="0"/>
              <a:t>            LD R3,FIRST</a:t>
            </a:r>
          </a:p>
          <a:p>
            <a:pPr marL="0" indent="0">
              <a:buNone/>
            </a:pPr>
            <a:r>
              <a:rPr lang="en-US" altLang="zh-CN" sz="2000" b="0" dirty="0"/>
              <a:t>            BR SKIP_2</a:t>
            </a:r>
          </a:p>
          <a:p>
            <a:pPr marL="0" indent="0">
              <a:buNone/>
            </a:pPr>
            <a:r>
              <a:rPr lang="pt-BR" altLang="zh-CN" sz="2000" b="0" dirty="0">
                <a:solidFill>
                  <a:srgbClr val="FF0000"/>
                </a:solidFill>
              </a:rPr>
              <a:t>SKIP_1 </a:t>
            </a:r>
            <a:r>
              <a:rPr lang="pt-BR" altLang="zh-CN" sz="2000" b="0" dirty="0"/>
              <a:t>ADD R3,R3,#1</a:t>
            </a:r>
          </a:p>
          <a:p>
            <a:pPr marL="0" indent="0">
              <a:buNone/>
            </a:pPr>
            <a:r>
              <a:rPr lang="en-US" altLang="zh-CN" sz="2000" b="0" dirty="0">
                <a:solidFill>
                  <a:srgbClr val="FF0000"/>
                </a:solidFill>
              </a:rPr>
              <a:t>SKIP_2 </a:t>
            </a:r>
            <a:r>
              <a:rPr lang="en-US" altLang="zh-CN" sz="2000" b="0" dirty="0"/>
              <a:t>LDR  R0,R3,#0 </a:t>
            </a:r>
          </a:p>
          <a:p>
            <a:pPr marL="0" indent="0">
              <a:buNone/>
            </a:pPr>
            <a:r>
              <a:rPr lang="en-US" altLang="zh-CN" sz="2000" b="0" dirty="0">
                <a:solidFill>
                  <a:srgbClr val="0000FF"/>
                </a:solidFill>
              </a:rPr>
              <a:t>; R0 gets the front of the queue</a:t>
            </a:r>
          </a:p>
          <a:p>
            <a:pPr marL="0" indent="0">
              <a:buNone/>
            </a:pPr>
            <a:r>
              <a:rPr lang="en-US" altLang="zh-CN" sz="2000" b="0" dirty="0"/>
              <a:t>            RET</a:t>
            </a:r>
          </a:p>
          <a:p>
            <a:pPr marL="0" indent="0">
              <a:buNone/>
            </a:pPr>
            <a:r>
              <a:rPr lang="en-US" altLang="zh-CN" sz="2000" b="0" dirty="0">
                <a:solidFill>
                  <a:srgbClr val="FF0000"/>
                </a:solidFill>
              </a:rPr>
              <a:t>LAST</a:t>
            </a:r>
            <a:r>
              <a:rPr lang="en-US" altLang="zh-CN" sz="2000" b="0" dirty="0"/>
              <a:t>    .FILL  x7FFB </a:t>
            </a:r>
          </a:p>
          <a:p>
            <a:pPr marL="0" indent="0">
              <a:buNone/>
            </a:pPr>
            <a:r>
              <a:rPr lang="en-US" altLang="zh-CN" sz="1800" b="0" dirty="0">
                <a:solidFill>
                  <a:srgbClr val="0000FF"/>
                </a:solidFill>
              </a:rPr>
              <a:t>; LAST contains the negative of 8005</a:t>
            </a:r>
          </a:p>
          <a:p>
            <a:pPr marL="0" indent="0">
              <a:buNone/>
            </a:pPr>
            <a:r>
              <a:rPr lang="en-US" altLang="zh-CN" sz="2000" b="0" dirty="0">
                <a:solidFill>
                  <a:srgbClr val="FF0000"/>
                </a:solidFill>
              </a:rPr>
              <a:t>FIRST</a:t>
            </a:r>
            <a:r>
              <a:rPr lang="en-US" altLang="zh-CN" sz="2000" b="0" dirty="0"/>
              <a:t>   .FILL  x8000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1EB029-2887-4ED6-BC62-ECC8F9BAE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01E9ED-EA83-41F1-8D5D-F5E0E1278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077AA9-E4F4-446C-9A72-377CB5682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2FA5F65-6C8E-4CAC-A27E-0922C7813099}"/>
              </a:ext>
            </a:extLst>
          </p:cNvPr>
          <p:cNvSpPr txBox="1">
            <a:spLocks/>
          </p:cNvSpPr>
          <p:nvPr/>
        </p:nvSpPr>
        <p:spPr bwMode="auto">
          <a:xfrm>
            <a:off x="5015880" y="1026145"/>
            <a:ext cx="5256584" cy="5481638"/>
          </a:xfrm>
          <a:prstGeom prst="rect">
            <a:avLst/>
          </a:prstGeom>
          <a:solidFill>
            <a:srgbClr val="A6E0E0"/>
          </a:solidFill>
          <a:ln>
            <a:noFill/>
          </a:ln>
          <a:scene3d>
            <a:camera prst="orthographicFront"/>
            <a:lightRig rig="threePt" dir="t"/>
          </a:scene3d>
          <a:sp3d>
            <a:bevelT w="6350" h="8255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+mn-lt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r>
              <a:rPr lang="en-US" altLang="zh-CN" kern="0" baseline="0" dirty="0"/>
              <a:t>Insert</a:t>
            </a:r>
          </a:p>
          <a:p>
            <a:pPr marL="0" indent="0">
              <a:buNone/>
            </a:pPr>
            <a:r>
              <a:rPr lang="en-US" altLang="zh-CN" sz="2000" b="0" kern="0" baseline="0" dirty="0"/>
              <a:t>          </a:t>
            </a:r>
            <a:r>
              <a:rPr lang="en-US" altLang="zh-CN" sz="2000" b="0" kern="0" baseline="0" dirty="0">
                <a:solidFill>
                  <a:srgbClr val="0000FF"/>
                </a:solidFill>
              </a:rPr>
              <a:t>;R4 stores REAR pointer</a:t>
            </a:r>
            <a:endParaRPr lang="en-US" altLang="zh-CN" b="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sz="2000" b="0" kern="0" baseline="0" dirty="0"/>
              <a:t>          </a:t>
            </a:r>
            <a:r>
              <a:rPr lang="en-US" altLang="zh-CN" sz="2800" b="0" dirty="0"/>
              <a:t>LD R2, LAST</a:t>
            </a:r>
          </a:p>
          <a:p>
            <a:pPr marL="0" indent="0">
              <a:buNone/>
            </a:pPr>
            <a:r>
              <a:rPr lang="en-US" altLang="zh-CN" sz="2800" b="0" dirty="0"/>
              <a:t>           ADD R2,R4,R2</a:t>
            </a:r>
          </a:p>
          <a:p>
            <a:pPr marL="0" indent="0">
              <a:buNone/>
            </a:pPr>
            <a:r>
              <a:rPr lang="en-US" altLang="zh-CN" sz="2800" b="0" dirty="0"/>
              <a:t>           </a:t>
            </a:r>
            <a:r>
              <a:rPr lang="en-US" altLang="zh-CN" sz="2800" b="0" dirty="0" err="1"/>
              <a:t>BRnp</a:t>
            </a:r>
            <a:r>
              <a:rPr lang="en-US" altLang="zh-CN" sz="2800" b="0" dirty="0"/>
              <a:t> SKIP_1    </a:t>
            </a:r>
            <a:r>
              <a:rPr lang="zh-CN" altLang="en-US" sz="2800" b="0" dirty="0"/>
              <a:t>； </a:t>
            </a:r>
            <a:r>
              <a:rPr lang="en-US" altLang="zh-CN" sz="2800" b="0" dirty="0">
                <a:solidFill>
                  <a:srgbClr val="0000FF"/>
                </a:solidFill>
              </a:rPr>
              <a:t>if(np) then </a:t>
            </a:r>
          </a:p>
          <a:p>
            <a:pPr marL="0" indent="0">
              <a:buNone/>
            </a:pPr>
            <a:r>
              <a:rPr lang="en-US" altLang="zh-CN" sz="2800" b="0" dirty="0"/>
              <a:t>           LD R4,FIRST </a:t>
            </a:r>
            <a:r>
              <a:rPr lang="en-US" altLang="zh-CN" sz="2800" b="0" dirty="0">
                <a:solidFill>
                  <a:srgbClr val="0000FF"/>
                </a:solidFill>
              </a:rPr>
              <a:t>;              SKIP_1:</a:t>
            </a:r>
          </a:p>
          <a:p>
            <a:pPr marL="0" indent="0">
              <a:buNone/>
            </a:pPr>
            <a:r>
              <a:rPr lang="en-US" altLang="zh-CN" sz="2800" b="0" dirty="0"/>
              <a:t>           BR SKIP_2    ;        </a:t>
            </a:r>
            <a:r>
              <a:rPr lang="en-US" altLang="zh-CN" sz="2800" b="0" dirty="0">
                <a:solidFill>
                  <a:srgbClr val="0000FF"/>
                </a:solidFill>
              </a:rPr>
              <a:t>else </a:t>
            </a:r>
          </a:p>
          <a:p>
            <a:pPr marL="0" indent="0">
              <a:buNone/>
            </a:pPr>
            <a:r>
              <a:rPr lang="en-US" altLang="zh-CN" sz="2800" b="0" dirty="0">
                <a:solidFill>
                  <a:srgbClr val="0000FF"/>
                </a:solidFill>
              </a:rPr>
              <a:t>                                               LD R4,first</a:t>
            </a:r>
          </a:p>
          <a:p>
            <a:pPr marL="0" indent="0">
              <a:buNone/>
            </a:pPr>
            <a:r>
              <a:rPr lang="pt-BR" altLang="zh-CN" sz="2800" b="0" dirty="0">
                <a:solidFill>
                  <a:srgbClr val="FF0000"/>
                </a:solidFill>
              </a:rPr>
              <a:t>SKIP_1</a:t>
            </a:r>
            <a:r>
              <a:rPr lang="pt-BR" altLang="zh-CN" sz="2800" b="0" dirty="0"/>
              <a:t> ADD R4,R4,#1   ;  </a:t>
            </a:r>
            <a:r>
              <a:rPr lang="pt-BR" altLang="zh-CN" sz="2800" b="0" dirty="0">
                <a:solidFill>
                  <a:srgbClr val="0000FF"/>
                </a:solidFill>
              </a:rPr>
              <a:t>end if</a:t>
            </a:r>
          </a:p>
          <a:p>
            <a:pPr marL="0" indent="0">
              <a:buNone/>
            </a:pPr>
            <a:r>
              <a:rPr lang="en-US" altLang="zh-CN" sz="2800" b="0" dirty="0">
                <a:solidFill>
                  <a:srgbClr val="FF0000"/>
                </a:solidFill>
              </a:rPr>
              <a:t>SKIP_2</a:t>
            </a:r>
            <a:r>
              <a:rPr lang="en-US" altLang="zh-CN" sz="2800" b="0" dirty="0"/>
              <a:t> STR R0,R4,#0 </a:t>
            </a:r>
          </a:p>
          <a:p>
            <a:pPr marL="0" indent="0">
              <a:buNone/>
            </a:pPr>
            <a:r>
              <a:rPr lang="en-US" altLang="zh-CN" sz="2800" b="0" dirty="0">
                <a:solidFill>
                  <a:srgbClr val="0000FF"/>
                </a:solidFill>
              </a:rPr>
              <a:t>; R0 gets the front of the queue</a:t>
            </a:r>
          </a:p>
          <a:p>
            <a:pPr marL="0" indent="0">
              <a:buNone/>
            </a:pPr>
            <a:r>
              <a:rPr lang="en-US" altLang="zh-CN" sz="2800" b="0" dirty="0"/>
              <a:t>            RET</a:t>
            </a:r>
          </a:p>
          <a:p>
            <a:pPr marL="0" indent="0">
              <a:buNone/>
            </a:pPr>
            <a:r>
              <a:rPr lang="en-US" altLang="zh-CN" sz="2800" b="0" dirty="0">
                <a:solidFill>
                  <a:srgbClr val="FF0000"/>
                </a:solidFill>
              </a:rPr>
              <a:t>LAST    </a:t>
            </a:r>
            <a:r>
              <a:rPr lang="en-US" altLang="zh-CN" sz="2800" b="0" dirty="0"/>
              <a:t>.FILL 7FFB </a:t>
            </a:r>
          </a:p>
          <a:p>
            <a:pPr marL="0" indent="0">
              <a:buNone/>
            </a:pPr>
            <a:r>
              <a:rPr lang="en-US" altLang="zh-CN" sz="2800" b="0" dirty="0">
                <a:solidFill>
                  <a:srgbClr val="0000FF"/>
                </a:solidFill>
              </a:rPr>
              <a:t>; LAST contains the negative of 8005</a:t>
            </a:r>
          </a:p>
          <a:p>
            <a:pPr marL="0" indent="0">
              <a:buNone/>
            </a:pPr>
            <a:r>
              <a:rPr lang="en-US" altLang="zh-CN" sz="2800" b="0" dirty="0">
                <a:solidFill>
                  <a:srgbClr val="FF0000"/>
                </a:solidFill>
              </a:rPr>
              <a:t>FIRST</a:t>
            </a:r>
            <a:r>
              <a:rPr lang="en-US" altLang="zh-CN" sz="2800" b="0" dirty="0"/>
              <a:t>    .FILL x8000</a:t>
            </a:r>
            <a:endParaRPr lang="zh-CN" altLang="en-US" sz="2800" b="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772B2A2-A838-4379-B0D3-7354BEDF4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7665" y="981075"/>
            <a:ext cx="1663577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6142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C3A150-D284-4CD6-917B-D021051EC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 Full and Empty Queue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B6CFF2-71CF-4E2F-BD0C-124276D74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8" y="981076"/>
            <a:ext cx="8839200" cy="1295797"/>
          </a:xfrm>
        </p:spPr>
        <p:txBody>
          <a:bodyPr/>
          <a:lstStyle/>
          <a:p>
            <a:r>
              <a:rPr lang="en-US" altLang="zh-CN" b="0" dirty="0"/>
              <a:t>The queue are allowed to store only n-1 elements for a queue with n locations.</a:t>
            </a:r>
          </a:p>
          <a:p>
            <a:r>
              <a:rPr lang="en-US" altLang="zh-CN" b="0" dirty="0"/>
              <a:t>Full: FRONT=REAR+1 mod n         Empty: FRONT=REAR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3D5CDC-291D-4BA0-9980-77CF85C3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897425-805E-42FC-A6DE-4B228DA22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804ABD-EA51-4D4A-B765-18249D910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404C79E-2B40-4D76-A7D6-62E23657C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664" y="2299806"/>
            <a:ext cx="6552728" cy="413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5228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FF1470-8409-48F3-BD47-64C225A65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2.5 Tests for Underflow, Overflow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F0B29A-E912-44CB-B50F-B868DBF77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1704" y="1042209"/>
            <a:ext cx="4320604" cy="5481638"/>
          </a:xfrm>
          <a:solidFill>
            <a:srgbClr val="A6E0E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 for underflow</a:t>
            </a:r>
          </a:p>
          <a:p>
            <a:pPr marL="0" indent="0">
              <a:buNone/>
            </a:pPr>
            <a:r>
              <a:rPr lang="pt-BR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AND R5,R5,#0 </a:t>
            </a:r>
          </a:p>
          <a:p>
            <a:pPr marL="0" indent="0">
              <a:buNone/>
            </a:pPr>
            <a:r>
              <a:rPr lang="pt-BR" altLang="zh-CN" sz="2000" b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; Initialize R5 to 0</a:t>
            </a:r>
          </a:p>
          <a:p>
            <a:pPr marL="0" indent="0"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NOT R2,R3</a:t>
            </a:r>
          </a:p>
          <a:p>
            <a:pPr marL="0" indent="0">
              <a:buNone/>
            </a:pPr>
            <a:r>
              <a:rPr lang="pt-BR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ADD R2,R2,#1 </a:t>
            </a:r>
          </a:p>
          <a:p>
            <a:pPr marL="0" indent="0">
              <a:buNone/>
            </a:pPr>
            <a:r>
              <a:rPr lang="pt-BR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pt-BR" altLang="zh-CN" sz="2000" b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R2 contains negative of R3</a:t>
            </a:r>
          </a:p>
          <a:p>
            <a:pPr marL="0" indent="0"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ADD R2,R2,R4</a:t>
            </a:r>
          </a:p>
          <a:p>
            <a:pPr marL="0" indent="0"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BRz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000" b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UNDERFLOW</a:t>
            </a:r>
          </a:p>
          <a:p>
            <a:pPr marL="0" indent="0">
              <a:buNone/>
            </a:pPr>
            <a:r>
              <a:rPr lang="en-US" altLang="zh-CN" sz="2000" b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</a:t>
            </a:r>
            <a:r>
              <a:rPr lang="en-US" altLang="zh-CN" sz="2000" b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……</a:t>
            </a:r>
          </a:p>
          <a:p>
            <a:pPr marL="0" indent="0">
              <a:buNone/>
            </a:pPr>
            <a:r>
              <a:rPr lang="en-US" altLang="zh-CN" sz="2000" b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code to remove the front of the ;queue and return success.</a:t>
            </a:r>
          </a:p>
          <a:p>
            <a:pPr marL="0" indent="0"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RET</a:t>
            </a:r>
          </a:p>
          <a:p>
            <a:pPr marL="0" indent="0">
              <a:buNone/>
            </a:pPr>
            <a:r>
              <a:rPr lang="en-US" altLang="zh-CN" sz="2000" b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UNDERFLOW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ADD R5,R5,#1</a:t>
            </a:r>
          </a:p>
          <a:p>
            <a:pPr marL="0" indent="0"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RET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8CD442-6447-4E0C-87C6-78FB7EE7D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ED8E99-02F0-423C-8794-1BAAACE7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5E18E2-2DA3-4F99-95A7-0C433B776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6793FD-328F-4FD4-BE0E-24DBED74603A}"/>
              </a:ext>
            </a:extLst>
          </p:cNvPr>
          <p:cNvSpPr/>
          <p:nvPr/>
        </p:nvSpPr>
        <p:spPr>
          <a:xfrm>
            <a:off x="1271464" y="1196752"/>
            <a:ext cx="1931939" cy="6668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R5=1: underflow</a:t>
            </a:r>
          </a:p>
          <a:p>
            <a:r>
              <a:rPr lang="pt-BR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R5=0: normal</a:t>
            </a:r>
            <a:endParaRPr lang="zh-CN" altLang="en-US" sz="28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E407DD3-6399-4B32-AA6A-211C1529196F}"/>
              </a:ext>
            </a:extLst>
          </p:cNvPr>
          <p:cNvSpPr/>
          <p:nvPr/>
        </p:nvSpPr>
        <p:spPr>
          <a:xfrm>
            <a:off x="1252712" y="2564904"/>
            <a:ext cx="1486304" cy="6668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R3: FRONT</a:t>
            </a:r>
          </a:p>
          <a:p>
            <a:r>
              <a:rPr lang="pt-BR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R4: REAR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7479078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66830-C0AC-4FEC-8876-E600F3514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2.6 The Complete Story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F93AC8-7F23-4F03-BEE0-26F1C24EC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200" b="0" dirty="0"/>
              <a:t>00 ;Input: R0 for item to be inserted, R3 is FRONT, R4 is REAR</a:t>
            </a:r>
          </a:p>
          <a:p>
            <a:r>
              <a:rPr lang="en-US" altLang="zh-CN" sz="1200" b="0" dirty="0"/>
              <a:t>01 ;Output: R0 for item to be removed</a:t>
            </a:r>
          </a:p>
          <a:p>
            <a:r>
              <a:rPr lang="en-US" altLang="zh-CN" sz="1200" b="0" dirty="0"/>
              <a:t>02 ;</a:t>
            </a:r>
          </a:p>
          <a:p>
            <a:r>
              <a:rPr lang="en-US" altLang="zh-CN" sz="1200" b="0" dirty="0"/>
              <a:t>03  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INSERT</a:t>
            </a:r>
            <a:r>
              <a:rPr lang="en-US" altLang="zh-CN" sz="1200" b="0" dirty="0"/>
              <a:t> ST R1,SaveR1 ; Save register we need</a:t>
            </a:r>
          </a:p>
          <a:p>
            <a:r>
              <a:rPr lang="en-US" altLang="zh-CN" sz="1200" b="0" dirty="0"/>
              <a:t>04           AND R5,R5,#0 ; Set R5 to success code</a:t>
            </a:r>
          </a:p>
          <a:p>
            <a:r>
              <a:rPr lang="en-US" altLang="zh-CN" sz="1200" b="0" dirty="0"/>
              <a:t>05 ; Initialization complete</a:t>
            </a:r>
          </a:p>
          <a:p>
            <a:r>
              <a:rPr lang="en-US" altLang="zh-CN" sz="1200" b="0" dirty="0"/>
              <a:t>06           LD R1,NEG_LAST</a:t>
            </a:r>
          </a:p>
          <a:p>
            <a:r>
              <a:rPr lang="pt-BR" altLang="zh-CN" sz="1200" b="0" dirty="0"/>
              <a:t>07           ADD R1,R1,R4 ; R1 = REAR MINUS x8005</a:t>
            </a:r>
          </a:p>
          <a:p>
            <a:r>
              <a:rPr lang="en-US" altLang="zh-CN" sz="1200" b="0" dirty="0"/>
              <a:t>08 </a:t>
            </a:r>
            <a:r>
              <a:rPr lang="en-US" altLang="zh-CN" sz="1200" b="0" dirty="0" err="1"/>
              <a:t>BRnp</a:t>
            </a:r>
            <a:r>
              <a:rPr lang="en-US" altLang="zh-CN" sz="1200" b="0" dirty="0"/>
              <a:t> SKIP1 ; SKIP WRAP AROUND</a:t>
            </a:r>
          </a:p>
          <a:p>
            <a:r>
              <a:rPr lang="en-US" altLang="zh-CN" sz="1200" b="0" dirty="0"/>
              <a:t>09           LD R4,FIRST ; WRAP AROUND, R4=x8000</a:t>
            </a:r>
          </a:p>
          <a:p>
            <a:r>
              <a:rPr lang="en-US" altLang="zh-CN" sz="1200" b="0" dirty="0"/>
              <a:t>0A           BR SKIP2</a:t>
            </a:r>
          </a:p>
          <a:p>
            <a:r>
              <a:rPr lang="pt-BR" altLang="zh-CN" sz="1200" b="0" dirty="0"/>
              <a:t>0B SKIP1 ADD R4,R4,#1 ; NO WRAP AROUND, R4=R4+1</a:t>
            </a:r>
          </a:p>
          <a:p>
            <a:r>
              <a:rPr lang="pt-BR" altLang="zh-CN" sz="1200" b="0" dirty="0"/>
              <a:t>0C SKIP2 NOT R1,R4</a:t>
            </a:r>
          </a:p>
          <a:p>
            <a:r>
              <a:rPr lang="pt-BR" altLang="zh-CN" sz="1200" b="0" dirty="0"/>
              <a:t>0D           ADD R1,R1,#1 ; R1= NEG REAR</a:t>
            </a:r>
          </a:p>
          <a:p>
            <a:r>
              <a:rPr lang="pt-BR" altLang="zh-CN" sz="1200" b="0" dirty="0"/>
              <a:t>0E            ADD R1,R1,R3 ; R1</a:t>
            </a:r>
            <a:r>
              <a:rPr lang="pt-BR" altLang="zh-CN" sz="1200" b="0"/>
              <a:t>= FRONT-REAR      FRONT+1=REAR</a:t>
            </a:r>
            <a:endParaRPr lang="pt-BR" altLang="zh-CN" sz="1200" b="0" dirty="0"/>
          </a:p>
          <a:p>
            <a:r>
              <a:rPr lang="en-US" altLang="zh-CN" sz="1200" b="0" dirty="0"/>
              <a:t>0F            </a:t>
            </a:r>
            <a:r>
              <a:rPr lang="en-US" altLang="zh-CN" sz="1200" b="0" dirty="0" err="1"/>
              <a:t>BRz</a:t>
            </a:r>
            <a:r>
              <a:rPr lang="en-US" altLang="zh-CN" sz="1200" b="0" dirty="0"/>
              <a:t> FULL</a:t>
            </a:r>
          </a:p>
          <a:p>
            <a:r>
              <a:rPr lang="pt-BR" altLang="zh-CN" sz="1200" b="0" dirty="0"/>
              <a:t>10            STR R0,R4,#0 ; DO THE INSERT</a:t>
            </a:r>
          </a:p>
          <a:p>
            <a:r>
              <a:rPr lang="en-US" altLang="zh-CN" sz="1200" b="0" dirty="0"/>
              <a:t>11            BR DONE</a:t>
            </a:r>
          </a:p>
          <a:p>
            <a:r>
              <a:rPr lang="en-US" altLang="zh-CN" sz="1200" b="0" dirty="0"/>
              <a:t>12 FULL   LD R1,NEG_FIRST</a:t>
            </a:r>
          </a:p>
          <a:p>
            <a:r>
              <a:rPr lang="pt-BR" altLang="zh-CN" sz="1200" b="0" dirty="0"/>
              <a:t>13            ADD R1,R1,R4 ; R1 = REAR MINUS x8000</a:t>
            </a:r>
          </a:p>
          <a:p>
            <a:r>
              <a:rPr lang="en-US" altLang="zh-CN" sz="1200" b="0" dirty="0"/>
              <a:t>14            </a:t>
            </a:r>
            <a:r>
              <a:rPr lang="en-US" altLang="zh-CN" sz="1200" b="0" dirty="0" err="1"/>
              <a:t>BRnp</a:t>
            </a:r>
            <a:r>
              <a:rPr lang="en-US" altLang="zh-CN" sz="1200" b="0" dirty="0"/>
              <a:t> SKIP3</a:t>
            </a:r>
          </a:p>
          <a:p>
            <a:r>
              <a:rPr lang="en-US" altLang="zh-CN" sz="1200" b="0" dirty="0"/>
              <a:t>15            LD R4,LAST ; UNDO WRAP AROUND, REAR=x8005</a:t>
            </a:r>
          </a:p>
          <a:p>
            <a:r>
              <a:rPr lang="en-US" altLang="zh-CN" sz="1200" b="0" dirty="0"/>
              <a:t>16            BR SKIP4</a:t>
            </a:r>
          </a:p>
          <a:p>
            <a:r>
              <a:rPr lang="pt-BR" altLang="zh-CN" sz="1200" b="0" dirty="0"/>
              <a:t>17 SKIP3  ADD R4,R4,#-1 ; NO WRAP AROUND, R4=R4-1</a:t>
            </a:r>
          </a:p>
          <a:p>
            <a:endParaRPr lang="zh-CN" altLang="en-US" sz="13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131212-1DD2-49D0-8A17-1D22C0776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57FDDC-CC3B-46C9-9AB1-1C2519C6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5ECFE5-556D-4655-98D8-7E03C335E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37</a:t>
            </a:fld>
            <a:endParaRPr lang="en-US" altLang="zh-CN" dirty="0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BB3B25C8-5D7C-49ED-B395-A61F60FCDD4E}"/>
              </a:ext>
            </a:extLst>
          </p:cNvPr>
          <p:cNvSpPr txBox="1">
            <a:spLocks/>
          </p:cNvSpPr>
          <p:nvPr/>
        </p:nvSpPr>
        <p:spPr bwMode="auto">
          <a:xfrm>
            <a:off x="6312024" y="981075"/>
            <a:ext cx="4824660" cy="5481638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+mn-lt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r>
              <a:rPr lang="pt-BR" altLang="zh-CN" sz="1200" b="0" kern="0" baseline="0" dirty="0"/>
              <a:t>18 </a:t>
            </a:r>
            <a:r>
              <a:rPr lang="pt-BR" altLang="zh-CN" sz="1200" b="0" kern="0" baseline="0" dirty="0">
                <a:solidFill>
                  <a:srgbClr val="FF0000"/>
                </a:solidFill>
              </a:rPr>
              <a:t>SKIP4</a:t>
            </a:r>
            <a:r>
              <a:rPr lang="pt-BR" altLang="zh-CN" sz="1200" b="0" kern="0" baseline="0" dirty="0"/>
              <a:t>      ADD R5,R5,#1 </a:t>
            </a:r>
            <a:r>
              <a:rPr lang="pt-BR" altLang="zh-CN" sz="1200" b="0" kern="0" baseline="0" dirty="0">
                <a:solidFill>
                  <a:srgbClr val="0000FF"/>
                </a:solidFill>
              </a:rPr>
              <a:t>; R5=FAILURE</a:t>
            </a:r>
          </a:p>
          <a:p>
            <a:r>
              <a:rPr lang="en-US" altLang="zh-CN" sz="1200" b="0" kern="0" baseline="0" dirty="0"/>
              <a:t>19                BR DONE</a:t>
            </a:r>
          </a:p>
          <a:p>
            <a:r>
              <a:rPr lang="en-US" altLang="zh-CN" sz="1200" b="0" kern="0" baseline="0" dirty="0"/>
              <a:t>1A ;</a:t>
            </a:r>
          </a:p>
          <a:p>
            <a:r>
              <a:rPr lang="en-US" altLang="zh-CN" sz="1200" b="0" kern="0" baseline="0" dirty="0"/>
              <a:t>1B </a:t>
            </a:r>
            <a:r>
              <a:rPr lang="en-US" altLang="zh-CN" sz="1200" kern="0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REMOVE</a:t>
            </a:r>
            <a:r>
              <a:rPr lang="en-US" altLang="zh-CN" sz="1200" b="0" kern="0" baseline="0" dirty="0"/>
              <a:t> ST R1,SaveR1      </a:t>
            </a:r>
            <a:r>
              <a:rPr lang="en-US" altLang="zh-CN" sz="1200" b="0" kern="0" baseline="0" dirty="0">
                <a:solidFill>
                  <a:srgbClr val="0000FF"/>
                </a:solidFill>
              </a:rPr>
              <a:t>; Save register we need</a:t>
            </a:r>
          </a:p>
          <a:p>
            <a:r>
              <a:rPr lang="en-US" altLang="zh-CN" sz="1200" b="0" kern="0" baseline="0" dirty="0"/>
              <a:t>1C                AND R5,R5,#0 </a:t>
            </a:r>
            <a:r>
              <a:rPr lang="en-US" altLang="zh-CN" sz="1200" b="0" kern="0" baseline="0" dirty="0">
                <a:solidFill>
                  <a:srgbClr val="0000FF"/>
                </a:solidFill>
              </a:rPr>
              <a:t>; Set R5 to success code</a:t>
            </a:r>
          </a:p>
          <a:p>
            <a:r>
              <a:rPr lang="en-US" altLang="zh-CN" sz="1200" b="0" kern="0" baseline="0" dirty="0"/>
              <a:t>1D  ; </a:t>
            </a:r>
            <a:r>
              <a:rPr lang="en-US" altLang="zh-CN" sz="1200" b="0" kern="0" baseline="0" dirty="0">
                <a:solidFill>
                  <a:srgbClr val="0000FF"/>
                </a:solidFill>
              </a:rPr>
              <a:t>Initialization complete</a:t>
            </a:r>
          </a:p>
          <a:p>
            <a:r>
              <a:rPr lang="en-US" altLang="zh-CN" sz="1200" b="0" kern="0" baseline="0" dirty="0"/>
              <a:t>1E                 NOT R1,R4</a:t>
            </a:r>
          </a:p>
          <a:p>
            <a:r>
              <a:rPr lang="pt-BR" altLang="zh-CN" sz="1200" b="0" kern="0" baseline="0" dirty="0"/>
              <a:t>1F                 ADD R1,R1,#1 </a:t>
            </a:r>
            <a:r>
              <a:rPr lang="pt-BR" altLang="zh-CN" sz="1200" b="0" kern="0" baseline="0" dirty="0">
                <a:solidFill>
                  <a:srgbClr val="0000FF"/>
                </a:solidFill>
              </a:rPr>
              <a:t>; R1= NEG REAR</a:t>
            </a:r>
          </a:p>
          <a:p>
            <a:r>
              <a:rPr lang="pt-BR" altLang="zh-CN" sz="1200" b="0" kern="0" baseline="0" dirty="0"/>
              <a:t>20                 ADD R1,R1,R3 ; </a:t>
            </a:r>
            <a:r>
              <a:rPr lang="pt-BR" altLang="zh-CN" sz="1200" b="0" kern="0" baseline="0" dirty="0">
                <a:solidFill>
                  <a:srgbClr val="0000FF"/>
                </a:solidFill>
              </a:rPr>
              <a:t>R1= FRONT-REAR</a:t>
            </a:r>
          </a:p>
          <a:p>
            <a:r>
              <a:rPr lang="en-US" altLang="zh-CN" sz="1200" b="0" kern="0" baseline="0" dirty="0"/>
              <a:t>21                 </a:t>
            </a:r>
            <a:r>
              <a:rPr lang="en-US" altLang="zh-CN" sz="1200" b="0" kern="0" baseline="0" dirty="0" err="1"/>
              <a:t>BRz</a:t>
            </a:r>
            <a:r>
              <a:rPr lang="en-US" altLang="zh-CN" sz="1200" b="0" kern="0" baseline="0" dirty="0"/>
              <a:t> EMPTY</a:t>
            </a:r>
          </a:p>
          <a:p>
            <a:r>
              <a:rPr lang="en-US" altLang="zh-CN" sz="1200" b="0" kern="0" baseline="0" dirty="0"/>
              <a:t>22                 LD R1, NEG_LAST</a:t>
            </a:r>
          </a:p>
          <a:p>
            <a:r>
              <a:rPr lang="pt-BR" altLang="zh-CN" sz="1200" b="0" kern="0" baseline="0" dirty="0"/>
              <a:t>23                 ADD R1,R1,R3 ; </a:t>
            </a:r>
            <a:r>
              <a:rPr lang="pt-BR" altLang="zh-CN" sz="1200" b="0" kern="0" baseline="0" dirty="0">
                <a:solidFill>
                  <a:srgbClr val="0000FF"/>
                </a:solidFill>
              </a:rPr>
              <a:t>R1= FRONT MINUS x8005</a:t>
            </a:r>
          </a:p>
          <a:p>
            <a:r>
              <a:rPr lang="en-US" altLang="zh-CN" sz="1200" b="0" kern="0" baseline="0" dirty="0"/>
              <a:t>24                  </a:t>
            </a:r>
            <a:r>
              <a:rPr lang="en-US" altLang="zh-CN" sz="1200" b="0" kern="0" baseline="0" dirty="0" err="1"/>
              <a:t>BRnp</a:t>
            </a:r>
            <a:r>
              <a:rPr lang="en-US" altLang="zh-CN" sz="1200" b="0" kern="0" baseline="0" dirty="0"/>
              <a:t> SKIP5</a:t>
            </a:r>
          </a:p>
          <a:p>
            <a:r>
              <a:rPr lang="pt-BR" altLang="zh-CN" sz="1200" b="0" kern="0" baseline="0" dirty="0"/>
              <a:t>25                  LD R3, FIRST </a:t>
            </a:r>
            <a:r>
              <a:rPr lang="pt-BR" altLang="zh-CN" sz="1200" b="0" kern="0" baseline="0" dirty="0">
                <a:solidFill>
                  <a:srgbClr val="0000FF"/>
                </a:solidFill>
              </a:rPr>
              <a:t>; R3=x8000</a:t>
            </a:r>
          </a:p>
          <a:p>
            <a:r>
              <a:rPr lang="en-US" altLang="zh-CN" sz="1200" b="0" kern="0" baseline="0" dirty="0"/>
              <a:t>26                  BR SKIP6</a:t>
            </a:r>
          </a:p>
          <a:p>
            <a:r>
              <a:rPr lang="pt-BR" altLang="zh-CN" sz="1200" b="0" kern="0" baseline="0" dirty="0"/>
              <a:t>27        </a:t>
            </a:r>
            <a:r>
              <a:rPr lang="pt-BR" altLang="zh-CN" sz="1200" b="0" kern="0" baseline="0" dirty="0">
                <a:solidFill>
                  <a:srgbClr val="FF0000"/>
                </a:solidFill>
              </a:rPr>
              <a:t>SKIP5</a:t>
            </a:r>
            <a:r>
              <a:rPr lang="pt-BR" altLang="zh-CN" sz="1200" b="0" kern="0" baseline="0" dirty="0"/>
              <a:t> ADD R3,R3,#1 </a:t>
            </a:r>
            <a:r>
              <a:rPr lang="pt-BR" altLang="zh-CN" sz="1200" b="0" kern="0" baseline="0" dirty="0">
                <a:solidFill>
                  <a:srgbClr val="0000FF"/>
                </a:solidFill>
              </a:rPr>
              <a:t>; R3=R3+1</a:t>
            </a:r>
          </a:p>
          <a:p>
            <a:r>
              <a:rPr lang="pt-BR" altLang="zh-CN" sz="1200" b="0" kern="0" baseline="0" dirty="0"/>
              <a:t>28        </a:t>
            </a:r>
            <a:r>
              <a:rPr lang="pt-BR" altLang="zh-CN" sz="1200" b="0" kern="0" baseline="0" dirty="0">
                <a:solidFill>
                  <a:srgbClr val="FF0000"/>
                </a:solidFill>
              </a:rPr>
              <a:t>SKIP6</a:t>
            </a:r>
            <a:r>
              <a:rPr lang="pt-BR" altLang="zh-CN" sz="1200" b="0" kern="0" baseline="0" dirty="0"/>
              <a:t> LDR R0,R3,#0 ; </a:t>
            </a:r>
            <a:r>
              <a:rPr lang="pt-BR" altLang="zh-CN" sz="1200" b="0" kern="0" baseline="0" dirty="0">
                <a:solidFill>
                  <a:srgbClr val="0000FF"/>
                </a:solidFill>
              </a:rPr>
              <a:t>DO THE REMOVE</a:t>
            </a:r>
          </a:p>
          <a:p>
            <a:r>
              <a:rPr lang="en-US" altLang="zh-CN" sz="1200" b="0" kern="0" baseline="0" dirty="0"/>
              <a:t>29                  BR DONE</a:t>
            </a:r>
          </a:p>
          <a:p>
            <a:r>
              <a:rPr lang="pt-BR" altLang="zh-CN" sz="1200" b="0" kern="0" baseline="0" dirty="0"/>
              <a:t>2A     </a:t>
            </a:r>
            <a:r>
              <a:rPr lang="pt-BR" altLang="zh-CN" sz="1200" b="0" kern="0" baseline="0" dirty="0">
                <a:solidFill>
                  <a:srgbClr val="FF0000"/>
                </a:solidFill>
              </a:rPr>
              <a:t>EMPTY</a:t>
            </a:r>
            <a:r>
              <a:rPr lang="pt-BR" altLang="zh-CN" sz="1200" b="0" kern="0" baseline="0" dirty="0"/>
              <a:t> ADD R5,R5.#1 ; </a:t>
            </a:r>
            <a:r>
              <a:rPr lang="pt-BR" altLang="zh-CN" sz="1200" b="0" kern="0" baseline="0" dirty="0">
                <a:solidFill>
                  <a:srgbClr val="0000FF"/>
                </a:solidFill>
              </a:rPr>
              <a:t>R5=FAILURE</a:t>
            </a:r>
          </a:p>
          <a:p>
            <a:r>
              <a:rPr lang="en-US" altLang="zh-CN" sz="1200" b="0" kern="0" baseline="0" dirty="0"/>
              <a:t>2B       </a:t>
            </a:r>
            <a:r>
              <a:rPr lang="en-US" altLang="zh-CN" sz="1200" b="0" kern="0" baseline="0" dirty="0">
                <a:solidFill>
                  <a:srgbClr val="FF0000"/>
                </a:solidFill>
              </a:rPr>
              <a:t>DONE</a:t>
            </a:r>
            <a:r>
              <a:rPr lang="en-US" altLang="zh-CN" sz="1200" b="0" kern="0" baseline="0" dirty="0"/>
              <a:t> LD R1,SaveR1 </a:t>
            </a:r>
            <a:r>
              <a:rPr lang="en-US" altLang="zh-CN" sz="1200" b="0" kern="0" baseline="0" dirty="0">
                <a:solidFill>
                  <a:srgbClr val="0000FF"/>
                </a:solidFill>
              </a:rPr>
              <a:t>; Restore register</a:t>
            </a:r>
          </a:p>
          <a:p>
            <a:r>
              <a:rPr lang="en-US" altLang="zh-CN" sz="1200" b="0" kern="0" baseline="0" dirty="0"/>
              <a:t>2C                  RET</a:t>
            </a:r>
          </a:p>
          <a:p>
            <a:r>
              <a:rPr lang="en-US" altLang="zh-CN" sz="1200" b="0" kern="0" baseline="0" dirty="0"/>
              <a:t>2D </a:t>
            </a:r>
            <a:r>
              <a:rPr lang="en-US" altLang="zh-CN" sz="1200" b="0" kern="0" baseline="0" dirty="0">
                <a:solidFill>
                  <a:srgbClr val="FF0000"/>
                </a:solidFill>
              </a:rPr>
              <a:t>FIRST</a:t>
            </a:r>
            <a:r>
              <a:rPr lang="en-US" altLang="zh-CN" sz="1200" b="0" kern="0" baseline="0" dirty="0"/>
              <a:t>         .FILL x8000</a:t>
            </a:r>
          </a:p>
          <a:p>
            <a:r>
              <a:rPr lang="en-US" altLang="zh-CN" sz="1200" b="0" kern="0" baseline="0" dirty="0"/>
              <a:t>2E </a:t>
            </a:r>
            <a:r>
              <a:rPr lang="en-US" altLang="zh-CN" sz="1200" b="0" kern="0" baseline="0" dirty="0">
                <a:solidFill>
                  <a:srgbClr val="FF0000"/>
                </a:solidFill>
              </a:rPr>
              <a:t>NEG_FIRST</a:t>
            </a:r>
            <a:r>
              <a:rPr lang="en-US" altLang="zh-CN" sz="1200" b="0" kern="0" baseline="0" dirty="0"/>
              <a:t> .FILL x8000</a:t>
            </a:r>
          </a:p>
          <a:p>
            <a:r>
              <a:rPr lang="en-US" altLang="zh-CN" sz="1200" b="0" kern="0" baseline="0" dirty="0"/>
              <a:t>2F </a:t>
            </a:r>
            <a:r>
              <a:rPr lang="en-US" altLang="zh-CN" sz="1200" b="0" kern="0" baseline="0" dirty="0">
                <a:solidFill>
                  <a:srgbClr val="FF0000"/>
                </a:solidFill>
              </a:rPr>
              <a:t>LAST</a:t>
            </a:r>
            <a:r>
              <a:rPr lang="en-US" altLang="zh-CN" sz="1200" b="0" kern="0" baseline="0" dirty="0"/>
              <a:t>           .FILL x8005</a:t>
            </a:r>
          </a:p>
          <a:p>
            <a:r>
              <a:rPr lang="en-US" altLang="zh-CN" sz="1200" b="0" kern="0" baseline="0" dirty="0"/>
              <a:t>30 </a:t>
            </a:r>
            <a:r>
              <a:rPr lang="en-US" altLang="zh-CN" sz="1200" b="0" kern="0" baseline="0" dirty="0">
                <a:solidFill>
                  <a:srgbClr val="FF0000"/>
                </a:solidFill>
              </a:rPr>
              <a:t>NEG_LAST  </a:t>
            </a:r>
            <a:r>
              <a:rPr lang="en-US" altLang="zh-CN" sz="1200" b="0" kern="0" baseline="0" dirty="0"/>
              <a:t>.FILL x7FFB</a:t>
            </a:r>
          </a:p>
          <a:p>
            <a:r>
              <a:rPr lang="en-US" altLang="zh-CN" sz="1200" b="0" kern="0" baseline="0" dirty="0"/>
              <a:t>31 </a:t>
            </a:r>
            <a:r>
              <a:rPr lang="en-US" altLang="zh-CN" sz="1200" b="0" kern="0" baseline="0" dirty="0">
                <a:solidFill>
                  <a:srgbClr val="FF0000"/>
                </a:solidFill>
              </a:rPr>
              <a:t>SaveR1</a:t>
            </a:r>
            <a:r>
              <a:rPr lang="en-US" altLang="zh-CN" sz="1200" b="0" kern="0" baseline="0" dirty="0"/>
              <a:t>       .BLKW 1</a:t>
            </a:r>
          </a:p>
          <a:p>
            <a:endParaRPr lang="zh-CN" altLang="en-US" kern="0" baseline="0" dirty="0"/>
          </a:p>
        </p:txBody>
      </p:sp>
    </p:spTree>
    <p:extLst>
      <p:ext uri="{BB962C8B-B14F-4D97-AF65-F5344CB8AC3E}">
        <p14:creationId xmlns:p14="http://schemas.microsoft.com/office/powerpoint/2010/main" val="1052267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63736F9-393E-411F-A477-AE7FE6C8E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697" y="2138685"/>
            <a:ext cx="3855735" cy="439864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5C2FD0A-3FC6-4537-B359-9F527530B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Character Strings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D7474F-A1B2-401E-A266-00467FC2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8" y="981076"/>
            <a:ext cx="8839200" cy="1511821"/>
          </a:xfrm>
        </p:spPr>
        <p:txBody>
          <a:bodyPr/>
          <a:lstStyle/>
          <a:p>
            <a:r>
              <a:rPr lang="en-US" altLang="zh-CN" b="0" dirty="0"/>
              <a:t>one-dimensional array of ASCII codes often followed by x0000 (null character). </a:t>
            </a:r>
          </a:p>
          <a:p>
            <a:r>
              <a:rPr lang="en-US" altLang="zh-CN" b="0" dirty="0"/>
              <a:t>Each location stores an ASCII codes of a character.  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F30CBC-8926-4006-AF00-0B9572BC8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3394C6-F3C3-4E88-99A1-46FF532F7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E94EA0-1E24-4389-B6CE-AA6FA5A30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257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0AAD75-1F7E-436D-B7ED-6FAC447B6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1: Personnel Record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F406F3-803D-4923-8CA7-053BFDEC7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2524" y="3593462"/>
            <a:ext cx="8839200" cy="2859874"/>
          </a:xfrm>
        </p:spPr>
        <p:txBody>
          <a:bodyPr/>
          <a:lstStyle/>
          <a:p>
            <a:r>
              <a:rPr lang="en-US" altLang="zh-CN" dirty="0"/>
              <a:t>6 words of sequential memory starting at x4000:</a:t>
            </a:r>
          </a:p>
          <a:p>
            <a:pPr lvl="1"/>
            <a:r>
              <a:rPr lang="en-US" altLang="zh-CN" sz="1400" b="0" dirty="0"/>
              <a:t>1. The first word contains the starting address of a character string containing the person’s last name. The pointer in location x4000 is the address x6000. The six-word character string, starting at x6000, contains the ASCII code for “Jones,” terminated with the null character.</a:t>
            </a:r>
          </a:p>
          <a:p>
            <a:pPr lvl="1"/>
            <a:r>
              <a:rPr lang="en-US" altLang="zh-CN" sz="1400" b="0" dirty="0"/>
              <a:t>2. The second word, at x4001, contains a pointer to the character string of the person’s first name, in this case “Mary,” starting at location x4508.</a:t>
            </a:r>
          </a:p>
          <a:p>
            <a:pPr lvl="1"/>
            <a:r>
              <a:rPr lang="en-US" altLang="zh-CN" sz="1400" b="0" dirty="0"/>
              <a:t>3. The third word, at x4002, contains a pointer (xCA9B) to her nine-digit social security number, the unique identifier for all persons working in the United States.</a:t>
            </a:r>
          </a:p>
          <a:p>
            <a:pPr lvl="1"/>
            <a:r>
              <a:rPr lang="en-US" altLang="zh-CN" sz="1400" b="0" dirty="0"/>
              <a:t>4. The fourth word, at x4003, contains her salary (in thousands of dollars).</a:t>
            </a:r>
          </a:p>
          <a:p>
            <a:pPr lvl="1"/>
            <a:r>
              <a:rPr lang="en-US" altLang="zh-CN" sz="1400" b="0" dirty="0"/>
              <a:t>5. The fifth word contains how long she has worked for the company.</a:t>
            </a:r>
          </a:p>
          <a:p>
            <a:pPr lvl="1"/>
            <a:r>
              <a:rPr lang="en-US" altLang="zh-CN" sz="1400" b="0" dirty="0"/>
              <a:t>6. The sixth word is a pointer (x8E25) to the character string identifying her job title, “Engineer.”</a:t>
            </a:r>
            <a:endParaRPr lang="zh-CN" altLang="en-US" sz="200" b="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9DE594-A39F-4D84-A6ED-44F66295F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B5A11C-4226-4531-8A77-EDC49568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C0997B-D918-4070-B98D-6E3C9270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3277DB1-B71F-4F93-8D1C-76FC02645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569" y="936478"/>
            <a:ext cx="7236823" cy="2664823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EED0658-9F6B-49DF-B112-0BEBC1BAFEF5}"/>
              </a:ext>
            </a:extLst>
          </p:cNvPr>
          <p:cNvCxnSpPr>
            <a:cxnSpLocks/>
          </p:cNvCxnSpPr>
          <p:nvPr/>
        </p:nvCxnSpPr>
        <p:spPr bwMode="auto">
          <a:xfrm>
            <a:off x="3575720" y="1196752"/>
            <a:ext cx="288032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97E6692D-7640-422B-B85D-C37D6BFE62EB}"/>
              </a:ext>
            </a:extLst>
          </p:cNvPr>
          <p:cNvCxnSpPr>
            <a:cxnSpLocks/>
          </p:cNvCxnSpPr>
          <p:nvPr/>
        </p:nvCxnSpPr>
        <p:spPr bwMode="auto">
          <a:xfrm flipV="1">
            <a:off x="3575720" y="1196752"/>
            <a:ext cx="1656184" cy="216025"/>
          </a:xfrm>
          <a:prstGeom prst="curvedConnector3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曲线 12">
            <a:extLst>
              <a:ext uri="{FF2B5EF4-FFF2-40B4-BE49-F238E27FC236}">
                <a16:creationId xmlns:a16="http://schemas.microsoft.com/office/drawing/2014/main" id="{A3C75A6D-C821-403A-A297-DFCDCF999A0D}"/>
              </a:ext>
            </a:extLst>
          </p:cNvPr>
          <p:cNvCxnSpPr>
            <a:cxnSpLocks/>
          </p:cNvCxnSpPr>
          <p:nvPr/>
        </p:nvCxnSpPr>
        <p:spPr bwMode="auto">
          <a:xfrm flipV="1">
            <a:off x="3575720" y="1196752"/>
            <a:ext cx="3024336" cy="504058"/>
          </a:xfrm>
          <a:prstGeom prst="curvedConnector3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曲线 16">
            <a:extLst>
              <a:ext uri="{FF2B5EF4-FFF2-40B4-BE49-F238E27FC236}">
                <a16:creationId xmlns:a16="http://schemas.microsoft.com/office/drawing/2014/main" id="{43E6FFB2-BBEF-4809-B4A3-F0B2424A3963}"/>
              </a:ext>
            </a:extLst>
          </p:cNvPr>
          <p:cNvCxnSpPr>
            <a:cxnSpLocks/>
          </p:cNvCxnSpPr>
          <p:nvPr/>
        </p:nvCxnSpPr>
        <p:spPr bwMode="auto">
          <a:xfrm flipV="1">
            <a:off x="3575720" y="1196752"/>
            <a:ext cx="4552280" cy="1224136"/>
          </a:xfrm>
          <a:prstGeom prst="curvedConnector3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C0E5FF55-C9D7-4847-BB9D-8FAF6053AD3B}"/>
              </a:ext>
            </a:extLst>
          </p:cNvPr>
          <p:cNvSpPr/>
          <p:nvPr/>
        </p:nvSpPr>
        <p:spPr>
          <a:xfrm>
            <a:off x="4223793" y="2513241"/>
            <a:ext cx="7072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aseline="0" dirty="0">
                <a:latin typeface="STIXGeneral-Regular"/>
              </a:rPr>
              <a:t>Jones</a:t>
            </a:r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98C7240-5F71-4B22-B305-087200A48EAF}"/>
              </a:ext>
            </a:extLst>
          </p:cNvPr>
          <p:cNvSpPr/>
          <p:nvPr/>
        </p:nvSpPr>
        <p:spPr>
          <a:xfrm>
            <a:off x="5663953" y="2308181"/>
            <a:ext cx="6779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aseline="0" dirty="0">
                <a:latin typeface="STIXGeneral-Regular"/>
              </a:rPr>
              <a:t>Mary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42BE9E8-2372-4678-870D-CE0C9DA7BD12}"/>
              </a:ext>
            </a:extLst>
          </p:cNvPr>
          <p:cNvSpPr/>
          <p:nvPr/>
        </p:nvSpPr>
        <p:spPr>
          <a:xfrm>
            <a:off x="6778816" y="3288879"/>
            <a:ext cx="1237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aseline="0" dirty="0">
                <a:latin typeface="STIXGeneral-Regular"/>
              </a:rPr>
              <a:t>012654621</a:t>
            </a:r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C9E4ED4-3A83-4E4A-BCEA-64A765EF04D5}"/>
              </a:ext>
            </a:extLst>
          </p:cNvPr>
          <p:cNvSpPr/>
          <p:nvPr/>
        </p:nvSpPr>
        <p:spPr>
          <a:xfrm>
            <a:off x="8464130" y="3260424"/>
            <a:ext cx="1013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aseline="0" dirty="0">
                <a:latin typeface="STIXGeneral-Regular"/>
              </a:rPr>
              <a:t>Engineer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90649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0E90B-07E6-4A97-9081-50824A370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Subroutine to compare two character strings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D5268C-3108-4518-BEA8-3A69EBE94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5520" y="6069845"/>
            <a:ext cx="8640960" cy="383492"/>
          </a:xfrm>
        </p:spPr>
        <p:txBody>
          <a:bodyPr/>
          <a:lstStyle/>
          <a:p>
            <a:r>
              <a:rPr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Given social security number in example 1, how to look for the salary?</a:t>
            </a:r>
            <a:endParaRPr lang="zh-CN" alt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FF58C4-B275-4FB7-A7D8-C91F22D4F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D83A19-100F-46C1-A285-5E2147F58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B3E219-EA57-4DE6-96A6-6CE9E0202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40</a:t>
            </a:fld>
            <a:endParaRPr lang="en-US" altLang="zh-CN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5B37B1-7754-4165-982E-ECF0FEC7F163}"/>
              </a:ext>
            </a:extLst>
          </p:cNvPr>
          <p:cNvSpPr/>
          <p:nvPr/>
        </p:nvSpPr>
        <p:spPr>
          <a:xfrm>
            <a:off x="1775520" y="955992"/>
            <a:ext cx="4478842" cy="5078313"/>
          </a:xfrm>
          <a:prstGeom prst="rect">
            <a:avLst/>
          </a:prstGeom>
          <a:solidFill>
            <a:srgbClr val="A6E0E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1700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STRCMP</a:t>
            </a:r>
            <a:r>
              <a:rPr lang="en-US" altLang="zh-CN" sz="17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ST R0,</a:t>
            </a:r>
            <a:r>
              <a:rPr lang="en-US" altLang="zh-CN" sz="1700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SaveR0</a:t>
            </a:r>
          </a:p>
          <a:p>
            <a:r>
              <a:rPr lang="en-US" altLang="zh-CN" sz="17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            ST R1,</a:t>
            </a:r>
            <a:r>
              <a:rPr lang="en-US" altLang="zh-CN" sz="1700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SaveR1</a:t>
            </a:r>
          </a:p>
          <a:p>
            <a:r>
              <a:rPr lang="en-US" altLang="zh-CN" sz="17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            ST R2,</a:t>
            </a:r>
            <a:r>
              <a:rPr lang="en-US" altLang="zh-CN" sz="1700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SaveR2</a:t>
            </a:r>
          </a:p>
          <a:p>
            <a:r>
              <a:rPr lang="en-US" altLang="zh-CN" sz="17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            ST R3,</a:t>
            </a:r>
            <a:r>
              <a:rPr lang="en-US" altLang="zh-CN" sz="1700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SaveR3</a:t>
            </a:r>
          </a:p>
          <a:p>
            <a:r>
              <a:rPr lang="en-US" altLang="zh-CN" sz="17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;</a:t>
            </a:r>
            <a:r>
              <a:rPr lang="en-US" altLang="zh-CN" baseline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R0 points to  1</a:t>
            </a:r>
            <a:r>
              <a:rPr lang="en-US" altLang="zh-CN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st</a:t>
            </a:r>
            <a:r>
              <a:rPr lang="en-US" altLang="zh-CN" baseline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string, R1 points to 2</a:t>
            </a:r>
            <a:r>
              <a:rPr lang="en-US" altLang="zh-CN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nd</a:t>
            </a:r>
            <a:r>
              <a:rPr lang="en-US" altLang="zh-CN" baseline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string</a:t>
            </a:r>
          </a:p>
          <a:p>
            <a:r>
              <a:rPr lang="pt-BR" altLang="zh-CN" sz="17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            AND R5,R5,#0 ; </a:t>
            </a:r>
            <a:r>
              <a:rPr lang="pt-BR" altLang="zh-CN" sz="1700" baseline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R5 &lt;-- Match</a:t>
            </a:r>
            <a:r>
              <a:rPr lang="en-US" altLang="zh-CN" sz="17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;</a:t>
            </a:r>
          </a:p>
          <a:p>
            <a:r>
              <a:rPr lang="en-US" altLang="zh-CN" sz="1700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NEXTCH</a:t>
            </a:r>
            <a:r>
              <a:rPr lang="en-US" altLang="zh-CN" sz="17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LDR R2,R0,#0 </a:t>
            </a:r>
          </a:p>
          <a:p>
            <a:r>
              <a:rPr lang="en-US" altLang="zh-CN" sz="17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; </a:t>
            </a:r>
            <a:r>
              <a:rPr lang="en-US" altLang="zh-CN" sz="1700" baseline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R2 contains character from 1st string</a:t>
            </a:r>
          </a:p>
          <a:p>
            <a:r>
              <a:rPr lang="pt-BR" altLang="zh-CN" sz="17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            LDR R3,R1,#0</a:t>
            </a:r>
          </a:p>
          <a:p>
            <a:r>
              <a:rPr lang="pt-BR" altLang="zh-CN" sz="17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; </a:t>
            </a:r>
            <a:r>
              <a:rPr lang="pt-BR" altLang="zh-CN" sz="1700" baseline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R3 contains character from 2nd string</a:t>
            </a:r>
          </a:p>
          <a:p>
            <a:r>
              <a:rPr lang="en-US" altLang="zh-CN" sz="17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            </a:t>
            </a:r>
            <a:r>
              <a:rPr lang="en-US" altLang="zh-CN" sz="1700" baseline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BRnp</a:t>
            </a:r>
            <a:r>
              <a:rPr lang="en-US" altLang="zh-CN" sz="17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</a:t>
            </a:r>
            <a:r>
              <a:rPr lang="en-US" altLang="zh-CN" sz="1700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COMPARE</a:t>
            </a:r>
            <a:r>
              <a:rPr lang="en-US" altLang="zh-CN" sz="17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</a:t>
            </a:r>
          </a:p>
          <a:p>
            <a:r>
              <a:rPr lang="en-US" altLang="zh-CN" sz="17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; </a:t>
            </a:r>
            <a:r>
              <a:rPr lang="en-US" altLang="zh-CN" sz="1700" baseline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String is not done, continue comparing</a:t>
            </a:r>
          </a:p>
          <a:p>
            <a:r>
              <a:rPr lang="en-US" altLang="zh-CN" sz="17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            ADD R2,R2,#0</a:t>
            </a:r>
          </a:p>
          <a:p>
            <a:r>
              <a:rPr lang="en-US" altLang="zh-CN" sz="17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            </a:t>
            </a:r>
            <a:r>
              <a:rPr lang="en-US" altLang="zh-CN" sz="1700" baseline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BRz</a:t>
            </a:r>
            <a:r>
              <a:rPr lang="en-US" altLang="zh-CN" sz="17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</a:t>
            </a:r>
            <a:r>
              <a:rPr lang="en-US" altLang="zh-CN" sz="1700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DONE</a:t>
            </a:r>
            <a:r>
              <a:rPr lang="en-US" altLang="zh-CN" sz="17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</a:t>
            </a:r>
          </a:p>
          <a:p>
            <a:r>
              <a:rPr lang="en-US" altLang="zh-CN" sz="17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; </a:t>
            </a:r>
            <a:r>
              <a:rPr lang="en-US" altLang="zh-CN" sz="1700" baseline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If both strings done, match found</a:t>
            </a:r>
          </a:p>
          <a:p>
            <a:r>
              <a:rPr lang="en-US" altLang="zh-CN" sz="1700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COMPARE</a:t>
            </a:r>
            <a:r>
              <a:rPr lang="en-US" altLang="zh-CN" sz="17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NOT R2,R2</a:t>
            </a:r>
          </a:p>
          <a:p>
            <a:r>
              <a:rPr lang="en-US" altLang="zh-CN" sz="17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            ADD R2,R2,#1 </a:t>
            </a:r>
          </a:p>
          <a:p>
            <a:r>
              <a:rPr lang="en-US" altLang="zh-CN" sz="17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</a:t>
            </a:r>
            <a:r>
              <a:rPr lang="en-US" altLang="zh-CN" baseline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; R2 contains negative of character</a:t>
            </a:r>
          </a:p>
          <a:p>
            <a:r>
              <a:rPr lang="en-US" altLang="zh-CN" sz="17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         ADD R2,R2,R3 ; </a:t>
            </a:r>
            <a:r>
              <a:rPr lang="en-US" altLang="zh-CN" sz="1700" baseline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Compare the 2 characters</a:t>
            </a:r>
            <a:r>
              <a:rPr lang="en-US" altLang="zh-CN" sz="17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</a:t>
            </a:r>
            <a:r>
              <a:rPr lang="en-US" altLang="zh-CN" sz="1700" baseline="0" dirty="0">
                <a:latin typeface="LetterGotLOT-Med"/>
              </a:rPr>
              <a:t>             </a:t>
            </a:r>
            <a:endParaRPr lang="en-US" altLang="zh-CN" sz="1700" baseline="0" dirty="0">
              <a:solidFill>
                <a:srgbClr val="0000FF"/>
              </a:solidFill>
              <a:latin typeface="LetterGotLOT-Med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68CD56-1BDE-42BD-9C36-BA15E11A8168}"/>
              </a:ext>
            </a:extLst>
          </p:cNvPr>
          <p:cNvSpPr/>
          <p:nvPr/>
        </p:nvSpPr>
        <p:spPr>
          <a:xfrm>
            <a:off x="6384033" y="967363"/>
            <a:ext cx="3904683" cy="5078313"/>
          </a:xfrm>
          <a:prstGeom prst="rect">
            <a:avLst/>
          </a:prstGeom>
          <a:solidFill>
            <a:srgbClr val="CC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baseline="0" dirty="0">
                <a:latin typeface="LetterGotLOT-Med"/>
              </a:rPr>
              <a:t>           </a:t>
            </a:r>
            <a:r>
              <a:rPr lang="en-US" altLang="zh-CN" baseline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BRnp</a:t>
            </a:r>
            <a:r>
              <a:rPr lang="en-US" altLang="zh-CN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FAIL ; </a:t>
            </a:r>
            <a:r>
              <a:rPr lang="en-US" altLang="zh-CN" baseline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Not equal, no match</a:t>
            </a:r>
            <a:r>
              <a:rPr lang="en-US" altLang="zh-CN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       </a:t>
            </a:r>
          </a:p>
          <a:p>
            <a:r>
              <a:rPr lang="en-US" altLang="zh-CN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       ADD R0,R0,#1</a:t>
            </a:r>
          </a:p>
          <a:p>
            <a:r>
              <a:rPr lang="en-US" altLang="zh-CN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       ADD R1,R1,#1</a:t>
            </a:r>
          </a:p>
          <a:p>
            <a:endParaRPr lang="en-US" altLang="zh-CN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etterGotLOT-Med"/>
            </a:endParaRPr>
          </a:p>
          <a:p>
            <a:r>
              <a:rPr lang="en-US" altLang="zh-CN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        </a:t>
            </a:r>
            <a:r>
              <a:rPr lang="en-US" altLang="zh-CN" baseline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BRnzp</a:t>
            </a:r>
            <a:r>
              <a:rPr lang="en-US" altLang="zh-CN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</a:t>
            </a:r>
            <a:r>
              <a:rPr lang="en-US" altLang="zh-CN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NEXTCH</a:t>
            </a:r>
          </a:p>
          <a:p>
            <a:r>
              <a:rPr lang="en-US" altLang="zh-CN" baseline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; Move on to next pair of characters</a:t>
            </a:r>
          </a:p>
          <a:p>
            <a:endParaRPr lang="pt-BR" altLang="zh-CN" baseline="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etterGotLOT-Med"/>
            </a:endParaRPr>
          </a:p>
          <a:p>
            <a:r>
              <a:rPr lang="pt-BR" altLang="zh-CN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FAIL    </a:t>
            </a:r>
            <a:r>
              <a:rPr lang="pt-BR" altLang="zh-CN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ADD R5,R5,#1 </a:t>
            </a:r>
            <a:r>
              <a:rPr lang="pt-BR" altLang="zh-CN" baseline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; R5 &lt;-- No match</a:t>
            </a:r>
          </a:p>
          <a:p>
            <a:r>
              <a:rPr lang="en-US" altLang="zh-CN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;</a:t>
            </a:r>
          </a:p>
          <a:p>
            <a:r>
              <a:rPr lang="en-US" altLang="zh-CN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DONE</a:t>
            </a:r>
            <a:r>
              <a:rPr lang="en-US" altLang="zh-CN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LD R0,</a:t>
            </a:r>
            <a:r>
              <a:rPr lang="en-US" altLang="zh-CN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SaveR0</a:t>
            </a:r>
          </a:p>
          <a:p>
            <a:r>
              <a:rPr lang="en-US" altLang="zh-CN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         LD R1,</a:t>
            </a:r>
            <a:r>
              <a:rPr lang="en-US" altLang="zh-CN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SaveR1</a:t>
            </a:r>
          </a:p>
          <a:p>
            <a:r>
              <a:rPr lang="en-US" altLang="zh-CN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         LD R2,</a:t>
            </a:r>
            <a:r>
              <a:rPr lang="en-US" altLang="zh-CN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SaveR2</a:t>
            </a:r>
          </a:p>
          <a:p>
            <a:r>
              <a:rPr lang="en-US" altLang="zh-CN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         LD R3,</a:t>
            </a:r>
            <a:r>
              <a:rPr lang="en-US" altLang="zh-CN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SaveR3</a:t>
            </a:r>
          </a:p>
          <a:p>
            <a:r>
              <a:rPr lang="en-US" altLang="zh-CN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         RET</a:t>
            </a:r>
          </a:p>
          <a:p>
            <a:r>
              <a:rPr lang="en-US" altLang="zh-CN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SaveR0</a:t>
            </a:r>
            <a:r>
              <a:rPr lang="en-US" altLang="zh-CN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.BLKW 1</a:t>
            </a:r>
          </a:p>
          <a:p>
            <a:r>
              <a:rPr lang="en-US" altLang="zh-CN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SaveR1</a:t>
            </a:r>
            <a:r>
              <a:rPr lang="en-US" altLang="zh-CN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.BLKW 1</a:t>
            </a:r>
          </a:p>
          <a:p>
            <a:r>
              <a:rPr lang="en-US" altLang="zh-CN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SaveR2</a:t>
            </a:r>
            <a:r>
              <a:rPr lang="en-US" altLang="zh-CN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.BLKW 1</a:t>
            </a:r>
          </a:p>
          <a:p>
            <a:r>
              <a:rPr lang="en-US" altLang="zh-CN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SaveR3</a:t>
            </a:r>
            <a:r>
              <a:rPr lang="en-US" altLang="zh-CN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.BLKW 1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593142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90044-6775-4AF2-9BCB-63A282347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71439"/>
            <a:ext cx="8839200" cy="765175"/>
          </a:xfrm>
        </p:spPr>
        <p:txBody>
          <a:bodyPr/>
          <a:lstStyle/>
          <a:p>
            <a:r>
              <a:rPr lang="en-US" altLang="zh-CN" sz="2400" dirty="0"/>
              <a:t>Example 2: Character String Containing an “Integer”</a:t>
            </a:r>
            <a:endParaRPr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45E08-0378-4CF3-AEAD-7A01937D3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8" y="981076"/>
            <a:ext cx="8839200" cy="863749"/>
          </a:xfrm>
        </p:spPr>
        <p:txBody>
          <a:bodyPr/>
          <a:lstStyle/>
          <a:p>
            <a:r>
              <a:rPr lang="en-US" altLang="zh-CN" dirty="0"/>
              <a:t>Check whether a string is the representation of a long integer. </a:t>
            </a:r>
          </a:p>
          <a:p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65782B-8C6A-40EB-91F9-082E539C4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2025/11/10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CEF213-B3EE-458A-B942-106BD6E8C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2E6E69-B568-4E12-8D76-59039B521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41</a:t>
            </a:fld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BB6F4E-01EA-43E1-949D-AEE7D768FB8D}"/>
              </a:ext>
            </a:extLst>
          </p:cNvPr>
          <p:cNvSpPr/>
          <p:nvPr/>
        </p:nvSpPr>
        <p:spPr>
          <a:xfrm>
            <a:off x="1989584" y="1837944"/>
            <a:ext cx="4402832" cy="4724370"/>
          </a:xfrm>
          <a:prstGeom prst="rect">
            <a:avLst/>
          </a:prstGeom>
          <a:solidFill>
            <a:srgbClr val="CC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1200" baseline="0" dirty="0">
                <a:latin typeface="LetterGotLOT-Med"/>
              </a:rPr>
              <a:t>;</a:t>
            </a:r>
            <a:r>
              <a:rPr lang="en-US" altLang="zh-CN" sz="1200" b="1" baseline="0" dirty="0">
                <a:latin typeface="LetterGotLOT-Med"/>
              </a:rPr>
              <a:t> ; check whether R0 points to  the representation of a long integer.</a:t>
            </a:r>
            <a:r>
              <a:rPr lang="en-US" altLang="zh-CN" sz="1200" baseline="0" dirty="0">
                <a:latin typeface="LetterGotLOT-Med"/>
              </a:rPr>
              <a:t> </a:t>
            </a:r>
          </a:p>
          <a:p>
            <a:r>
              <a:rPr lang="en-US" altLang="zh-CN" sz="1200" baseline="0" dirty="0">
                <a:solidFill>
                  <a:srgbClr val="0000FF"/>
                </a:solidFill>
                <a:latin typeface="LetterGotLOT-Med"/>
              </a:rPr>
              <a:t>;Input: R0 contains the starting address of the character string</a:t>
            </a:r>
          </a:p>
          <a:p>
            <a:r>
              <a:rPr lang="en-US" altLang="zh-CN" sz="1400" baseline="0" dirty="0">
                <a:solidFill>
                  <a:srgbClr val="0000FF"/>
                </a:solidFill>
                <a:latin typeface="LetterGotLOT-Med"/>
              </a:rPr>
              <a:t>; Output: R5=0, success; R5=1, failure.</a:t>
            </a:r>
          </a:p>
          <a:p>
            <a:r>
              <a:rPr lang="en-US" altLang="zh-CN" sz="1400" b="1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TEST_INTEGER </a:t>
            </a:r>
            <a:r>
              <a:rPr lang="en-US" altLang="zh-CN" sz="1400" baseline="0" dirty="0">
                <a:latin typeface="LetterGotLOT-Med"/>
              </a:rPr>
              <a:t>ST R1,SaveR1</a:t>
            </a:r>
          </a:p>
          <a:p>
            <a:r>
              <a:rPr lang="en-US" altLang="zh-CN" sz="1400" baseline="0" dirty="0">
                <a:latin typeface="LetterGotLOT-Med"/>
              </a:rPr>
              <a:t> </a:t>
            </a:r>
            <a:r>
              <a:rPr lang="en-US" altLang="zh-CN" sz="1200" baseline="0" dirty="0">
                <a:solidFill>
                  <a:srgbClr val="0000FF"/>
                </a:solidFill>
                <a:latin typeface="LetterGotLOT-Med"/>
              </a:rPr>
              <a:t>; Save registers needed by subroutine</a:t>
            </a:r>
            <a:endParaRPr lang="en-US" altLang="zh-CN" sz="1400" baseline="0" dirty="0">
              <a:solidFill>
                <a:srgbClr val="0000FF"/>
              </a:solidFill>
              <a:latin typeface="LetterGotLOT-Med"/>
            </a:endParaRPr>
          </a:p>
          <a:p>
            <a:r>
              <a:rPr lang="en-US" altLang="zh-CN" sz="1400" baseline="0" dirty="0">
                <a:latin typeface="LetterGotLOT-Med"/>
              </a:rPr>
              <a:t>           ST R2,SaveR2</a:t>
            </a:r>
          </a:p>
          <a:p>
            <a:r>
              <a:rPr lang="en-US" altLang="zh-CN" sz="1400" baseline="0" dirty="0">
                <a:latin typeface="LetterGotLOT-Med"/>
              </a:rPr>
              <a:t>           ST R3,SaveR3</a:t>
            </a:r>
          </a:p>
          <a:p>
            <a:r>
              <a:rPr lang="en-US" altLang="zh-CN" sz="1400" baseline="0" dirty="0">
                <a:latin typeface="LetterGotLOT-Med"/>
              </a:rPr>
              <a:t>           ST R4,SaveR4</a:t>
            </a:r>
          </a:p>
          <a:p>
            <a:r>
              <a:rPr lang="en-US" altLang="zh-CN" sz="1400" baseline="0" dirty="0">
                <a:latin typeface="LetterGotLOT-Med"/>
              </a:rPr>
              <a:t>;</a:t>
            </a:r>
          </a:p>
          <a:p>
            <a:r>
              <a:rPr lang="en-US" altLang="zh-CN" sz="1400" baseline="0" dirty="0">
                <a:latin typeface="LetterGotLOT-Med"/>
              </a:rPr>
              <a:t>           AND R5,R5,#0 ; </a:t>
            </a:r>
            <a:r>
              <a:rPr lang="en-US" altLang="zh-CN" sz="1200" baseline="0" dirty="0">
                <a:solidFill>
                  <a:srgbClr val="0000FF"/>
                </a:solidFill>
                <a:latin typeface="LetterGotLOT-Med"/>
              </a:rPr>
              <a:t>Initialize success code to R5=0, success</a:t>
            </a:r>
            <a:endParaRPr lang="en-US" altLang="zh-CN" sz="1400" baseline="0" dirty="0">
              <a:solidFill>
                <a:srgbClr val="0000FF"/>
              </a:solidFill>
              <a:latin typeface="LetterGotLOT-Med"/>
            </a:endParaRPr>
          </a:p>
          <a:p>
            <a:r>
              <a:rPr lang="en-US" altLang="zh-CN" sz="1400" baseline="0" dirty="0">
                <a:latin typeface="LetterGotLOT-Med"/>
              </a:rPr>
              <a:t>           LD R2,ASCII_0 </a:t>
            </a:r>
            <a:r>
              <a:rPr lang="en-US" altLang="zh-CN" sz="1200" baseline="0" dirty="0">
                <a:latin typeface="LetterGotLOT-Med"/>
              </a:rPr>
              <a:t>; </a:t>
            </a:r>
            <a:r>
              <a:rPr lang="en-US" altLang="zh-CN" sz="1200" baseline="0" dirty="0">
                <a:solidFill>
                  <a:srgbClr val="0000FF"/>
                </a:solidFill>
                <a:latin typeface="LetterGotLOT-Med"/>
              </a:rPr>
              <a:t>R2=xFFD0, the negative of ASCII code x30</a:t>
            </a:r>
            <a:endParaRPr lang="en-US" altLang="zh-CN" sz="1400" baseline="0" dirty="0">
              <a:solidFill>
                <a:srgbClr val="0000FF"/>
              </a:solidFill>
              <a:latin typeface="LetterGotLOT-Med"/>
            </a:endParaRPr>
          </a:p>
          <a:p>
            <a:r>
              <a:rPr lang="en-US" altLang="zh-CN" sz="1400" baseline="0" dirty="0">
                <a:latin typeface="LetterGotLOT-Med"/>
              </a:rPr>
              <a:t>           LD R3,ASCII_9 </a:t>
            </a:r>
            <a:r>
              <a:rPr lang="en-US" altLang="zh-CN" sz="1600" baseline="0" dirty="0">
                <a:latin typeface="LetterGotLOT-Med"/>
              </a:rPr>
              <a:t>; </a:t>
            </a:r>
            <a:r>
              <a:rPr lang="en-US" altLang="zh-CN" sz="1200" baseline="0" dirty="0">
                <a:solidFill>
                  <a:srgbClr val="0000FF"/>
                </a:solidFill>
                <a:latin typeface="LetterGotLOT-Med"/>
              </a:rPr>
              <a:t>R3=xFFC7, the negative of ASCII code x39</a:t>
            </a:r>
            <a:endParaRPr lang="en-US" altLang="zh-CN" sz="1100" baseline="0" dirty="0">
              <a:solidFill>
                <a:srgbClr val="0000FF"/>
              </a:solidFill>
              <a:latin typeface="LetterGotLOT-Med"/>
            </a:endParaRPr>
          </a:p>
          <a:p>
            <a:r>
              <a:rPr lang="en-US" altLang="zh-CN" sz="1100" baseline="0" dirty="0">
                <a:solidFill>
                  <a:srgbClr val="0000FF"/>
                </a:solidFill>
                <a:latin typeface="LetterGotLOT-Med"/>
              </a:rPr>
              <a:t>;</a:t>
            </a:r>
          </a:p>
          <a:p>
            <a:r>
              <a:rPr lang="en-US" altLang="zh-CN" sz="1400" baseline="0" dirty="0">
                <a:solidFill>
                  <a:srgbClr val="FF0000"/>
                </a:solidFill>
                <a:latin typeface="LetterGotLOT-Med"/>
              </a:rPr>
              <a:t>NEXT_CHAR </a:t>
            </a:r>
            <a:r>
              <a:rPr lang="en-US" altLang="zh-CN" sz="1400" baseline="0" dirty="0">
                <a:latin typeface="LetterGotLOT-Med"/>
              </a:rPr>
              <a:t>LDR R1,R0,#0 ; </a:t>
            </a:r>
            <a:r>
              <a:rPr lang="en-US" altLang="zh-CN" sz="1400" baseline="0" dirty="0">
                <a:solidFill>
                  <a:srgbClr val="0000FF"/>
                </a:solidFill>
                <a:latin typeface="LetterGotLOT-Med"/>
              </a:rPr>
              <a:t>Load next character</a:t>
            </a:r>
          </a:p>
          <a:p>
            <a:r>
              <a:rPr lang="en-US" altLang="zh-CN" sz="1400" baseline="0" dirty="0">
                <a:latin typeface="LetterGotLOT-Med"/>
              </a:rPr>
              <a:t>           </a:t>
            </a:r>
            <a:r>
              <a:rPr lang="en-US" altLang="zh-CN" sz="1400" baseline="0" dirty="0" err="1">
                <a:latin typeface="LetterGotLOT-Med"/>
              </a:rPr>
              <a:t>BRz</a:t>
            </a:r>
            <a:r>
              <a:rPr lang="en-US" altLang="zh-CN" sz="1400" baseline="0" dirty="0">
                <a:latin typeface="LetterGotLOT-Med"/>
              </a:rPr>
              <a:t> SUCCESS   </a:t>
            </a:r>
            <a:r>
              <a:rPr lang="en-US" altLang="zh-CN" sz="1400" baseline="0" dirty="0">
                <a:solidFill>
                  <a:srgbClr val="0000FF"/>
                </a:solidFill>
                <a:latin typeface="LetterGotLOT-Med"/>
              </a:rPr>
              <a:t>; if current character is null</a:t>
            </a:r>
          </a:p>
          <a:p>
            <a:r>
              <a:rPr lang="en-US" altLang="zh-CN" sz="1400" baseline="0" dirty="0">
                <a:latin typeface="LetterGotLOT-Med"/>
              </a:rPr>
              <a:t>           ADD R4,R1,R2</a:t>
            </a:r>
          </a:p>
          <a:p>
            <a:r>
              <a:rPr lang="en-US" altLang="zh-CN" sz="1400" baseline="0" dirty="0">
                <a:latin typeface="LetterGotLOT-Med"/>
              </a:rPr>
              <a:t>           </a:t>
            </a:r>
            <a:r>
              <a:rPr lang="en-US" altLang="zh-CN" sz="1400" baseline="0" dirty="0" err="1">
                <a:latin typeface="LetterGotLOT-Med"/>
              </a:rPr>
              <a:t>BRn</a:t>
            </a:r>
            <a:r>
              <a:rPr lang="en-US" altLang="zh-CN" sz="1400" baseline="0" dirty="0">
                <a:latin typeface="LetterGotLOT-Med"/>
              </a:rPr>
              <a:t> BAD ; </a:t>
            </a:r>
            <a:r>
              <a:rPr lang="en-US" altLang="zh-CN" sz="1400" baseline="0" dirty="0">
                <a:solidFill>
                  <a:srgbClr val="0000FF"/>
                </a:solidFill>
                <a:latin typeface="LetterGotLOT-Med"/>
              </a:rPr>
              <a:t>R1 is less than x30, not a decimal digit</a:t>
            </a:r>
          </a:p>
          <a:p>
            <a:r>
              <a:rPr lang="en-US" altLang="zh-CN" sz="1400" baseline="0" dirty="0">
                <a:latin typeface="LetterGotLOT-Med"/>
              </a:rPr>
              <a:t>           ADD R4,R1,R3</a:t>
            </a:r>
          </a:p>
          <a:p>
            <a:r>
              <a:rPr lang="en-US" altLang="zh-CN" sz="1400" baseline="0" dirty="0">
                <a:latin typeface="LetterGotLOT-Med"/>
              </a:rPr>
              <a:t>           </a:t>
            </a:r>
            <a:r>
              <a:rPr lang="en-US" altLang="zh-CN" sz="1400" baseline="0" dirty="0" err="1">
                <a:latin typeface="LetterGotLOT-Med"/>
              </a:rPr>
              <a:t>BRp</a:t>
            </a:r>
            <a:r>
              <a:rPr lang="en-US" altLang="zh-CN" sz="1400" baseline="0" dirty="0">
                <a:latin typeface="LetterGotLOT-Med"/>
              </a:rPr>
              <a:t> BAD ; </a:t>
            </a:r>
            <a:r>
              <a:rPr lang="en-US" altLang="zh-CN" sz="1400" baseline="0" dirty="0">
                <a:solidFill>
                  <a:srgbClr val="0000FF"/>
                </a:solidFill>
                <a:latin typeface="LetterGotLOT-Med"/>
              </a:rPr>
              <a:t>R1 is greater than x39, not a decimal digit</a:t>
            </a:r>
          </a:p>
          <a:p>
            <a:r>
              <a:rPr lang="en-US" altLang="zh-CN" sz="1400" baseline="0" dirty="0">
                <a:latin typeface="LetterGotLOT-Med"/>
              </a:rPr>
              <a:t>           ADD R0,R0,#1 </a:t>
            </a:r>
            <a:r>
              <a:rPr lang="en-US" altLang="zh-CN" sz="1200" baseline="0" dirty="0">
                <a:latin typeface="LetterGotLOT-Med"/>
              </a:rPr>
              <a:t>; </a:t>
            </a:r>
            <a:r>
              <a:rPr lang="en-US" altLang="zh-CN" sz="1200" baseline="0" dirty="0">
                <a:solidFill>
                  <a:srgbClr val="0000FF"/>
                </a:solidFill>
                <a:latin typeface="LetterGotLOT-Med"/>
              </a:rPr>
              <a:t>Character good! Prepare for next character</a:t>
            </a:r>
            <a:endParaRPr lang="en-US" altLang="zh-CN" sz="1400" baseline="0" dirty="0">
              <a:solidFill>
                <a:srgbClr val="0000FF"/>
              </a:solidFill>
              <a:latin typeface="LetterGotLOT-Med"/>
            </a:endParaRPr>
          </a:p>
          <a:p>
            <a:r>
              <a:rPr lang="en-US" altLang="zh-CN" sz="1400" baseline="0" dirty="0">
                <a:latin typeface="LetterGotLOT-Med"/>
              </a:rPr>
              <a:t>           BR NEXT_CHAR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494374-2F41-4339-A463-3FD0FDDE2CF6}"/>
              </a:ext>
            </a:extLst>
          </p:cNvPr>
          <p:cNvSpPr/>
          <p:nvPr/>
        </p:nvSpPr>
        <p:spPr>
          <a:xfrm>
            <a:off x="6465888" y="1837944"/>
            <a:ext cx="3662560" cy="2308324"/>
          </a:xfrm>
          <a:prstGeom prst="rect">
            <a:avLst/>
          </a:prstGeom>
          <a:solidFill>
            <a:srgbClr val="CC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1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BAD         ADD R5,R5,#1 ; R5 contains failure code</a:t>
            </a:r>
          </a:p>
          <a:p>
            <a:r>
              <a:rPr lang="en-US" altLang="zh-CN" sz="1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SUCCESS LD R4,SaveR4 ; Restore registers</a:t>
            </a:r>
          </a:p>
          <a:p>
            <a:r>
              <a:rPr lang="en-US" altLang="zh-CN" sz="1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             LD R3,SaveR3</a:t>
            </a:r>
          </a:p>
          <a:p>
            <a:r>
              <a:rPr lang="en-US" altLang="zh-CN" sz="1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             LD R2,SaveR2</a:t>
            </a:r>
          </a:p>
          <a:p>
            <a:r>
              <a:rPr lang="en-US" altLang="zh-CN" sz="1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             LD R1,SaveR1</a:t>
            </a:r>
          </a:p>
          <a:p>
            <a:r>
              <a:rPr lang="en-US" altLang="zh-CN" sz="1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             RET</a:t>
            </a:r>
          </a:p>
          <a:p>
            <a:r>
              <a:rPr lang="en-US" altLang="zh-CN" sz="1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ASCII_0   .FILL xFFD0</a:t>
            </a:r>
          </a:p>
          <a:p>
            <a:r>
              <a:rPr lang="en-US" altLang="zh-CN" sz="1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ASCII_9   .FILL xFFC7</a:t>
            </a:r>
          </a:p>
          <a:p>
            <a:r>
              <a:rPr lang="en-US" altLang="zh-CN" sz="1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SaveR1    .BLKW 1</a:t>
            </a:r>
          </a:p>
          <a:p>
            <a:r>
              <a:rPr lang="en-US" altLang="zh-CN" sz="1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SaveR2    .BLKW 1</a:t>
            </a:r>
          </a:p>
          <a:p>
            <a:r>
              <a:rPr lang="en-US" altLang="zh-CN" sz="1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SaveR3    .BLKW 1</a:t>
            </a:r>
          </a:p>
          <a:p>
            <a:r>
              <a:rPr lang="en-US" altLang="zh-CN" sz="1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SaveR4    .BLKW 1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56D595-131F-4D64-A3F0-AEA88CF3AFF0}"/>
              </a:ext>
            </a:extLst>
          </p:cNvPr>
          <p:cNvSpPr/>
          <p:nvPr/>
        </p:nvSpPr>
        <p:spPr>
          <a:xfrm>
            <a:off x="6888088" y="5950131"/>
            <a:ext cx="3380972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oximaNova-Semibold"/>
              </a:rPr>
              <a:t>Figure 8.31 </a:t>
            </a:r>
            <a:r>
              <a:rPr lang="en-US" altLang="zh-CN" sz="11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oximaNova-Semibold"/>
              </a:rPr>
              <a:t>A character string representing the integer</a:t>
            </a:r>
          </a:p>
          <a:p>
            <a:r>
              <a:rPr lang="en-US" altLang="zh-CN" sz="11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oximaNova-Semibold"/>
              </a:rPr>
              <a:t>79,245, with one ASCII code per decimal digit.</a:t>
            </a:r>
            <a:endParaRPr lang="zh-CN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7BDC533-C3B7-41EC-B3C2-345497ADB1B3}"/>
              </a:ext>
            </a:extLst>
          </p:cNvPr>
          <p:cNvSpPr/>
          <p:nvPr/>
        </p:nvSpPr>
        <p:spPr>
          <a:xfrm>
            <a:off x="6465888" y="1852626"/>
            <a:ext cx="3662560" cy="2308324"/>
          </a:xfrm>
          <a:prstGeom prst="rect">
            <a:avLst/>
          </a:prstGeom>
          <a:solidFill>
            <a:srgbClr val="CC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1200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BAD</a:t>
            </a:r>
            <a:r>
              <a:rPr lang="en-US" altLang="zh-CN" sz="1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     ADD R5,R5,#1 ; </a:t>
            </a:r>
            <a:r>
              <a:rPr lang="en-US" altLang="zh-CN" sz="1200" baseline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R5 contains failure code</a:t>
            </a:r>
          </a:p>
          <a:p>
            <a:r>
              <a:rPr lang="en-US" altLang="zh-CN" sz="1200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SUCCESS</a:t>
            </a:r>
            <a:r>
              <a:rPr lang="en-US" altLang="zh-CN" sz="1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LD R4,SaveR4 ; </a:t>
            </a:r>
            <a:r>
              <a:rPr lang="en-US" altLang="zh-CN" sz="1200" baseline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Restore registers</a:t>
            </a:r>
          </a:p>
          <a:p>
            <a:r>
              <a:rPr lang="en-US" altLang="zh-CN" sz="1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             LD R3,SaveR3</a:t>
            </a:r>
          </a:p>
          <a:p>
            <a:r>
              <a:rPr lang="en-US" altLang="zh-CN" sz="1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             LD R2,SaveR2</a:t>
            </a:r>
          </a:p>
          <a:p>
            <a:r>
              <a:rPr lang="en-US" altLang="zh-CN" sz="1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             LD R1,SaveR1</a:t>
            </a:r>
          </a:p>
          <a:p>
            <a:r>
              <a:rPr lang="en-US" altLang="zh-CN" sz="1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             RET</a:t>
            </a:r>
          </a:p>
          <a:p>
            <a:r>
              <a:rPr lang="en-US" altLang="zh-CN" sz="1200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ASCII_0</a:t>
            </a:r>
            <a:r>
              <a:rPr lang="en-US" altLang="zh-CN" sz="1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.FILL xFFD0</a:t>
            </a:r>
          </a:p>
          <a:p>
            <a:r>
              <a:rPr lang="en-US" altLang="zh-CN" sz="1200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ASCII_9</a:t>
            </a:r>
            <a:r>
              <a:rPr lang="en-US" altLang="zh-CN" sz="1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.FILL xFFC7</a:t>
            </a:r>
          </a:p>
          <a:p>
            <a:r>
              <a:rPr lang="en-US" altLang="zh-CN" sz="1200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SaveR1</a:t>
            </a:r>
            <a:r>
              <a:rPr lang="en-US" altLang="zh-CN" sz="1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.BLKW 1</a:t>
            </a:r>
          </a:p>
          <a:p>
            <a:r>
              <a:rPr lang="en-US" altLang="zh-CN" sz="1200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SaveR2</a:t>
            </a:r>
            <a:r>
              <a:rPr lang="en-US" altLang="zh-CN" sz="1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.BLKW 1</a:t>
            </a:r>
          </a:p>
          <a:p>
            <a:r>
              <a:rPr lang="en-US" altLang="zh-CN" sz="1200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SaveR3</a:t>
            </a:r>
            <a:r>
              <a:rPr lang="en-US" altLang="zh-CN" sz="1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.BLKW 1</a:t>
            </a:r>
          </a:p>
          <a:p>
            <a:r>
              <a:rPr lang="en-US" altLang="zh-CN" sz="1200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SaveR4</a:t>
            </a:r>
            <a:r>
              <a:rPr lang="en-US" altLang="zh-CN" sz="1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tterGotLOT-Med"/>
              </a:rPr>
              <a:t>    .BLKW 1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446C70B-F8AD-4123-8C90-F66BDA570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216" y="3429001"/>
            <a:ext cx="1489166" cy="25211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58516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2.xml><?xml version="1.0" encoding="utf-8"?>
<a:theme xmlns:a="http://schemas.openxmlformats.org/drawingml/2006/main" name="学术交流模板3-中文">
  <a:themeElements>
    <a:clrScheme name="学术交流模板3-中文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3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CS17-Ch 1Course Introduction.Id_400384" id="{1E5A2080-B47E-4B7F-A81A-CF725B3E27F9}" vid="{403FED12-708E-4AE7-9E4F-F7D8D23A0490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7681</TotalTime>
  <Pages>0</Pages>
  <Words>7638</Words>
  <Characters>0</Characters>
  <Application>Microsoft Office PowerPoint</Application>
  <DocSecurity>0</DocSecurity>
  <PresentationFormat>宽屏</PresentationFormat>
  <Lines>0</Lines>
  <Paragraphs>1127</Paragraphs>
  <Slides>41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41</vt:i4>
      </vt:variant>
    </vt:vector>
  </HeadingPairs>
  <TitlesOfParts>
    <vt:vector size="59" baseType="lpstr">
      <vt:lpstr>Gungsuh</vt:lpstr>
      <vt:lpstr>LetterGotLOT-Med</vt:lpstr>
      <vt:lpstr>ProximaNova-Semibold</vt:lpstr>
      <vt:lpstr>STIXGeneral-Regular</vt:lpstr>
      <vt:lpstr>仿宋</vt:lpstr>
      <vt:lpstr>黑体</vt:lpstr>
      <vt:lpstr>华文新魏</vt:lpstr>
      <vt:lpstr>KaiTi</vt:lpstr>
      <vt:lpstr>KaiTi</vt:lpstr>
      <vt:lpstr>微软雅黑</vt:lpstr>
      <vt:lpstr>Arial</vt:lpstr>
      <vt:lpstr>Baskerville Old Face</vt:lpstr>
      <vt:lpstr>Calibri</vt:lpstr>
      <vt:lpstr>Tahoma</vt:lpstr>
      <vt:lpstr>Wingdings</vt:lpstr>
      <vt:lpstr>Wingdings 3</vt:lpstr>
      <vt:lpstr>1_Office 主题​​</vt:lpstr>
      <vt:lpstr>学术交流模板3-中文</vt:lpstr>
      <vt:lpstr>Chapter 8-3   Recursion，Queue and Character Strings</vt:lpstr>
      <vt:lpstr>PowerPoint 演示文稿</vt:lpstr>
      <vt:lpstr>1. Recursion</vt:lpstr>
      <vt:lpstr>Bad Example: Factorial</vt:lpstr>
      <vt:lpstr>Bad Example: Factorial</vt:lpstr>
      <vt:lpstr>Bad Example: Factorial</vt:lpstr>
      <vt:lpstr> Recursive subroutine FACT</vt:lpstr>
      <vt:lpstr> Recursive subroutine FACT</vt:lpstr>
      <vt:lpstr> Recursive subroutine FACT</vt:lpstr>
      <vt:lpstr> Recursive subroutine FACT</vt:lpstr>
      <vt:lpstr> Recursive subroutine FACT</vt:lpstr>
      <vt:lpstr> Recursive subroutine FACT</vt:lpstr>
      <vt:lpstr> Recursive subroutine FACT</vt:lpstr>
      <vt:lpstr> Recursive subroutine FACT</vt:lpstr>
      <vt:lpstr> Recursive subroutine FACT</vt:lpstr>
      <vt:lpstr> Recursive subroutine FACT</vt:lpstr>
      <vt:lpstr> Recursive subroutine FACT</vt:lpstr>
      <vt:lpstr> Recursive subroutine FACT</vt:lpstr>
      <vt:lpstr> Recursive subroutine FACT</vt:lpstr>
      <vt:lpstr> Recursive subroutine FACT</vt:lpstr>
      <vt:lpstr> Recursive subroutine FACT</vt:lpstr>
      <vt:lpstr> Recursive subroutine FACT</vt:lpstr>
      <vt:lpstr> Recursive subroutine FACT</vt:lpstr>
      <vt:lpstr>Implementing FACT iteratively (without recursion)</vt:lpstr>
      <vt:lpstr>The Maze: a Good Example</vt:lpstr>
      <vt:lpstr>PowerPoint 演示文稿</vt:lpstr>
      <vt:lpstr>Recursive Subroutine to exit the Maze</vt:lpstr>
      <vt:lpstr>Description of the Algorithm</vt:lpstr>
      <vt:lpstr>PowerPoint 演示文稿</vt:lpstr>
      <vt:lpstr>PowerPoint 演示文稿</vt:lpstr>
      <vt:lpstr>2.The Queue</vt:lpstr>
      <vt:lpstr>2.1 The Definition of Queue</vt:lpstr>
      <vt:lpstr>2.2 Basic Operations</vt:lpstr>
      <vt:lpstr>2.3 Wrap-Around</vt:lpstr>
      <vt:lpstr>2.4 Full and Empty Queue</vt:lpstr>
      <vt:lpstr>2.5 Tests for Underflow, Overflow</vt:lpstr>
      <vt:lpstr>2.6 The Complete Story</vt:lpstr>
      <vt:lpstr>3. Character Strings</vt:lpstr>
      <vt:lpstr>Example 1: Personnel Record</vt:lpstr>
      <vt:lpstr>Subroutine to compare two character strings</vt:lpstr>
      <vt:lpstr>Example 2: Character String Containing an “Integer”</vt:lpstr>
    </vt:vector>
  </TitlesOfParts>
  <Manager/>
  <Company>USTC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   An Hong han@ustc.edu.cn</dc:title>
  <dc:subject/>
  <dc:creator>hanhwt</dc:creator>
  <cp:keywords/>
  <dc:description/>
  <cp:lastModifiedBy>Miao Fuyou</cp:lastModifiedBy>
  <cp:revision>815</cp:revision>
  <cp:lastPrinted>1601-01-01T00:00:00Z</cp:lastPrinted>
  <dcterms:created xsi:type="dcterms:W3CDTF">2012-09-03T16:09:03Z</dcterms:created>
  <dcterms:modified xsi:type="dcterms:W3CDTF">2025-11-10T09:09:15Z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2052-8.1.0.2998</vt:lpwstr>
  </property>
</Properties>
</file>