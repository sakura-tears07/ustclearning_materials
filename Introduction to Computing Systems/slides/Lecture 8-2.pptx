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55" r:id="rId2"/>
    <p:sldMasterId id="2147483882" r:id="rId3"/>
  </p:sldMasterIdLst>
  <p:notesMasterIdLst>
    <p:notesMasterId r:id="rId62"/>
  </p:notesMasterIdLst>
  <p:sldIdLst>
    <p:sldId id="1541" r:id="rId4"/>
    <p:sldId id="1835" r:id="rId5"/>
    <p:sldId id="1838" r:id="rId6"/>
    <p:sldId id="1775" r:id="rId7"/>
    <p:sldId id="1713" r:id="rId8"/>
    <p:sldId id="639" r:id="rId9"/>
    <p:sldId id="1724" r:id="rId10"/>
    <p:sldId id="1725" r:id="rId11"/>
    <p:sldId id="1834" r:id="rId12"/>
    <p:sldId id="1839" r:id="rId13"/>
    <p:sldId id="1726" r:id="rId14"/>
    <p:sldId id="1727" r:id="rId15"/>
    <p:sldId id="1728" r:id="rId16"/>
    <p:sldId id="640" r:id="rId17"/>
    <p:sldId id="1840" r:id="rId18"/>
    <p:sldId id="591" r:id="rId19"/>
    <p:sldId id="592" r:id="rId20"/>
    <p:sldId id="593" r:id="rId21"/>
    <p:sldId id="594" r:id="rId22"/>
    <p:sldId id="595" r:id="rId23"/>
    <p:sldId id="596" r:id="rId24"/>
    <p:sldId id="597" r:id="rId25"/>
    <p:sldId id="598" r:id="rId26"/>
    <p:sldId id="1753" r:id="rId27"/>
    <p:sldId id="1754" r:id="rId28"/>
    <p:sldId id="1755" r:id="rId29"/>
    <p:sldId id="1756" r:id="rId30"/>
    <p:sldId id="1841" r:id="rId31"/>
    <p:sldId id="257" r:id="rId32"/>
    <p:sldId id="258" r:id="rId33"/>
    <p:sldId id="259" r:id="rId34"/>
    <p:sldId id="260" r:id="rId35"/>
    <p:sldId id="261" r:id="rId36"/>
    <p:sldId id="262" r:id="rId37"/>
    <p:sldId id="1793" r:id="rId38"/>
    <p:sldId id="1792" r:id="rId39"/>
    <p:sldId id="1817" r:id="rId40"/>
    <p:sldId id="1818" r:id="rId41"/>
    <p:sldId id="1819" r:id="rId42"/>
    <p:sldId id="1820" r:id="rId43"/>
    <p:sldId id="1821" r:id="rId44"/>
    <p:sldId id="1822" r:id="rId45"/>
    <p:sldId id="1823" r:id="rId46"/>
    <p:sldId id="1824" r:id="rId47"/>
    <p:sldId id="1825" r:id="rId48"/>
    <p:sldId id="1806" r:id="rId49"/>
    <p:sldId id="1805" r:id="rId50"/>
    <p:sldId id="699" r:id="rId51"/>
    <p:sldId id="700" r:id="rId52"/>
    <p:sldId id="701" r:id="rId53"/>
    <p:sldId id="702" r:id="rId54"/>
    <p:sldId id="703" r:id="rId55"/>
    <p:sldId id="704" r:id="rId56"/>
    <p:sldId id="705" r:id="rId57"/>
    <p:sldId id="706" r:id="rId58"/>
    <p:sldId id="707" r:id="rId59"/>
    <p:sldId id="1790" r:id="rId60"/>
    <p:sldId id="1791" r:id="rId6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152A3"/>
    <a:srgbClr val="333399"/>
    <a:srgbClr val="CCFFFF"/>
    <a:srgbClr val="9696CB"/>
    <a:srgbClr val="003399"/>
    <a:srgbClr val="FFCCFF"/>
    <a:srgbClr val="0074BF"/>
    <a:srgbClr val="A6E0E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01" autoAdjust="0"/>
    <p:restoredTop sz="86390" autoAdjust="0"/>
  </p:normalViewPr>
  <p:slideViewPr>
    <p:cSldViewPr>
      <p:cViewPr varScale="1">
        <p:scale>
          <a:sx n="92" d="100"/>
          <a:sy n="92" d="100"/>
        </p:scale>
        <p:origin x="444" y="33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90" d="100"/>
        <a:sy n="90" d="100"/>
      </p:scale>
      <p:origin x="0" y="-5592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commentAuthors" Target="commentAuthor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2025/10/21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682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273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490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895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890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6264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2025/10/21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99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318EC-F4E5-415D-8AB8-7A2FA76C28D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030B0-9293-4F0D-82ED-74F0C6335FA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712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latin typeface="Courier New" panose="02070309020205020404" pitchFamily="49" charset="0"/>
                <a:ea typeface="仿宋" panose="02010609060101010101" pitchFamily="49" charset="-122"/>
                <a:cs typeface="Courier New" panose="02070309020205020404" pitchFamily="49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19C3C-C5B4-461C-AA2E-E537409AB5D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42061-D800-47C3-AE7A-73681109E7C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515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66FF6-BC31-458D-B337-8AF8E7C9179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D8A4C-00A1-4605-8504-DDED97D9383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888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1FF0F-7912-4D74-A461-24EC544E2526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363F-A959-4A12-B6A7-45AE6D967CD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3484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A7FFC-4CE2-475A-A786-8955FCBC7D30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45E6-A75F-4D3A-8936-8CF45F7E2FA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535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07074-B03B-4439-8FF7-3DD393E92B2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7A60E-B2F0-4E41-9582-06856E61446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10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49220-AA52-475D-92EF-D1BEEC66470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1E4F5-3281-42B7-9083-A44882BA9EE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038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F4E2C-9229-4EB3-B0B8-F50355712DF3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52AFC-A3A9-4791-A8BD-9497763A62D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355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969A8-212E-49A4-BF09-D9233341BAE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9139B3-D87C-4ACB-8AF1-AF5146CAC2B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601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98226-4AA4-43DC-A798-AD8696FDE1A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CCC4F-3B21-4FD9-A588-E801DD52B1B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3936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AEF9B-3944-45EF-AA65-5FC150746733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524BF-C6D9-4FD0-BB25-AED0825765E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8600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00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2631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28842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948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32184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01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218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6859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97605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4340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13583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170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2025/10/21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95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 smtClean="0"/>
            </a:lvl1pPr>
          </a:lstStyle>
          <a:p>
            <a:pPr>
              <a:defRPr/>
            </a:pPr>
            <a:fld id="{68A3BBE9-3DFA-4135-A616-61A59E4C08C1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 smtClean="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 smtClean="0"/>
            </a:lvl1pPr>
          </a:lstStyle>
          <a:p>
            <a:pPr>
              <a:defRPr/>
            </a:pPr>
            <a:fld id="{605FD81E-F043-472B-89E0-0A80D04B5A4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4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 kern="1200">
          <a:solidFill>
            <a:schemeClr val="tx1"/>
          </a:solidFill>
          <a:latin typeface="+mn-lt"/>
          <a:ea typeface="楷体_GB2312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itchFamily="18" charset="-127"/>
        <a:buChar char="-"/>
        <a:defRPr b="1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32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8-2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Model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Program Execution &amp; the Stack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r>
              <a:rPr lang="en-US" altLang="zh-CN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CS1002A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.01 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716CAC-A9D2-4F2F-836A-EBDA4214F436}"/>
              </a:ext>
            </a:extLst>
          </p:cNvPr>
          <p:cNvSpPr txBox="1"/>
          <p:nvPr/>
        </p:nvSpPr>
        <p:spPr>
          <a:xfrm>
            <a:off x="2406644" y="5085184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1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The Stack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Memory Model for Program Execution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7">
            <a:extLst>
              <a:ext uri="{FF2B5EF4-FFF2-40B4-BE49-F238E27FC236}">
                <a16:creationId xmlns:a16="http://schemas.microsoft.com/office/drawing/2014/main" id="{DDB816B2-2491-4E3D-90F5-A8A01521E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9" name="矩形 17">
            <a:extLst>
              <a:ext uri="{FF2B5EF4-FFF2-40B4-BE49-F238E27FC236}">
                <a16:creationId xmlns:a16="http://schemas.microsoft.com/office/drawing/2014/main" id="{BA5ED58A-E5A4-48D8-A0FE-748D6C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ED5E725-6B72-4D25-8539-035BBA2CA310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7">
            <a:extLst>
              <a:ext uri="{FF2B5EF4-FFF2-40B4-BE49-F238E27FC236}">
                <a16:creationId xmlns:a16="http://schemas.microsoft.com/office/drawing/2014/main" id="{A88B4B72-9227-4996-AD60-AF3A9320D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5F7A6B8F-A5E9-428C-B828-7EF6CE9CF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Implementing Functions in C Using a Stack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74B0DA5-6E6F-4CCB-884F-1F416E0033A8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44978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1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The Stack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Memory Model for Program Execution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7">
            <a:extLst>
              <a:ext uri="{FF2B5EF4-FFF2-40B4-BE49-F238E27FC236}">
                <a16:creationId xmlns:a16="http://schemas.microsoft.com/office/drawing/2014/main" id="{DDB816B2-2491-4E3D-90F5-A8A01521E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9" name="矩形 17">
            <a:extLst>
              <a:ext uri="{FF2B5EF4-FFF2-40B4-BE49-F238E27FC236}">
                <a16:creationId xmlns:a16="http://schemas.microsoft.com/office/drawing/2014/main" id="{BA5ED58A-E5A4-48D8-A0FE-748D6C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ED5E725-6B72-4D25-8539-035BBA2CA310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7">
            <a:extLst>
              <a:ext uri="{FF2B5EF4-FFF2-40B4-BE49-F238E27FC236}">
                <a16:creationId xmlns:a16="http://schemas.microsoft.com/office/drawing/2014/main" id="{A88B4B72-9227-4996-AD60-AF3A9320D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5F7A6B8F-A5E9-428C-B828-7EF6CE9CF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Implementing Functions in C Using a Stack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74B0DA5-6E6F-4CCB-884F-1F416E0033A8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6680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733DC-8C81-4139-A8E2-65E78E61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The Call/Return Mechanism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3BEC1-08C1-4B03-8AA8-E8EE6BFC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8A7D8F-A01F-4631-B12B-65D0849A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027E86-DBD4-49BC-B516-A87018822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04" y="982828"/>
            <a:ext cx="7848996" cy="556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4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</a:t>
            </a:r>
            <a:r>
              <a:rPr lang="en-US" altLang="zh-CN" dirty="0">
                <a:ea typeface="宋体" panose="02010600030101010101" pitchFamily="2" charset="-122"/>
              </a:rPr>
              <a:t>Control Instructions for Subroutines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232668" y="1124744"/>
            <a:ext cx="8659812" cy="4968552"/>
          </a:xfrm>
          <a:prstGeom prst="rect">
            <a:avLst/>
          </a:prstGeom>
          <a:solidFill>
            <a:srgbClr val="FF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244144" y="5450550"/>
            <a:ext cx="6450116" cy="541667"/>
            <a:chOff x="381000" y="3212976"/>
            <a:chExt cx="2868712" cy="288000"/>
          </a:xfrm>
        </p:grpSpPr>
        <p:sp>
          <p:nvSpPr>
            <p:cNvPr id="212" name="矩形 211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3" name="矩形 212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4" name="矩形 213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" name="矩形 214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1809712" y="3212976"/>
              <a:ext cx="144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TrapVector8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6" name="矩形 105"/>
          <p:cNvSpPr/>
          <p:nvPr/>
        </p:nvSpPr>
        <p:spPr bwMode="auto">
          <a:xfrm>
            <a:off x="664114" y="5448477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TRAP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2244144" y="1252106"/>
            <a:ext cx="6453289" cy="947962"/>
            <a:chOff x="345016" y="2996952"/>
            <a:chExt cx="2870123" cy="504024"/>
          </a:xfrm>
        </p:grpSpPr>
        <p:grpSp>
          <p:nvGrpSpPr>
            <p:cNvPr id="186" name="组合 185"/>
            <p:cNvGrpSpPr/>
            <p:nvPr/>
          </p:nvGrpSpPr>
          <p:grpSpPr>
            <a:xfrm>
              <a:off x="345016" y="3212976"/>
              <a:ext cx="2870123" cy="288000"/>
              <a:chOff x="381000" y="3212976"/>
              <a:chExt cx="2870123" cy="288000"/>
            </a:xfrm>
          </p:grpSpPr>
          <p:sp>
            <p:nvSpPr>
              <p:cNvPr id="204" name="矩形 20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06" name="矩形 20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z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p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45016" y="2996952"/>
              <a:ext cx="2858832" cy="201861"/>
              <a:chOff x="395536" y="2924976"/>
              <a:chExt cx="2858832" cy="288000"/>
            </a:xfrm>
          </p:grpSpPr>
          <p:sp>
            <p:nvSpPr>
              <p:cNvPr id="188" name="矩形 187"/>
              <p:cNvSpPr/>
              <p:nvPr/>
            </p:nvSpPr>
            <p:spPr bwMode="auto">
              <a:xfrm>
                <a:off x="39553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15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9" name="矩形 188"/>
              <p:cNvSpPr/>
              <p:nvPr/>
            </p:nvSpPr>
            <p:spPr bwMode="auto">
              <a:xfrm>
                <a:off x="57412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14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75271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13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93130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12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110989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11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 bwMode="auto">
              <a:xfrm>
                <a:off x="1288481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 bwMode="auto">
              <a:xfrm>
                <a:off x="1467070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9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 bwMode="auto">
              <a:xfrm>
                <a:off x="1645659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8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 bwMode="auto">
              <a:xfrm>
                <a:off x="182424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7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 bwMode="auto">
              <a:xfrm>
                <a:off x="2002837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6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 bwMode="auto">
              <a:xfrm>
                <a:off x="218142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 bwMode="auto">
              <a:xfrm>
                <a:off x="236001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 bwMode="auto">
              <a:xfrm>
                <a:off x="253860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 bwMode="auto">
              <a:xfrm>
                <a:off x="271719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 bwMode="auto">
              <a:xfrm>
                <a:off x="289578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 bwMode="auto">
              <a:xfrm>
                <a:off x="307436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2244144" y="2251160"/>
            <a:ext cx="6459634" cy="541667"/>
            <a:chOff x="381000" y="3212976"/>
            <a:chExt cx="2872945" cy="288000"/>
          </a:xfrm>
        </p:grpSpPr>
        <p:sp>
          <p:nvSpPr>
            <p:cNvPr id="180" name="矩形 17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1" name="矩形 18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273945" y="3212976"/>
              <a:ext cx="19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PCoffset11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2244144" y="2843918"/>
            <a:ext cx="6427902" cy="541667"/>
            <a:chOff x="381000" y="3212976"/>
            <a:chExt cx="2858832" cy="288000"/>
          </a:xfrm>
        </p:grpSpPr>
        <p:sp>
          <p:nvSpPr>
            <p:cNvPr id="166" name="矩形 16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7" name="矩形 16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0" name="矩形 16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2" name="矩形 17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BaseR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" name="矩形 17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6" name="矩形 17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7" name="矩形 17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9" name="矩形 17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244144" y="3436676"/>
            <a:ext cx="6427902" cy="541667"/>
            <a:chOff x="381000" y="3212976"/>
            <a:chExt cx="2858832" cy="288000"/>
          </a:xfrm>
        </p:grpSpPr>
        <p:sp>
          <p:nvSpPr>
            <p:cNvPr id="150" name="矩形 14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矩形 15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矩形 15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矩形 15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5" name="矩形 15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6" name="矩形 15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7" name="矩形 15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0" name="矩形 15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1" name="矩形 16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2" name="矩形 16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4" name="矩形 16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5" name="矩形 16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664114" y="1653225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BR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664114" y="2840811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JSRR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664114" y="3434604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RTI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64114" y="2255830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JSR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244144" y="4031385"/>
            <a:ext cx="6427902" cy="541667"/>
            <a:chOff x="381000" y="3212976"/>
            <a:chExt cx="2858832" cy="288000"/>
          </a:xfrm>
        </p:grpSpPr>
        <p:sp>
          <p:nvSpPr>
            <p:cNvPr id="136" name="矩形 13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矩形 13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矩形 13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矩形 13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1" name="矩形 14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2" name="矩形 14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BaseR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矩形 14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5" name="矩形 14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6" name="矩形 14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7" name="矩形 14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7" name="矩形 116"/>
          <p:cNvSpPr/>
          <p:nvPr/>
        </p:nvSpPr>
        <p:spPr bwMode="auto">
          <a:xfrm>
            <a:off x="664114" y="4029312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JMP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2244144" y="4624020"/>
            <a:ext cx="6427902" cy="541667"/>
            <a:chOff x="381000" y="3212976"/>
            <a:chExt cx="2858832" cy="288000"/>
          </a:xfrm>
        </p:grpSpPr>
        <p:sp>
          <p:nvSpPr>
            <p:cNvPr id="120" name="矩形 11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3" name="矩形 13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4" name="矩形 13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9" name="矩形 118"/>
          <p:cNvSpPr/>
          <p:nvPr/>
        </p:nvSpPr>
        <p:spPr bwMode="auto">
          <a:xfrm>
            <a:off x="664114" y="4621948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RET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237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C4EF60-1B3C-4756-ADAC-AC2EDAD6562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EF408B-58E8-4F79-B5B5-343485345E5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Review: Memory in </a:t>
            </a:r>
            <a:r>
              <a:rPr lang="en-US" altLang="zh-CN" dirty="0">
                <a:ea typeface="宋体" panose="02010600030101010101" pitchFamily="2" charset="-122"/>
              </a:rPr>
              <a:t>Von Neumann Model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1192213" y="1219200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orelDRAW" r:id="rId3" imgW="5743575" imgH="4029075" progId="CorelDRAW.Graphic.9">
                  <p:embed/>
                </p:oleObj>
              </mc:Choice>
              <mc:Fallback>
                <p:oleObj name="CorelDRAW" r:id="rId3" imgW="5743575" imgH="4029075" progId="CorelDRAW.Graphic.9">
                  <p:embed/>
                  <p:pic>
                    <p:nvPicPr>
                      <p:cNvPr id="2560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219200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3275856" y="1219200"/>
            <a:ext cx="2664296" cy="112968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83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64DC75-7ABF-49F3-8DE8-B19E20A931C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7AC133-FE5B-4F60-8465-AC33F687137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Review: Using Memory</a:t>
            </a:r>
            <a:endParaRPr lang="zh-CN" altLang="en-US"/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5544740" cy="5481638"/>
          </a:xfrm>
        </p:spPr>
        <p:txBody>
          <a:bodyPr/>
          <a:lstStyle/>
          <a:p>
            <a:r>
              <a:rPr lang="en-US" altLang="zh-CN" dirty="0"/>
              <a:t>Memory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Just a big “array”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“Indexed” by address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Accessed with loads and stores</a:t>
            </a:r>
          </a:p>
          <a:p>
            <a:r>
              <a:rPr lang="en-US" altLang="zh-CN" dirty="0"/>
              <a:t>LD/LDR/LDI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Read a word out of memory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Use different addressing mode</a:t>
            </a:r>
          </a:p>
          <a:p>
            <a:r>
              <a:rPr lang="en-US" altLang="zh-CN" dirty="0"/>
              <a:t>ST/STR/STI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Place a word in memory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Use different addressing mode</a:t>
            </a:r>
            <a:endParaRPr lang="en-US" altLang="zh-CN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pic>
        <p:nvPicPr>
          <p:cNvPr id="410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428" y="981075"/>
            <a:ext cx="2609850" cy="539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685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97C30E-6209-48D9-810B-89923CB8214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0CB5E3-7A68-4D65-B5F8-8F25B65A994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Review: Using Memory</a:t>
            </a:r>
            <a:endParaRPr lang="zh-CN" altLang="en-US"/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785225" cy="3384550"/>
          </a:xfrm>
        </p:spPr>
        <p:txBody>
          <a:bodyPr/>
          <a:lstStyle/>
          <a:p>
            <a:r>
              <a:rPr lang="en-US" altLang="zh-CN" dirty="0"/>
              <a:t>Problem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What if the memory you want to access is far away?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LD/ST won’t work (PC-relative)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LDR/STR won’t work alone (need to get address in register)</a:t>
            </a:r>
          </a:p>
          <a:p>
            <a:r>
              <a:rPr lang="en-US" altLang="zh-CN" dirty="0" err="1"/>
              <a:t>Solution:LDI</a:t>
            </a:r>
            <a:r>
              <a:rPr lang="en-US" altLang="zh-CN" dirty="0"/>
              <a:t>/STI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Place </a:t>
            </a:r>
            <a:r>
              <a:rPr lang="en-US" altLang="zh-CN" i="1" dirty="0">
                <a:latin typeface="Courier New" panose="02070309020205020404" pitchFamily="49" charset="0"/>
                <a:cs typeface="Courier New" panose="02070309020205020404" pitchFamily="49" charset="0"/>
              </a:rPr>
              <a:t>address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of far away value nearby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Load address, then load/store from that</a:t>
            </a:r>
            <a:endParaRPr lang="en-US" altLang="zh-CN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pic>
        <p:nvPicPr>
          <p:cNvPr id="512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287" y="4193319"/>
            <a:ext cx="1876177" cy="22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68" y="4041919"/>
            <a:ext cx="5903913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8250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C4EF60-1B3C-4756-ADAC-AC2EDAD6562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EF408B-58E8-4F79-B5B5-343485345E5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Today: Memory </a:t>
            </a:r>
            <a:r>
              <a:rPr lang="en-US" altLang="zh-CN" dirty="0">
                <a:ea typeface="宋体" panose="02010600030101010101" pitchFamily="2" charset="-122"/>
              </a:rPr>
              <a:t>Model for Function Calls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1192213" y="1219200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CorelDRAW" r:id="rId3" imgW="5743575" imgH="4029075" progId="CorelDRAW.Graphic.9">
                  <p:embed/>
                </p:oleObj>
              </mc:Choice>
              <mc:Fallback>
                <p:oleObj name="CorelDRAW" r:id="rId3" imgW="5743575" imgH="4029075" progId="CorelDRAW.Graphic.9">
                  <p:embed/>
                  <p:pic>
                    <p:nvPicPr>
                      <p:cNvPr id="2560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219200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3275856" y="1219200"/>
            <a:ext cx="2664296" cy="112968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D82A42-8207-4B9E-AA03-758EC911E64F}"/>
              </a:ext>
            </a:extLst>
          </p:cNvPr>
          <p:cNvSpPr/>
          <p:nvPr/>
        </p:nvSpPr>
        <p:spPr bwMode="auto">
          <a:xfrm>
            <a:off x="2267744" y="4725143"/>
            <a:ext cx="4608512" cy="1235919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25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1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The Stack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Memory Model for Program Execution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7">
            <a:extLst>
              <a:ext uri="{FF2B5EF4-FFF2-40B4-BE49-F238E27FC236}">
                <a16:creationId xmlns:a16="http://schemas.microsoft.com/office/drawing/2014/main" id="{DDB816B2-2491-4E3D-90F5-A8A01521E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9" name="矩形 17">
            <a:extLst>
              <a:ext uri="{FF2B5EF4-FFF2-40B4-BE49-F238E27FC236}">
                <a16:creationId xmlns:a16="http://schemas.microsoft.com/office/drawing/2014/main" id="{BA5ED58A-E5A4-48D8-A0FE-748D6C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ED5E725-6B72-4D25-8539-035BBA2CA310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7">
            <a:extLst>
              <a:ext uri="{FF2B5EF4-FFF2-40B4-BE49-F238E27FC236}">
                <a16:creationId xmlns:a16="http://schemas.microsoft.com/office/drawing/2014/main" id="{A88B4B72-9227-4996-AD60-AF3A9320D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5F7A6B8F-A5E9-428C-B828-7EF6CE9CF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Implementing Functions in C Using a Stack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74B0DA5-6E6F-4CCB-884F-1F416E0033A8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52763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179388" y="981075"/>
            <a:ext cx="8839200" cy="5481638"/>
          </a:xfrm>
        </p:spPr>
        <p:txBody>
          <a:bodyPr/>
          <a:lstStyle/>
          <a:p>
            <a:r>
              <a:rPr lang="en-US" altLang="zh-CN" dirty="0"/>
              <a:t>How do we allocate memory during the execution of a program written in C?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Programs need memory for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and data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such as instructions, global and local variables, etc.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Modern programming practices encourage many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(reusable) functions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callable from anywhere.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Some memory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be statically allocated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since the size and type is known at compile time.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Some memory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must be allocated dynamically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size and type is unknown at compile time.  e.g., </a:t>
            </a:r>
            <a:r>
              <a:rPr lang="en-US" altLang="zh-CN" dirty="0"/>
              <a:t>Declare a list with unknown length.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23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Why is memory allocation important? 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Allocation affects the performance and memory usage of every C, C++, Java program.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Current systems do not have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enough registers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to store everything that is required.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allocation of memory resources is too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inflexible and inefficient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as we will see.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57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do we care about?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Fast program execution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Efficient memory usage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Avoid memory fragmentation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Maintain data locality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Allow recursive calls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Support parallel execution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Minimize resource allocation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Memory should never be allocated for functions that are not executed.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739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Model in the LC-3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56AFFD-C3BD-4EE6-B713-ECC62B3C1FD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56176" y="6564119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51C7DF-C7BE-4EB5-A329-87F30D195B6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923928" y="2977207"/>
            <a:ext cx="3898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PC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3923928" y="3573016"/>
            <a:ext cx="156978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R4(Global pointer)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968068" y="5569495"/>
            <a:ext cx="15377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 (stack pointer)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419872" y="371703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3419872" y="3114284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3419872" y="5733256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971600" y="4598733"/>
            <a:ext cx="2450678" cy="10625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Rectangle 7"/>
          <p:cNvSpPr>
            <a:spLocks noChangeArrowheads="1"/>
          </p:cNvSpPr>
          <p:nvPr/>
        </p:nvSpPr>
        <p:spPr bwMode="auto">
          <a:xfrm>
            <a:off x="971600" y="6124115"/>
            <a:ext cx="2450678" cy="41484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Device Register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Addresses</a:t>
            </a:r>
          </a:p>
        </p:txBody>
      </p:sp>
      <p:sp>
        <p:nvSpPr>
          <p:cNvPr id="70" name="Text Box 10"/>
          <p:cNvSpPr txBox="1">
            <a:spLocks noChangeArrowheads="1"/>
          </p:cNvSpPr>
          <p:nvPr/>
        </p:nvSpPr>
        <p:spPr bwMode="auto">
          <a:xfrm>
            <a:off x="215608" y="9651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0x0000</a:t>
            </a:r>
          </a:p>
        </p:txBody>
      </p:sp>
      <p:sp>
        <p:nvSpPr>
          <p:cNvPr id="71" name="Text Box 11"/>
          <p:cNvSpPr txBox="1">
            <a:spLocks noChangeArrowheads="1"/>
          </p:cNvSpPr>
          <p:nvPr/>
        </p:nvSpPr>
        <p:spPr bwMode="auto">
          <a:xfrm>
            <a:off x="215608" y="63540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0xFFFF</a:t>
            </a:r>
          </a:p>
        </p:txBody>
      </p:sp>
      <p:sp>
        <p:nvSpPr>
          <p:cNvPr id="72" name="Rectangle 6"/>
          <p:cNvSpPr>
            <a:spLocks noChangeArrowheads="1"/>
          </p:cNvSpPr>
          <p:nvPr/>
        </p:nvSpPr>
        <p:spPr bwMode="auto">
          <a:xfrm>
            <a:off x="971600" y="1011555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Trap Vector Table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" name="Rectangle 6"/>
          <p:cNvSpPr>
            <a:spLocks noChangeArrowheads="1"/>
          </p:cNvSpPr>
          <p:nvPr/>
        </p:nvSpPr>
        <p:spPr bwMode="auto">
          <a:xfrm>
            <a:off x="971600" y="1550678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Interrupt Vector Table</a:t>
            </a:r>
          </a:p>
        </p:txBody>
      </p:sp>
      <p:sp>
        <p:nvSpPr>
          <p:cNvPr id="74" name="Rectangle 6"/>
          <p:cNvSpPr>
            <a:spLocks noChangeArrowheads="1"/>
          </p:cNvSpPr>
          <p:nvPr/>
        </p:nvSpPr>
        <p:spPr bwMode="auto">
          <a:xfrm>
            <a:off x="971600" y="2080438"/>
            <a:ext cx="2450678" cy="93800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Operating System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and Supervisor Stack</a:t>
            </a:r>
          </a:p>
        </p:txBody>
      </p:sp>
      <p:sp>
        <p:nvSpPr>
          <p:cNvPr id="75" name="Text Box 10"/>
          <p:cNvSpPr txBox="1">
            <a:spLocks noChangeArrowheads="1"/>
          </p:cNvSpPr>
          <p:nvPr/>
        </p:nvSpPr>
        <p:spPr bwMode="auto">
          <a:xfrm>
            <a:off x="215608" y="1310549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0x00FF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Text Box 10"/>
          <p:cNvSpPr txBox="1">
            <a:spLocks noChangeArrowheads="1"/>
          </p:cNvSpPr>
          <p:nvPr/>
        </p:nvSpPr>
        <p:spPr bwMode="auto">
          <a:xfrm>
            <a:off x="215608" y="1526573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0x0100</a:t>
            </a: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215608" y="1834350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0x01FF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215608" y="2050374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0x0200</a:t>
            </a: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209964" y="2780928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0x2FFF</a:t>
            </a:r>
          </a:p>
        </p:txBody>
      </p:sp>
      <p:sp>
        <p:nvSpPr>
          <p:cNvPr id="80" name="Text Box 10"/>
          <p:cNvSpPr txBox="1">
            <a:spLocks noChangeArrowheads="1"/>
          </p:cNvSpPr>
          <p:nvPr/>
        </p:nvSpPr>
        <p:spPr bwMode="auto">
          <a:xfrm>
            <a:off x="209964" y="299695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0x3000</a:t>
            </a: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215608" y="588674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0xFDFF</a:t>
            </a:r>
          </a:p>
        </p:txBody>
      </p:sp>
      <p:sp>
        <p:nvSpPr>
          <p:cNvPr id="82" name="Text Box 11"/>
          <p:cNvSpPr txBox="1">
            <a:spLocks noChangeArrowheads="1"/>
          </p:cNvSpPr>
          <p:nvPr/>
        </p:nvSpPr>
        <p:spPr bwMode="auto">
          <a:xfrm>
            <a:off x="215608" y="6104329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0xFE00</a:t>
            </a:r>
          </a:p>
        </p:txBody>
      </p:sp>
      <p:sp>
        <p:nvSpPr>
          <p:cNvPr id="84" name="Rectangle 6"/>
          <p:cNvSpPr>
            <a:spLocks noChangeArrowheads="1"/>
          </p:cNvSpPr>
          <p:nvPr/>
        </p:nvSpPr>
        <p:spPr bwMode="auto">
          <a:xfrm>
            <a:off x="971600" y="5661248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Run-time stack</a:t>
            </a:r>
          </a:p>
        </p:txBody>
      </p:sp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971600" y="2996952"/>
            <a:ext cx="2450678" cy="66138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Program Text</a:t>
            </a:r>
          </a:p>
        </p:txBody>
      </p:sp>
      <p:sp>
        <p:nvSpPr>
          <p:cNvPr id="86" name="Rectangle 6"/>
          <p:cNvSpPr>
            <a:spLocks noChangeArrowheads="1"/>
          </p:cNvSpPr>
          <p:nvPr/>
        </p:nvSpPr>
        <p:spPr bwMode="auto">
          <a:xfrm>
            <a:off x="971600" y="3658337"/>
            <a:ext cx="2450678" cy="49074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Global data section</a:t>
            </a: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971600" y="4149080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Heap (for dynamically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allocated memory)</a:t>
            </a:r>
          </a:p>
        </p:txBody>
      </p:sp>
      <p:cxnSp>
        <p:nvCxnSpPr>
          <p:cNvPr id="89" name="直接箭头连接符 88"/>
          <p:cNvCxnSpPr/>
          <p:nvPr/>
        </p:nvCxnSpPr>
        <p:spPr bwMode="auto">
          <a:xfrm>
            <a:off x="2196939" y="4653136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直接箭头连接符 90"/>
          <p:cNvCxnSpPr/>
          <p:nvPr/>
        </p:nvCxnSpPr>
        <p:spPr bwMode="auto">
          <a:xfrm flipV="1">
            <a:off x="2195736" y="5246805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Line 15"/>
          <p:cNvSpPr>
            <a:spLocks noChangeShapeType="1"/>
          </p:cNvSpPr>
          <p:nvPr/>
        </p:nvSpPr>
        <p:spPr bwMode="auto">
          <a:xfrm>
            <a:off x="3419872" y="594928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3968068" y="5805264"/>
            <a:ext cx="15778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R5 (frame pointer)</a:t>
            </a:r>
          </a:p>
        </p:txBody>
      </p:sp>
      <p:grpSp>
        <p:nvGrpSpPr>
          <p:cNvPr id="117" name="组合 116"/>
          <p:cNvGrpSpPr/>
          <p:nvPr/>
        </p:nvGrpSpPr>
        <p:grpSpPr>
          <a:xfrm>
            <a:off x="5796136" y="3749550"/>
            <a:ext cx="2592288" cy="2847802"/>
            <a:chOff x="5508104" y="3140968"/>
            <a:chExt cx="2592288" cy="2847802"/>
          </a:xfrm>
        </p:grpSpPr>
        <p:sp>
          <p:nvSpPr>
            <p:cNvPr id="99" name="Line 15"/>
            <p:cNvSpPr>
              <a:spLocks noChangeShapeType="1"/>
            </p:cNvSpPr>
            <p:nvPr/>
          </p:nvSpPr>
          <p:spPr bwMode="auto">
            <a:xfrm>
              <a:off x="7092280" y="458112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Text Box 14"/>
            <p:cNvSpPr txBox="1">
              <a:spLocks noChangeArrowheads="1"/>
            </p:cNvSpPr>
            <p:nvPr/>
          </p:nvSpPr>
          <p:spPr bwMode="auto">
            <a:xfrm>
              <a:off x="7640476" y="443711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R5 </a:t>
              </a:r>
            </a:p>
          </p:txBody>
        </p:sp>
        <p:sp>
          <p:nvSpPr>
            <p:cNvPr id="101" name="文本框 37"/>
            <p:cNvSpPr txBox="1">
              <a:spLocks noChangeArrowheads="1"/>
            </p:cNvSpPr>
            <p:nvPr/>
          </p:nvSpPr>
          <p:spPr bwMode="auto">
            <a:xfrm>
              <a:off x="5652120" y="3933056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Function2</a:t>
              </a:r>
            </a:p>
          </p:txBody>
        </p:sp>
        <p:sp>
          <p:nvSpPr>
            <p:cNvPr id="102" name="Line 17"/>
            <p:cNvSpPr>
              <a:spLocks noChangeShapeType="1"/>
            </p:cNvSpPr>
            <p:nvPr/>
          </p:nvSpPr>
          <p:spPr bwMode="auto">
            <a:xfrm>
              <a:off x="7092280" y="4077072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Text Box 14"/>
            <p:cNvSpPr txBox="1">
              <a:spLocks noChangeArrowheads="1"/>
            </p:cNvSpPr>
            <p:nvPr/>
          </p:nvSpPr>
          <p:spPr bwMode="auto">
            <a:xfrm>
              <a:off x="7654436" y="3913311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R6 </a:t>
              </a:r>
            </a:p>
          </p:txBody>
        </p:sp>
        <p:sp>
          <p:nvSpPr>
            <p:cNvPr id="104" name="Line 15"/>
            <p:cNvSpPr>
              <a:spLocks noChangeShapeType="1"/>
            </p:cNvSpPr>
            <p:nvPr/>
          </p:nvSpPr>
          <p:spPr bwMode="auto">
            <a:xfrm>
              <a:off x="7092280" y="386104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Text Box 14"/>
            <p:cNvSpPr txBox="1">
              <a:spLocks noChangeArrowheads="1"/>
            </p:cNvSpPr>
            <p:nvPr/>
          </p:nvSpPr>
          <p:spPr bwMode="auto">
            <a:xfrm>
              <a:off x="7640476" y="3645024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R5 </a:t>
              </a:r>
            </a:p>
          </p:txBody>
        </p:sp>
        <p:sp>
          <p:nvSpPr>
            <p:cNvPr id="106" name="Line 17"/>
            <p:cNvSpPr>
              <a:spLocks noChangeShapeType="1"/>
            </p:cNvSpPr>
            <p:nvPr/>
          </p:nvSpPr>
          <p:spPr bwMode="auto">
            <a:xfrm>
              <a:off x="7092280" y="3284984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Text Box 14"/>
            <p:cNvSpPr txBox="1">
              <a:spLocks noChangeArrowheads="1"/>
            </p:cNvSpPr>
            <p:nvPr/>
          </p:nvSpPr>
          <p:spPr bwMode="auto">
            <a:xfrm>
              <a:off x="7654436" y="3140968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R6 </a:t>
              </a:r>
            </a:p>
          </p:txBody>
        </p:sp>
        <p:sp>
          <p:nvSpPr>
            <p:cNvPr id="109" name="任意多边形 41"/>
            <p:cNvSpPr>
              <a:spLocks/>
            </p:cNvSpPr>
            <p:nvPr/>
          </p:nvSpPr>
          <p:spPr bwMode="auto">
            <a:xfrm>
              <a:off x="5508104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任意多边形 41"/>
            <p:cNvSpPr>
              <a:spLocks/>
            </p:cNvSpPr>
            <p:nvPr/>
          </p:nvSpPr>
          <p:spPr bwMode="auto">
            <a:xfrm>
              <a:off x="6903367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文本框 37"/>
            <p:cNvSpPr txBox="1">
              <a:spLocks noChangeArrowheads="1"/>
            </p:cNvSpPr>
            <p:nvPr/>
          </p:nvSpPr>
          <p:spPr bwMode="auto">
            <a:xfrm>
              <a:off x="5652120" y="5231175"/>
              <a:ext cx="1414462" cy="646097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Function3</a:t>
              </a:r>
            </a:p>
          </p:txBody>
        </p:sp>
        <p:sp>
          <p:nvSpPr>
            <p:cNvPr id="112" name="文本框 37"/>
            <p:cNvSpPr txBox="1">
              <a:spLocks noChangeArrowheads="1"/>
            </p:cNvSpPr>
            <p:nvPr/>
          </p:nvSpPr>
          <p:spPr bwMode="auto">
            <a:xfrm>
              <a:off x="5652120" y="3224855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Function1</a:t>
              </a:r>
            </a:p>
          </p:txBody>
        </p:sp>
        <p:sp>
          <p:nvSpPr>
            <p:cNvPr id="113" name="Line 15"/>
            <p:cNvSpPr>
              <a:spLocks noChangeShapeType="1"/>
            </p:cNvSpPr>
            <p:nvPr/>
          </p:nvSpPr>
          <p:spPr bwMode="auto">
            <a:xfrm>
              <a:off x="7092280" y="5825009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Text Box 14"/>
            <p:cNvSpPr txBox="1">
              <a:spLocks noChangeArrowheads="1"/>
            </p:cNvSpPr>
            <p:nvPr/>
          </p:nvSpPr>
          <p:spPr bwMode="auto">
            <a:xfrm>
              <a:off x="7640476" y="5680993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R5 </a:t>
              </a:r>
            </a:p>
          </p:txBody>
        </p:sp>
        <p:sp>
          <p:nvSpPr>
            <p:cNvPr id="115" name="Line 17"/>
            <p:cNvSpPr>
              <a:spLocks noChangeShapeType="1"/>
            </p:cNvSpPr>
            <p:nvPr/>
          </p:nvSpPr>
          <p:spPr bwMode="auto">
            <a:xfrm>
              <a:off x="7092280" y="5320953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Text Box 14"/>
            <p:cNvSpPr txBox="1">
              <a:spLocks noChangeArrowheads="1"/>
            </p:cNvSpPr>
            <p:nvPr/>
          </p:nvSpPr>
          <p:spPr bwMode="auto">
            <a:xfrm>
              <a:off x="7654436" y="515719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R6 </a:t>
              </a:r>
            </a:p>
          </p:txBody>
        </p:sp>
      </p:grpSp>
      <p:cxnSp>
        <p:nvCxnSpPr>
          <p:cNvPr id="119" name="直接连接符 118"/>
          <p:cNvCxnSpPr/>
          <p:nvPr/>
        </p:nvCxnSpPr>
        <p:spPr bwMode="auto">
          <a:xfrm flipV="1">
            <a:off x="3419872" y="3850635"/>
            <a:ext cx="2505484" cy="18106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直接连接符 119"/>
          <p:cNvCxnSpPr/>
          <p:nvPr/>
        </p:nvCxnSpPr>
        <p:spPr bwMode="auto">
          <a:xfrm>
            <a:off x="3430674" y="6131330"/>
            <a:ext cx="2480017" cy="361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4883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1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The Stack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Memory Model for Program Execution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7">
            <a:extLst>
              <a:ext uri="{FF2B5EF4-FFF2-40B4-BE49-F238E27FC236}">
                <a16:creationId xmlns:a16="http://schemas.microsoft.com/office/drawing/2014/main" id="{DDB816B2-2491-4E3D-90F5-A8A01521E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9" name="矩形 17">
            <a:extLst>
              <a:ext uri="{FF2B5EF4-FFF2-40B4-BE49-F238E27FC236}">
                <a16:creationId xmlns:a16="http://schemas.microsoft.com/office/drawing/2014/main" id="{BA5ED58A-E5A4-48D8-A0FE-748D6C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ED5E725-6B72-4D25-8539-035BBA2CA310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7">
            <a:extLst>
              <a:ext uri="{FF2B5EF4-FFF2-40B4-BE49-F238E27FC236}">
                <a16:creationId xmlns:a16="http://schemas.microsoft.com/office/drawing/2014/main" id="{A88B4B72-9227-4996-AD60-AF3A9320D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5F7A6B8F-A5E9-428C-B828-7EF6CE9CF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Implementing Functions in C Using a Stack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74B0DA5-6E6F-4CCB-884F-1F416E0033A8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73002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Stack: An Abstract Data Type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An important abstraction that you will encounter in many applications.</a:t>
            </a:r>
            <a:endParaRPr lang="zh-CN" altLang="zh-CN" dirty="0"/>
          </a:p>
          <a:p>
            <a:pPr lvl="0"/>
            <a:r>
              <a:rPr lang="en-US" altLang="zh-CN" dirty="0"/>
              <a:t>The fundamental model for execution of C, Java, Fortran, and many other languages.</a:t>
            </a:r>
            <a:endParaRPr lang="zh-CN" altLang="zh-CN" dirty="0"/>
          </a:p>
          <a:p>
            <a:pPr lvl="0"/>
            <a:r>
              <a:rPr lang="en-US" altLang="zh-CN" dirty="0"/>
              <a:t>We will describe two applications of the stack:</a:t>
            </a:r>
            <a:endParaRPr lang="zh-CN" altLang="zh-CN" dirty="0"/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Evaluating arithmetic expressions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Store intermediate results on stack instead of in registers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Function calls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Store parameters, return values, return address, dynamic link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Interrupt-Driven I/O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/>
              <a:t>Store processor state for currently executing program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268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F5340B-284A-4233-A915-C7A4CF540BC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01AAAE-3D61-42EA-BFA4-DC34639FA37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Stack Data Structure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LIFO (last-in first-out) storage structure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US" altLang="zh-CN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thing you put in is the </a:t>
            </a:r>
            <a:r>
              <a:rPr lang="en-US" altLang="zh-CN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thing you take out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US" altLang="zh-CN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thing you put in is the </a:t>
            </a:r>
            <a:r>
              <a:rPr lang="en-US" altLang="zh-CN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thing you take out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This means of access is what defines a stack, not the specific implementation.</a:t>
            </a:r>
            <a:endParaRPr lang="en-US" altLang="zh-CN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/>
              <a:t>Two main operations</a:t>
            </a:r>
          </a:p>
          <a:p>
            <a:pPr lvl="1"/>
            <a:r>
              <a:rPr lang="en-US" altLang="zh-CN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PUSH: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add an item to the stack</a:t>
            </a:r>
          </a:p>
          <a:p>
            <a:pPr lvl="1"/>
            <a:r>
              <a:rPr lang="en-US" altLang="zh-CN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POP: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remove an item from the stack</a:t>
            </a:r>
            <a:endParaRPr lang="en-US" altLang="zh-CN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Error conditions: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Underflow (try to pop from empty stack)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Overflow (try to push onto full stack)</a:t>
            </a:r>
            <a:endParaRPr lang="en-US" altLang="zh-CN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 register (</a:t>
            </a:r>
            <a:r>
              <a:rPr lang="en-US" altLang="zh-CN" dirty="0" err="1">
                <a:ea typeface="宋体" panose="02010600030101010101" pitchFamily="2" charset="-122"/>
              </a:rPr>
              <a:t>eg</a:t>
            </a:r>
            <a:r>
              <a:rPr lang="en-US" altLang="zh-CN" dirty="0">
                <a:ea typeface="宋体" panose="02010600030101010101" pitchFamily="2" charset="-122"/>
              </a:rPr>
              <a:t>. R6) holds address of top of stack (TOS)</a:t>
            </a:r>
          </a:p>
        </p:txBody>
      </p:sp>
    </p:spTree>
    <p:extLst>
      <p:ext uri="{BB962C8B-B14F-4D97-AF65-F5344CB8AC3E}">
        <p14:creationId xmlns:p14="http://schemas.microsoft.com/office/powerpoint/2010/main" val="408447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2E03FF-9798-42A2-BEE4-1315AD6A100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27726B-4B34-452A-8F5D-AE835370D1C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 Physical Stack</a:t>
            </a:r>
            <a:endParaRPr lang="zh-CN" altLang="en-US" b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39200" cy="647700"/>
          </a:xfrm>
        </p:spPr>
        <p:txBody>
          <a:bodyPr/>
          <a:lstStyle/>
          <a:p>
            <a:r>
              <a:rPr lang="en-US" altLang="zh-CN"/>
              <a:t>Coin holder</a:t>
            </a:r>
            <a:endParaRPr lang="zh-CN" altLang="en-US"/>
          </a:p>
        </p:txBody>
      </p:sp>
      <p:sp>
        <p:nvSpPr>
          <p:cNvPr id="9223" name="Text Box 5"/>
          <p:cNvSpPr txBox="1">
            <a:spLocks noChangeArrowheads="1"/>
          </p:cNvSpPr>
          <p:nvPr/>
        </p:nvSpPr>
        <p:spPr bwMode="auto">
          <a:xfrm>
            <a:off x="539750" y="5300663"/>
            <a:ext cx="6511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Last quarter in is the first quarter out (LIFO)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609600" y="2133600"/>
            <a:ext cx="1371600" cy="2209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AutoShape 5" descr="Dark downward diagonal"/>
          <p:cNvSpPr>
            <a:spLocks noChangeArrowheads="1"/>
          </p:cNvSpPr>
          <p:nvPr/>
        </p:nvSpPr>
        <p:spPr bwMode="auto">
          <a:xfrm>
            <a:off x="762000" y="2133600"/>
            <a:ext cx="1066800" cy="228600"/>
          </a:xfrm>
          <a:prstGeom prst="roundRect">
            <a:avLst>
              <a:gd name="adj" fmla="val 16667"/>
            </a:avLst>
          </a:prstGeom>
          <a:pattFill prst="dkDnDiag">
            <a:fgClr>
              <a:srgbClr val="996600"/>
            </a:fgClr>
            <a:bgClr>
              <a:srgbClr val="FFFFFF"/>
            </a:bgClr>
          </a:patt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34" name="Freeform 17"/>
          <p:cNvSpPr>
            <a:spLocks/>
          </p:cNvSpPr>
          <p:nvPr/>
        </p:nvSpPr>
        <p:spPr bwMode="auto">
          <a:xfrm>
            <a:off x="1054100" y="2362200"/>
            <a:ext cx="393700" cy="1981200"/>
          </a:xfrm>
          <a:custGeom>
            <a:avLst/>
            <a:gdLst>
              <a:gd name="T0" fmla="*/ 200 w 248"/>
              <a:gd name="T1" fmla="*/ 0 h 1248"/>
              <a:gd name="T2" fmla="*/ 8 w 248"/>
              <a:gd name="T3" fmla="*/ 144 h 1248"/>
              <a:gd name="T4" fmla="*/ 248 w 248"/>
              <a:gd name="T5" fmla="*/ 288 h 1248"/>
              <a:gd name="T6" fmla="*/ 8 w 248"/>
              <a:gd name="T7" fmla="*/ 432 h 1248"/>
              <a:gd name="T8" fmla="*/ 248 w 248"/>
              <a:gd name="T9" fmla="*/ 576 h 1248"/>
              <a:gd name="T10" fmla="*/ 8 w 248"/>
              <a:gd name="T11" fmla="*/ 720 h 1248"/>
              <a:gd name="T12" fmla="*/ 248 w 248"/>
              <a:gd name="T13" fmla="*/ 864 h 1248"/>
              <a:gd name="T14" fmla="*/ 8 w 248"/>
              <a:gd name="T15" fmla="*/ 1008 h 1248"/>
              <a:gd name="T16" fmla="*/ 248 w 248"/>
              <a:gd name="T17" fmla="*/ 1152 h 1248"/>
              <a:gd name="T18" fmla="*/ 8 w 248"/>
              <a:gd name="T19" fmla="*/ 1248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8" h="1248">
                <a:moveTo>
                  <a:pt x="200" y="0"/>
                </a:moveTo>
                <a:cubicBezTo>
                  <a:pt x="100" y="48"/>
                  <a:pt x="0" y="96"/>
                  <a:pt x="8" y="144"/>
                </a:cubicBezTo>
                <a:cubicBezTo>
                  <a:pt x="16" y="192"/>
                  <a:pt x="248" y="240"/>
                  <a:pt x="248" y="288"/>
                </a:cubicBezTo>
                <a:cubicBezTo>
                  <a:pt x="248" y="336"/>
                  <a:pt x="8" y="384"/>
                  <a:pt x="8" y="432"/>
                </a:cubicBezTo>
                <a:cubicBezTo>
                  <a:pt x="8" y="480"/>
                  <a:pt x="248" y="528"/>
                  <a:pt x="248" y="576"/>
                </a:cubicBezTo>
                <a:cubicBezTo>
                  <a:pt x="248" y="624"/>
                  <a:pt x="8" y="672"/>
                  <a:pt x="8" y="720"/>
                </a:cubicBezTo>
                <a:cubicBezTo>
                  <a:pt x="8" y="768"/>
                  <a:pt x="248" y="816"/>
                  <a:pt x="248" y="864"/>
                </a:cubicBezTo>
                <a:cubicBezTo>
                  <a:pt x="248" y="912"/>
                  <a:pt x="8" y="960"/>
                  <a:pt x="8" y="1008"/>
                </a:cubicBezTo>
                <a:cubicBezTo>
                  <a:pt x="8" y="1056"/>
                  <a:pt x="248" y="1112"/>
                  <a:pt x="248" y="1152"/>
                </a:cubicBezTo>
                <a:cubicBezTo>
                  <a:pt x="248" y="1192"/>
                  <a:pt x="48" y="1232"/>
                  <a:pt x="8" y="1248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Rectangle 18"/>
          <p:cNvSpPr>
            <a:spLocks noChangeArrowheads="1"/>
          </p:cNvSpPr>
          <p:nvPr/>
        </p:nvSpPr>
        <p:spPr bwMode="auto">
          <a:xfrm>
            <a:off x="2768600" y="2133600"/>
            <a:ext cx="1371600" cy="2209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AutoShape 19" descr="Dark downward diagonal"/>
          <p:cNvSpPr>
            <a:spLocks noChangeArrowheads="1"/>
          </p:cNvSpPr>
          <p:nvPr/>
        </p:nvSpPr>
        <p:spPr bwMode="auto">
          <a:xfrm>
            <a:off x="2921000" y="2362200"/>
            <a:ext cx="1066800" cy="228600"/>
          </a:xfrm>
          <a:prstGeom prst="roundRect">
            <a:avLst>
              <a:gd name="adj" fmla="val 16667"/>
            </a:avLst>
          </a:prstGeom>
          <a:pattFill prst="dkDnDiag">
            <a:fgClr>
              <a:srgbClr val="996600"/>
            </a:fgClr>
            <a:bgClr>
              <a:srgbClr val="FFFFFF"/>
            </a:bgClr>
          </a:patt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37" name="Freeform 20"/>
          <p:cNvSpPr>
            <a:spLocks/>
          </p:cNvSpPr>
          <p:nvPr/>
        </p:nvSpPr>
        <p:spPr bwMode="auto">
          <a:xfrm>
            <a:off x="3213100" y="2590800"/>
            <a:ext cx="393700" cy="1752600"/>
          </a:xfrm>
          <a:custGeom>
            <a:avLst/>
            <a:gdLst>
              <a:gd name="T0" fmla="*/ 200 w 248"/>
              <a:gd name="T1" fmla="*/ 0 h 1248"/>
              <a:gd name="T2" fmla="*/ 8 w 248"/>
              <a:gd name="T3" fmla="*/ 144 h 1248"/>
              <a:gd name="T4" fmla="*/ 248 w 248"/>
              <a:gd name="T5" fmla="*/ 288 h 1248"/>
              <a:gd name="T6" fmla="*/ 8 w 248"/>
              <a:gd name="T7" fmla="*/ 432 h 1248"/>
              <a:gd name="T8" fmla="*/ 248 w 248"/>
              <a:gd name="T9" fmla="*/ 576 h 1248"/>
              <a:gd name="T10" fmla="*/ 8 w 248"/>
              <a:gd name="T11" fmla="*/ 720 h 1248"/>
              <a:gd name="T12" fmla="*/ 248 w 248"/>
              <a:gd name="T13" fmla="*/ 864 h 1248"/>
              <a:gd name="T14" fmla="*/ 8 w 248"/>
              <a:gd name="T15" fmla="*/ 1008 h 1248"/>
              <a:gd name="T16" fmla="*/ 248 w 248"/>
              <a:gd name="T17" fmla="*/ 1152 h 1248"/>
              <a:gd name="T18" fmla="*/ 8 w 248"/>
              <a:gd name="T19" fmla="*/ 1248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8" h="1248">
                <a:moveTo>
                  <a:pt x="200" y="0"/>
                </a:moveTo>
                <a:cubicBezTo>
                  <a:pt x="100" y="48"/>
                  <a:pt x="0" y="96"/>
                  <a:pt x="8" y="144"/>
                </a:cubicBezTo>
                <a:cubicBezTo>
                  <a:pt x="16" y="192"/>
                  <a:pt x="248" y="240"/>
                  <a:pt x="248" y="288"/>
                </a:cubicBezTo>
                <a:cubicBezTo>
                  <a:pt x="248" y="336"/>
                  <a:pt x="8" y="384"/>
                  <a:pt x="8" y="432"/>
                </a:cubicBezTo>
                <a:cubicBezTo>
                  <a:pt x="8" y="480"/>
                  <a:pt x="248" y="528"/>
                  <a:pt x="248" y="576"/>
                </a:cubicBezTo>
                <a:cubicBezTo>
                  <a:pt x="248" y="624"/>
                  <a:pt x="8" y="672"/>
                  <a:pt x="8" y="720"/>
                </a:cubicBezTo>
                <a:cubicBezTo>
                  <a:pt x="8" y="768"/>
                  <a:pt x="248" y="816"/>
                  <a:pt x="248" y="864"/>
                </a:cubicBezTo>
                <a:cubicBezTo>
                  <a:pt x="248" y="912"/>
                  <a:pt x="8" y="960"/>
                  <a:pt x="8" y="1008"/>
                </a:cubicBezTo>
                <a:cubicBezTo>
                  <a:pt x="8" y="1056"/>
                  <a:pt x="248" y="1112"/>
                  <a:pt x="248" y="1152"/>
                </a:cubicBezTo>
                <a:cubicBezTo>
                  <a:pt x="248" y="1192"/>
                  <a:pt x="48" y="1232"/>
                  <a:pt x="8" y="1248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AutoShape 21"/>
          <p:cNvSpPr>
            <a:spLocks noChangeArrowheads="1"/>
          </p:cNvSpPr>
          <p:nvPr/>
        </p:nvSpPr>
        <p:spPr bwMode="auto">
          <a:xfrm>
            <a:off x="2768600" y="2133600"/>
            <a:ext cx="1371600" cy="228600"/>
          </a:xfrm>
          <a:prstGeom prst="roundRect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b="1">
                <a:ea typeface="宋体" panose="02010600030101010101" pitchFamily="2" charset="-122"/>
              </a:rPr>
              <a:t>1995</a:t>
            </a:r>
            <a:endParaRPr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Rectangle 22"/>
          <p:cNvSpPr>
            <a:spLocks noChangeArrowheads="1"/>
          </p:cNvSpPr>
          <p:nvPr/>
        </p:nvSpPr>
        <p:spPr bwMode="auto">
          <a:xfrm>
            <a:off x="4927600" y="2133600"/>
            <a:ext cx="1371600" cy="2209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AutoShape 23" descr="Dark downward diagonal"/>
          <p:cNvSpPr>
            <a:spLocks noChangeArrowheads="1"/>
          </p:cNvSpPr>
          <p:nvPr/>
        </p:nvSpPr>
        <p:spPr bwMode="auto">
          <a:xfrm>
            <a:off x="5080000" y="3048000"/>
            <a:ext cx="1066800" cy="228600"/>
          </a:xfrm>
          <a:prstGeom prst="roundRect">
            <a:avLst>
              <a:gd name="adj" fmla="val 16667"/>
            </a:avLst>
          </a:prstGeom>
          <a:pattFill prst="dkDnDiag">
            <a:fgClr>
              <a:srgbClr val="996600"/>
            </a:fgClr>
            <a:bgClr>
              <a:srgbClr val="FFFFFF"/>
            </a:bgClr>
          </a:patt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" name="Freeform 24"/>
          <p:cNvSpPr>
            <a:spLocks/>
          </p:cNvSpPr>
          <p:nvPr/>
        </p:nvSpPr>
        <p:spPr bwMode="auto">
          <a:xfrm>
            <a:off x="5372100" y="3276600"/>
            <a:ext cx="393700" cy="1066800"/>
          </a:xfrm>
          <a:custGeom>
            <a:avLst/>
            <a:gdLst>
              <a:gd name="T0" fmla="*/ 200 w 248"/>
              <a:gd name="T1" fmla="*/ 0 h 1248"/>
              <a:gd name="T2" fmla="*/ 8 w 248"/>
              <a:gd name="T3" fmla="*/ 144 h 1248"/>
              <a:gd name="T4" fmla="*/ 248 w 248"/>
              <a:gd name="T5" fmla="*/ 288 h 1248"/>
              <a:gd name="T6" fmla="*/ 8 w 248"/>
              <a:gd name="T7" fmla="*/ 432 h 1248"/>
              <a:gd name="T8" fmla="*/ 248 w 248"/>
              <a:gd name="T9" fmla="*/ 576 h 1248"/>
              <a:gd name="T10" fmla="*/ 8 w 248"/>
              <a:gd name="T11" fmla="*/ 720 h 1248"/>
              <a:gd name="T12" fmla="*/ 248 w 248"/>
              <a:gd name="T13" fmla="*/ 864 h 1248"/>
              <a:gd name="T14" fmla="*/ 8 w 248"/>
              <a:gd name="T15" fmla="*/ 1008 h 1248"/>
              <a:gd name="T16" fmla="*/ 248 w 248"/>
              <a:gd name="T17" fmla="*/ 1152 h 1248"/>
              <a:gd name="T18" fmla="*/ 8 w 248"/>
              <a:gd name="T19" fmla="*/ 1248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8" h="1248">
                <a:moveTo>
                  <a:pt x="200" y="0"/>
                </a:moveTo>
                <a:cubicBezTo>
                  <a:pt x="100" y="48"/>
                  <a:pt x="0" y="96"/>
                  <a:pt x="8" y="144"/>
                </a:cubicBezTo>
                <a:cubicBezTo>
                  <a:pt x="16" y="192"/>
                  <a:pt x="248" y="240"/>
                  <a:pt x="248" y="288"/>
                </a:cubicBezTo>
                <a:cubicBezTo>
                  <a:pt x="248" y="336"/>
                  <a:pt x="8" y="384"/>
                  <a:pt x="8" y="432"/>
                </a:cubicBezTo>
                <a:cubicBezTo>
                  <a:pt x="8" y="480"/>
                  <a:pt x="248" y="528"/>
                  <a:pt x="248" y="576"/>
                </a:cubicBezTo>
                <a:cubicBezTo>
                  <a:pt x="248" y="624"/>
                  <a:pt x="8" y="672"/>
                  <a:pt x="8" y="720"/>
                </a:cubicBezTo>
                <a:cubicBezTo>
                  <a:pt x="8" y="768"/>
                  <a:pt x="248" y="816"/>
                  <a:pt x="248" y="864"/>
                </a:cubicBezTo>
                <a:cubicBezTo>
                  <a:pt x="248" y="912"/>
                  <a:pt x="8" y="960"/>
                  <a:pt x="8" y="1008"/>
                </a:cubicBezTo>
                <a:cubicBezTo>
                  <a:pt x="8" y="1056"/>
                  <a:pt x="248" y="1112"/>
                  <a:pt x="248" y="1152"/>
                </a:cubicBezTo>
                <a:cubicBezTo>
                  <a:pt x="248" y="1192"/>
                  <a:pt x="48" y="1232"/>
                  <a:pt x="8" y="1248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AutoShape 25"/>
          <p:cNvSpPr>
            <a:spLocks noChangeArrowheads="1"/>
          </p:cNvSpPr>
          <p:nvPr/>
        </p:nvSpPr>
        <p:spPr bwMode="auto">
          <a:xfrm>
            <a:off x="4927600" y="2133600"/>
            <a:ext cx="1371600" cy="228600"/>
          </a:xfrm>
          <a:prstGeom prst="roundRect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b="1">
                <a:ea typeface="宋体" panose="02010600030101010101" pitchFamily="2" charset="-122"/>
              </a:rPr>
              <a:t>1996</a:t>
            </a:r>
            <a:endParaRPr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AutoShape 26"/>
          <p:cNvSpPr>
            <a:spLocks noChangeArrowheads="1"/>
          </p:cNvSpPr>
          <p:nvPr/>
        </p:nvSpPr>
        <p:spPr bwMode="auto">
          <a:xfrm>
            <a:off x="4927600" y="2362200"/>
            <a:ext cx="1371600" cy="228600"/>
          </a:xfrm>
          <a:prstGeom prst="roundRect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b="1">
                <a:ea typeface="宋体" panose="02010600030101010101" pitchFamily="2" charset="-122"/>
              </a:rPr>
              <a:t>1998</a:t>
            </a:r>
            <a:endParaRPr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AutoShape 27"/>
          <p:cNvSpPr>
            <a:spLocks noChangeArrowheads="1"/>
          </p:cNvSpPr>
          <p:nvPr/>
        </p:nvSpPr>
        <p:spPr bwMode="auto">
          <a:xfrm>
            <a:off x="4927600" y="2590800"/>
            <a:ext cx="1371600" cy="228600"/>
          </a:xfrm>
          <a:prstGeom prst="roundRect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b="1">
                <a:ea typeface="宋体" panose="02010600030101010101" pitchFamily="2" charset="-122"/>
              </a:rPr>
              <a:t>1982</a:t>
            </a:r>
            <a:endParaRPr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AutoShape 28"/>
          <p:cNvSpPr>
            <a:spLocks noChangeArrowheads="1"/>
          </p:cNvSpPr>
          <p:nvPr/>
        </p:nvSpPr>
        <p:spPr bwMode="auto">
          <a:xfrm>
            <a:off x="4927600" y="2819400"/>
            <a:ext cx="1371600" cy="228600"/>
          </a:xfrm>
          <a:prstGeom prst="roundRect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b="1">
                <a:ea typeface="宋体" panose="02010600030101010101" pitchFamily="2" charset="-122"/>
              </a:rPr>
              <a:t>1995</a:t>
            </a:r>
            <a:endParaRPr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Rectangle 29"/>
          <p:cNvSpPr>
            <a:spLocks noChangeArrowheads="1"/>
          </p:cNvSpPr>
          <p:nvPr/>
        </p:nvSpPr>
        <p:spPr bwMode="auto">
          <a:xfrm>
            <a:off x="7086600" y="2133600"/>
            <a:ext cx="1371600" cy="2209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AutoShape 30" descr="Dark downward diagonal"/>
          <p:cNvSpPr>
            <a:spLocks noChangeArrowheads="1"/>
          </p:cNvSpPr>
          <p:nvPr/>
        </p:nvSpPr>
        <p:spPr bwMode="auto">
          <a:xfrm>
            <a:off x="7239000" y="2819400"/>
            <a:ext cx="1066800" cy="228600"/>
          </a:xfrm>
          <a:prstGeom prst="roundRect">
            <a:avLst>
              <a:gd name="adj" fmla="val 16667"/>
            </a:avLst>
          </a:prstGeom>
          <a:pattFill prst="dkDnDiag">
            <a:fgClr>
              <a:srgbClr val="996600"/>
            </a:fgClr>
            <a:bgClr>
              <a:srgbClr val="FFFFFF"/>
            </a:bgClr>
          </a:patt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8" name="Freeform 31"/>
          <p:cNvSpPr>
            <a:spLocks/>
          </p:cNvSpPr>
          <p:nvPr/>
        </p:nvSpPr>
        <p:spPr bwMode="auto">
          <a:xfrm>
            <a:off x="7531100" y="3048000"/>
            <a:ext cx="393700" cy="1295400"/>
          </a:xfrm>
          <a:custGeom>
            <a:avLst/>
            <a:gdLst>
              <a:gd name="T0" fmla="*/ 200 w 248"/>
              <a:gd name="T1" fmla="*/ 0 h 1248"/>
              <a:gd name="T2" fmla="*/ 8 w 248"/>
              <a:gd name="T3" fmla="*/ 144 h 1248"/>
              <a:gd name="T4" fmla="*/ 248 w 248"/>
              <a:gd name="T5" fmla="*/ 288 h 1248"/>
              <a:gd name="T6" fmla="*/ 8 w 248"/>
              <a:gd name="T7" fmla="*/ 432 h 1248"/>
              <a:gd name="T8" fmla="*/ 248 w 248"/>
              <a:gd name="T9" fmla="*/ 576 h 1248"/>
              <a:gd name="T10" fmla="*/ 8 w 248"/>
              <a:gd name="T11" fmla="*/ 720 h 1248"/>
              <a:gd name="T12" fmla="*/ 248 w 248"/>
              <a:gd name="T13" fmla="*/ 864 h 1248"/>
              <a:gd name="T14" fmla="*/ 8 w 248"/>
              <a:gd name="T15" fmla="*/ 1008 h 1248"/>
              <a:gd name="T16" fmla="*/ 248 w 248"/>
              <a:gd name="T17" fmla="*/ 1152 h 1248"/>
              <a:gd name="T18" fmla="*/ 8 w 248"/>
              <a:gd name="T19" fmla="*/ 1248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8" h="1248">
                <a:moveTo>
                  <a:pt x="200" y="0"/>
                </a:moveTo>
                <a:cubicBezTo>
                  <a:pt x="100" y="48"/>
                  <a:pt x="0" y="96"/>
                  <a:pt x="8" y="144"/>
                </a:cubicBezTo>
                <a:cubicBezTo>
                  <a:pt x="16" y="192"/>
                  <a:pt x="248" y="240"/>
                  <a:pt x="248" y="288"/>
                </a:cubicBezTo>
                <a:cubicBezTo>
                  <a:pt x="248" y="336"/>
                  <a:pt x="8" y="384"/>
                  <a:pt x="8" y="432"/>
                </a:cubicBezTo>
                <a:cubicBezTo>
                  <a:pt x="8" y="480"/>
                  <a:pt x="248" y="528"/>
                  <a:pt x="248" y="576"/>
                </a:cubicBezTo>
                <a:cubicBezTo>
                  <a:pt x="248" y="624"/>
                  <a:pt x="8" y="672"/>
                  <a:pt x="8" y="720"/>
                </a:cubicBezTo>
                <a:cubicBezTo>
                  <a:pt x="8" y="768"/>
                  <a:pt x="248" y="816"/>
                  <a:pt x="248" y="864"/>
                </a:cubicBezTo>
                <a:cubicBezTo>
                  <a:pt x="248" y="912"/>
                  <a:pt x="8" y="960"/>
                  <a:pt x="8" y="1008"/>
                </a:cubicBezTo>
                <a:cubicBezTo>
                  <a:pt x="8" y="1056"/>
                  <a:pt x="248" y="1112"/>
                  <a:pt x="248" y="1152"/>
                </a:cubicBezTo>
                <a:cubicBezTo>
                  <a:pt x="248" y="1192"/>
                  <a:pt x="48" y="1232"/>
                  <a:pt x="8" y="1248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AutoShape 33"/>
          <p:cNvSpPr>
            <a:spLocks noChangeArrowheads="1"/>
          </p:cNvSpPr>
          <p:nvPr/>
        </p:nvSpPr>
        <p:spPr bwMode="auto">
          <a:xfrm>
            <a:off x="7086600" y="2133600"/>
            <a:ext cx="1371600" cy="228600"/>
          </a:xfrm>
          <a:prstGeom prst="roundRect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b="1">
                <a:ea typeface="宋体" panose="02010600030101010101" pitchFamily="2" charset="-122"/>
              </a:rPr>
              <a:t>1998</a:t>
            </a:r>
            <a:endParaRPr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AutoShape 34"/>
          <p:cNvSpPr>
            <a:spLocks noChangeArrowheads="1"/>
          </p:cNvSpPr>
          <p:nvPr/>
        </p:nvSpPr>
        <p:spPr bwMode="auto">
          <a:xfrm>
            <a:off x="7086600" y="2362200"/>
            <a:ext cx="1371600" cy="228600"/>
          </a:xfrm>
          <a:prstGeom prst="roundRect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b="1">
                <a:ea typeface="宋体" panose="02010600030101010101" pitchFamily="2" charset="-122"/>
              </a:rPr>
              <a:t>1982</a:t>
            </a:r>
            <a:endParaRPr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AutoShape 35"/>
          <p:cNvSpPr>
            <a:spLocks noChangeArrowheads="1"/>
          </p:cNvSpPr>
          <p:nvPr/>
        </p:nvSpPr>
        <p:spPr bwMode="auto">
          <a:xfrm>
            <a:off x="7086600" y="2590800"/>
            <a:ext cx="1371600" cy="228600"/>
          </a:xfrm>
          <a:prstGeom prst="roundRect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b="1">
                <a:ea typeface="宋体" panose="02010600030101010101" pitchFamily="2" charset="-122"/>
              </a:rPr>
              <a:t>1995</a:t>
            </a:r>
            <a:endParaRPr lang="en-US" altLang="zh-CN" sz="24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Text Box 46"/>
          <p:cNvSpPr txBox="1">
            <a:spLocks noChangeArrowheads="1"/>
          </p:cNvSpPr>
          <p:nvPr/>
        </p:nvSpPr>
        <p:spPr bwMode="auto">
          <a:xfrm>
            <a:off x="515283" y="4495800"/>
            <a:ext cx="14157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>
                <a:solidFill>
                  <a:srgbClr val="CE0000"/>
                </a:solidFill>
                <a:ea typeface="宋体" panose="02010600030101010101" pitchFamily="2" charset="-122"/>
              </a:rPr>
              <a:t>Initial State</a:t>
            </a:r>
            <a:endParaRPr lang="en-US" altLang="zh-CN" b="1" baseline="0">
              <a:ea typeface="宋体" panose="02010600030101010101" pitchFamily="2" charset="-122"/>
            </a:endParaRPr>
          </a:p>
        </p:txBody>
      </p:sp>
      <p:sp>
        <p:nvSpPr>
          <p:cNvPr id="53" name="Text Box 47"/>
          <p:cNvSpPr txBox="1">
            <a:spLocks noChangeArrowheads="1"/>
          </p:cNvSpPr>
          <p:nvPr/>
        </p:nvSpPr>
        <p:spPr bwMode="auto">
          <a:xfrm>
            <a:off x="2836952" y="4495800"/>
            <a:ext cx="12618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>
                <a:solidFill>
                  <a:srgbClr val="CE0000"/>
                </a:solidFill>
                <a:ea typeface="宋体" panose="02010600030101010101" pitchFamily="2" charset="-122"/>
              </a:rPr>
              <a:t>After</a:t>
            </a:r>
          </a:p>
          <a:p>
            <a:pPr algn="ctr"/>
            <a:r>
              <a:rPr lang="en-US" altLang="zh-CN" b="1" baseline="0">
                <a:solidFill>
                  <a:srgbClr val="CE0000"/>
                </a:solidFill>
                <a:ea typeface="宋体" panose="02010600030101010101" pitchFamily="2" charset="-122"/>
              </a:rPr>
              <a:t>One Push</a:t>
            </a:r>
            <a:endParaRPr lang="en-US" altLang="zh-CN" b="1" baseline="0">
              <a:ea typeface="宋体" panose="02010600030101010101" pitchFamily="2" charset="-122"/>
            </a:endParaRPr>
          </a:p>
        </p:txBody>
      </p:sp>
      <p:sp>
        <p:nvSpPr>
          <p:cNvPr id="54" name="Text Box 48"/>
          <p:cNvSpPr txBox="1">
            <a:spLocks noChangeArrowheads="1"/>
          </p:cNvSpPr>
          <p:nvPr/>
        </p:nvSpPr>
        <p:spPr bwMode="auto">
          <a:xfrm>
            <a:off x="4806096" y="4495800"/>
            <a:ext cx="16209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>
                <a:solidFill>
                  <a:srgbClr val="CE0000"/>
                </a:solidFill>
                <a:ea typeface="宋体" panose="02010600030101010101" pitchFamily="2" charset="-122"/>
              </a:rPr>
              <a:t>After Three </a:t>
            </a:r>
          </a:p>
          <a:p>
            <a:pPr algn="ctr"/>
            <a:r>
              <a:rPr lang="en-US" altLang="zh-CN" b="1" baseline="0">
                <a:solidFill>
                  <a:srgbClr val="CE0000"/>
                </a:solidFill>
                <a:ea typeface="宋体" panose="02010600030101010101" pitchFamily="2" charset="-122"/>
              </a:rPr>
              <a:t>More Pushes</a:t>
            </a:r>
            <a:endParaRPr lang="en-US" altLang="zh-CN" b="1" baseline="0">
              <a:ea typeface="宋体" panose="02010600030101010101" pitchFamily="2" charset="-122"/>
            </a:endParaRPr>
          </a:p>
        </p:txBody>
      </p:sp>
      <p:sp>
        <p:nvSpPr>
          <p:cNvPr id="55" name="Text Box 49"/>
          <p:cNvSpPr txBox="1">
            <a:spLocks noChangeArrowheads="1"/>
          </p:cNvSpPr>
          <p:nvPr/>
        </p:nvSpPr>
        <p:spPr bwMode="auto">
          <a:xfrm>
            <a:off x="7206372" y="4495800"/>
            <a:ext cx="11336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>
                <a:solidFill>
                  <a:srgbClr val="CE0000"/>
                </a:solidFill>
                <a:ea typeface="宋体" panose="02010600030101010101" pitchFamily="2" charset="-122"/>
              </a:rPr>
              <a:t>After</a:t>
            </a:r>
          </a:p>
          <a:p>
            <a:pPr algn="ctr"/>
            <a:r>
              <a:rPr lang="en-US" altLang="zh-CN" b="1" baseline="0">
                <a:solidFill>
                  <a:srgbClr val="CE0000"/>
                </a:solidFill>
                <a:ea typeface="宋体" panose="02010600030101010101" pitchFamily="2" charset="-122"/>
              </a:rPr>
              <a:t>One Pop</a:t>
            </a:r>
            <a:endParaRPr lang="en-US" altLang="zh-CN" b="1" baseline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3960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Hardware Stack 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 items move between registers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90153" y="2815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90153" y="3196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90153" y="3577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90153" y="3958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90153" y="4339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123553" y="2358736"/>
            <a:ext cx="609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600">
                <a:ea typeface="宋体" panose="02010600030101010101" pitchFamily="2" charset="-122"/>
              </a:rPr>
              <a:t>Yes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67878" y="2319049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800">
                <a:ea typeface="宋体" panose="02010600030101010101" pitchFamily="2" charset="-122"/>
              </a:rPr>
              <a:t>Empty: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993503" y="2777836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TOP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flipH="1">
            <a:off x="1809353" y="2968336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Rectangle 31"/>
          <p:cNvSpPr>
            <a:spLocks noChangeArrowheads="1"/>
          </p:cNvSpPr>
          <p:nvPr/>
        </p:nvSpPr>
        <p:spPr bwMode="auto">
          <a:xfrm>
            <a:off x="2758678" y="2815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#18</a:t>
            </a:r>
          </a:p>
        </p:txBody>
      </p:sp>
      <p:sp>
        <p:nvSpPr>
          <p:cNvPr id="17" name="Rectangle 32"/>
          <p:cNvSpPr>
            <a:spLocks noChangeArrowheads="1"/>
          </p:cNvSpPr>
          <p:nvPr/>
        </p:nvSpPr>
        <p:spPr bwMode="auto">
          <a:xfrm>
            <a:off x="2758678" y="3196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18" name="Rectangle 33"/>
          <p:cNvSpPr>
            <a:spLocks noChangeArrowheads="1"/>
          </p:cNvSpPr>
          <p:nvPr/>
        </p:nvSpPr>
        <p:spPr bwMode="auto">
          <a:xfrm>
            <a:off x="2758678" y="3577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19" name="Rectangle 34"/>
          <p:cNvSpPr>
            <a:spLocks noChangeArrowheads="1"/>
          </p:cNvSpPr>
          <p:nvPr/>
        </p:nvSpPr>
        <p:spPr bwMode="auto">
          <a:xfrm>
            <a:off x="2758678" y="3958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2758678" y="4339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21" name="Rectangle 36"/>
          <p:cNvSpPr>
            <a:spLocks noChangeArrowheads="1"/>
          </p:cNvSpPr>
          <p:nvPr/>
        </p:nvSpPr>
        <p:spPr bwMode="auto">
          <a:xfrm>
            <a:off x="3292078" y="2358736"/>
            <a:ext cx="609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600">
                <a:ea typeface="宋体" panose="02010600030101010101" pitchFamily="2" charset="-122"/>
              </a:rPr>
              <a:t>No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22" name="Text Box 37"/>
          <p:cNvSpPr txBox="1">
            <a:spLocks noChangeArrowheads="1"/>
          </p:cNvSpPr>
          <p:nvPr/>
        </p:nvSpPr>
        <p:spPr bwMode="auto">
          <a:xfrm>
            <a:off x="2336403" y="2319049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800">
                <a:ea typeface="宋体" panose="02010600030101010101" pitchFamily="2" charset="-122"/>
              </a:rPr>
              <a:t>Empty:</a:t>
            </a:r>
          </a:p>
        </p:txBody>
      </p:sp>
      <p:sp>
        <p:nvSpPr>
          <p:cNvPr id="23" name="Text Box 38"/>
          <p:cNvSpPr txBox="1">
            <a:spLocks noChangeArrowheads="1"/>
          </p:cNvSpPr>
          <p:nvPr/>
        </p:nvSpPr>
        <p:spPr bwMode="auto">
          <a:xfrm>
            <a:off x="4162028" y="2777836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TOP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" name="Line 39"/>
          <p:cNvSpPr>
            <a:spLocks noChangeShapeType="1"/>
          </p:cNvSpPr>
          <p:nvPr/>
        </p:nvSpPr>
        <p:spPr bwMode="auto">
          <a:xfrm flipH="1">
            <a:off x="3977878" y="2968336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Rectangle 40"/>
          <p:cNvSpPr>
            <a:spLocks noChangeArrowheads="1"/>
          </p:cNvSpPr>
          <p:nvPr/>
        </p:nvSpPr>
        <p:spPr bwMode="auto">
          <a:xfrm>
            <a:off x="4927203" y="2815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#12</a:t>
            </a:r>
          </a:p>
        </p:txBody>
      </p:sp>
      <p:sp>
        <p:nvSpPr>
          <p:cNvPr id="26" name="Rectangle 41"/>
          <p:cNvSpPr>
            <a:spLocks noChangeArrowheads="1"/>
          </p:cNvSpPr>
          <p:nvPr/>
        </p:nvSpPr>
        <p:spPr bwMode="auto">
          <a:xfrm>
            <a:off x="4927203" y="3196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#5</a:t>
            </a:r>
          </a:p>
        </p:txBody>
      </p:sp>
      <p:sp>
        <p:nvSpPr>
          <p:cNvPr id="27" name="Rectangle 42"/>
          <p:cNvSpPr>
            <a:spLocks noChangeArrowheads="1"/>
          </p:cNvSpPr>
          <p:nvPr/>
        </p:nvSpPr>
        <p:spPr bwMode="auto">
          <a:xfrm>
            <a:off x="4927203" y="3577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#31</a:t>
            </a:r>
          </a:p>
        </p:txBody>
      </p:sp>
      <p:sp>
        <p:nvSpPr>
          <p:cNvPr id="28" name="Rectangle 43"/>
          <p:cNvSpPr>
            <a:spLocks noChangeArrowheads="1"/>
          </p:cNvSpPr>
          <p:nvPr/>
        </p:nvSpPr>
        <p:spPr bwMode="auto">
          <a:xfrm>
            <a:off x="4927203" y="3958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#18</a:t>
            </a:r>
          </a:p>
        </p:txBody>
      </p:sp>
      <p:sp>
        <p:nvSpPr>
          <p:cNvPr id="29" name="Rectangle 44"/>
          <p:cNvSpPr>
            <a:spLocks noChangeArrowheads="1"/>
          </p:cNvSpPr>
          <p:nvPr/>
        </p:nvSpPr>
        <p:spPr bwMode="auto">
          <a:xfrm>
            <a:off x="4927203" y="4339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30" name="Rectangle 45"/>
          <p:cNvSpPr>
            <a:spLocks noChangeArrowheads="1"/>
          </p:cNvSpPr>
          <p:nvPr/>
        </p:nvSpPr>
        <p:spPr bwMode="auto">
          <a:xfrm>
            <a:off x="5460603" y="2358736"/>
            <a:ext cx="609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600">
                <a:ea typeface="宋体" panose="02010600030101010101" pitchFamily="2" charset="-122"/>
              </a:rPr>
              <a:t>No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31" name="Text Box 46"/>
          <p:cNvSpPr txBox="1">
            <a:spLocks noChangeArrowheads="1"/>
          </p:cNvSpPr>
          <p:nvPr/>
        </p:nvSpPr>
        <p:spPr bwMode="auto">
          <a:xfrm>
            <a:off x="4504928" y="2319049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800">
                <a:ea typeface="宋体" panose="02010600030101010101" pitchFamily="2" charset="-122"/>
              </a:rPr>
              <a:t>Empty:</a:t>
            </a:r>
          </a:p>
        </p:txBody>
      </p:sp>
      <p:sp>
        <p:nvSpPr>
          <p:cNvPr id="32" name="Text Box 47"/>
          <p:cNvSpPr txBox="1">
            <a:spLocks noChangeArrowheads="1"/>
          </p:cNvSpPr>
          <p:nvPr/>
        </p:nvSpPr>
        <p:spPr bwMode="auto">
          <a:xfrm>
            <a:off x="6330553" y="2777836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TOP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" name="Line 48"/>
          <p:cNvSpPr>
            <a:spLocks noChangeShapeType="1"/>
          </p:cNvSpPr>
          <p:nvPr/>
        </p:nvSpPr>
        <p:spPr bwMode="auto">
          <a:xfrm flipH="1">
            <a:off x="6146403" y="2968336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Rectangle 49"/>
          <p:cNvSpPr>
            <a:spLocks noChangeArrowheads="1"/>
          </p:cNvSpPr>
          <p:nvPr/>
        </p:nvSpPr>
        <p:spPr bwMode="auto">
          <a:xfrm>
            <a:off x="7095728" y="2815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#31</a:t>
            </a:r>
          </a:p>
        </p:txBody>
      </p:sp>
      <p:sp>
        <p:nvSpPr>
          <p:cNvPr id="35" name="Rectangle 50"/>
          <p:cNvSpPr>
            <a:spLocks noChangeArrowheads="1"/>
          </p:cNvSpPr>
          <p:nvPr/>
        </p:nvSpPr>
        <p:spPr bwMode="auto">
          <a:xfrm>
            <a:off x="7095728" y="3196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#18</a:t>
            </a:r>
          </a:p>
        </p:txBody>
      </p:sp>
      <p:sp>
        <p:nvSpPr>
          <p:cNvPr id="36" name="Rectangle 51"/>
          <p:cNvSpPr>
            <a:spLocks noChangeArrowheads="1"/>
          </p:cNvSpPr>
          <p:nvPr/>
        </p:nvSpPr>
        <p:spPr bwMode="auto">
          <a:xfrm>
            <a:off x="7095728" y="3577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37" name="Rectangle 52"/>
          <p:cNvSpPr>
            <a:spLocks noChangeArrowheads="1"/>
          </p:cNvSpPr>
          <p:nvPr/>
        </p:nvSpPr>
        <p:spPr bwMode="auto">
          <a:xfrm>
            <a:off x="7095728" y="3958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7095728" y="4339936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39" name="Rectangle 54"/>
          <p:cNvSpPr>
            <a:spLocks noChangeArrowheads="1"/>
          </p:cNvSpPr>
          <p:nvPr/>
        </p:nvSpPr>
        <p:spPr bwMode="auto">
          <a:xfrm>
            <a:off x="7629128" y="2358736"/>
            <a:ext cx="609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600">
                <a:ea typeface="宋体" panose="02010600030101010101" pitchFamily="2" charset="-122"/>
              </a:rPr>
              <a:t>No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40" name="Text Box 55"/>
          <p:cNvSpPr txBox="1">
            <a:spLocks noChangeArrowheads="1"/>
          </p:cNvSpPr>
          <p:nvPr/>
        </p:nvSpPr>
        <p:spPr bwMode="auto">
          <a:xfrm>
            <a:off x="6673453" y="2319049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800">
                <a:ea typeface="宋体" panose="02010600030101010101" pitchFamily="2" charset="-122"/>
              </a:rPr>
              <a:t>Empty:</a:t>
            </a:r>
          </a:p>
        </p:txBody>
      </p:sp>
      <p:sp>
        <p:nvSpPr>
          <p:cNvPr id="41" name="Text Box 56"/>
          <p:cNvSpPr txBox="1">
            <a:spLocks noChangeArrowheads="1"/>
          </p:cNvSpPr>
          <p:nvPr/>
        </p:nvSpPr>
        <p:spPr bwMode="auto">
          <a:xfrm>
            <a:off x="8499078" y="2777836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TOP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2" name="Line 57"/>
          <p:cNvSpPr>
            <a:spLocks noChangeShapeType="1"/>
          </p:cNvSpPr>
          <p:nvPr/>
        </p:nvSpPr>
        <p:spPr bwMode="auto">
          <a:xfrm flipH="1">
            <a:off x="8314928" y="2968336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 Box 58"/>
          <p:cNvSpPr txBox="1">
            <a:spLocks noChangeArrowheads="1"/>
          </p:cNvSpPr>
          <p:nvPr/>
        </p:nvSpPr>
        <p:spPr bwMode="auto">
          <a:xfrm>
            <a:off x="453407" y="4797136"/>
            <a:ext cx="13260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aseline="0" dirty="0">
                <a:solidFill>
                  <a:srgbClr val="CE0000"/>
                </a:solidFill>
                <a:ea typeface="宋体" panose="02010600030101010101" pitchFamily="2" charset="-122"/>
              </a:rPr>
              <a:t>Initial State</a:t>
            </a:r>
            <a:endParaRPr lang="en-US" altLang="zh-CN" baseline="0" dirty="0">
              <a:ea typeface="宋体" panose="02010600030101010101" pitchFamily="2" charset="-122"/>
            </a:endParaRPr>
          </a:p>
        </p:txBody>
      </p:sp>
      <p:sp>
        <p:nvSpPr>
          <p:cNvPr id="44" name="Text Box 59"/>
          <p:cNvSpPr txBox="1">
            <a:spLocks noChangeArrowheads="1"/>
          </p:cNvSpPr>
          <p:nvPr/>
        </p:nvSpPr>
        <p:spPr bwMode="auto">
          <a:xfrm>
            <a:off x="2716153" y="4797136"/>
            <a:ext cx="12105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After</a:t>
            </a:r>
          </a:p>
          <a:p>
            <a:pPr algn="ctr"/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One Push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sp>
        <p:nvSpPr>
          <p:cNvPr id="45" name="Text Box 60"/>
          <p:cNvSpPr txBox="1">
            <a:spLocks noChangeArrowheads="1"/>
          </p:cNvSpPr>
          <p:nvPr/>
        </p:nvSpPr>
        <p:spPr bwMode="auto">
          <a:xfrm>
            <a:off x="4766384" y="4797136"/>
            <a:ext cx="15440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After Three </a:t>
            </a:r>
          </a:p>
          <a:p>
            <a:pPr algn="ctr"/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More Pushes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sp>
        <p:nvSpPr>
          <p:cNvPr id="46" name="Text Box 61"/>
          <p:cNvSpPr txBox="1">
            <a:spLocks noChangeArrowheads="1"/>
          </p:cNvSpPr>
          <p:nvPr/>
        </p:nvSpPr>
        <p:spPr bwMode="auto">
          <a:xfrm>
            <a:off x="7144514" y="4797136"/>
            <a:ext cx="11978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After</a:t>
            </a:r>
          </a:p>
          <a:p>
            <a:pPr algn="ctr"/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Two Pops</a:t>
            </a:r>
            <a:endParaRPr lang="en-US" altLang="zh-CN" baseline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7385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0DBC2F-10B4-4E0B-B353-C98069A793B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5264A7-273D-40B7-AC60-2A12C5CA473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Software Stack Implementation</a:t>
            </a:r>
            <a:endParaRPr lang="zh-CN" altLang="en-US" b="0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39200" cy="863600"/>
          </a:xfrm>
        </p:spPr>
        <p:txBody>
          <a:bodyPr/>
          <a:lstStyle/>
          <a:p>
            <a:r>
              <a:rPr lang="en-US" altLang="zh-CN" dirty="0"/>
              <a:t>Data items don't move in memory, just our idea about where TOP of the stack is</a:t>
            </a:r>
            <a:endParaRPr lang="en-US" altLang="zh-CN" b="0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10246" name="Text Box 5"/>
          <p:cNvSpPr txBox="1">
            <a:spLocks noChangeArrowheads="1"/>
          </p:cNvSpPr>
          <p:nvPr/>
        </p:nvSpPr>
        <p:spPr bwMode="auto">
          <a:xfrm>
            <a:off x="539750" y="5984453"/>
            <a:ext cx="820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By convention, R6 holds the Top of Stack (TOS) Pointer (SP)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8939" y="2286000"/>
            <a:ext cx="8988711" cy="3526056"/>
            <a:chOff x="148939" y="2286000"/>
            <a:chExt cx="8988711" cy="3526056"/>
          </a:xfrm>
        </p:grpSpPr>
        <p:sp>
          <p:nvSpPr>
            <p:cNvPr id="10249" name="Text Box 6"/>
            <p:cNvSpPr txBox="1">
              <a:spLocks noChangeArrowheads="1"/>
            </p:cNvSpPr>
            <p:nvPr/>
          </p:nvSpPr>
          <p:spPr bwMode="auto">
            <a:xfrm>
              <a:off x="148939" y="2319106"/>
              <a:ext cx="822661" cy="2319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x3FFF</a:t>
              </a:r>
            </a:p>
            <a:p>
              <a:pPr marL="0" marR="0" lvl="0" indent="0" algn="l" defTabSz="914400" rtl="0" eaLnBrk="1" fontAlgn="base" latinLnBrk="0" hangingPunct="1">
                <a:lnSpc>
                  <a:spcPct val="12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x4000</a:t>
              </a:r>
            </a:p>
            <a:p>
              <a:pPr marL="0" marR="0" lvl="0" indent="0" algn="l" defTabSz="914400" rtl="0" eaLnBrk="1" fontAlgn="base" latinLnBrk="0" hangingPunct="1">
                <a:lnSpc>
                  <a:spcPct val="12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x4001</a:t>
              </a:r>
            </a:p>
            <a:p>
              <a:pPr marL="0" marR="0" lvl="0" indent="0" algn="l" defTabSz="914400" rtl="0" eaLnBrk="1" fontAlgn="base" latinLnBrk="0" hangingPunct="1">
                <a:lnSpc>
                  <a:spcPct val="12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x4002</a:t>
              </a:r>
            </a:p>
            <a:p>
              <a:pPr marL="0" marR="0" lvl="0" indent="0" algn="l" defTabSz="914400" rtl="0" eaLnBrk="1" fontAlgn="base" latinLnBrk="0" hangingPunct="1">
                <a:lnSpc>
                  <a:spcPct val="12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x4003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2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x4004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930424" y="2667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930424" y="3048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930424" y="3429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930424" y="3810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930424" y="4191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333774" y="2286000"/>
              <a:ext cx="654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ea typeface="宋体" panose="02010600030101010101" pitchFamily="2" charset="-122"/>
                </a:rPr>
                <a:t>TOP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H="1">
              <a:off x="2149624" y="24765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2946648" y="2667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#18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2946648" y="3048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2946648" y="3429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2946648" y="3810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2946648" y="4191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349998" y="2628900"/>
              <a:ext cx="654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ea typeface="宋体" panose="02010600030101010101" pitchFamily="2" charset="-122"/>
                </a:rPr>
                <a:t>TOP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4165848" y="28194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5010596" y="2667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#18</a:t>
              </a: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5010596" y="3048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#31</a:t>
              </a: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5010596" y="3429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#5</a:t>
              </a: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5010596" y="3810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#12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5010596" y="4191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6438230" y="3824288"/>
              <a:ext cx="6540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ea typeface="宋体" panose="02010600030101010101" pitchFamily="2" charset="-122"/>
                </a:rPr>
                <a:t>TOP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6229796" y="4014788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7080250" y="2667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#18</a:t>
              </a:r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7080250" y="3048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#31</a:t>
              </a:r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7080250" y="3429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#5</a:t>
              </a:r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7080250" y="3810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#12</a:t>
              </a:r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7080250" y="41910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/ / / / / /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8483600" y="3048000"/>
              <a:ext cx="654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ea typeface="宋体" panose="02010600030101010101" pitchFamily="2" charset="-122"/>
                </a:rPr>
                <a:t>TOP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37" name="Line 39"/>
            <p:cNvSpPr>
              <a:spLocks noChangeShapeType="1"/>
            </p:cNvSpPr>
            <p:nvPr/>
          </p:nvSpPr>
          <p:spPr bwMode="auto">
            <a:xfrm flipH="1">
              <a:off x="8299450" y="32385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40"/>
            <p:cNvSpPr txBox="1">
              <a:spLocks noChangeArrowheads="1"/>
            </p:cNvSpPr>
            <p:nvPr/>
          </p:nvSpPr>
          <p:spPr bwMode="auto">
            <a:xfrm>
              <a:off x="793678" y="5165725"/>
              <a:ext cx="13260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aseline="0" dirty="0">
                  <a:solidFill>
                    <a:srgbClr val="CE0000"/>
                  </a:solidFill>
                  <a:ea typeface="宋体" panose="02010600030101010101" pitchFamily="2" charset="-122"/>
                </a:rPr>
                <a:t>Initial State</a:t>
              </a:r>
              <a:endParaRPr lang="en-US" altLang="zh-CN" baseline="0" dirty="0">
                <a:ea typeface="宋体" panose="02010600030101010101" pitchFamily="2" charset="-122"/>
              </a:endParaRPr>
            </a:p>
          </p:txBody>
        </p:sp>
        <p:sp>
          <p:nvSpPr>
            <p:cNvPr id="39" name="Text Box 41"/>
            <p:cNvSpPr txBox="1">
              <a:spLocks noChangeArrowheads="1"/>
            </p:cNvSpPr>
            <p:nvPr/>
          </p:nvSpPr>
          <p:spPr bwMode="auto">
            <a:xfrm>
              <a:off x="2904123" y="5165725"/>
              <a:ext cx="1210588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aseline="0">
                  <a:solidFill>
                    <a:srgbClr val="CE0000"/>
                  </a:solidFill>
                  <a:ea typeface="宋体" panose="02010600030101010101" pitchFamily="2" charset="-122"/>
                </a:rPr>
                <a:t>After</a:t>
              </a:r>
            </a:p>
            <a:p>
              <a:pPr algn="ctr"/>
              <a:r>
                <a:rPr lang="en-US" altLang="zh-CN" baseline="0">
                  <a:solidFill>
                    <a:srgbClr val="CE0000"/>
                  </a:solidFill>
                  <a:ea typeface="宋体" panose="02010600030101010101" pitchFamily="2" charset="-122"/>
                </a:rPr>
                <a:t>One Push</a:t>
              </a:r>
              <a:endParaRPr lang="en-US" altLang="zh-CN" baseline="0">
                <a:ea typeface="宋体" panose="02010600030101010101" pitchFamily="2" charset="-122"/>
              </a:endParaRPr>
            </a:p>
          </p:txBody>
        </p:sp>
        <p:sp>
          <p:nvSpPr>
            <p:cNvPr id="40" name="Text Box 42"/>
            <p:cNvSpPr txBox="1">
              <a:spLocks noChangeArrowheads="1"/>
            </p:cNvSpPr>
            <p:nvPr/>
          </p:nvSpPr>
          <p:spPr bwMode="auto">
            <a:xfrm>
              <a:off x="4849777" y="5165725"/>
              <a:ext cx="1544012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aseline="0">
                  <a:solidFill>
                    <a:srgbClr val="CE0000"/>
                  </a:solidFill>
                  <a:ea typeface="宋体" panose="02010600030101010101" pitchFamily="2" charset="-122"/>
                </a:rPr>
                <a:t>After Three </a:t>
              </a:r>
            </a:p>
            <a:p>
              <a:pPr algn="ctr"/>
              <a:r>
                <a:rPr lang="en-US" altLang="zh-CN" baseline="0">
                  <a:solidFill>
                    <a:srgbClr val="CE0000"/>
                  </a:solidFill>
                  <a:ea typeface="宋体" panose="02010600030101010101" pitchFamily="2" charset="-122"/>
                </a:rPr>
                <a:t>More Pushes</a:t>
              </a:r>
              <a:endParaRPr lang="en-US" altLang="zh-CN" baseline="0">
                <a:ea typeface="宋体" panose="02010600030101010101" pitchFamily="2" charset="-122"/>
              </a:endParaRPr>
            </a:p>
          </p:txBody>
        </p:sp>
        <p:sp>
          <p:nvSpPr>
            <p:cNvPr id="41" name="Text Box 43"/>
            <p:cNvSpPr txBox="1">
              <a:spLocks noChangeArrowheads="1"/>
            </p:cNvSpPr>
            <p:nvPr/>
          </p:nvSpPr>
          <p:spPr bwMode="auto">
            <a:xfrm>
              <a:off x="7129036" y="5165725"/>
              <a:ext cx="1197827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aseline="0">
                  <a:solidFill>
                    <a:srgbClr val="CE0000"/>
                  </a:solidFill>
                  <a:ea typeface="宋体" panose="02010600030101010101" pitchFamily="2" charset="-122"/>
                </a:rPr>
                <a:t>After</a:t>
              </a:r>
            </a:p>
            <a:p>
              <a:pPr algn="ctr"/>
              <a:r>
                <a:rPr lang="en-US" altLang="zh-CN" baseline="0">
                  <a:solidFill>
                    <a:srgbClr val="CE0000"/>
                  </a:solidFill>
                  <a:ea typeface="宋体" panose="02010600030101010101" pitchFamily="2" charset="-122"/>
                </a:rPr>
                <a:t>Two Pops</a:t>
              </a:r>
              <a:endParaRPr lang="en-US" altLang="zh-CN" baseline="0">
                <a:ea typeface="宋体" panose="02010600030101010101" pitchFamily="2" charset="-122"/>
              </a:endParaRPr>
            </a:p>
          </p:txBody>
        </p:sp>
        <p:sp>
          <p:nvSpPr>
            <p:cNvPr id="42" name="Rectangle 44"/>
            <p:cNvSpPr>
              <a:spLocks noChangeArrowheads="1"/>
            </p:cNvSpPr>
            <p:nvPr/>
          </p:nvSpPr>
          <p:spPr bwMode="auto">
            <a:xfrm>
              <a:off x="927249" y="47244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43" name="Rectangle 45"/>
            <p:cNvSpPr>
              <a:spLocks noChangeArrowheads="1"/>
            </p:cNvSpPr>
            <p:nvPr/>
          </p:nvSpPr>
          <p:spPr bwMode="auto">
            <a:xfrm>
              <a:off x="2946648" y="47244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x4000</a:t>
              </a: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5013771" y="47244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x4003</a:t>
              </a:r>
            </a:p>
          </p:txBody>
        </p:sp>
        <p:sp>
          <p:nvSpPr>
            <p:cNvPr id="45" name="Rectangle 47"/>
            <p:cNvSpPr>
              <a:spLocks noChangeArrowheads="1"/>
            </p:cNvSpPr>
            <p:nvPr/>
          </p:nvSpPr>
          <p:spPr bwMode="auto">
            <a:xfrm>
              <a:off x="7086600" y="47244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x4001</a:t>
              </a:r>
            </a:p>
          </p:txBody>
        </p:sp>
        <p:sp>
          <p:nvSpPr>
            <p:cNvPr id="46" name="Text Box 48"/>
            <p:cNvSpPr txBox="1">
              <a:spLocks noChangeArrowheads="1"/>
            </p:cNvSpPr>
            <p:nvPr/>
          </p:nvSpPr>
          <p:spPr bwMode="auto">
            <a:xfrm>
              <a:off x="2063899" y="4724400"/>
              <a:ext cx="476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ea typeface="宋体" panose="02010600030101010101" pitchFamily="2" charset="-122"/>
                </a:rPr>
                <a:t>R6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auto">
            <a:xfrm>
              <a:off x="4089648" y="4724400"/>
              <a:ext cx="476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ea typeface="宋体" panose="02010600030101010101" pitchFamily="2" charset="-122"/>
                </a:rPr>
                <a:t>R6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48" name="Text Box 50"/>
            <p:cNvSpPr txBox="1">
              <a:spLocks noChangeArrowheads="1"/>
            </p:cNvSpPr>
            <p:nvPr/>
          </p:nvSpPr>
          <p:spPr bwMode="auto">
            <a:xfrm>
              <a:off x="6163121" y="4724400"/>
              <a:ext cx="476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ea typeface="宋体" panose="02010600030101010101" pitchFamily="2" charset="-122"/>
                </a:rPr>
                <a:t>R6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49" name="Text Box 51"/>
            <p:cNvSpPr txBox="1">
              <a:spLocks noChangeArrowheads="1"/>
            </p:cNvSpPr>
            <p:nvPr/>
          </p:nvSpPr>
          <p:spPr bwMode="auto">
            <a:xfrm>
              <a:off x="8242300" y="4724400"/>
              <a:ext cx="476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ea typeface="宋体" panose="02010600030101010101" pitchFamily="2" charset="-122"/>
                </a:rPr>
                <a:t>R6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6144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763431-CDE2-490A-A90E-36DC492E3B3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F2483F-72E7-4F36-ABE4-1049EF38B25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Basic Push and Pop Code</a:t>
            </a:r>
            <a:endParaRPr lang="zh-CN" altLang="en-US" b="0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816600"/>
            <a:ext cx="8839200" cy="925513"/>
          </a:xfrm>
        </p:spPr>
        <p:txBody>
          <a:bodyPr/>
          <a:lstStyle/>
          <a:p>
            <a:r>
              <a:rPr lang="en-US" altLang="zh-CN">
                <a:solidFill>
                  <a:srgbClr val="FF3300"/>
                </a:solidFill>
              </a:rPr>
              <a:t>Note: </a:t>
            </a:r>
            <a:r>
              <a:rPr lang="en-US" altLang="zh-CN"/>
              <a:t>Stacks can grow in either direction (toward higher address or toward lower addresses)</a:t>
            </a:r>
            <a:endParaRPr lang="zh-CN" altLang="en-US"/>
          </a:p>
        </p:txBody>
      </p:sp>
      <p:sp>
        <p:nvSpPr>
          <p:cNvPr id="11271" name="Text Box 4"/>
          <p:cNvSpPr txBox="1">
            <a:spLocks noChangeArrowheads="1"/>
          </p:cNvSpPr>
          <p:nvPr/>
        </p:nvSpPr>
        <p:spPr bwMode="auto">
          <a:xfrm>
            <a:off x="400050" y="3861048"/>
            <a:ext cx="8397875" cy="1920875"/>
          </a:xfrm>
          <a:prstGeom prst="rect">
            <a:avLst/>
          </a:prstGeom>
          <a:solidFill>
            <a:srgbClr val="CCFFFF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PUSH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ADD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R6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, R6, #1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increment stack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ptr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STR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R0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, R6, #0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store data(R0) to 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LDR </a:t>
            </a:r>
            <a:r>
              <a:rPr lang="en-US" altLang="zh-CN" sz="1800" baseline="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R0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, R6, #0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load data(R0) from TOS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ADD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R6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, R6, #-1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decrement stack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ptr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311182" y="922716"/>
            <a:ext cx="779381" cy="2227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x3FFF</a:t>
            </a:r>
          </a:p>
          <a:p>
            <a:pPr marL="0" marR="0" lvl="0" indent="0" algn="l" defTabSz="914400" rtl="0" eaLnBrk="1" fontAlgn="base" latinLnBrk="0" hangingPunct="1">
              <a:lnSpc>
                <a:spcPct val="12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x4000</a:t>
            </a:r>
          </a:p>
          <a:p>
            <a:pPr marL="0" marR="0" lvl="0" indent="0" algn="l" defTabSz="914400" rtl="0" eaLnBrk="1" fontAlgn="base" latinLnBrk="0" hangingPunct="1">
              <a:lnSpc>
                <a:spcPct val="12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x4001</a:t>
            </a:r>
          </a:p>
          <a:p>
            <a:pPr marL="0" marR="0" lvl="0" indent="0" algn="l" defTabSz="914400" rtl="0" eaLnBrk="1" fontAlgn="base" latinLnBrk="0" hangingPunct="1">
              <a:lnSpc>
                <a:spcPct val="12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X4002</a:t>
            </a:r>
          </a:p>
          <a:p>
            <a:pPr marL="0" marR="0" lvl="0" indent="0" algn="l" defTabSz="914400" rtl="0" eaLnBrk="1" fontAlgn="base" latinLnBrk="0" hangingPunct="1">
              <a:lnSpc>
                <a:spcPct val="12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X4003</a:t>
            </a:r>
          </a:p>
          <a:p>
            <a:pPr marL="0" marR="0" lvl="0" indent="0" algn="l" defTabSz="914400" rtl="0" eaLnBrk="1" fontAlgn="base" latinLnBrk="0" hangingPunct="1">
              <a:lnSpc>
                <a:spcPct val="12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X4004</a:t>
            </a:r>
          </a:p>
        </p:txBody>
      </p: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1009650" y="1278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auto">
          <a:xfrm>
            <a:off x="1009650" y="1659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54" name="Rectangle 6"/>
          <p:cNvSpPr>
            <a:spLocks noChangeArrowheads="1"/>
          </p:cNvSpPr>
          <p:nvPr/>
        </p:nvSpPr>
        <p:spPr bwMode="auto">
          <a:xfrm>
            <a:off x="1009650" y="2040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55" name="Rectangle 7"/>
          <p:cNvSpPr>
            <a:spLocks noChangeArrowheads="1"/>
          </p:cNvSpPr>
          <p:nvPr/>
        </p:nvSpPr>
        <p:spPr bwMode="auto">
          <a:xfrm>
            <a:off x="1009650" y="2421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56" name="Rectangle 8"/>
          <p:cNvSpPr>
            <a:spLocks noChangeArrowheads="1"/>
          </p:cNvSpPr>
          <p:nvPr/>
        </p:nvSpPr>
        <p:spPr bwMode="auto">
          <a:xfrm>
            <a:off x="1009650" y="2802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57" name="Text Box 11"/>
          <p:cNvSpPr txBox="1">
            <a:spLocks noChangeArrowheads="1"/>
          </p:cNvSpPr>
          <p:nvPr/>
        </p:nvSpPr>
        <p:spPr bwMode="auto">
          <a:xfrm>
            <a:off x="2413000" y="897632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TOP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" name="Line 12"/>
          <p:cNvSpPr>
            <a:spLocks noChangeShapeType="1"/>
          </p:cNvSpPr>
          <p:nvPr/>
        </p:nvSpPr>
        <p:spPr bwMode="auto">
          <a:xfrm flipH="1">
            <a:off x="2228850" y="108813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3025874" y="1278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#18</a:t>
            </a: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3025874" y="1659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61" name="Rectangle 15"/>
          <p:cNvSpPr>
            <a:spLocks noChangeArrowheads="1"/>
          </p:cNvSpPr>
          <p:nvPr/>
        </p:nvSpPr>
        <p:spPr bwMode="auto">
          <a:xfrm>
            <a:off x="3025874" y="2040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62" name="Rectangle 16"/>
          <p:cNvSpPr>
            <a:spLocks noChangeArrowheads="1"/>
          </p:cNvSpPr>
          <p:nvPr/>
        </p:nvSpPr>
        <p:spPr bwMode="auto">
          <a:xfrm>
            <a:off x="3025874" y="2421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63" name="Rectangle 17"/>
          <p:cNvSpPr>
            <a:spLocks noChangeArrowheads="1"/>
          </p:cNvSpPr>
          <p:nvPr/>
        </p:nvSpPr>
        <p:spPr bwMode="auto">
          <a:xfrm>
            <a:off x="3025874" y="2802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4429224" y="1240532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TOP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5" name="Line 21"/>
          <p:cNvSpPr>
            <a:spLocks noChangeShapeType="1"/>
          </p:cNvSpPr>
          <p:nvPr/>
        </p:nvSpPr>
        <p:spPr bwMode="auto">
          <a:xfrm flipH="1">
            <a:off x="4245074" y="143103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Rectangle 22"/>
          <p:cNvSpPr>
            <a:spLocks noChangeArrowheads="1"/>
          </p:cNvSpPr>
          <p:nvPr/>
        </p:nvSpPr>
        <p:spPr bwMode="auto">
          <a:xfrm>
            <a:off x="5089822" y="1278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#18</a:t>
            </a:r>
          </a:p>
        </p:txBody>
      </p:sp>
      <p:sp>
        <p:nvSpPr>
          <p:cNvPr id="67" name="Rectangle 23"/>
          <p:cNvSpPr>
            <a:spLocks noChangeArrowheads="1"/>
          </p:cNvSpPr>
          <p:nvPr/>
        </p:nvSpPr>
        <p:spPr bwMode="auto">
          <a:xfrm>
            <a:off x="5089822" y="1659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#31</a:t>
            </a:r>
          </a:p>
        </p:txBody>
      </p:sp>
      <p:sp>
        <p:nvSpPr>
          <p:cNvPr id="68" name="Rectangle 24"/>
          <p:cNvSpPr>
            <a:spLocks noChangeArrowheads="1"/>
          </p:cNvSpPr>
          <p:nvPr/>
        </p:nvSpPr>
        <p:spPr bwMode="auto">
          <a:xfrm>
            <a:off x="5089822" y="2040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#5</a:t>
            </a:r>
          </a:p>
        </p:txBody>
      </p:sp>
      <p:sp>
        <p:nvSpPr>
          <p:cNvPr id="69" name="Rectangle 25"/>
          <p:cNvSpPr>
            <a:spLocks noChangeArrowheads="1"/>
          </p:cNvSpPr>
          <p:nvPr/>
        </p:nvSpPr>
        <p:spPr bwMode="auto">
          <a:xfrm>
            <a:off x="5089822" y="2421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#12</a:t>
            </a:r>
          </a:p>
        </p:txBody>
      </p:sp>
      <p:sp>
        <p:nvSpPr>
          <p:cNvPr id="70" name="Rectangle 26"/>
          <p:cNvSpPr>
            <a:spLocks noChangeArrowheads="1"/>
          </p:cNvSpPr>
          <p:nvPr/>
        </p:nvSpPr>
        <p:spPr bwMode="auto">
          <a:xfrm>
            <a:off x="5089822" y="2802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71" name="Text Box 29"/>
          <p:cNvSpPr txBox="1">
            <a:spLocks noChangeArrowheads="1"/>
          </p:cNvSpPr>
          <p:nvPr/>
        </p:nvSpPr>
        <p:spPr bwMode="auto">
          <a:xfrm>
            <a:off x="6517456" y="2435920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TOP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2" name="Line 30"/>
          <p:cNvSpPr>
            <a:spLocks noChangeShapeType="1"/>
          </p:cNvSpPr>
          <p:nvPr/>
        </p:nvSpPr>
        <p:spPr bwMode="auto">
          <a:xfrm flipH="1">
            <a:off x="6309022" y="262642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Rectangle 31"/>
          <p:cNvSpPr>
            <a:spLocks noChangeArrowheads="1"/>
          </p:cNvSpPr>
          <p:nvPr/>
        </p:nvSpPr>
        <p:spPr bwMode="auto">
          <a:xfrm>
            <a:off x="7159476" y="1278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#18</a:t>
            </a:r>
          </a:p>
        </p:txBody>
      </p:sp>
      <p:sp>
        <p:nvSpPr>
          <p:cNvPr id="74" name="Rectangle 32"/>
          <p:cNvSpPr>
            <a:spLocks noChangeArrowheads="1"/>
          </p:cNvSpPr>
          <p:nvPr/>
        </p:nvSpPr>
        <p:spPr bwMode="auto">
          <a:xfrm>
            <a:off x="7159476" y="1659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#31</a:t>
            </a:r>
          </a:p>
        </p:txBody>
      </p:sp>
      <p:sp>
        <p:nvSpPr>
          <p:cNvPr id="75" name="Rectangle 33"/>
          <p:cNvSpPr>
            <a:spLocks noChangeArrowheads="1"/>
          </p:cNvSpPr>
          <p:nvPr/>
        </p:nvSpPr>
        <p:spPr bwMode="auto">
          <a:xfrm>
            <a:off x="7159476" y="2040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#5</a:t>
            </a:r>
          </a:p>
        </p:txBody>
      </p:sp>
      <p:sp>
        <p:nvSpPr>
          <p:cNvPr id="76" name="Rectangle 34"/>
          <p:cNvSpPr>
            <a:spLocks noChangeArrowheads="1"/>
          </p:cNvSpPr>
          <p:nvPr/>
        </p:nvSpPr>
        <p:spPr bwMode="auto">
          <a:xfrm>
            <a:off x="7159476" y="2421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#12</a:t>
            </a:r>
          </a:p>
        </p:txBody>
      </p:sp>
      <p:sp>
        <p:nvSpPr>
          <p:cNvPr id="77" name="Rectangle 35"/>
          <p:cNvSpPr>
            <a:spLocks noChangeArrowheads="1"/>
          </p:cNvSpPr>
          <p:nvPr/>
        </p:nvSpPr>
        <p:spPr bwMode="auto">
          <a:xfrm>
            <a:off x="7159476" y="28026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/ / / / / /</a:t>
            </a:r>
          </a:p>
        </p:txBody>
      </p:sp>
      <p:sp>
        <p:nvSpPr>
          <p:cNvPr id="78" name="Text Box 38"/>
          <p:cNvSpPr txBox="1">
            <a:spLocks noChangeArrowheads="1"/>
          </p:cNvSpPr>
          <p:nvPr/>
        </p:nvSpPr>
        <p:spPr bwMode="auto">
          <a:xfrm>
            <a:off x="8562826" y="1659632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TOP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9" name="Line 39"/>
          <p:cNvSpPr>
            <a:spLocks noChangeShapeType="1"/>
          </p:cNvSpPr>
          <p:nvPr/>
        </p:nvSpPr>
        <p:spPr bwMode="auto">
          <a:xfrm flipH="1">
            <a:off x="8378676" y="185013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Rectangle 44"/>
          <p:cNvSpPr>
            <a:spLocks noChangeArrowheads="1"/>
          </p:cNvSpPr>
          <p:nvPr/>
        </p:nvSpPr>
        <p:spPr bwMode="auto">
          <a:xfrm>
            <a:off x="1006475" y="33360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x3FFF</a:t>
            </a:r>
          </a:p>
        </p:txBody>
      </p:sp>
      <p:sp>
        <p:nvSpPr>
          <p:cNvPr id="85" name="Rectangle 45"/>
          <p:cNvSpPr>
            <a:spLocks noChangeArrowheads="1"/>
          </p:cNvSpPr>
          <p:nvPr/>
        </p:nvSpPr>
        <p:spPr bwMode="auto">
          <a:xfrm>
            <a:off x="3025874" y="33360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ea typeface="宋体" panose="02010600030101010101" pitchFamily="2" charset="-122"/>
              </a:rPr>
              <a:t>x4000</a:t>
            </a:r>
          </a:p>
        </p:txBody>
      </p:sp>
      <p:sp>
        <p:nvSpPr>
          <p:cNvPr id="86" name="Rectangle 46"/>
          <p:cNvSpPr>
            <a:spLocks noChangeArrowheads="1"/>
          </p:cNvSpPr>
          <p:nvPr/>
        </p:nvSpPr>
        <p:spPr bwMode="auto">
          <a:xfrm>
            <a:off x="5092997" y="33360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x4003</a:t>
            </a:r>
          </a:p>
        </p:txBody>
      </p:sp>
      <p:sp>
        <p:nvSpPr>
          <p:cNvPr id="87" name="Rectangle 47"/>
          <p:cNvSpPr>
            <a:spLocks noChangeArrowheads="1"/>
          </p:cNvSpPr>
          <p:nvPr/>
        </p:nvSpPr>
        <p:spPr bwMode="auto">
          <a:xfrm>
            <a:off x="7165826" y="3336032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x4001</a:t>
            </a:r>
          </a:p>
        </p:txBody>
      </p:sp>
      <p:sp>
        <p:nvSpPr>
          <p:cNvPr id="88" name="Text Box 48"/>
          <p:cNvSpPr txBox="1">
            <a:spLocks noChangeArrowheads="1"/>
          </p:cNvSpPr>
          <p:nvPr/>
        </p:nvSpPr>
        <p:spPr bwMode="auto">
          <a:xfrm>
            <a:off x="2143125" y="3336032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R6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9" name="Text Box 49"/>
          <p:cNvSpPr txBox="1">
            <a:spLocks noChangeArrowheads="1"/>
          </p:cNvSpPr>
          <p:nvPr/>
        </p:nvSpPr>
        <p:spPr bwMode="auto">
          <a:xfrm>
            <a:off x="4168874" y="3336032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R6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0" name="Text Box 50"/>
          <p:cNvSpPr txBox="1">
            <a:spLocks noChangeArrowheads="1"/>
          </p:cNvSpPr>
          <p:nvPr/>
        </p:nvSpPr>
        <p:spPr bwMode="auto">
          <a:xfrm>
            <a:off x="6242347" y="3336032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R6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1" name="Text Box 51"/>
          <p:cNvSpPr txBox="1">
            <a:spLocks noChangeArrowheads="1"/>
          </p:cNvSpPr>
          <p:nvPr/>
        </p:nvSpPr>
        <p:spPr bwMode="auto">
          <a:xfrm>
            <a:off x="8321526" y="3336032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ea typeface="宋体" panose="02010600030101010101" pitchFamily="2" charset="-122"/>
              </a:rPr>
              <a:t>R6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3099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307F26-CB35-4269-860F-1472733145F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65A261-A74C-4B78-9334-C96AA075F28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Pop with Underflow Detection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686800" cy="158432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If we try to pop too many items off the stack,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an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underflow</a:t>
            </a:r>
            <a:r>
              <a:rPr lang="en-US" altLang="zh-CN">
                <a:ea typeface="宋体" panose="02010600030101010101" pitchFamily="2" charset="-122"/>
              </a:rPr>
              <a:t> condition occurs. 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Check for underflow by checking TOS before removing data.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Return status code in R5 (0 for success, 1 for underflow)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2294" name="Text Box 4"/>
          <p:cNvSpPr txBox="1">
            <a:spLocks noChangeArrowheads="1"/>
          </p:cNvSpPr>
          <p:nvPr/>
        </p:nvSpPr>
        <p:spPr bwMode="auto">
          <a:xfrm>
            <a:off x="395536" y="3212976"/>
            <a:ext cx="8397875" cy="3140075"/>
          </a:xfrm>
          <a:prstGeom prst="rect">
            <a:avLst/>
          </a:prstGeom>
          <a:solidFill>
            <a:srgbClr val="CCFFFF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LD  R1, EMPTY  	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ADD R2, R6, R1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Compare stack pointer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UNDER      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with x3FFF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LDR R0, R6, #0       ; The actual ‘pop’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ADD R6, R6, #-1 	; Adjust stack pointer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AND R5, R5, #0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Success: return R5 = 0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RET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UNDER AND R5, R5, #0 	; Underflow: return R5 = 1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ADD R5, R5, #1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RET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EMPTY .FILL xC001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EMPTY = -x3FFF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487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7A853D-6C69-40CD-B63E-370BBE73C88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0E413-CB80-4B6C-BE04-081587EE259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Push with Overflow Detection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686800" cy="1655763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If we try to push too many items onto the stack,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an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overflow</a:t>
            </a:r>
            <a:r>
              <a:rPr lang="en-US" altLang="zh-CN" dirty="0">
                <a:ea typeface="宋体" panose="02010600030101010101" pitchFamily="2" charset="-122"/>
              </a:rPr>
              <a:t> condition occurs.</a:t>
            </a:r>
            <a:r>
              <a:rPr lang="en-US" altLang="zh-CN" sz="2800" dirty="0">
                <a:ea typeface="宋体" panose="02010600030101010101" pitchFamily="2" charset="-122"/>
              </a:rPr>
              <a:t> 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Check for overflow by checking TOS before adding data.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Return status code in R5 (0 for success, 1 for overflow)</a:t>
            </a:r>
            <a:endParaRPr lang="en-US" altLang="zh-CN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395536" y="3212976"/>
            <a:ext cx="8375650" cy="3251200"/>
          </a:xfrm>
          <a:prstGeom prst="rect">
            <a:avLst/>
          </a:prstGeom>
          <a:solidFill>
            <a:srgbClr val="CCFFFF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PUSH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LD  R1, FULL    	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ADD R2, R6, R1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Compare stack pointer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OVER      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with x4004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ADD R6, R6, #1		; Adjust stack pointer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STR R0, R6, #0  	; The actual ‘push’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AND R5, R5, #0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Success: return R5 = 0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RET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OVER  AND R5, R5, #0 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ADD R5, R5, #1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Overflow: return R5 = 1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RET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FULL  .FILL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xBFFC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	; FULL = -x4004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379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450900-A9FA-407F-9A36-5F7028A26CC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80AC34-F030-4474-9817-2C0EF60DAEE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PUSH &amp; POP in LC-3 - 1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196850" y="981075"/>
            <a:ext cx="8821738" cy="5410200"/>
          </a:xfrm>
          <a:prstGeom prst="rect">
            <a:avLst/>
          </a:prstGeom>
          <a:solidFill>
            <a:srgbClr val="CCFFFF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POP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 R2,Sv2		; save, needed by POP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 R1,Sv1		; save, needed by POP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LD  R1, EMPTY 	; EMPTY contains –x3FFF 	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ADD R2, R6, R1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Compare stack pointer with x3FFF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Fail_exit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	; Branch if stack empty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LDR R0, R6, #0      ; The actual ‘pop’ to R0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ADD R6, R6, #-1 	; Adjust stack pointer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RET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EMPTY 	.FILL xC001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EMPTY = -x3FFF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PUSH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 R2,Sv2		; save, needed by PUSH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 R1,Sv1		; save, needed by PUSH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LD  R1, FULL    	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ADD R2, R6, R1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Compare stack pointer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Fail_exit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with x4004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ADD R6, R6, #1	; Adjust stack pointer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	STR R0, R6, #0  	; The actual ‘push’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RET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FULL  	.FILL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xBFFC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	; FULL = -x4004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603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86AFD9-4A1C-4F2F-8EDC-E0CF61AB619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989368-09BD-4C4C-A1FF-95E9C852931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PUSH &amp; POP in LC-3 - 3</a:t>
            </a:r>
          </a:p>
        </p:txBody>
      </p:sp>
      <p:sp>
        <p:nvSpPr>
          <p:cNvPr id="15365" name="Rectangle 3"/>
          <p:cNvSpPr>
            <a:spLocks noChangeArrowheads="1"/>
          </p:cNvSpPr>
          <p:nvPr/>
        </p:nvSpPr>
        <p:spPr bwMode="auto">
          <a:xfrm>
            <a:off x="179388" y="981075"/>
            <a:ext cx="8839200" cy="45720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1485900" algn="l"/>
                <a:tab pos="4113213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68325" indent="-169863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1485900" algn="l"/>
                <a:tab pos="4113213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854075" indent="-171450">
              <a:spcBef>
                <a:spcPct val="20000"/>
              </a:spcBef>
              <a:buFont typeface="Gungsuh" pitchFamily="18" charset="-127"/>
              <a:buChar char="-"/>
              <a:tabLst>
                <a:tab pos="1485900" algn="l"/>
                <a:tab pos="4113213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69863">
              <a:spcBef>
                <a:spcPct val="20000"/>
              </a:spcBef>
              <a:buChar char="•"/>
              <a:tabLst>
                <a:tab pos="1485900" algn="l"/>
                <a:tab pos="41132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435100" indent="-120650">
              <a:spcBef>
                <a:spcPct val="20000"/>
              </a:spcBef>
              <a:buChar char="»"/>
              <a:tabLst>
                <a:tab pos="1485900" algn="l"/>
                <a:tab pos="41132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23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85900" algn="l"/>
                <a:tab pos="41132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95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85900" algn="l"/>
                <a:tab pos="41132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67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85900" algn="l"/>
                <a:tab pos="41132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39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85900" algn="l"/>
                <a:tab pos="41132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Sv1	    .FILL x0000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Sv2	    .FILL x0000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Success_exit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LD  R1, Sv1 	;Restore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reg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values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    LD  R2, Sv2 	;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    AND R5, R5, #0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Success: return R5 = 0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    RET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Fail_exit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LD  R1, Sv1	;Restore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reg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values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    LD  R2, Sv2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    AND R5, R5, #0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None/>
              <a:tabLst>
                <a:tab pos="1485900" algn="l"/>
                <a:tab pos="4113213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    ADD R5, R5, #1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Overflow: return R5 = 1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    RET</a:t>
            </a:r>
          </a:p>
        </p:txBody>
      </p:sp>
    </p:spTree>
    <p:extLst>
      <p:ext uri="{BB962C8B-B14F-4D97-AF65-F5344CB8AC3E}">
        <p14:creationId xmlns:p14="http://schemas.microsoft.com/office/powerpoint/2010/main" val="2820388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0882B6-91D6-4D1D-B901-7B3F25420FEF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2025/10/21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638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4D8DB0-678D-4802-B35B-939F8C0FD1AC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Arithmetic Using a Stack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81075"/>
            <a:ext cx="8915400" cy="5400675"/>
          </a:xfrm>
        </p:spPr>
        <p:txBody>
          <a:bodyPr/>
          <a:lstStyle/>
          <a:p>
            <a:pPr marL="0" indent="0">
              <a:tabLst>
                <a:tab pos="3429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Instead of registers, some ISA's use a stack for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source and destination operations: a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zero-address</a:t>
            </a:r>
            <a:r>
              <a:rPr lang="en-US" altLang="zh-CN" dirty="0">
                <a:ea typeface="宋体" panose="02010600030101010101" pitchFamily="2" charset="-122"/>
              </a:rPr>
              <a:t> machine.</a:t>
            </a:r>
          </a:p>
          <a:p>
            <a:pPr marL="576263" lvl="1" indent="-234950">
              <a:tabLst>
                <a:tab pos="342900" algn="l"/>
              </a:tabLst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Example: ADD instruction </a:t>
            </a:r>
            <a:r>
              <a:rPr lang="en-US" altLang="zh-CN" i="1" dirty="0">
                <a:highlight>
                  <a:srgbClr val="FFFF00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pops two numbers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from the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stack,</a:t>
            </a:r>
            <a:r>
              <a:rPr lang="en-US" altLang="zh-CN" dirty="0" err="1">
                <a:highlight>
                  <a:srgbClr val="FFFF00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adds</a:t>
            </a:r>
            <a:r>
              <a:rPr lang="en-US" altLang="zh-CN" dirty="0">
                <a:highlight>
                  <a:srgbClr val="FFFF00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them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and </a:t>
            </a:r>
            <a:r>
              <a:rPr lang="en-US" altLang="zh-CN" dirty="0">
                <a:highlight>
                  <a:srgbClr val="FFFF00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pushes the result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to the stack.</a:t>
            </a:r>
          </a:p>
          <a:p>
            <a:pPr marL="576263" lvl="1" indent="-234950">
              <a:buFont typeface="Wingdings" panose="05000000000000000000" pitchFamily="2" charset="2"/>
              <a:buNone/>
              <a:tabLst>
                <a:tab pos="342900" algn="l"/>
              </a:tabLst>
            </a:pPr>
            <a:r>
              <a:rPr lang="en-US" altLang="zh-CN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vs.  </a:t>
            </a:r>
            <a:r>
              <a:rPr lang="en-US" altLang="zh-CN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R0,R1,R2</a:t>
            </a:r>
          </a:p>
          <a:p>
            <a:pPr marL="0" indent="0">
              <a:tabLst>
                <a:tab pos="3429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Evaluating (A+B)·(C+D) using a stack: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342900" algn="l"/>
              </a:tabLst>
            </a:pP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push A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push B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</a:t>
            </a:r>
            <a:r>
              <a:rPr lang="en-US" altLang="zh-CN" sz="20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ADD</a:t>
            </a:r>
            <a:br>
              <a:rPr lang="en-US" altLang="zh-CN" sz="20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push C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push D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</a:t>
            </a:r>
            <a:r>
              <a:rPr lang="en-US" altLang="zh-CN" sz="20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ADD</a:t>
            </a:r>
            <a:br>
              <a:rPr lang="en-US" altLang="zh-CN" sz="20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</a:t>
            </a:r>
            <a:r>
              <a:rPr lang="en-US" altLang="zh-CN" sz="20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MULTIPLY</a:t>
            </a:r>
            <a:br>
              <a:rPr lang="en-US" altLang="zh-CN" sz="200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pop result</a:t>
            </a:r>
          </a:p>
        </p:txBody>
      </p:sp>
      <p:grpSp>
        <p:nvGrpSpPr>
          <p:cNvPr id="16390" name="Group 25"/>
          <p:cNvGrpSpPr>
            <a:grpSpLocks/>
          </p:cNvGrpSpPr>
          <p:nvPr/>
        </p:nvGrpSpPr>
        <p:grpSpPr bwMode="auto">
          <a:xfrm>
            <a:off x="6372225" y="3217863"/>
            <a:ext cx="1830388" cy="2803525"/>
            <a:chOff x="249" y="709"/>
            <a:chExt cx="1192" cy="1905"/>
          </a:xfrm>
        </p:grpSpPr>
        <p:sp>
          <p:nvSpPr>
            <p:cNvPr id="16391" name="Text Box 26"/>
            <p:cNvSpPr txBox="1">
              <a:spLocks noChangeArrowheads="1"/>
            </p:cNvSpPr>
            <p:nvPr/>
          </p:nvSpPr>
          <p:spPr bwMode="auto">
            <a:xfrm>
              <a:off x="249" y="98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6392" name="Text Box 27"/>
            <p:cNvSpPr txBox="1">
              <a:spLocks noChangeArrowheads="1"/>
            </p:cNvSpPr>
            <p:nvPr/>
          </p:nvSpPr>
          <p:spPr bwMode="auto">
            <a:xfrm>
              <a:off x="249" y="123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6393" name="Text Box 28"/>
            <p:cNvSpPr txBox="1">
              <a:spLocks noChangeArrowheads="1"/>
            </p:cNvSpPr>
            <p:nvPr/>
          </p:nvSpPr>
          <p:spPr bwMode="auto">
            <a:xfrm>
              <a:off x="249" y="148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6394" name="Text Box 29"/>
            <p:cNvSpPr txBox="1">
              <a:spLocks noChangeArrowheads="1"/>
            </p:cNvSpPr>
            <p:nvPr/>
          </p:nvSpPr>
          <p:spPr bwMode="auto">
            <a:xfrm>
              <a:off x="249" y="173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6395" name="Text Box 30"/>
            <p:cNvSpPr txBox="1">
              <a:spLocks noChangeArrowheads="1"/>
            </p:cNvSpPr>
            <p:nvPr/>
          </p:nvSpPr>
          <p:spPr bwMode="auto">
            <a:xfrm>
              <a:off x="249" y="1979"/>
              <a:ext cx="635" cy="2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6396" name="Text Box 31"/>
            <p:cNvSpPr txBox="1">
              <a:spLocks noChangeArrowheads="1"/>
            </p:cNvSpPr>
            <p:nvPr/>
          </p:nvSpPr>
          <p:spPr bwMode="auto">
            <a:xfrm>
              <a:off x="249" y="2366"/>
              <a:ext cx="648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6397" name="Text Box 32"/>
            <p:cNvSpPr txBox="1">
              <a:spLocks noChangeArrowheads="1"/>
            </p:cNvSpPr>
            <p:nvPr/>
          </p:nvSpPr>
          <p:spPr bwMode="auto">
            <a:xfrm>
              <a:off x="884" y="95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6398" name="Text Box 33"/>
            <p:cNvSpPr txBox="1">
              <a:spLocks noChangeArrowheads="1"/>
            </p:cNvSpPr>
            <p:nvPr/>
          </p:nvSpPr>
          <p:spPr bwMode="auto">
            <a:xfrm>
              <a:off x="884" y="1210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6399" name="Text Box 34"/>
            <p:cNvSpPr txBox="1">
              <a:spLocks noChangeArrowheads="1"/>
            </p:cNvSpPr>
            <p:nvPr/>
          </p:nvSpPr>
          <p:spPr bwMode="auto">
            <a:xfrm>
              <a:off x="884" y="1459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6400" name="Text Box 35"/>
            <p:cNvSpPr txBox="1">
              <a:spLocks noChangeArrowheads="1"/>
            </p:cNvSpPr>
            <p:nvPr/>
          </p:nvSpPr>
          <p:spPr bwMode="auto">
            <a:xfrm>
              <a:off x="884" y="1710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6401" name="Text Box 36"/>
            <p:cNvSpPr txBox="1">
              <a:spLocks noChangeArrowheads="1"/>
            </p:cNvSpPr>
            <p:nvPr/>
          </p:nvSpPr>
          <p:spPr bwMode="auto">
            <a:xfrm>
              <a:off x="884" y="1958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6402" name="Text Box 37"/>
            <p:cNvSpPr txBox="1">
              <a:spLocks noChangeArrowheads="1"/>
            </p:cNvSpPr>
            <p:nvPr/>
          </p:nvSpPr>
          <p:spPr bwMode="auto">
            <a:xfrm>
              <a:off x="884" y="70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6403" name="Text Box 38"/>
            <p:cNvSpPr txBox="1">
              <a:spLocks noChangeArrowheads="1"/>
            </p:cNvSpPr>
            <p:nvPr/>
          </p:nvSpPr>
          <p:spPr bwMode="auto">
            <a:xfrm>
              <a:off x="884" y="2384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3951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(25+17) x (3+2)</a:t>
            </a:r>
          </a:p>
        </p:txBody>
      </p:sp>
      <p:grpSp>
        <p:nvGrpSpPr>
          <p:cNvPr id="17413" name="Group 19"/>
          <p:cNvGrpSpPr>
            <a:grpSpLocks/>
          </p:cNvGrpSpPr>
          <p:nvPr/>
        </p:nvGrpSpPr>
        <p:grpSpPr bwMode="auto">
          <a:xfrm>
            <a:off x="220663" y="913507"/>
            <a:ext cx="1830387" cy="2803525"/>
            <a:chOff x="249" y="709"/>
            <a:chExt cx="1192" cy="1905"/>
          </a:xfrm>
        </p:grpSpPr>
        <p:sp>
          <p:nvSpPr>
            <p:cNvPr id="17512" name="Text Box 20"/>
            <p:cNvSpPr txBox="1">
              <a:spLocks noChangeArrowheads="1"/>
            </p:cNvSpPr>
            <p:nvPr/>
          </p:nvSpPr>
          <p:spPr bwMode="auto">
            <a:xfrm>
              <a:off x="249" y="98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25</a:t>
              </a:r>
            </a:p>
          </p:txBody>
        </p:sp>
        <p:sp>
          <p:nvSpPr>
            <p:cNvPr id="17513" name="Text Box 21"/>
            <p:cNvSpPr txBox="1">
              <a:spLocks noChangeArrowheads="1"/>
            </p:cNvSpPr>
            <p:nvPr/>
          </p:nvSpPr>
          <p:spPr bwMode="auto">
            <a:xfrm>
              <a:off x="249" y="123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514" name="Text Box 22"/>
            <p:cNvSpPr txBox="1">
              <a:spLocks noChangeArrowheads="1"/>
            </p:cNvSpPr>
            <p:nvPr/>
          </p:nvSpPr>
          <p:spPr bwMode="auto">
            <a:xfrm>
              <a:off x="249" y="148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515" name="Text Box 23"/>
            <p:cNvSpPr txBox="1">
              <a:spLocks noChangeArrowheads="1"/>
            </p:cNvSpPr>
            <p:nvPr/>
          </p:nvSpPr>
          <p:spPr bwMode="auto">
            <a:xfrm>
              <a:off x="249" y="173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516" name="Text Box 24"/>
            <p:cNvSpPr txBox="1">
              <a:spLocks noChangeArrowheads="1"/>
            </p:cNvSpPr>
            <p:nvPr/>
          </p:nvSpPr>
          <p:spPr bwMode="auto">
            <a:xfrm>
              <a:off x="249" y="1979"/>
              <a:ext cx="635" cy="2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517" name="Text Box 25"/>
            <p:cNvSpPr txBox="1">
              <a:spLocks noChangeArrowheads="1"/>
            </p:cNvSpPr>
            <p:nvPr/>
          </p:nvSpPr>
          <p:spPr bwMode="auto">
            <a:xfrm>
              <a:off x="249" y="2366"/>
              <a:ext cx="648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518" name="Text Box 26"/>
            <p:cNvSpPr txBox="1">
              <a:spLocks noChangeArrowheads="1"/>
            </p:cNvSpPr>
            <p:nvPr/>
          </p:nvSpPr>
          <p:spPr bwMode="auto">
            <a:xfrm>
              <a:off x="884" y="95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519" name="Text Box 27"/>
            <p:cNvSpPr txBox="1">
              <a:spLocks noChangeArrowheads="1"/>
            </p:cNvSpPr>
            <p:nvPr/>
          </p:nvSpPr>
          <p:spPr bwMode="auto">
            <a:xfrm>
              <a:off x="884" y="1210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520" name="Text Box 28"/>
            <p:cNvSpPr txBox="1">
              <a:spLocks noChangeArrowheads="1"/>
            </p:cNvSpPr>
            <p:nvPr/>
          </p:nvSpPr>
          <p:spPr bwMode="auto">
            <a:xfrm>
              <a:off x="884" y="1459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521" name="Text Box 29"/>
            <p:cNvSpPr txBox="1">
              <a:spLocks noChangeArrowheads="1"/>
            </p:cNvSpPr>
            <p:nvPr/>
          </p:nvSpPr>
          <p:spPr bwMode="auto">
            <a:xfrm>
              <a:off x="884" y="1710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7522" name="Text Box 30"/>
            <p:cNvSpPr txBox="1">
              <a:spLocks noChangeArrowheads="1"/>
            </p:cNvSpPr>
            <p:nvPr/>
          </p:nvSpPr>
          <p:spPr bwMode="auto">
            <a:xfrm>
              <a:off x="884" y="1958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7523" name="Text Box 31"/>
            <p:cNvSpPr txBox="1">
              <a:spLocks noChangeArrowheads="1"/>
            </p:cNvSpPr>
            <p:nvPr/>
          </p:nvSpPr>
          <p:spPr bwMode="auto">
            <a:xfrm>
              <a:off x="884" y="70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524" name="Text Box 32"/>
            <p:cNvSpPr txBox="1">
              <a:spLocks noChangeArrowheads="1"/>
            </p:cNvSpPr>
            <p:nvPr/>
          </p:nvSpPr>
          <p:spPr bwMode="auto">
            <a:xfrm>
              <a:off x="884" y="2384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  <p:grpSp>
        <p:nvGrpSpPr>
          <p:cNvPr id="17414" name="Group 33"/>
          <p:cNvGrpSpPr>
            <a:grpSpLocks/>
          </p:cNvGrpSpPr>
          <p:nvPr/>
        </p:nvGrpSpPr>
        <p:grpSpPr bwMode="auto">
          <a:xfrm>
            <a:off x="2452688" y="913507"/>
            <a:ext cx="1830387" cy="2803525"/>
            <a:chOff x="249" y="709"/>
            <a:chExt cx="1192" cy="1905"/>
          </a:xfrm>
        </p:grpSpPr>
        <p:sp>
          <p:nvSpPr>
            <p:cNvPr id="17499" name="Text Box 34"/>
            <p:cNvSpPr txBox="1">
              <a:spLocks noChangeArrowheads="1"/>
            </p:cNvSpPr>
            <p:nvPr/>
          </p:nvSpPr>
          <p:spPr bwMode="auto">
            <a:xfrm>
              <a:off x="249" y="98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25</a:t>
              </a:r>
            </a:p>
          </p:txBody>
        </p:sp>
        <p:sp>
          <p:nvSpPr>
            <p:cNvPr id="17500" name="Text Box 35"/>
            <p:cNvSpPr txBox="1">
              <a:spLocks noChangeArrowheads="1"/>
            </p:cNvSpPr>
            <p:nvPr/>
          </p:nvSpPr>
          <p:spPr bwMode="auto">
            <a:xfrm>
              <a:off x="249" y="123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17</a:t>
              </a:r>
            </a:p>
          </p:txBody>
        </p:sp>
        <p:sp>
          <p:nvSpPr>
            <p:cNvPr id="17501" name="Text Box 36"/>
            <p:cNvSpPr txBox="1">
              <a:spLocks noChangeArrowheads="1"/>
            </p:cNvSpPr>
            <p:nvPr/>
          </p:nvSpPr>
          <p:spPr bwMode="auto">
            <a:xfrm>
              <a:off x="249" y="148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502" name="Text Box 37"/>
            <p:cNvSpPr txBox="1">
              <a:spLocks noChangeArrowheads="1"/>
            </p:cNvSpPr>
            <p:nvPr/>
          </p:nvSpPr>
          <p:spPr bwMode="auto">
            <a:xfrm>
              <a:off x="249" y="173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503" name="Text Box 38"/>
            <p:cNvSpPr txBox="1">
              <a:spLocks noChangeArrowheads="1"/>
            </p:cNvSpPr>
            <p:nvPr/>
          </p:nvSpPr>
          <p:spPr bwMode="auto">
            <a:xfrm>
              <a:off x="249" y="1979"/>
              <a:ext cx="635" cy="2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504" name="Text Box 39"/>
            <p:cNvSpPr txBox="1">
              <a:spLocks noChangeArrowheads="1"/>
            </p:cNvSpPr>
            <p:nvPr/>
          </p:nvSpPr>
          <p:spPr bwMode="auto">
            <a:xfrm>
              <a:off x="249" y="2366"/>
              <a:ext cx="648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505" name="Text Box 40"/>
            <p:cNvSpPr txBox="1">
              <a:spLocks noChangeArrowheads="1"/>
            </p:cNvSpPr>
            <p:nvPr/>
          </p:nvSpPr>
          <p:spPr bwMode="auto">
            <a:xfrm>
              <a:off x="884" y="95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506" name="Text Box 41"/>
            <p:cNvSpPr txBox="1">
              <a:spLocks noChangeArrowheads="1"/>
            </p:cNvSpPr>
            <p:nvPr/>
          </p:nvSpPr>
          <p:spPr bwMode="auto">
            <a:xfrm>
              <a:off x="884" y="1210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507" name="Text Box 42"/>
            <p:cNvSpPr txBox="1">
              <a:spLocks noChangeArrowheads="1"/>
            </p:cNvSpPr>
            <p:nvPr/>
          </p:nvSpPr>
          <p:spPr bwMode="auto">
            <a:xfrm>
              <a:off x="884" y="1459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508" name="Text Box 43"/>
            <p:cNvSpPr txBox="1">
              <a:spLocks noChangeArrowheads="1"/>
            </p:cNvSpPr>
            <p:nvPr/>
          </p:nvSpPr>
          <p:spPr bwMode="auto">
            <a:xfrm>
              <a:off x="884" y="1710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7509" name="Text Box 44"/>
            <p:cNvSpPr txBox="1">
              <a:spLocks noChangeArrowheads="1"/>
            </p:cNvSpPr>
            <p:nvPr/>
          </p:nvSpPr>
          <p:spPr bwMode="auto">
            <a:xfrm>
              <a:off x="884" y="1958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7510" name="Text Box 45"/>
            <p:cNvSpPr txBox="1">
              <a:spLocks noChangeArrowheads="1"/>
            </p:cNvSpPr>
            <p:nvPr/>
          </p:nvSpPr>
          <p:spPr bwMode="auto">
            <a:xfrm>
              <a:off x="884" y="70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511" name="Text Box 46"/>
            <p:cNvSpPr txBox="1">
              <a:spLocks noChangeArrowheads="1"/>
            </p:cNvSpPr>
            <p:nvPr/>
          </p:nvSpPr>
          <p:spPr bwMode="auto">
            <a:xfrm>
              <a:off x="884" y="2384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  <p:grpSp>
        <p:nvGrpSpPr>
          <p:cNvPr id="17415" name="Group 47"/>
          <p:cNvGrpSpPr>
            <a:grpSpLocks/>
          </p:cNvGrpSpPr>
          <p:nvPr/>
        </p:nvGrpSpPr>
        <p:grpSpPr bwMode="auto">
          <a:xfrm>
            <a:off x="4684713" y="913507"/>
            <a:ext cx="1830387" cy="2803525"/>
            <a:chOff x="249" y="709"/>
            <a:chExt cx="1192" cy="1905"/>
          </a:xfrm>
        </p:grpSpPr>
        <p:sp>
          <p:nvSpPr>
            <p:cNvPr id="17486" name="Text Box 48"/>
            <p:cNvSpPr txBox="1">
              <a:spLocks noChangeArrowheads="1"/>
            </p:cNvSpPr>
            <p:nvPr/>
          </p:nvSpPr>
          <p:spPr bwMode="auto">
            <a:xfrm>
              <a:off x="249" y="98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17487" name="Text Box 49"/>
            <p:cNvSpPr txBox="1">
              <a:spLocks noChangeArrowheads="1"/>
            </p:cNvSpPr>
            <p:nvPr/>
          </p:nvSpPr>
          <p:spPr bwMode="auto">
            <a:xfrm>
              <a:off x="249" y="123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17</a:t>
              </a:r>
            </a:p>
          </p:txBody>
        </p:sp>
        <p:sp>
          <p:nvSpPr>
            <p:cNvPr id="17488" name="Text Box 50"/>
            <p:cNvSpPr txBox="1">
              <a:spLocks noChangeArrowheads="1"/>
            </p:cNvSpPr>
            <p:nvPr/>
          </p:nvSpPr>
          <p:spPr bwMode="auto">
            <a:xfrm>
              <a:off x="249" y="148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89" name="Text Box 51"/>
            <p:cNvSpPr txBox="1">
              <a:spLocks noChangeArrowheads="1"/>
            </p:cNvSpPr>
            <p:nvPr/>
          </p:nvSpPr>
          <p:spPr bwMode="auto">
            <a:xfrm>
              <a:off x="249" y="173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90" name="Text Box 52"/>
            <p:cNvSpPr txBox="1">
              <a:spLocks noChangeArrowheads="1"/>
            </p:cNvSpPr>
            <p:nvPr/>
          </p:nvSpPr>
          <p:spPr bwMode="auto">
            <a:xfrm>
              <a:off x="249" y="1979"/>
              <a:ext cx="635" cy="2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91" name="Text Box 53"/>
            <p:cNvSpPr txBox="1">
              <a:spLocks noChangeArrowheads="1"/>
            </p:cNvSpPr>
            <p:nvPr/>
          </p:nvSpPr>
          <p:spPr bwMode="auto">
            <a:xfrm>
              <a:off x="249" y="2366"/>
              <a:ext cx="648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492" name="Text Box 54"/>
            <p:cNvSpPr txBox="1">
              <a:spLocks noChangeArrowheads="1"/>
            </p:cNvSpPr>
            <p:nvPr/>
          </p:nvSpPr>
          <p:spPr bwMode="auto">
            <a:xfrm>
              <a:off x="884" y="95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493" name="Text Box 55"/>
            <p:cNvSpPr txBox="1">
              <a:spLocks noChangeArrowheads="1"/>
            </p:cNvSpPr>
            <p:nvPr/>
          </p:nvSpPr>
          <p:spPr bwMode="auto">
            <a:xfrm>
              <a:off x="884" y="1210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494" name="Text Box 56"/>
            <p:cNvSpPr txBox="1">
              <a:spLocks noChangeArrowheads="1"/>
            </p:cNvSpPr>
            <p:nvPr/>
          </p:nvSpPr>
          <p:spPr bwMode="auto">
            <a:xfrm>
              <a:off x="884" y="1459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495" name="Text Box 57"/>
            <p:cNvSpPr txBox="1">
              <a:spLocks noChangeArrowheads="1"/>
            </p:cNvSpPr>
            <p:nvPr/>
          </p:nvSpPr>
          <p:spPr bwMode="auto">
            <a:xfrm>
              <a:off x="884" y="1710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7496" name="Text Box 58"/>
            <p:cNvSpPr txBox="1">
              <a:spLocks noChangeArrowheads="1"/>
            </p:cNvSpPr>
            <p:nvPr/>
          </p:nvSpPr>
          <p:spPr bwMode="auto">
            <a:xfrm>
              <a:off x="884" y="1958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7497" name="Text Box 59"/>
            <p:cNvSpPr txBox="1">
              <a:spLocks noChangeArrowheads="1"/>
            </p:cNvSpPr>
            <p:nvPr/>
          </p:nvSpPr>
          <p:spPr bwMode="auto">
            <a:xfrm>
              <a:off x="884" y="70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498" name="Text Box 60"/>
            <p:cNvSpPr txBox="1">
              <a:spLocks noChangeArrowheads="1"/>
            </p:cNvSpPr>
            <p:nvPr/>
          </p:nvSpPr>
          <p:spPr bwMode="auto">
            <a:xfrm>
              <a:off x="884" y="2384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  <p:grpSp>
        <p:nvGrpSpPr>
          <p:cNvPr id="17416" name="Group 176"/>
          <p:cNvGrpSpPr>
            <a:grpSpLocks/>
          </p:cNvGrpSpPr>
          <p:nvPr/>
        </p:nvGrpSpPr>
        <p:grpSpPr bwMode="auto">
          <a:xfrm>
            <a:off x="6918325" y="913507"/>
            <a:ext cx="1830388" cy="2803525"/>
            <a:chOff x="249" y="709"/>
            <a:chExt cx="1192" cy="1905"/>
          </a:xfrm>
        </p:grpSpPr>
        <p:sp>
          <p:nvSpPr>
            <p:cNvPr id="17473" name="Text Box 177"/>
            <p:cNvSpPr txBox="1">
              <a:spLocks noChangeArrowheads="1"/>
            </p:cNvSpPr>
            <p:nvPr/>
          </p:nvSpPr>
          <p:spPr bwMode="auto">
            <a:xfrm>
              <a:off x="249" y="98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17474" name="Text Box 178"/>
            <p:cNvSpPr txBox="1">
              <a:spLocks noChangeArrowheads="1"/>
            </p:cNvSpPr>
            <p:nvPr/>
          </p:nvSpPr>
          <p:spPr bwMode="auto">
            <a:xfrm>
              <a:off x="249" y="123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7475" name="Text Box 179"/>
            <p:cNvSpPr txBox="1">
              <a:spLocks noChangeArrowheads="1"/>
            </p:cNvSpPr>
            <p:nvPr/>
          </p:nvSpPr>
          <p:spPr bwMode="auto">
            <a:xfrm>
              <a:off x="249" y="148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76" name="Text Box 180"/>
            <p:cNvSpPr txBox="1">
              <a:spLocks noChangeArrowheads="1"/>
            </p:cNvSpPr>
            <p:nvPr/>
          </p:nvSpPr>
          <p:spPr bwMode="auto">
            <a:xfrm>
              <a:off x="249" y="173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77" name="Text Box 181"/>
            <p:cNvSpPr txBox="1">
              <a:spLocks noChangeArrowheads="1"/>
            </p:cNvSpPr>
            <p:nvPr/>
          </p:nvSpPr>
          <p:spPr bwMode="auto">
            <a:xfrm>
              <a:off x="249" y="1979"/>
              <a:ext cx="635" cy="2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78" name="Text Box 182"/>
            <p:cNvSpPr txBox="1">
              <a:spLocks noChangeArrowheads="1"/>
            </p:cNvSpPr>
            <p:nvPr/>
          </p:nvSpPr>
          <p:spPr bwMode="auto">
            <a:xfrm>
              <a:off x="249" y="2366"/>
              <a:ext cx="648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479" name="Text Box 183"/>
            <p:cNvSpPr txBox="1">
              <a:spLocks noChangeArrowheads="1"/>
            </p:cNvSpPr>
            <p:nvPr/>
          </p:nvSpPr>
          <p:spPr bwMode="auto">
            <a:xfrm>
              <a:off x="884" y="95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480" name="Text Box 184"/>
            <p:cNvSpPr txBox="1">
              <a:spLocks noChangeArrowheads="1"/>
            </p:cNvSpPr>
            <p:nvPr/>
          </p:nvSpPr>
          <p:spPr bwMode="auto">
            <a:xfrm>
              <a:off x="884" y="1210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481" name="Text Box 185"/>
            <p:cNvSpPr txBox="1">
              <a:spLocks noChangeArrowheads="1"/>
            </p:cNvSpPr>
            <p:nvPr/>
          </p:nvSpPr>
          <p:spPr bwMode="auto">
            <a:xfrm>
              <a:off x="884" y="1459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482" name="Text Box 186"/>
            <p:cNvSpPr txBox="1">
              <a:spLocks noChangeArrowheads="1"/>
            </p:cNvSpPr>
            <p:nvPr/>
          </p:nvSpPr>
          <p:spPr bwMode="auto">
            <a:xfrm>
              <a:off x="884" y="1710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7483" name="Text Box 187"/>
            <p:cNvSpPr txBox="1">
              <a:spLocks noChangeArrowheads="1"/>
            </p:cNvSpPr>
            <p:nvPr/>
          </p:nvSpPr>
          <p:spPr bwMode="auto">
            <a:xfrm>
              <a:off x="884" y="1958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7484" name="Text Box 188"/>
            <p:cNvSpPr txBox="1">
              <a:spLocks noChangeArrowheads="1"/>
            </p:cNvSpPr>
            <p:nvPr/>
          </p:nvSpPr>
          <p:spPr bwMode="auto">
            <a:xfrm>
              <a:off x="884" y="70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485" name="Text Box 189"/>
            <p:cNvSpPr txBox="1">
              <a:spLocks noChangeArrowheads="1"/>
            </p:cNvSpPr>
            <p:nvPr/>
          </p:nvSpPr>
          <p:spPr bwMode="auto">
            <a:xfrm>
              <a:off x="884" y="2384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  <p:grpSp>
        <p:nvGrpSpPr>
          <p:cNvPr id="17417" name="Group 190"/>
          <p:cNvGrpSpPr>
            <a:grpSpLocks/>
          </p:cNvGrpSpPr>
          <p:nvPr/>
        </p:nvGrpSpPr>
        <p:grpSpPr bwMode="auto">
          <a:xfrm>
            <a:off x="220663" y="3861048"/>
            <a:ext cx="1830387" cy="2803525"/>
            <a:chOff x="1564" y="2481"/>
            <a:chExt cx="1153" cy="1766"/>
          </a:xfrm>
        </p:grpSpPr>
        <p:sp>
          <p:nvSpPr>
            <p:cNvPr id="17460" name="Text Box 191"/>
            <p:cNvSpPr txBox="1">
              <a:spLocks noChangeArrowheads="1"/>
            </p:cNvSpPr>
            <p:nvPr/>
          </p:nvSpPr>
          <p:spPr bwMode="auto">
            <a:xfrm>
              <a:off x="1564" y="2733"/>
              <a:ext cx="614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17461" name="Text Box 192"/>
            <p:cNvSpPr txBox="1">
              <a:spLocks noChangeArrowheads="1"/>
            </p:cNvSpPr>
            <p:nvPr/>
          </p:nvSpPr>
          <p:spPr bwMode="auto">
            <a:xfrm>
              <a:off x="1564" y="2965"/>
              <a:ext cx="614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7462" name="Text Box 193"/>
            <p:cNvSpPr txBox="1">
              <a:spLocks noChangeArrowheads="1"/>
            </p:cNvSpPr>
            <p:nvPr/>
          </p:nvSpPr>
          <p:spPr bwMode="auto">
            <a:xfrm>
              <a:off x="1564" y="3196"/>
              <a:ext cx="614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7463" name="Text Box 194"/>
            <p:cNvSpPr txBox="1">
              <a:spLocks noChangeArrowheads="1"/>
            </p:cNvSpPr>
            <p:nvPr/>
          </p:nvSpPr>
          <p:spPr bwMode="auto">
            <a:xfrm>
              <a:off x="1564" y="3428"/>
              <a:ext cx="614" cy="22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64" name="Text Box 195"/>
            <p:cNvSpPr txBox="1">
              <a:spLocks noChangeArrowheads="1"/>
            </p:cNvSpPr>
            <p:nvPr/>
          </p:nvSpPr>
          <p:spPr bwMode="auto">
            <a:xfrm>
              <a:off x="1564" y="3658"/>
              <a:ext cx="614" cy="23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65" name="Text Box 196"/>
            <p:cNvSpPr txBox="1">
              <a:spLocks noChangeArrowheads="1"/>
            </p:cNvSpPr>
            <p:nvPr/>
          </p:nvSpPr>
          <p:spPr bwMode="auto">
            <a:xfrm>
              <a:off x="1564" y="4017"/>
              <a:ext cx="627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466" name="Text Box 197"/>
            <p:cNvSpPr txBox="1">
              <a:spLocks noChangeArrowheads="1"/>
            </p:cNvSpPr>
            <p:nvPr/>
          </p:nvSpPr>
          <p:spPr bwMode="auto">
            <a:xfrm>
              <a:off x="2178" y="2713"/>
              <a:ext cx="5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467" name="Text Box 198"/>
            <p:cNvSpPr txBox="1">
              <a:spLocks noChangeArrowheads="1"/>
            </p:cNvSpPr>
            <p:nvPr/>
          </p:nvSpPr>
          <p:spPr bwMode="auto">
            <a:xfrm>
              <a:off x="2178" y="2945"/>
              <a:ext cx="5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468" name="Text Box 199"/>
            <p:cNvSpPr txBox="1">
              <a:spLocks noChangeArrowheads="1"/>
            </p:cNvSpPr>
            <p:nvPr/>
          </p:nvSpPr>
          <p:spPr bwMode="auto">
            <a:xfrm>
              <a:off x="2178" y="3176"/>
              <a:ext cx="5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469" name="Text Box 200"/>
            <p:cNvSpPr txBox="1">
              <a:spLocks noChangeArrowheads="1"/>
            </p:cNvSpPr>
            <p:nvPr/>
          </p:nvSpPr>
          <p:spPr bwMode="auto">
            <a:xfrm>
              <a:off x="2178" y="3409"/>
              <a:ext cx="5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7470" name="Text Box 201"/>
            <p:cNvSpPr txBox="1">
              <a:spLocks noChangeArrowheads="1"/>
            </p:cNvSpPr>
            <p:nvPr/>
          </p:nvSpPr>
          <p:spPr bwMode="auto">
            <a:xfrm>
              <a:off x="2178" y="3639"/>
              <a:ext cx="5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7471" name="Text Box 202"/>
            <p:cNvSpPr txBox="1">
              <a:spLocks noChangeArrowheads="1"/>
            </p:cNvSpPr>
            <p:nvPr/>
          </p:nvSpPr>
          <p:spPr bwMode="auto">
            <a:xfrm>
              <a:off x="2178" y="2481"/>
              <a:ext cx="5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472" name="Text Box 203"/>
            <p:cNvSpPr txBox="1">
              <a:spLocks noChangeArrowheads="1"/>
            </p:cNvSpPr>
            <p:nvPr/>
          </p:nvSpPr>
          <p:spPr bwMode="auto">
            <a:xfrm>
              <a:off x="2178" y="4034"/>
              <a:ext cx="5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  <p:grpSp>
        <p:nvGrpSpPr>
          <p:cNvPr id="17418" name="Group 204"/>
          <p:cNvGrpSpPr>
            <a:grpSpLocks/>
          </p:cNvGrpSpPr>
          <p:nvPr/>
        </p:nvGrpSpPr>
        <p:grpSpPr bwMode="auto">
          <a:xfrm>
            <a:off x="2406650" y="3865835"/>
            <a:ext cx="1830388" cy="2803525"/>
            <a:chOff x="249" y="709"/>
            <a:chExt cx="1192" cy="1905"/>
          </a:xfrm>
        </p:grpSpPr>
        <p:sp>
          <p:nvSpPr>
            <p:cNvPr id="17447" name="Text Box 205"/>
            <p:cNvSpPr txBox="1">
              <a:spLocks noChangeArrowheads="1"/>
            </p:cNvSpPr>
            <p:nvPr/>
          </p:nvSpPr>
          <p:spPr bwMode="auto">
            <a:xfrm>
              <a:off x="249" y="98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17448" name="Text Box 206"/>
            <p:cNvSpPr txBox="1">
              <a:spLocks noChangeArrowheads="1"/>
            </p:cNvSpPr>
            <p:nvPr/>
          </p:nvSpPr>
          <p:spPr bwMode="auto">
            <a:xfrm>
              <a:off x="249" y="123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7449" name="Text Box 207"/>
            <p:cNvSpPr txBox="1">
              <a:spLocks noChangeArrowheads="1"/>
            </p:cNvSpPr>
            <p:nvPr/>
          </p:nvSpPr>
          <p:spPr bwMode="auto">
            <a:xfrm>
              <a:off x="249" y="148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7450" name="Text Box 208"/>
            <p:cNvSpPr txBox="1">
              <a:spLocks noChangeArrowheads="1"/>
            </p:cNvSpPr>
            <p:nvPr/>
          </p:nvSpPr>
          <p:spPr bwMode="auto">
            <a:xfrm>
              <a:off x="249" y="173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51" name="Text Box 209"/>
            <p:cNvSpPr txBox="1">
              <a:spLocks noChangeArrowheads="1"/>
            </p:cNvSpPr>
            <p:nvPr/>
          </p:nvSpPr>
          <p:spPr bwMode="auto">
            <a:xfrm>
              <a:off x="249" y="1979"/>
              <a:ext cx="635" cy="2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52" name="Text Box 210"/>
            <p:cNvSpPr txBox="1">
              <a:spLocks noChangeArrowheads="1"/>
            </p:cNvSpPr>
            <p:nvPr/>
          </p:nvSpPr>
          <p:spPr bwMode="auto">
            <a:xfrm>
              <a:off x="249" y="2366"/>
              <a:ext cx="648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453" name="Text Box 211"/>
            <p:cNvSpPr txBox="1">
              <a:spLocks noChangeArrowheads="1"/>
            </p:cNvSpPr>
            <p:nvPr/>
          </p:nvSpPr>
          <p:spPr bwMode="auto">
            <a:xfrm>
              <a:off x="884" y="95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454" name="Text Box 212"/>
            <p:cNvSpPr txBox="1">
              <a:spLocks noChangeArrowheads="1"/>
            </p:cNvSpPr>
            <p:nvPr/>
          </p:nvSpPr>
          <p:spPr bwMode="auto">
            <a:xfrm>
              <a:off x="884" y="1210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455" name="Text Box 213"/>
            <p:cNvSpPr txBox="1">
              <a:spLocks noChangeArrowheads="1"/>
            </p:cNvSpPr>
            <p:nvPr/>
          </p:nvSpPr>
          <p:spPr bwMode="auto">
            <a:xfrm>
              <a:off x="884" y="1459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456" name="Text Box 214"/>
            <p:cNvSpPr txBox="1">
              <a:spLocks noChangeArrowheads="1"/>
            </p:cNvSpPr>
            <p:nvPr/>
          </p:nvSpPr>
          <p:spPr bwMode="auto">
            <a:xfrm>
              <a:off x="884" y="1710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7457" name="Text Box 215"/>
            <p:cNvSpPr txBox="1">
              <a:spLocks noChangeArrowheads="1"/>
            </p:cNvSpPr>
            <p:nvPr/>
          </p:nvSpPr>
          <p:spPr bwMode="auto">
            <a:xfrm>
              <a:off x="884" y="1958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7458" name="Text Box 216"/>
            <p:cNvSpPr txBox="1">
              <a:spLocks noChangeArrowheads="1"/>
            </p:cNvSpPr>
            <p:nvPr/>
          </p:nvSpPr>
          <p:spPr bwMode="auto">
            <a:xfrm>
              <a:off x="884" y="70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459" name="Text Box 217"/>
            <p:cNvSpPr txBox="1">
              <a:spLocks noChangeArrowheads="1"/>
            </p:cNvSpPr>
            <p:nvPr/>
          </p:nvSpPr>
          <p:spPr bwMode="auto">
            <a:xfrm>
              <a:off x="884" y="2384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  <p:grpSp>
        <p:nvGrpSpPr>
          <p:cNvPr id="17419" name="Group 218"/>
          <p:cNvGrpSpPr>
            <a:grpSpLocks/>
          </p:cNvGrpSpPr>
          <p:nvPr/>
        </p:nvGrpSpPr>
        <p:grpSpPr bwMode="auto">
          <a:xfrm>
            <a:off x="4686300" y="3865835"/>
            <a:ext cx="1830388" cy="2803525"/>
            <a:chOff x="249" y="709"/>
            <a:chExt cx="1192" cy="1905"/>
          </a:xfrm>
        </p:grpSpPr>
        <p:sp>
          <p:nvSpPr>
            <p:cNvPr id="17434" name="Text Box 219"/>
            <p:cNvSpPr txBox="1">
              <a:spLocks noChangeArrowheads="1"/>
            </p:cNvSpPr>
            <p:nvPr/>
          </p:nvSpPr>
          <p:spPr bwMode="auto">
            <a:xfrm>
              <a:off x="249" y="98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210</a:t>
              </a:r>
            </a:p>
          </p:txBody>
        </p:sp>
        <p:sp>
          <p:nvSpPr>
            <p:cNvPr id="17435" name="Text Box 220"/>
            <p:cNvSpPr txBox="1">
              <a:spLocks noChangeArrowheads="1"/>
            </p:cNvSpPr>
            <p:nvPr/>
          </p:nvSpPr>
          <p:spPr bwMode="auto">
            <a:xfrm>
              <a:off x="249" y="123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7436" name="Text Box 221"/>
            <p:cNvSpPr txBox="1">
              <a:spLocks noChangeArrowheads="1"/>
            </p:cNvSpPr>
            <p:nvPr/>
          </p:nvSpPr>
          <p:spPr bwMode="auto">
            <a:xfrm>
              <a:off x="249" y="148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7437" name="Text Box 222"/>
            <p:cNvSpPr txBox="1">
              <a:spLocks noChangeArrowheads="1"/>
            </p:cNvSpPr>
            <p:nvPr/>
          </p:nvSpPr>
          <p:spPr bwMode="auto">
            <a:xfrm>
              <a:off x="249" y="173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38" name="Text Box 223"/>
            <p:cNvSpPr txBox="1">
              <a:spLocks noChangeArrowheads="1"/>
            </p:cNvSpPr>
            <p:nvPr/>
          </p:nvSpPr>
          <p:spPr bwMode="auto">
            <a:xfrm>
              <a:off x="249" y="1979"/>
              <a:ext cx="635" cy="2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39" name="Text Box 224"/>
            <p:cNvSpPr txBox="1">
              <a:spLocks noChangeArrowheads="1"/>
            </p:cNvSpPr>
            <p:nvPr/>
          </p:nvSpPr>
          <p:spPr bwMode="auto">
            <a:xfrm>
              <a:off x="249" y="2366"/>
              <a:ext cx="648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440" name="Text Box 225"/>
            <p:cNvSpPr txBox="1">
              <a:spLocks noChangeArrowheads="1"/>
            </p:cNvSpPr>
            <p:nvPr/>
          </p:nvSpPr>
          <p:spPr bwMode="auto">
            <a:xfrm>
              <a:off x="884" y="95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441" name="Text Box 226"/>
            <p:cNvSpPr txBox="1">
              <a:spLocks noChangeArrowheads="1"/>
            </p:cNvSpPr>
            <p:nvPr/>
          </p:nvSpPr>
          <p:spPr bwMode="auto">
            <a:xfrm>
              <a:off x="884" y="1210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442" name="Text Box 227"/>
            <p:cNvSpPr txBox="1">
              <a:spLocks noChangeArrowheads="1"/>
            </p:cNvSpPr>
            <p:nvPr/>
          </p:nvSpPr>
          <p:spPr bwMode="auto">
            <a:xfrm>
              <a:off x="884" y="1459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443" name="Text Box 228"/>
            <p:cNvSpPr txBox="1">
              <a:spLocks noChangeArrowheads="1"/>
            </p:cNvSpPr>
            <p:nvPr/>
          </p:nvSpPr>
          <p:spPr bwMode="auto">
            <a:xfrm>
              <a:off x="884" y="1710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7444" name="Text Box 229"/>
            <p:cNvSpPr txBox="1">
              <a:spLocks noChangeArrowheads="1"/>
            </p:cNvSpPr>
            <p:nvPr/>
          </p:nvSpPr>
          <p:spPr bwMode="auto">
            <a:xfrm>
              <a:off x="884" y="1958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7445" name="Text Box 230"/>
            <p:cNvSpPr txBox="1">
              <a:spLocks noChangeArrowheads="1"/>
            </p:cNvSpPr>
            <p:nvPr/>
          </p:nvSpPr>
          <p:spPr bwMode="auto">
            <a:xfrm>
              <a:off x="884" y="70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446" name="Text Box 231"/>
            <p:cNvSpPr txBox="1">
              <a:spLocks noChangeArrowheads="1"/>
            </p:cNvSpPr>
            <p:nvPr/>
          </p:nvSpPr>
          <p:spPr bwMode="auto">
            <a:xfrm>
              <a:off x="884" y="2384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  <p:grpSp>
        <p:nvGrpSpPr>
          <p:cNvPr id="17420" name="Group 232"/>
          <p:cNvGrpSpPr>
            <a:grpSpLocks/>
          </p:cNvGrpSpPr>
          <p:nvPr/>
        </p:nvGrpSpPr>
        <p:grpSpPr bwMode="auto">
          <a:xfrm>
            <a:off x="6948488" y="3865835"/>
            <a:ext cx="1830387" cy="2803525"/>
            <a:chOff x="249" y="709"/>
            <a:chExt cx="1192" cy="1905"/>
          </a:xfrm>
        </p:grpSpPr>
        <p:sp>
          <p:nvSpPr>
            <p:cNvPr id="17421" name="Text Box 233"/>
            <p:cNvSpPr txBox="1">
              <a:spLocks noChangeArrowheads="1"/>
            </p:cNvSpPr>
            <p:nvPr/>
          </p:nvSpPr>
          <p:spPr bwMode="auto">
            <a:xfrm>
              <a:off x="249" y="98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210</a:t>
              </a:r>
            </a:p>
          </p:txBody>
        </p:sp>
        <p:sp>
          <p:nvSpPr>
            <p:cNvPr id="17422" name="Text Box 234"/>
            <p:cNvSpPr txBox="1">
              <a:spLocks noChangeArrowheads="1"/>
            </p:cNvSpPr>
            <p:nvPr/>
          </p:nvSpPr>
          <p:spPr bwMode="auto">
            <a:xfrm>
              <a:off x="249" y="1231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7423" name="Text Box 235"/>
            <p:cNvSpPr txBox="1">
              <a:spLocks noChangeArrowheads="1"/>
            </p:cNvSpPr>
            <p:nvPr/>
          </p:nvSpPr>
          <p:spPr bwMode="auto">
            <a:xfrm>
              <a:off x="249" y="148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7424" name="Text Box 236"/>
            <p:cNvSpPr txBox="1">
              <a:spLocks noChangeArrowheads="1"/>
            </p:cNvSpPr>
            <p:nvPr/>
          </p:nvSpPr>
          <p:spPr bwMode="auto">
            <a:xfrm>
              <a:off x="249" y="1730"/>
              <a:ext cx="635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25" name="Text Box 237"/>
            <p:cNvSpPr txBox="1">
              <a:spLocks noChangeArrowheads="1"/>
            </p:cNvSpPr>
            <p:nvPr/>
          </p:nvSpPr>
          <p:spPr bwMode="auto">
            <a:xfrm>
              <a:off x="249" y="1979"/>
              <a:ext cx="635" cy="2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1600" baseline="0">
                <a:ea typeface="宋体" panose="02010600030101010101" pitchFamily="2" charset="-122"/>
              </a:endParaRPr>
            </a:p>
          </p:txBody>
        </p:sp>
        <p:sp>
          <p:nvSpPr>
            <p:cNvPr id="17426" name="Text Box 238"/>
            <p:cNvSpPr txBox="1">
              <a:spLocks noChangeArrowheads="1"/>
            </p:cNvSpPr>
            <p:nvPr/>
          </p:nvSpPr>
          <p:spPr bwMode="auto">
            <a:xfrm>
              <a:off x="249" y="2366"/>
              <a:ext cx="648" cy="2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CC0000"/>
                  </a:solidFill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427" name="Text Box 239"/>
            <p:cNvSpPr txBox="1">
              <a:spLocks noChangeArrowheads="1"/>
            </p:cNvSpPr>
            <p:nvPr/>
          </p:nvSpPr>
          <p:spPr bwMode="auto">
            <a:xfrm>
              <a:off x="884" y="95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x3FFB</a:t>
              </a:r>
            </a:p>
          </p:txBody>
        </p:sp>
        <p:sp>
          <p:nvSpPr>
            <p:cNvPr id="17428" name="Text Box 240"/>
            <p:cNvSpPr txBox="1">
              <a:spLocks noChangeArrowheads="1"/>
            </p:cNvSpPr>
            <p:nvPr/>
          </p:nvSpPr>
          <p:spPr bwMode="auto">
            <a:xfrm>
              <a:off x="884" y="1210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x3FFC</a:t>
              </a:r>
            </a:p>
          </p:txBody>
        </p:sp>
        <p:sp>
          <p:nvSpPr>
            <p:cNvPr id="17429" name="Text Box 241"/>
            <p:cNvSpPr txBox="1">
              <a:spLocks noChangeArrowheads="1"/>
            </p:cNvSpPr>
            <p:nvPr/>
          </p:nvSpPr>
          <p:spPr bwMode="auto">
            <a:xfrm>
              <a:off x="884" y="1459"/>
              <a:ext cx="55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x3FFD</a:t>
              </a:r>
            </a:p>
          </p:txBody>
        </p:sp>
        <p:sp>
          <p:nvSpPr>
            <p:cNvPr id="17430" name="Text Box 242"/>
            <p:cNvSpPr txBox="1">
              <a:spLocks noChangeArrowheads="1"/>
            </p:cNvSpPr>
            <p:nvPr/>
          </p:nvSpPr>
          <p:spPr bwMode="auto">
            <a:xfrm>
              <a:off x="884" y="1710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x3FFE</a:t>
              </a:r>
            </a:p>
          </p:txBody>
        </p:sp>
        <p:sp>
          <p:nvSpPr>
            <p:cNvPr id="17431" name="Text Box 243"/>
            <p:cNvSpPr txBox="1">
              <a:spLocks noChangeArrowheads="1"/>
            </p:cNvSpPr>
            <p:nvPr/>
          </p:nvSpPr>
          <p:spPr bwMode="auto">
            <a:xfrm>
              <a:off x="884" y="1958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x3FFF</a:t>
              </a:r>
            </a:p>
          </p:txBody>
        </p:sp>
        <p:sp>
          <p:nvSpPr>
            <p:cNvPr id="17432" name="Text Box 244"/>
            <p:cNvSpPr txBox="1">
              <a:spLocks noChangeArrowheads="1"/>
            </p:cNvSpPr>
            <p:nvPr/>
          </p:nvSpPr>
          <p:spPr bwMode="auto">
            <a:xfrm>
              <a:off x="884" y="709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x3FFA</a:t>
              </a:r>
            </a:p>
          </p:txBody>
        </p:sp>
        <p:sp>
          <p:nvSpPr>
            <p:cNvPr id="17433" name="Text Box 245"/>
            <p:cNvSpPr txBox="1">
              <a:spLocks noChangeArrowheads="1"/>
            </p:cNvSpPr>
            <p:nvPr/>
          </p:nvSpPr>
          <p:spPr bwMode="auto">
            <a:xfrm>
              <a:off x="884" y="2384"/>
              <a:ext cx="55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ea typeface="宋体" panose="02010600030101010101" pitchFamily="2" charset="-122"/>
                </a:rPr>
                <a:t>SP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2429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1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06756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16053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The Stack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372117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0285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325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Memory Model for Program Execution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292389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292908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7">
            <a:extLst>
              <a:ext uri="{FF2B5EF4-FFF2-40B4-BE49-F238E27FC236}">
                <a16:creationId xmlns:a16="http://schemas.microsoft.com/office/drawing/2014/main" id="{DDB816B2-2491-4E3D-90F5-A8A01521E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9" name="矩形 17">
            <a:extLst>
              <a:ext uri="{FF2B5EF4-FFF2-40B4-BE49-F238E27FC236}">
                <a16:creationId xmlns:a16="http://schemas.microsoft.com/office/drawing/2014/main" id="{BA5ED58A-E5A4-48D8-A0FE-748D6C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ED5E725-6B72-4D25-8539-035BBA2CA310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7">
            <a:extLst>
              <a:ext uri="{FF2B5EF4-FFF2-40B4-BE49-F238E27FC236}">
                <a16:creationId xmlns:a16="http://schemas.microsoft.com/office/drawing/2014/main" id="{A88B4B72-9227-4996-AD60-AF3A9320D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855512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5F7A6B8F-A5E9-428C-B828-7EF6CE9CF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94847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Implementing Functions in C Using a Stack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74B0DA5-6E6F-4CCB-884F-1F416E0033A8}"/>
              </a:ext>
            </a:extLst>
          </p:cNvPr>
          <p:cNvCxnSpPr/>
          <p:nvPr/>
        </p:nvCxnSpPr>
        <p:spPr>
          <a:xfrm>
            <a:off x="438669" y="45091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16425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9A3258-AFC0-409B-A9B5-483DC638C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14-</a:t>
            </a:r>
            <a:fld id="{2CA3E78C-7FDA-46BC-8AC5-85CF31FBC271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220162" name="Rectangle 2">
            <a:extLst>
              <a:ext uri="{FF2B5EF4-FFF2-40B4-BE49-F238E27FC236}">
                <a16:creationId xmlns:a16="http://schemas.microsoft.com/office/drawing/2014/main" id="{9E9E31C3-F20D-42DA-A33D-EF2E4569A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in C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76D40746-EA78-4159-8488-8C387389C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Smaller, simpler, subcomponent of program</a:t>
            </a:r>
          </a:p>
          <a:p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Provides abstraction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hide low-level details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give high-level structure to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programer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easier to understand overall program flow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enables separable, independent development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C functions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zero or multiple arguments passed in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single result returned (optional)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value is always a particular type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 other languages, called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procedures, subroutines</a:t>
            </a:r>
            <a:r>
              <a:rPr lang="en-US" altLang="zh-CN" dirty="0">
                <a:ea typeface="宋体" panose="02010600030101010101" pitchFamily="2" charset="-122"/>
              </a:rPr>
              <a:t>, ...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27C4A39-963C-46B5-A402-4D632F001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14-</a:t>
            </a:r>
            <a:fld id="{43207289-8666-49AB-BB8A-A985316850DF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21186" name="Rectangle 2">
            <a:extLst>
              <a:ext uri="{FF2B5EF4-FFF2-40B4-BE49-F238E27FC236}">
                <a16:creationId xmlns:a16="http://schemas.microsoft.com/office/drawing/2014/main" id="{2708580F-39FF-4DDE-AE9B-6B45A3D11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of High-Level Structure</a:t>
            </a:r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27B7E39E-17B4-4562-B37E-7856E4B45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63880" cy="5105400"/>
          </a:xfrm>
          <a:solidFill>
            <a:srgbClr val="CCFF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main()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SetupBoard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();  </a:t>
            </a:r>
            <a:r>
              <a:rPr lang="en-US" altLang="zh-CN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/* place pieces on board */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DetermineSides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();  </a:t>
            </a:r>
            <a:r>
              <a:rPr lang="en-US" altLang="zh-CN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/* choose black/white */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endParaRPr lang="en-US" altLang="zh-CN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/* Play game */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do {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WhitesTurn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();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BlacksTurn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();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} while (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NoOutcomeYet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());</a:t>
            </a:r>
            <a:b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21188" name="Text Box 4">
            <a:extLst>
              <a:ext uri="{FF2B5EF4-FFF2-40B4-BE49-F238E27FC236}">
                <a16:creationId xmlns:a16="http://schemas.microsoft.com/office/drawing/2014/main" id="{65AE3271-5576-4ADD-A1F7-FE71C0E07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3105834"/>
            <a:ext cx="4320480" cy="1200329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aseline="0" dirty="0">
                <a:solidFill>
                  <a:srgbClr val="CE0000"/>
                </a:solidFill>
                <a:ea typeface="宋体" panose="02010600030101010101" pitchFamily="2" charset="-122"/>
              </a:rPr>
              <a:t>Structure of program is evident, even without knowing implementation.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180F6707-459A-42EE-A4DC-81492F7EE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14-</a:t>
            </a:r>
            <a:fld id="{0113F71F-74D1-447D-A2F7-B8FDEED4D41E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22210" name="Rectangle 1026">
            <a:extLst>
              <a:ext uri="{FF2B5EF4-FFF2-40B4-BE49-F238E27FC236}">
                <a16:creationId xmlns:a16="http://schemas.microsoft.com/office/drawing/2014/main" id="{DBBD9DD4-967C-42C6-A517-CF8F1C558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Functions in C</a:t>
            </a:r>
          </a:p>
        </p:txBody>
      </p:sp>
      <p:sp>
        <p:nvSpPr>
          <p:cNvPr id="222211" name="Rectangle 1027">
            <a:extLst>
              <a:ext uri="{FF2B5EF4-FFF2-40B4-BE49-F238E27FC236}">
                <a16:creationId xmlns:a16="http://schemas.microsoft.com/office/drawing/2014/main" id="{6193D3AE-8FB4-4B54-A327-977BE945E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Declaration</a:t>
            </a:r>
            <a:r>
              <a:rPr lang="en-US" altLang="zh-CN" dirty="0">
                <a:ea typeface="宋体" panose="02010600030101010101" pitchFamily="2" charset="-122"/>
              </a:rPr>
              <a:t> (also called prototype)</a:t>
            </a:r>
          </a:p>
          <a:p>
            <a:pPr marL="0" indent="0">
              <a:buNone/>
            </a:pPr>
            <a:r>
              <a:rPr lang="en-US" altLang="zh-CN" b="0" dirty="0">
                <a:ea typeface="宋体" panose="02010600030101010101" pitchFamily="2" charset="-122"/>
              </a:rPr>
              <a:t>	    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int Factorial(int n);</a:t>
            </a:r>
            <a:endParaRPr lang="en-US" altLang="zh-CN" b="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Function call</a:t>
            </a:r>
            <a:r>
              <a:rPr lang="en-US" altLang="zh-CN" dirty="0">
                <a:ea typeface="宋体" panose="02010600030101010101" pitchFamily="2" charset="-122"/>
              </a:rPr>
              <a:t> -- used in expression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	    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a = x + Factorial(f + g);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b="0" dirty="0">
              <a:ea typeface="宋体" panose="02010600030101010101" pitchFamily="2" charset="-122"/>
            </a:endParaRPr>
          </a:p>
        </p:txBody>
      </p:sp>
      <p:sp>
        <p:nvSpPr>
          <p:cNvPr id="222212" name="Text Box 1028">
            <a:extLst>
              <a:ext uri="{FF2B5EF4-FFF2-40B4-BE49-F238E27FC236}">
                <a16:creationId xmlns:a16="http://schemas.microsoft.com/office/drawing/2014/main" id="{165EE2F0-DBC9-460E-A2BA-92F7AAC67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24" y="2362200"/>
            <a:ext cx="1505540" cy="646331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type of</a:t>
            </a:r>
            <a:br>
              <a:rPr lang="en-US" altLang="zh-CN" b="1" baseline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b="1" baseline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return value</a:t>
            </a:r>
          </a:p>
        </p:txBody>
      </p:sp>
      <p:sp>
        <p:nvSpPr>
          <p:cNvPr id="222213" name="Text Box 1029">
            <a:extLst>
              <a:ext uri="{FF2B5EF4-FFF2-40B4-BE49-F238E27FC236}">
                <a16:creationId xmlns:a16="http://schemas.microsoft.com/office/drawing/2014/main" id="{5FF7DFCA-6AF9-4B25-82B0-5436653DF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088" y="2362200"/>
            <a:ext cx="1095173" cy="646331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name of</a:t>
            </a:r>
            <a:br>
              <a:rPr lang="en-US" altLang="zh-CN" b="1" baseline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b="1" baseline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function</a:t>
            </a:r>
          </a:p>
        </p:txBody>
      </p:sp>
      <p:sp>
        <p:nvSpPr>
          <p:cNvPr id="222214" name="Text Box 1030">
            <a:extLst>
              <a:ext uri="{FF2B5EF4-FFF2-40B4-BE49-F238E27FC236}">
                <a16:creationId xmlns:a16="http://schemas.microsoft.com/office/drawing/2014/main" id="{4B98C0E1-0371-4852-BB52-E68C3B7A9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988" y="2362200"/>
            <a:ext cx="1390124" cy="646331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types of all</a:t>
            </a:r>
            <a:br>
              <a:rPr lang="en-US" altLang="zh-CN" b="1" baseline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b="1" baseline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arguments</a:t>
            </a:r>
          </a:p>
        </p:txBody>
      </p:sp>
      <p:sp>
        <p:nvSpPr>
          <p:cNvPr id="222215" name="Line 1031">
            <a:extLst>
              <a:ext uri="{FF2B5EF4-FFF2-40B4-BE49-F238E27FC236}">
                <a16:creationId xmlns:a16="http://schemas.microsoft.com/office/drawing/2014/main" id="{19EA4BFF-84FF-44FC-BA80-5726F4CB96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981200"/>
            <a:ext cx="22860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16" name="Line 1032">
            <a:extLst>
              <a:ext uri="{FF2B5EF4-FFF2-40B4-BE49-F238E27FC236}">
                <a16:creationId xmlns:a16="http://schemas.microsoft.com/office/drawing/2014/main" id="{5AAD28F9-32F0-46CD-AF8C-02151D1802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6600" y="1981200"/>
            <a:ext cx="30480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17" name="Line 1033">
            <a:extLst>
              <a:ext uri="{FF2B5EF4-FFF2-40B4-BE49-F238E27FC236}">
                <a16:creationId xmlns:a16="http://schemas.microsoft.com/office/drawing/2014/main" id="{0944C340-6ED3-4C57-A417-1CDC0B92A6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1981200"/>
            <a:ext cx="30480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18" name="Text Box 1034">
            <a:extLst>
              <a:ext uri="{FF2B5EF4-FFF2-40B4-BE49-F238E27FC236}">
                <a16:creationId xmlns:a16="http://schemas.microsoft.com/office/drawing/2014/main" id="{11EC8F7F-6C09-4F70-9925-09C383C18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153" y="4953000"/>
            <a:ext cx="2608406" cy="369332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>
                <a:solidFill>
                  <a:srgbClr val="CE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evaluate arguments</a:t>
            </a:r>
          </a:p>
        </p:txBody>
      </p:sp>
      <p:sp>
        <p:nvSpPr>
          <p:cNvPr id="222219" name="Text Box 1035">
            <a:extLst>
              <a:ext uri="{FF2B5EF4-FFF2-40B4-BE49-F238E27FC236}">
                <a16:creationId xmlns:a16="http://schemas.microsoft.com/office/drawing/2014/main" id="{4C305251-6332-4FD9-A24E-85298BE26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1272" y="5486400"/>
            <a:ext cx="2274983" cy="369332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 dirty="0">
                <a:solidFill>
                  <a:srgbClr val="CE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b="1" baseline="0" dirty="0">
                <a:solidFill>
                  <a:srgbClr val="CE0000"/>
                </a:solidFill>
              </a:rPr>
              <a:t>.</a:t>
            </a:r>
            <a:r>
              <a:rPr lang="en-US" altLang="zh-CN" b="1" baseline="0" dirty="0">
                <a:solidFill>
                  <a:srgbClr val="CE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execute function</a:t>
            </a:r>
          </a:p>
        </p:txBody>
      </p:sp>
      <p:sp>
        <p:nvSpPr>
          <p:cNvPr id="222220" name="Text Box 1036">
            <a:extLst>
              <a:ext uri="{FF2B5EF4-FFF2-40B4-BE49-F238E27FC236}">
                <a16:creationId xmlns:a16="http://schemas.microsoft.com/office/drawing/2014/main" id="{5101A241-D5DE-4DA3-8B06-F17F60771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184" y="6096000"/>
            <a:ext cx="3775394" cy="369332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baseline="0">
                <a:solidFill>
                  <a:srgbClr val="CE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 use return value in expression</a:t>
            </a:r>
          </a:p>
        </p:txBody>
      </p:sp>
      <p:sp>
        <p:nvSpPr>
          <p:cNvPr id="222221" name="Line 1037">
            <a:extLst>
              <a:ext uri="{FF2B5EF4-FFF2-40B4-BE49-F238E27FC236}">
                <a16:creationId xmlns:a16="http://schemas.microsoft.com/office/drawing/2014/main" id="{311FAB94-2D63-494B-8E52-83B3898549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10200" y="4648200"/>
            <a:ext cx="0" cy="304800"/>
          </a:xfrm>
          <a:prstGeom prst="line">
            <a:avLst/>
          </a:prstGeom>
          <a:noFill/>
          <a:ln w="38100">
            <a:solidFill>
              <a:srgbClr val="CE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22" name="Line 1038">
            <a:extLst>
              <a:ext uri="{FF2B5EF4-FFF2-40B4-BE49-F238E27FC236}">
                <a16:creationId xmlns:a16="http://schemas.microsoft.com/office/drawing/2014/main" id="{FA013EED-248F-41A2-98E5-7213361E2E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4800600"/>
            <a:ext cx="0" cy="685800"/>
          </a:xfrm>
          <a:prstGeom prst="line">
            <a:avLst/>
          </a:prstGeom>
          <a:noFill/>
          <a:ln w="38100">
            <a:solidFill>
              <a:srgbClr val="CE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23" name="Line 1039">
            <a:extLst>
              <a:ext uri="{FF2B5EF4-FFF2-40B4-BE49-F238E27FC236}">
                <a16:creationId xmlns:a16="http://schemas.microsoft.com/office/drawing/2014/main" id="{C5DF58CA-9026-4B9A-811A-5B18DBAB1B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67000" y="4876800"/>
            <a:ext cx="0" cy="1219200"/>
          </a:xfrm>
          <a:prstGeom prst="line">
            <a:avLst/>
          </a:prstGeom>
          <a:noFill/>
          <a:ln w="38100">
            <a:solidFill>
              <a:srgbClr val="CE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6CC5AB1E-C2A9-49E1-819C-BA85622F44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14-</a:t>
            </a:r>
            <a:fld id="{4F5D4F65-31F6-4F5C-9304-AD2D5F75C5CD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23234" name="Rectangle 2">
            <a:extLst>
              <a:ext uri="{FF2B5EF4-FFF2-40B4-BE49-F238E27FC236}">
                <a16:creationId xmlns:a16="http://schemas.microsoft.com/office/drawing/2014/main" id="{05CA52EA-6C06-4B64-8138-5B609AF0B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Function Definition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4E180F3F-9968-494B-B00B-FE9369D6B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024" y="987896"/>
            <a:ext cx="8783564" cy="1577006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State type, name, types of arguments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must match function declaration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give name to each argument (doesn't have to match declaration)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97415F-C5BE-4169-AE92-58636FDC96C0}"/>
              </a:ext>
            </a:extLst>
          </p:cNvPr>
          <p:cNvSpPr txBox="1"/>
          <p:nvPr/>
        </p:nvSpPr>
        <p:spPr>
          <a:xfrm>
            <a:off x="794972" y="2841328"/>
            <a:ext cx="8025499" cy="2492990"/>
          </a:xfrm>
          <a:prstGeom prst="rect">
            <a:avLst/>
          </a:prstGeom>
          <a:solidFill>
            <a:srgbClr val="CCFF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int Factorial(int n)</a:t>
            </a:r>
          </a:p>
          <a:p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altLang="zh-CN" b="1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 int result = 1;</a:t>
            </a:r>
            <a:b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 for (</a:t>
            </a:r>
            <a:r>
              <a:rPr lang="en-US" altLang="zh-CN" b="1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zh-CN" b="1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altLang="zh-CN" b="1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*= </a:t>
            </a:r>
            <a:r>
              <a:rPr lang="en-US" altLang="zh-CN" b="1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result;</a:t>
            </a:r>
          </a:p>
          <a:p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zh-CN" altLang="en-US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8681E1E-7971-4193-B2CD-465643AEC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16" y="4401978"/>
            <a:ext cx="3483686" cy="64633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zh-CN" b="1" baseline="0" dirty="0">
                <a:solidFill>
                  <a:schemeClr val="accent2"/>
                </a:solidFill>
                <a:latin typeface="+mn-lt"/>
                <a:ea typeface="宋体" panose="02010600030101010101" pitchFamily="2" charset="-122"/>
              </a:rPr>
              <a:t>gives control back to calling function and  returns value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3D640B37-7934-4925-ACBE-DB0AD83473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3848" y="4725144"/>
            <a:ext cx="1905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624CF7-853F-4853-9E2B-8308B1CE8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14-</a:t>
            </a:r>
            <a:fld id="{C629E4BF-F276-4B84-87C7-D27E41B632D4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224258" name="Rectangle 2">
            <a:extLst>
              <a:ext uri="{FF2B5EF4-FFF2-40B4-BE49-F238E27FC236}">
                <a16:creationId xmlns:a16="http://schemas.microsoft.com/office/drawing/2014/main" id="{EA66422E-B2B4-4C32-9A3F-8B98AADA6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Why Declaration?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DB52F85A-4DF9-43F4-A286-5B955F837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Since function definition also includes return and argument types, why is declaration needed?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Use might be seen before definition.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Compiler needs to know return and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types and number of arguments.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Definition might be in a different file, written by a different programmer.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include a "header" file with function declarations only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compile separately, link together to make executable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A7E6AFD6-B8FB-42CE-9615-09DF5BE65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14-</a:t>
            </a:r>
            <a:fld id="{CB9F1718-3D41-4DCD-8B89-D2A680ECF454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225282" name="Rectangle 2">
            <a:extLst>
              <a:ext uri="{FF2B5EF4-FFF2-40B4-BE49-F238E27FC236}">
                <a16:creationId xmlns:a16="http://schemas.microsoft.com/office/drawing/2014/main" id="{17AF1E35-EE25-48CA-9B0D-B8884911A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C5E6A797-27BD-421F-A6C2-629F61902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2999"/>
            <a:ext cx="8153400" cy="5394325"/>
          </a:xfrm>
          <a:solidFill>
            <a:srgbClr val="CCFF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double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ValueInDollars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(double amount, double rate);</a:t>
            </a:r>
          </a:p>
          <a:p>
            <a:pPr marL="0" indent="0">
              <a:buNone/>
            </a:pP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main()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...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dollars =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ValueInDollars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(francs,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                  DOLLARS_PER_FRANC);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("%f francs equals %f dollars.\n",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francs, dollars);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...</a:t>
            </a:r>
          </a:p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double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ValueInDollars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(double amount, double rate)</a:t>
            </a:r>
          </a:p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return amount * rate;</a:t>
            </a:r>
          </a:p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25284" name="Text Box 4">
            <a:extLst>
              <a:ext uri="{FF2B5EF4-FFF2-40B4-BE49-F238E27FC236}">
                <a16:creationId xmlns:a16="http://schemas.microsoft.com/office/drawing/2014/main" id="{4E5980A0-2BCF-4AC0-95B0-EBDA3C1A6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965" y="1463534"/>
            <a:ext cx="14157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baseline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declaration</a:t>
            </a:r>
          </a:p>
        </p:txBody>
      </p:sp>
      <p:sp>
        <p:nvSpPr>
          <p:cNvPr id="225285" name="Text Box 5">
            <a:extLst>
              <a:ext uri="{FF2B5EF4-FFF2-40B4-BE49-F238E27FC236}">
                <a16:creationId xmlns:a16="http://schemas.microsoft.com/office/drawing/2014/main" id="{2CC3E42E-4968-4FD9-908B-689A78A9F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4456" y="2307323"/>
            <a:ext cx="29161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baseline="0" dirty="0">
                <a:solidFill>
                  <a:srgbClr val="CE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function call (invocation)</a:t>
            </a:r>
          </a:p>
        </p:txBody>
      </p:sp>
      <p:sp>
        <p:nvSpPr>
          <p:cNvPr id="225286" name="Text Box 6">
            <a:extLst>
              <a:ext uri="{FF2B5EF4-FFF2-40B4-BE49-F238E27FC236}">
                <a16:creationId xmlns:a16="http://schemas.microsoft.com/office/drawing/2014/main" id="{639556B3-1504-4298-A90A-BA1F74BE9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888" y="4655803"/>
            <a:ext cx="12234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baseline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definition</a:t>
            </a:r>
            <a:endParaRPr lang="en-US" altLang="zh-CN" b="1" baseline="0" dirty="0">
              <a:solidFill>
                <a:srgbClr val="0099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287" name="Line 7">
            <a:extLst>
              <a:ext uri="{FF2B5EF4-FFF2-40B4-BE49-F238E27FC236}">
                <a16:creationId xmlns:a16="http://schemas.microsoft.com/office/drawing/2014/main" id="{9B20C425-EA4B-4DEB-AE9A-926F05D411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1463534"/>
            <a:ext cx="533400" cy="15240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288" name="Line 8">
            <a:extLst>
              <a:ext uri="{FF2B5EF4-FFF2-40B4-BE49-F238E27FC236}">
                <a16:creationId xmlns:a16="http://schemas.microsoft.com/office/drawing/2014/main" id="{0D9F8463-5706-4112-9C8D-31C4C1F07F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5856" y="2708920"/>
            <a:ext cx="457200" cy="152400"/>
          </a:xfrm>
          <a:prstGeom prst="line">
            <a:avLst/>
          </a:prstGeom>
          <a:noFill/>
          <a:ln w="57150">
            <a:solidFill>
              <a:srgbClr val="CE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289" name="Line 9">
            <a:extLst>
              <a:ext uri="{FF2B5EF4-FFF2-40B4-BE49-F238E27FC236}">
                <a16:creationId xmlns:a16="http://schemas.microsoft.com/office/drawing/2014/main" id="{8A465709-8D4F-49BE-8FC1-DB50BE333B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776" y="4948935"/>
            <a:ext cx="457200" cy="1524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Storage Requirements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>
                <a:solidFill>
                  <a:srgbClr val="FF0000"/>
                </a:solidFill>
              </a:rPr>
              <a:t>Code</a:t>
            </a:r>
            <a:r>
              <a:rPr lang="en-US" altLang="zh-CN" dirty="0"/>
              <a:t> must be stored in memory so that we can execute the function.</a:t>
            </a:r>
          </a:p>
          <a:p>
            <a:pPr lvl="0"/>
            <a:r>
              <a:rPr lang="en-US" altLang="zh-CN" dirty="0">
                <a:solidFill>
                  <a:srgbClr val="FF0000"/>
                </a:solidFill>
              </a:rPr>
              <a:t>Parameters</a:t>
            </a:r>
            <a:r>
              <a:rPr lang="en-US" altLang="zh-CN" dirty="0"/>
              <a:t> must be sent from the caller to the </a:t>
            </a:r>
            <a:r>
              <a:rPr lang="en-US" altLang="zh-CN" dirty="0" err="1"/>
              <a:t>callee</a:t>
            </a:r>
            <a:r>
              <a:rPr lang="en-US" altLang="zh-CN" dirty="0"/>
              <a:t> so that the function receives them.</a:t>
            </a:r>
          </a:p>
          <a:p>
            <a:pPr lvl="0"/>
            <a:r>
              <a:rPr lang="en-US" altLang="zh-CN" dirty="0">
                <a:solidFill>
                  <a:srgbClr val="FF0000"/>
                </a:solidFill>
              </a:rPr>
              <a:t>Local variables </a:t>
            </a:r>
            <a:r>
              <a:rPr lang="en-US" altLang="zh-CN" dirty="0"/>
              <a:t>for the function must be stored somewhere, is one copy enough?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Return address </a:t>
            </a:r>
            <a:r>
              <a:rPr lang="en-US" altLang="zh-CN" dirty="0"/>
              <a:t>must be stored so that control can be returned to the caller.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Return values </a:t>
            </a:r>
            <a:r>
              <a:rPr lang="en-US" altLang="zh-CN" dirty="0"/>
              <a:t>must be sent from the </a:t>
            </a:r>
            <a:r>
              <a:rPr lang="en-US" altLang="zh-CN" dirty="0" err="1"/>
              <a:t>callee</a:t>
            </a:r>
            <a:r>
              <a:rPr lang="en-US" altLang="zh-CN" dirty="0"/>
              <a:t> to the caller, that’s how results are returned.</a:t>
            </a:r>
          </a:p>
          <a:p>
            <a:pPr lvl="0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674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 Call in 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Consider the following code: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What needs to be stored?</a:t>
            </a:r>
          </a:p>
          <a:p>
            <a:pPr lvl="1"/>
            <a:r>
              <a:rPr lang="en-US" altLang="zh-CN" dirty="0"/>
              <a:t>Code, parameters, local/global variables, return address/values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99592" y="1628800"/>
            <a:ext cx="4752528" cy="3240360"/>
          </a:xfrm>
          <a:prstGeom prst="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program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 = 10;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b = 20;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 = foo(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a,b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foo(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x,int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z;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z=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x+y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return z;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94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Possible Solution: Mixed Code and Data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Function implementation:</a:t>
            </a:r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Can construct data section by appending foo_</a:t>
            </a:r>
          </a:p>
          <a:p>
            <a:pPr lvl="0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683568" y="1556792"/>
            <a:ext cx="8028384" cy="3096344"/>
          </a:xfrm>
          <a:prstGeom prst="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        	BR 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foo_begin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;skip over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foo_rv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	.BLKW 1        	;return value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foo_ra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.BLKW 1        	;return address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foo_paramx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.BLKW 1        	;‘x’ parameter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foo_paramy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.BLKW 1        	;‘y’ parameter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foo_localz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.BLKW 1        	;‘z’ local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foo_begin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ST R7,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foo_ra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;save return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	…             ;may invoke other subroutine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	LD R7,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foo_ra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;restore return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	RET</a:t>
            </a:r>
          </a:p>
        </p:txBody>
      </p:sp>
    </p:spTree>
    <p:extLst>
      <p:ext uri="{BB962C8B-B14F-4D97-AF65-F5344CB8AC3E}">
        <p14:creationId xmlns:p14="http://schemas.microsoft.com/office/powerpoint/2010/main" val="6064680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Possible Solution: Mixed Code and Data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Calling sequence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Code generation is relatively simple.</a:t>
            </a:r>
          </a:p>
          <a:p>
            <a:r>
              <a:rPr lang="en-US" altLang="zh-CN" dirty="0"/>
              <a:t>Few instructions are spent moving data.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611560" y="1700808"/>
            <a:ext cx="8227640" cy="1440160"/>
          </a:xfrm>
          <a:prstGeom prst="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 R1,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foo_paramx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	; R1 has ‘x’ --pass parameters</a:t>
            </a:r>
            <a:endParaRPr kumimoji="0" lang="zh-CN" altLang="zh-CN" sz="2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 R2,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foo_paramy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	; R2 has ‘y’</a:t>
            </a:r>
            <a:endParaRPr kumimoji="0" lang="zh-CN" altLang="zh-CN" sz="2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foo           		; Function call</a:t>
            </a:r>
            <a:endParaRPr kumimoji="0" lang="zh-CN" altLang="zh-CN" sz="2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 R3, 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foo_rv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	; R3 = return value </a:t>
            </a:r>
            <a:endParaRPr kumimoji="0" lang="zh-CN" altLang="en-US" sz="2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230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Possible Solution: Mixed Code and Data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Advantages: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Code and data are close together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Conceptually easy to understand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Minimizes register usage for variables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Data persists through life of program </a:t>
            </a:r>
          </a:p>
          <a:p>
            <a:r>
              <a:rPr lang="en-US" altLang="zh-CN" dirty="0"/>
              <a:t>Disadvantages: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Cannot handle recursion or parallel execution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Code is vulnerable to self-modification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Consumes resource for inactive functions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1465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Possible Solution: Separate Code and Data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Memory allocation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Code for foo() and bar() are somewhere else </a:t>
            </a:r>
          </a:p>
          <a:p>
            <a:r>
              <a:rPr lang="en-US" altLang="zh-CN" dirty="0"/>
              <a:t>Function code call is similar to mixed solution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81000" y="1412776"/>
            <a:ext cx="8763000" cy="2592288"/>
          </a:xfrm>
          <a:prstGeom prst="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foo_rv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	.BLKW 1   	; foo return value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foo_ra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	.BLKW 1  	; foo return address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foo_paramx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.BLKW 1  	; foo ‘x’ parameter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foo_paramy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.BLKW 1   	; foo ‘y’ parameter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foo_localz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.BLKW 1   	; foo ‘z’ local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bar_rv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	.BLKW 1   	; bar return value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bar_ra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	.BLKW 1   	; bar return address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bar_paramw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.BLKW 1   	; bar ‘w’ parameter</a:t>
            </a:r>
            <a:endParaRPr kumimoji="0" lang="zh-CN" altLang="zh-CN" sz="2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314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Possible Solution: Separate Code and Data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Advantages: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Code can be marked ‘read only’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Conceptually easy to understand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Early Fortran used this scheme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Data persists through life of program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Disadvantages: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Cannot handle recursion or parallel execution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Consumes resource for inactive functions </a:t>
            </a:r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185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Real Solution: Execution Stack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Instructions are stored in code segment</a:t>
            </a:r>
            <a:endParaRPr lang="zh-CN" altLang="zh-CN" dirty="0"/>
          </a:p>
          <a:p>
            <a:r>
              <a:rPr lang="en-US" altLang="zh-CN" dirty="0"/>
              <a:t>Global data is stored in data segment</a:t>
            </a:r>
            <a:endParaRPr lang="zh-CN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Statically</a:t>
            </a:r>
            <a:r>
              <a:rPr lang="en-US" altLang="zh-CN" dirty="0"/>
              <a:t> allocated memory uses </a:t>
            </a:r>
            <a:r>
              <a:rPr lang="en-US" altLang="zh-CN" dirty="0">
                <a:solidFill>
                  <a:srgbClr val="FF0000"/>
                </a:solidFill>
              </a:rPr>
              <a:t>stack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Dynamically</a:t>
            </a:r>
            <a:r>
              <a:rPr lang="en-US" altLang="zh-CN" dirty="0"/>
              <a:t> allocated memory uses </a:t>
            </a:r>
            <a:r>
              <a:rPr lang="en-US" altLang="zh-CN" dirty="0">
                <a:solidFill>
                  <a:srgbClr val="FF0000"/>
                </a:solidFill>
              </a:rPr>
              <a:t>heap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Code segment is write protected 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Initialized and uninitialized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globals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Heap can be fragmented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Stack size is usually limited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Stack can grow either direction (usual convention is down)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15806"/>
          <p:cNvGrpSpPr/>
          <p:nvPr/>
        </p:nvGrpSpPr>
        <p:grpSpPr>
          <a:xfrm>
            <a:off x="4878070" y="5342255"/>
            <a:ext cx="1931670" cy="1009650"/>
            <a:chOff x="0" y="0"/>
            <a:chExt cx="1931670" cy="1009662"/>
          </a:xfrm>
        </p:grpSpPr>
        <p:pic>
          <p:nvPicPr>
            <p:cNvPr id="8" name="Picture 76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805940" y="893077"/>
              <a:ext cx="125730" cy="116586"/>
            </a:xfrm>
            <a:prstGeom prst="rect">
              <a:avLst/>
            </a:prstGeom>
          </p:spPr>
        </p:pic>
        <p:pic>
          <p:nvPicPr>
            <p:cNvPr id="9" name="Picture 79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9169"/>
              <a:ext cx="197371" cy="204965"/>
            </a:xfrm>
            <a:prstGeom prst="rect">
              <a:avLst/>
            </a:prstGeom>
          </p:spPr>
        </p:pic>
        <p:pic>
          <p:nvPicPr>
            <p:cNvPr id="10" name="Picture 80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88392" y="0"/>
              <a:ext cx="1558290" cy="220231"/>
            </a:xfrm>
            <a:prstGeom prst="rect">
              <a:avLst/>
            </a:prstGeom>
          </p:spPr>
        </p:pic>
        <p:pic>
          <p:nvPicPr>
            <p:cNvPr id="11" name="Picture 80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152426"/>
              <a:ext cx="197371" cy="204965"/>
            </a:xfrm>
            <a:prstGeom prst="rect">
              <a:avLst/>
            </a:prstGeom>
          </p:spPr>
        </p:pic>
        <p:pic>
          <p:nvPicPr>
            <p:cNvPr id="12" name="Picture 807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88392" y="143256"/>
              <a:ext cx="1631442" cy="220231"/>
            </a:xfrm>
            <a:prstGeom prst="rect">
              <a:avLst/>
            </a:prstGeom>
          </p:spPr>
        </p:pic>
        <p:pic>
          <p:nvPicPr>
            <p:cNvPr id="13" name="Picture 8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297205"/>
              <a:ext cx="197371" cy="204965"/>
            </a:xfrm>
            <a:prstGeom prst="rect">
              <a:avLst/>
            </a:prstGeom>
          </p:spPr>
        </p:pic>
        <p:pic>
          <p:nvPicPr>
            <p:cNvPr id="14" name="Picture 813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8392" y="288036"/>
              <a:ext cx="1226058" cy="220231"/>
            </a:xfrm>
            <a:prstGeom prst="rect">
              <a:avLst/>
            </a:prstGeom>
          </p:spPr>
        </p:pic>
        <p:pic>
          <p:nvPicPr>
            <p:cNvPr id="15" name="Picture 81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441985"/>
              <a:ext cx="197371" cy="204965"/>
            </a:xfrm>
            <a:prstGeom prst="rect">
              <a:avLst/>
            </a:prstGeom>
          </p:spPr>
        </p:pic>
        <p:pic>
          <p:nvPicPr>
            <p:cNvPr id="16" name="Picture 819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88392" y="432815"/>
              <a:ext cx="1335786" cy="220231"/>
            </a:xfrm>
            <a:prstGeom prst="rect">
              <a:avLst/>
            </a:prstGeom>
          </p:spPr>
        </p:pic>
        <p:pic>
          <p:nvPicPr>
            <p:cNvPr id="17" name="Picture 82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585242"/>
              <a:ext cx="197371" cy="204965"/>
            </a:xfrm>
            <a:prstGeom prst="rect">
              <a:avLst/>
            </a:prstGeom>
          </p:spPr>
        </p:pic>
        <p:pic>
          <p:nvPicPr>
            <p:cNvPr id="18" name="Picture 825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88392" y="576072"/>
              <a:ext cx="1521714" cy="220231"/>
            </a:xfrm>
            <a:prstGeom prst="rect">
              <a:avLst/>
            </a:prstGeom>
          </p:spPr>
        </p:pic>
        <p:pic>
          <p:nvPicPr>
            <p:cNvPr id="19" name="Picture 828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88392" y="696468"/>
              <a:ext cx="1012698" cy="220231"/>
            </a:xfrm>
            <a:prstGeom prst="rect">
              <a:avLst/>
            </a:prstGeom>
          </p:spPr>
        </p:pic>
        <p:pic>
          <p:nvPicPr>
            <p:cNvPr id="20" name="Picture 831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996696" y="696468"/>
              <a:ext cx="368046" cy="220231"/>
            </a:xfrm>
            <a:prstGeom prst="rect">
              <a:avLst/>
            </a:prstGeom>
          </p:spPr>
        </p:pic>
        <p:pic>
          <p:nvPicPr>
            <p:cNvPr id="21" name="Picture 83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232916" y="696468"/>
              <a:ext cx="165379" cy="220231"/>
            </a:xfrm>
            <a:prstGeom prst="rect">
              <a:avLst/>
            </a:prstGeom>
          </p:spPr>
        </p:pic>
        <p:pic>
          <p:nvPicPr>
            <p:cNvPr id="22" name="Picture 837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1804416" y="893077"/>
              <a:ext cx="125730" cy="1165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67753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Stack Requirements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Consider what has to happen in a function call:</a:t>
            </a:r>
            <a:endParaRPr lang="zh-CN" altLang="zh-CN" dirty="0"/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Caller must pass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to the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Caller must transfer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to the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Caller must allocate space for the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value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Caller must save the return address.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Callee requires space for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Callee must return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to the caller.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altLang="zh-CN" dirty="0"/>
              <a:t>Parameters, return value, return address, and locals are stored on the stack.</a:t>
            </a:r>
          </a:p>
          <a:p>
            <a:pPr lvl="0"/>
            <a:r>
              <a:rPr lang="en-US" altLang="zh-CN" dirty="0"/>
              <a:t>The order above determines the responsibility and order of stack operations.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1685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20638"/>
            <a:ext cx="8839200" cy="765175"/>
          </a:xfrm>
        </p:spPr>
        <p:txBody>
          <a:bodyPr/>
          <a:lstStyle/>
          <a:p>
            <a:r>
              <a:rPr lang="en-US" altLang="zh-CN" dirty="0"/>
              <a:t>Execution Stack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</a:t>
            </a:r>
            <a:r>
              <a:rPr lang="en-US" altLang="zh-CN"/>
              <a:t>is an </a:t>
            </a:r>
            <a:r>
              <a:rPr lang="en-US" altLang="zh-CN" dirty="0"/>
              <a:t>execution stack?</a:t>
            </a:r>
            <a:endParaRPr lang="zh-CN" altLang="zh-CN" dirty="0"/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First In, Last Out (FILO) data structure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PUSH adds data, POP removes data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Overflow condition: push when stack full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Underflow condition: pop when stack empty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Stack grows and shrinks as data is added and removed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Stack grows downward from the end of memory space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Function calls allocate a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frame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 cleans up by freeing the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frame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Corresponds nicely to nested function calls 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Trace shows current execution (Java/Eclipse)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4829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Execution Stack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Definition: </a:t>
            </a:r>
            <a:r>
              <a:rPr lang="en-US" altLang="zh-CN" dirty="0">
                <a:solidFill>
                  <a:srgbClr val="FF0000"/>
                </a:solidFill>
              </a:rPr>
              <a:t>A stack frame </a:t>
            </a:r>
            <a:r>
              <a:rPr lang="en-US" altLang="zh-CN" dirty="0"/>
              <a:t>or </a:t>
            </a:r>
            <a:r>
              <a:rPr lang="en-US" altLang="zh-CN" dirty="0">
                <a:solidFill>
                  <a:srgbClr val="FF0000"/>
                </a:solidFill>
              </a:rPr>
              <a:t>activation record </a:t>
            </a:r>
            <a:r>
              <a:rPr lang="en-US" altLang="zh-CN" dirty="0"/>
              <a:t>is the memory required for a function call: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frame 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below contains the  function that called this function.</a:t>
            </a:r>
          </a:p>
          <a:p>
            <a:pPr lvl="1"/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Stack frame above contains the functions </a:t>
            </a:r>
            <a:r>
              <a:rPr lang="en-US" altLang="zh-CN" sz="1800">
                <a:latin typeface="Courier New" panose="02070309020205020404" pitchFamily="49" charset="0"/>
                <a:cs typeface="Courier New" panose="02070309020205020404" pitchFamily="49" charset="0"/>
              </a:rPr>
              <a:t>which are called 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from this function.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Caller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pushes parameters.</a:t>
            </a:r>
            <a:endParaRPr lang="zh-CN" altLang="zh-CN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Callee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allocates the return value, saves the return address,  allocates/frees local variables, and stores the return value.</a:t>
            </a:r>
          </a:p>
          <a:p>
            <a:pPr lvl="1"/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Locals are accessed by negative offsets from 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 pointer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zh-CN" altLang="zh-CN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Parameters and return value are Return Address accessed by positive offsets.	</a:t>
            </a:r>
          </a:p>
          <a:p>
            <a:pPr lvl="1"/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Most offsets are small, this explains LDR/STR implementation.</a:t>
            </a:r>
          </a:p>
          <a:p>
            <a:pPr lvl="1"/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Base register stores pointer, signed offset accesses both directions.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3946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Stack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the previous solutions, the compiler allocated parameters and locals in fixed memory locations.</a:t>
            </a:r>
            <a:endParaRPr lang="zh-CN" altLang="zh-CN" dirty="0"/>
          </a:p>
          <a:p>
            <a:r>
              <a:rPr lang="en-US" altLang="zh-CN" dirty="0"/>
              <a:t>Using an execution stack means parameters and locals are constantly moving around. </a:t>
            </a:r>
          </a:p>
          <a:p>
            <a:r>
              <a:rPr lang="en-US" altLang="zh-CN" dirty="0"/>
              <a:t>The frame pointer solves this problem by using fixed offsets instead of addresses.</a:t>
            </a:r>
            <a:endParaRPr lang="zh-CN" altLang="zh-CN" dirty="0"/>
          </a:p>
          <a:p>
            <a:r>
              <a:rPr lang="en-US" altLang="zh-CN" dirty="0"/>
              <a:t>The compiler can generate code using offsets, without knowing where the stack frame will reside. </a:t>
            </a:r>
          </a:p>
          <a:p>
            <a:r>
              <a:rPr lang="en-US" altLang="zh-CN" dirty="0"/>
              <a:t>Frame pointer needs to be saved and restored around function calls. How about the stack pointer?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31371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 Pointers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Clearly we need a variable to store the </a:t>
            </a:r>
            <a:r>
              <a:rPr lang="en-US" altLang="zh-CN" dirty="0">
                <a:solidFill>
                  <a:srgbClr val="FF0000"/>
                </a:solidFill>
              </a:rPr>
              <a:t>stack pointer (SP), </a:t>
            </a:r>
            <a:r>
              <a:rPr lang="en-US" altLang="zh-CN" dirty="0"/>
              <a:t>LC3 assembly uses R6.</a:t>
            </a:r>
            <a:endParaRPr lang="zh-CN" altLang="zh-CN" dirty="0"/>
          </a:p>
          <a:p>
            <a:r>
              <a:rPr lang="en-US" altLang="zh-CN" dirty="0"/>
              <a:t>Stack execution is ubiquitous, so hardware has a stack pointer, sometimes even instructions. </a:t>
            </a:r>
          </a:p>
          <a:p>
            <a:r>
              <a:rPr lang="en-US" altLang="zh-CN" dirty="0"/>
              <a:t>Problem: stack pointer is difficult to use to access data, since it moves around constantly.</a:t>
            </a:r>
            <a:endParaRPr lang="zh-CN" altLang="zh-CN" dirty="0"/>
          </a:p>
          <a:p>
            <a:r>
              <a:rPr lang="en-US" altLang="zh-CN" dirty="0"/>
              <a:t>Solution: allocate another variable called a </a:t>
            </a:r>
            <a:r>
              <a:rPr lang="en-US" altLang="zh-CN" dirty="0">
                <a:solidFill>
                  <a:srgbClr val="FF0000"/>
                </a:solidFill>
              </a:rPr>
              <a:t>frame pointer (FP), </a:t>
            </a:r>
            <a:r>
              <a:rPr lang="en-US" altLang="zh-CN" dirty="0"/>
              <a:t>for stack frame, uses R5.</a:t>
            </a:r>
            <a:endParaRPr lang="zh-CN" altLang="zh-CN" dirty="0"/>
          </a:p>
          <a:p>
            <a:r>
              <a:rPr lang="en-US" altLang="zh-CN" dirty="0"/>
              <a:t>Where should frame pointer point? Our convention sets it to point to the first local variable.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B493D-2A4D-4A17-BB89-CF59A848BF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73D291-87F8-4CB4-B9E1-72852E33AE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8261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E1C6B2-6E60-4CA1-9E08-CBF361B24D0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6515C9-083D-456B-B46C-26906361F1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Implementing Functions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 C Using a </a:t>
            </a:r>
            <a:r>
              <a:rPr lang="en-US" altLang="zh-CN" dirty="0"/>
              <a:t>Execution </a:t>
            </a:r>
            <a:r>
              <a:rPr lang="en-US" altLang="zh-CN" dirty="0">
                <a:ea typeface="宋体" panose="02010600030101010101" pitchFamily="2" charset="-122"/>
              </a:rPr>
              <a:t>Stack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Activation record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information about each function, including arguments and local variables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stored on run-time stack</a:t>
            </a:r>
          </a:p>
        </p:txBody>
      </p:sp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390899" y="3341688"/>
            <a:ext cx="3960440" cy="3200400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7" name="Rectangle 5"/>
          <p:cNvSpPr>
            <a:spLocks noChangeArrowheads="1"/>
          </p:cNvSpPr>
          <p:nvPr/>
        </p:nvSpPr>
        <p:spPr bwMode="auto">
          <a:xfrm>
            <a:off x="4846637" y="3886200"/>
            <a:ext cx="3906463" cy="2057400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Text Box 6"/>
          <p:cNvSpPr txBox="1">
            <a:spLocks noChangeArrowheads="1"/>
          </p:cNvSpPr>
          <p:nvPr/>
        </p:nvSpPr>
        <p:spPr bwMode="auto">
          <a:xfrm>
            <a:off x="995930" y="2841625"/>
            <a:ext cx="26404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Calling function</a:t>
            </a:r>
          </a:p>
        </p:txBody>
      </p:sp>
      <p:sp>
        <p:nvSpPr>
          <p:cNvPr id="10249" name="Text Box 7"/>
          <p:cNvSpPr txBox="1">
            <a:spLocks noChangeArrowheads="1"/>
          </p:cNvSpPr>
          <p:nvPr/>
        </p:nvSpPr>
        <p:spPr bwMode="auto">
          <a:xfrm>
            <a:off x="467543" y="3429000"/>
            <a:ext cx="376256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push new activation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record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copy values into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arguments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call function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250" name="Text Box 8"/>
          <p:cNvSpPr txBox="1">
            <a:spLocks noChangeArrowheads="1"/>
          </p:cNvSpPr>
          <p:nvPr/>
        </p:nvSpPr>
        <p:spPr bwMode="auto">
          <a:xfrm>
            <a:off x="489835" y="5965001"/>
            <a:ext cx="38779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get result from stack</a:t>
            </a:r>
          </a:p>
        </p:txBody>
      </p:sp>
      <p:sp>
        <p:nvSpPr>
          <p:cNvPr id="10251" name="Text Box 9"/>
          <p:cNvSpPr txBox="1">
            <a:spLocks noChangeArrowheads="1"/>
          </p:cNvSpPr>
          <p:nvPr/>
        </p:nvSpPr>
        <p:spPr bwMode="auto">
          <a:xfrm>
            <a:off x="5006489" y="2884488"/>
            <a:ext cx="25298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Called function</a:t>
            </a:r>
          </a:p>
        </p:txBody>
      </p:sp>
      <p:sp>
        <p:nvSpPr>
          <p:cNvPr id="10252" name="Text Box 10"/>
          <p:cNvSpPr txBox="1">
            <a:spLocks noChangeArrowheads="1"/>
          </p:cNvSpPr>
          <p:nvPr/>
        </p:nvSpPr>
        <p:spPr bwMode="auto">
          <a:xfrm>
            <a:off x="4922838" y="3962400"/>
            <a:ext cx="387798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execute code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put result in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activation record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pop activation record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from stack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return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253" name="Line 11"/>
          <p:cNvSpPr>
            <a:spLocks noChangeShapeType="1"/>
          </p:cNvSpPr>
          <p:nvPr/>
        </p:nvSpPr>
        <p:spPr bwMode="auto">
          <a:xfrm flipV="1">
            <a:off x="3059831" y="4149079"/>
            <a:ext cx="1863007" cy="73089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54" name="Line 12"/>
          <p:cNvSpPr>
            <a:spLocks noChangeShapeType="1"/>
          </p:cNvSpPr>
          <p:nvPr/>
        </p:nvSpPr>
        <p:spPr bwMode="auto">
          <a:xfrm flipV="1">
            <a:off x="4230111" y="5725289"/>
            <a:ext cx="776377" cy="44001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5091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6B31B2-0FA3-4C08-B6AA-E9CD99F6256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BE9B45-3113-4C43-BAB9-0E9DB466CA4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Run-Time Stack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Recall that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local variables </a:t>
            </a:r>
            <a:r>
              <a:rPr lang="en-US" altLang="zh-CN" dirty="0">
                <a:ea typeface="宋体" panose="02010600030101010101" pitchFamily="2" charset="-122"/>
              </a:rPr>
              <a:t>are stored on the run-time stack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Stack pointer (R6) points to the beginning of a region of memory that stores local variables for the current function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That region of memory is called an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activation record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When a new function is called, its activation record is pushed on the stack; when it returns its activation record is popped off of the stack.</a:t>
            </a:r>
          </a:p>
        </p:txBody>
      </p:sp>
    </p:spTree>
    <p:extLst>
      <p:ext uri="{BB962C8B-B14F-4D97-AF65-F5344CB8AC3E}">
        <p14:creationId xmlns:p14="http://schemas.microsoft.com/office/powerpoint/2010/main" val="20621507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2DCD0A-AF99-4913-97A4-39B3B53FC09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25B047-D69E-4ACC-8111-55FE02A607C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Run-Time Stack</a:t>
            </a:r>
          </a:p>
        </p:txBody>
      </p:sp>
      <p:sp>
        <p:nvSpPr>
          <p:cNvPr id="12293" name="Line 3"/>
          <p:cNvSpPr>
            <a:spLocks noChangeShapeType="1"/>
          </p:cNvSpPr>
          <p:nvPr/>
        </p:nvSpPr>
        <p:spPr bwMode="auto">
          <a:xfrm>
            <a:off x="1066800" y="16002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4" name="Line 4"/>
          <p:cNvSpPr>
            <a:spLocks noChangeShapeType="1"/>
          </p:cNvSpPr>
          <p:nvPr/>
        </p:nvSpPr>
        <p:spPr bwMode="auto">
          <a:xfrm>
            <a:off x="2438400" y="16002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5" name="Line 5"/>
          <p:cNvSpPr>
            <a:spLocks noChangeShapeType="1"/>
          </p:cNvSpPr>
          <p:nvPr/>
        </p:nvSpPr>
        <p:spPr bwMode="auto">
          <a:xfrm>
            <a:off x="1066800" y="19812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6" name="Line 6"/>
          <p:cNvSpPr>
            <a:spLocks noChangeShapeType="1"/>
          </p:cNvSpPr>
          <p:nvPr/>
        </p:nvSpPr>
        <p:spPr bwMode="auto">
          <a:xfrm>
            <a:off x="1066800" y="2133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7" name="Line 7"/>
          <p:cNvSpPr>
            <a:spLocks noChangeShapeType="1"/>
          </p:cNvSpPr>
          <p:nvPr/>
        </p:nvSpPr>
        <p:spPr bwMode="auto">
          <a:xfrm>
            <a:off x="1066800" y="2286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>
            <a:off x="1066800" y="2438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9" name="Line 9"/>
          <p:cNvSpPr>
            <a:spLocks noChangeShapeType="1"/>
          </p:cNvSpPr>
          <p:nvPr/>
        </p:nvSpPr>
        <p:spPr bwMode="auto">
          <a:xfrm>
            <a:off x="1066800" y="2590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1066800" y="27432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1" name="Text Box 11"/>
          <p:cNvSpPr txBox="1">
            <a:spLocks noChangeArrowheads="1"/>
          </p:cNvSpPr>
          <p:nvPr/>
        </p:nvSpPr>
        <p:spPr bwMode="auto">
          <a:xfrm>
            <a:off x="1371600" y="2209800"/>
            <a:ext cx="730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main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2" name="Text Box 12"/>
          <p:cNvSpPr txBox="1">
            <a:spLocks noChangeArrowheads="1"/>
          </p:cNvSpPr>
          <p:nvPr/>
        </p:nvSpPr>
        <p:spPr bwMode="auto">
          <a:xfrm>
            <a:off x="1219200" y="1279525"/>
            <a:ext cx="1100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3" name="Line 13"/>
          <p:cNvSpPr>
            <a:spLocks noChangeShapeType="1"/>
          </p:cNvSpPr>
          <p:nvPr/>
        </p:nvSpPr>
        <p:spPr bwMode="auto">
          <a:xfrm>
            <a:off x="1752600" y="2743200"/>
            <a:ext cx="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4" name="Text Box 14"/>
          <p:cNvSpPr txBox="1">
            <a:spLocks noChangeArrowheads="1"/>
          </p:cNvSpPr>
          <p:nvPr/>
        </p:nvSpPr>
        <p:spPr bwMode="auto">
          <a:xfrm>
            <a:off x="2743200" y="18288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5" name="Line 15"/>
          <p:cNvSpPr>
            <a:spLocks noChangeShapeType="1"/>
          </p:cNvSpPr>
          <p:nvPr/>
        </p:nvSpPr>
        <p:spPr bwMode="auto">
          <a:xfrm flipH="1">
            <a:off x="2438400" y="2057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6" name="Line 16"/>
          <p:cNvSpPr>
            <a:spLocks noChangeShapeType="1"/>
          </p:cNvSpPr>
          <p:nvPr/>
        </p:nvSpPr>
        <p:spPr bwMode="auto">
          <a:xfrm>
            <a:off x="3581400" y="16002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7" name="Line 17"/>
          <p:cNvSpPr>
            <a:spLocks noChangeShapeType="1"/>
          </p:cNvSpPr>
          <p:nvPr/>
        </p:nvSpPr>
        <p:spPr bwMode="auto">
          <a:xfrm>
            <a:off x="4953000" y="16002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8" name="Line 18"/>
          <p:cNvSpPr>
            <a:spLocks noChangeShapeType="1"/>
          </p:cNvSpPr>
          <p:nvPr/>
        </p:nvSpPr>
        <p:spPr bwMode="auto">
          <a:xfrm>
            <a:off x="3581400" y="19812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9" name="Line 19"/>
          <p:cNvSpPr>
            <a:spLocks noChangeShapeType="1"/>
          </p:cNvSpPr>
          <p:nvPr/>
        </p:nvSpPr>
        <p:spPr bwMode="auto">
          <a:xfrm>
            <a:off x="3581400" y="2133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0" name="Line 20"/>
          <p:cNvSpPr>
            <a:spLocks noChangeShapeType="1"/>
          </p:cNvSpPr>
          <p:nvPr/>
        </p:nvSpPr>
        <p:spPr bwMode="auto">
          <a:xfrm>
            <a:off x="3581400" y="2286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1" name="Line 21"/>
          <p:cNvSpPr>
            <a:spLocks noChangeShapeType="1"/>
          </p:cNvSpPr>
          <p:nvPr/>
        </p:nvSpPr>
        <p:spPr bwMode="auto">
          <a:xfrm>
            <a:off x="3581400" y="2438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2" name="Line 22"/>
          <p:cNvSpPr>
            <a:spLocks noChangeShapeType="1"/>
          </p:cNvSpPr>
          <p:nvPr/>
        </p:nvSpPr>
        <p:spPr bwMode="auto">
          <a:xfrm>
            <a:off x="3581400" y="2590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3" name="Line 23"/>
          <p:cNvSpPr>
            <a:spLocks noChangeShapeType="1"/>
          </p:cNvSpPr>
          <p:nvPr/>
        </p:nvSpPr>
        <p:spPr bwMode="auto">
          <a:xfrm>
            <a:off x="3581400" y="27432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4" name="Text Box 24"/>
          <p:cNvSpPr txBox="1">
            <a:spLocks noChangeArrowheads="1"/>
          </p:cNvSpPr>
          <p:nvPr/>
        </p:nvSpPr>
        <p:spPr bwMode="auto">
          <a:xfrm>
            <a:off x="3886200" y="2209800"/>
            <a:ext cx="730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main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5" name="Text Box 25"/>
          <p:cNvSpPr txBox="1">
            <a:spLocks noChangeArrowheads="1"/>
          </p:cNvSpPr>
          <p:nvPr/>
        </p:nvSpPr>
        <p:spPr bwMode="auto">
          <a:xfrm>
            <a:off x="3733800" y="1279525"/>
            <a:ext cx="1100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6" name="Line 26"/>
          <p:cNvSpPr>
            <a:spLocks noChangeShapeType="1"/>
          </p:cNvSpPr>
          <p:nvPr/>
        </p:nvSpPr>
        <p:spPr bwMode="auto">
          <a:xfrm>
            <a:off x="4267200" y="3657600"/>
            <a:ext cx="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7" name="Text Box 27"/>
          <p:cNvSpPr txBox="1">
            <a:spLocks noChangeArrowheads="1"/>
          </p:cNvSpPr>
          <p:nvPr/>
        </p:nvSpPr>
        <p:spPr bwMode="auto">
          <a:xfrm>
            <a:off x="5281613" y="2667000"/>
            <a:ext cx="509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8" name="Line 28"/>
          <p:cNvSpPr>
            <a:spLocks noChangeShapeType="1"/>
          </p:cNvSpPr>
          <p:nvPr/>
        </p:nvSpPr>
        <p:spPr bwMode="auto">
          <a:xfrm>
            <a:off x="6096000" y="16002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19" name="Line 29"/>
          <p:cNvSpPr>
            <a:spLocks noChangeShapeType="1"/>
          </p:cNvSpPr>
          <p:nvPr/>
        </p:nvSpPr>
        <p:spPr bwMode="auto">
          <a:xfrm>
            <a:off x="7467600" y="16002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0" name="Line 30"/>
          <p:cNvSpPr>
            <a:spLocks noChangeShapeType="1"/>
          </p:cNvSpPr>
          <p:nvPr/>
        </p:nvSpPr>
        <p:spPr bwMode="auto">
          <a:xfrm>
            <a:off x="6096000" y="19812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1" name="Line 31"/>
          <p:cNvSpPr>
            <a:spLocks noChangeShapeType="1"/>
          </p:cNvSpPr>
          <p:nvPr/>
        </p:nvSpPr>
        <p:spPr bwMode="auto">
          <a:xfrm>
            <a:off x="6096000" y="2133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2" name="Line 32"/>
          <p:cNvSpPr>
            <a:spLocks noChangeShapeType="1"/>
          </p:cNvSpPr>
          <p:nvPr/>
        </p:nvSpPr>
        <p:spPr bwMode="auto">
          <a:xfrm>
            <a:off x="6096000" y="2286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3" name="Line 33"/>
          <p:cNvSpPr>
            <a:spLocks noChangeShapeType="1"/>
          </p:cNvSpPr>
          <p:nvPr/>
        </p:nvSpPr>
        <p:spPr bwMode="auto">
          <a:xfrm>
            <a:off x="6096000" y="2438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4" name="Line 34"/>
          <p:cNvSpPr>
            <a:spLocks noChangeShapeType="1"/>
          </p:cNvSpPr>
          <p:nvPr/>
        </p:nvSpPr>
        <p:spPr bwMode="auto">
          <a:xfrm>
            <a:off x="6096000" y="2590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5" name="Line 35"/>
          <p:cNvSpPr>
            <a:spLocks noChangeShapeType="1"/>
          </p:cNvSpPr>
          <p:nvPr/>
        </p:nvSpPr>
        <p:spPr bwMode="auto">
          <a:xfrm>
            <a:off x="6096000" y="27432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6" name="Text Box 36"/>
          <p:cNvSpPr txBox="1">
            <a:spLocks noChangeArrowheads="1"/>
          </p:cNvSpPr>
          <p:nvPr/>
        </p:nvSpPr>
        <p:spPr bwMode="auto">
          <a:xfrm>
            <a:off x="6400800" y="2209800"/>
            <a:ext cx="730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main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7" name="Text Box 37"/>
          <p:cNvSpPr txBox="1">
            <a:spLocks noChangeArrowheads="1"/>
          </p:cNvSpPr>
          <p:nvPr/>
        </p:nvSpPr>
        <p:spPr bwMode="auto">
          <a:xfrm>
            <a:off x="6248400" y="1279525"/>
            <a:ext cx="1100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8" name="Line 38"/>
          <p:cNvSpPr>
            <a:spLocks noChangeShapeType="1"/>
          </p:cNvSpPr>
          <p:nvPr/>
        </p:nvSpPr>
        <p:spPr bwMode="auto">
          <a:xfrm>
            <a:off x="6781800" y="2743200"/>
            <a:ext cx="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29" name="Text Box 39"/>
          <p:cNvSpPr txBox="1">
            <a:spLocks noChangeArrowheads="1"/>
          </p:cNvSpPr>
          <p:nvPr/>
        </p:nvSpPr>
        <p:spPr bwMode="auto">
          <a:xfrm>
            <a:off x="7772400" y="18288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0" name="Line 40"/>
          <p:cNvSpPr>
            <a:spLocks noChangeShapeType="1"/>
          </p:cNvSpPr>
          <p:nvPr/>
        </p:nvSpPr>
        <p:spPr bwMode="auto">
          <a:xfrm flipH="1">
            <a:off x="7467600" y="2057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1" name="Line 41"/>
          <p:cNvSpPr>
            <a:spLocks noChangeShapeType="1"/>
          </p:cNvSpPr>
          <p:nvPr/>
        </p:nvSpPr>
        <p:spPr bwMode="auto">
          <a:xfrm>
            <a:off x="3581400" y="2895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2" name="Line 42"/>
          <p:cNvSpPr>
            <a:spLocks noChangeShapeType="1"/>
          </p:cNvSpPr>
          <p:nvPr/>
        </p:nvSpPr>
        <p:spPr bwMode="auto">
          <a:xfrm flipH="1">
            <a:off x="4953000" y="2819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3" name="Line 43"/>
          <p:cNvSpPr>
            <a:spLocks noChangeShapeType="1"/>
          </p:cNvSpPr>
          <p:nvPr/>
        </p:nvSpPr>
        <p:spPr bwMode="auto">
          <a:xfrm>
            <a:off x="3581400" y="3048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4" name="Line 44"/>
          <p:cNvSpPr>
            <a:spLocks noChangeShapeType="1"/>
          </p:cNvSpPr>
          <p:nvPr/>
        </p:nvSpPr>
        <p:spPr bwMode="auto">
          <a:xfrm>
            <a:off x="3581400" y="3200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5" name="Line 45"/>
          <p:cNvSpPr>
            <a:spLocks noChangeShapeType="1"/>
          </p:cNvSpPr>
          <p:nvPr/>
        </p:nvSpPr>
        <p:spPr bwMode="auto">
          <a:xfrm>
            <a:off x="3581400" y="3352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6" name="Line 46"/>
          <p:cNvSpPr>
            <a:spLocks noChangeShapeType="1"/>
          </p:cNvSpPr>
          <p:nvPr/>
        </p:nvSpPr>
        <p:spPr bwMode="auto">
          <a:xfrm>
            <a:off x="3581400" y="3505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7" name="Line 47"/>
          <p:cNvSpPr>
            <a:spLocks noChangeShapeType="1"/>
          </p:cNvSpPr>
          <p:nvPr/>
        </p:nvSpPr>
        <p:spPr bwMode="auto">
          <a:xfrm>
            <a:off x="3581400" y="3657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8" name="Text Box 48"/>
          <p:cNvSpPr txBox="1">
            <a:spLocks noChangeArrowheads="1"/>
          </p:cNvSpPr>
          <p:nvPr/>
        </p:nvSpPr>
        <p:spPr bwMode="auto">
          <a:xfrm>
            <a:off x="3765550" y="3048000"/>
            <a:ext cx="10033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NoName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39" name="Text Box 49"/>
          <p:cNvSpPr txBox="1">
            <a:spLocks noChangeArrowheads="1"/>
          </p:cNvSpPr>
          <p:nvPr/>
        </p:nvSpPr>
        <p:spPr bwMode="auto">
          <a:xfrm>
            <a:off x="921990" y="4800600"/>
            <a:ext cx="15754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Before call</a:t>
            </a:r>
          </a:p>
        </p:txBody>
      </p:sp>
      <p:sp>
        <p:nvSpPr>
          <p:cNvPr id="12340" name="Text Box 50"/>
          <p:cNvSpPr txBox="1">
            <a:spLocks noChangeArrowheads="1"/>
          </p:cNvSpPr>
          <p:nvPr/>
        </p:nvSpPr>
        <p:spPr bwMode="auto">
          <a:xfrm>
            <a:off x="3441842" y="4800600"/>
            <a:ext cx="15792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During call</a:t>
            </a:r>
          </a:p>
        </p:txBody>
      </p:sp>
      <p:sp>
        <p:nvSpPr>
          <p:cNvPr id="12341" name="Text Box 51"/>
          <p:cNvSpPr txBox="1">
            <a:spLocks noChangeArrowheads="1"/>
          </p:cNvSpPr>
          <p:nvPr/>
        </p:nvSpPr>
        <p:spPr bwMode="auto">
          <a:xfrm>
            <a:off x="6152764" y="4800600"/>
            <a:ext cx="13406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After call</a:t>
            </a:r>
          </a:p>
        </p:txBody>
      </p:sp>
      <p:sp>
        <p:nvSpPr>
          <p:cNvPr id="12342" name="Text Box 52"/>
          <p:cNvSpPr txBox="1">
            <a:spLocks noChangeArrowheads="1"/>
          </p:cNvSpPr>
          <p:nvPr/>
        </p:nvSpPr>
        <p:spPr bwMode="auto">
          <a:xfrm>
            <a:off x="533400" y="5715000"/>
            <a:ext cx="785502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Note: Using R6 this way is incompatible with storing interrupt state on the stack.</a:t>
            </a:r>
          </a:p>
        </p:txBody>
      </p:sp>
    </p:spTree>
    <p:extLst>
      <p:ext uri="{BB962C8B-B14F-4D97-AF65-F5344CB8AC3E}">
        <p14:creationId xmlns:p14="http://schemas.microsoft.com/office/powerpoint/2010/main" val="21283766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4079FF-1D75-456F-A2A0-F044930C2E6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53A349-3C3C-476D-AFC4-E8BAAC3E647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Activation Record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10600" cy="30829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int NoName(int a, int b)</a:t>
            </a:r>
            <a:b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  <a:b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  int w, x, y;</a:t>
            </a:r>
            <a:b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  .</a:t>
            </a:r>
            <a:b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  .</a:t>
            </a:r>
            <a:b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  .</a:t>
            </a:r>
            <a:b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  return y;</a:t>
            </a:r>
            <a:b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  <a:endParaRPr lang="en-US" altLang="zh-CN" b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381000" y="4267200"/>
            <a:ext cx="3581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9" name="Text Box 5"/>
          <p:cNvSpPr txBox="1">
            <a:spLocks noChangeArrowheads="1"/>
          </p:cNvSpPr>
          <p:nvPr/>
        </p:nvSpPr>
        <p:spPr bwMode="auto">
          <a:xfrm>
            <a:off x="381000" y="4267200"/>
            <a:ext cx="703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Name</a:t>
            </a:r>
          </a:p>
        </p:txBody>
      </p:sp>
      <p:sp>
        <p:nvSpPr>
          <p:cNvPr id="13320" name="Text Box 6"/>
          <p:cNvSpPr txBox="1">
            <a:spLocks noChangeArrowheads="1"/>
          </p:cNvSpPr>
          <p:nvPr/>
        </p:nvSpPr>
        <p:spPr bwMode="auto">
          <a:xfrm>
            <a:off x="1219200" y="4267200"/>
            <a:ext cx="6238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Type</a:t>
            </a:r>
          </a:p>
        </p:txBody>
      </p:sp>
      <p:sp>
        <p:nvSpPr>
          <p:cNvPr id="13321" name="Text Box 7"/>
          <p:cNvSpPr txBox="1">
            <a:spLocks noChangeArrowheads="1"/>
          </p:cNvSpPr>
          <p:nvPr/>
        </p:nvSpPr>
        <p:spPr bwMode="auto">
          <a:xfrm>
            <a:off x="2057400" y="4267200"/>
            <a:ext cx="723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Offset</a:t>
            </a:r>
          </a:p>
        </p:txBody>
      </p:sp>
      <p:sp>
        <p:nvSpPr>
          <p:cNvPr id="13322" name="Text Box 8"/>
          <p:cNvSpPr txBox="1">
            <a:spLocks noChangeArrowheads="1"/>
          </p:cNvSpPr>
          <p:nvPr/>
        </p:nvSpPr>
        <p:spPr bwMode="auto">
          <a:xfrm>
            <a:off x="2971800" y="4267200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Scope</a:t>
            </a:r>
          </a:p>
        </p:txBody>
      </p:sp>
      <p:sp>
        <p:nvSpPr>
          <p:cNvPr id="13323" name="Rectangle 9"/>
          <p:cNvSpPr>
            <a:spLocks noChangeArrowheads="1"/>
          </p:cNvSpPr>
          <p:nvPr/>
        </p:nvSpPr>
        <p:spPr bwMode="auto">
          <a:xfrm>
            <a:off x="381000" y="4648200"/>
            <a:ext cx="35814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24" name="Text Box 10"/>
          <p:cNvSpPr txBox="1">
            <a:spLocks noChangeArrowheads="1"/>
          </p:cNvSpPr>
          <p:nvPr/>
        </p:nvSpPr>
        <p:spPr bwMode="auto">
          <a:xfrm>
            <a:off x="381000" y="4724400"/>
            <a:ext cx="334963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</a:t>
            </a:r>
          </a:p>
        </p:txBody>
      </p:sp>
      <p:sp>
        <p:nvSpPr>
          <p:cNvPr id="13325" name="Text Box 11"/>
          <p:cNvSpPr txBox="1">
            <a:spLocks noChangeArrowheads="1"/>
          </p:cNvSpPr>
          <p:nvPr/>
        </p:nvSpPr>
        <p:spPr bwMode="auto">
          <a:xfrm>
            <a:off x="1371600" y="4724400"/>
            <a:ext cx="411163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</a:p>
        </p:txBody>
      </p:sp>
      <p:sp>
        <p:nvSpPr>
          <p:cNvPr id="13326" name="Text Box 12"/>
          <p:cNvSpPr txBox="1">
            <a:spLocks noChangeArrowheads="1"/>
          </p:cNvSpPr>
          <p:nvPr/>
        </p:nvSpPr>
        <p:spPr bwMode="auto">
          <a:xfrm>
            <a:off x="2286000" y="4724400"/>
            <a:ext cx="295275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13327" name="Text Box 13"/>
          <p:cNvSpPr txBox="1">
            <a:spLocks noChangeArrowheads="1"/>
          </p:cNvSpPr>
          <p:nvPr/>
        </p:nvSpPr>
        <p:spPr bwMode="auto">
          <a:xfrm>
            <a:off x="2895600" y="4724400"/>
            <a:ext cx="949325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NoName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NoName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NoName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NoName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NoName</a:t>
            </a:r>
          </a:p>
        </p:txBody>
      </p:sp>
      <p:sp>
        <p:nvSpPr>
          <p:cNvPr id="13328" name="Line 14"/>
          <p:cNvSpPr>
            <a:spLocks noChangeShapeType="1"/>
          </p:cNvSpPr>
          <p:nvPr/>
        </p:nvSpPr>
        <p:spPr bwMode="auto">
          <a:xfrm>
            <a:off x="1219200" y="42672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29" name="Line 15"/>
          <p:cNvSpPr>
            <a:spLocks noChangeShapeType="1"/>
          </p:cNvSpPr>
          <p:nvPr/>
        </p:nvSpPr>
        <p:spPr bwMode="auto">
          <a:xfrm>
            <a:off x="2057400" y="42672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0" name="Line 16"/>
          <p:cNvSpPr>
            <a:spLocks noChangeShapeType="1"/>
          </p:cNvSpPr>
          <p:nvPr/>
        </p:nvSpPr>
        <p:spPr bwMode="auto">
          <a:xfrm>
            <a:off x="2819400" y="42672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1" name="Line 17"/>
          <p:cNvSpPr>
            <a:spLocks noChangeShapeType="1"/>
          </p:cNvSpPr>
          <p:nvPr/>
        </p:nvSpPr>
        <p:spPr bwMode="auto">
          <a:xfrm>
            <a:off x="5715000" y="16002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2" name="Line 18"/>
          <p:cNvSpPr>
            <a:spLocks noChangeShapeType="1"/>
          </p:cNvSpPr>
          <p:nvPr/>
        </p:nvSpPr>
        <p:spPr bwMode="auto">
          <a:xfrm>
            <a:off x="7848600" y="16002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3" name="Line 19"/>
          <p:cNvSpPr>
            <a:spLocks noChangeShapeType="1"/>
          </p:cNvSpPr>
          <p:nvPr/>
        </p:nvSpPr>
        <p:spPr bwMode="auto">
          <a:xfrm>
            <a:off x="5715000" y="2057400"/>
            <a:ext cx="2133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4" name="Line 20"/>
          <p:cNvSpPr>
            <a:spLocks noChangeShapeType="1"/>
          </p:cNvSpPr>
          <p:nvPr/>
        </p:nvSpPr>
        <p:spPr bwMode="auto">
          <a:xfrm>
            <a:off x="5715000" y="2362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5" name="Line 21"/>
          <p:cNvSpPr>
            <a:spLocks noChangeShapeType="1"/>
          </p:cNvSpPr>
          <p:nvPr/>
        </p:nvSpPr>
        <p:spPr bwMode="auto">
          <a:xfrm>
            <a:off x="5715000" y="26670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6" name="Line 22"/>
          <p:cNvSpPr>
            <a:spLocks noChangeShapeType="1"/>
          </p:cNvSpPr>
          <p:nvPr/>
        </p:nvSpPr>
        <p:spPr bwMode="auto">
          <a:xfrm>
            <a:off x="5715000" y="2971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7" name="Line 23"/>
          <p:cNvSpPr>
            <a:spLocks noChangeShapeType="1"/>
          </p:cNvSpPr>
          <p:nvPr/>
        </p:nvSpPr>
        <p:spPr bwMode="auto">
          <a:xfrm>
            <a:off x="5715000" y="3276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8" name="Line 24"/>
          <p:cNvSpPr>
            <a:spLocks noChangeShapeType="1"/>
          </p:cNvSpPr>
          <p:nvPr/>
        </p:nvSpPr>
        <p:spPr bwMode="auto">
          <a:xfrm>
            <a:off x="5715000" y="3581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39" name="Line 25"/>
          <p:cNvSpPr>
            <a:spLocks noChangeShapeType="1"/>
          </p:cNvSpPr>
          <p:nvPr/>
        </p:nvSpPr>
        <p:spPr bwMode="auto">
          <a:xfrm>
            <a:off x="5715000" y="3886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40" name="Line 26"/>
          <p:cNvSpPr>
            <a:spLocks noChangeShapeType="1"/>
          </p:cNvSpPr>
          <p:nvPr/>
        </p:nvSpPr>
        <p:spPr bwMode="auto">
          <a:xfrm>
            <a:off x="5715000" y="41910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41" name="Line 27"/>
          <p:cNvSpPr>
            <a:spLocks noChangeShapeType="1"/>
          </p:cNvSpPr>
          <p:nvPr/>
        </p:nvSpPr>
        <p:spPr bwMode="auto">
          <a:xfrm>
            <a:off x="5715000" y="4495800"/>
            <a:ext cx="2133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42" name="Text Box 28"/>
          <p:cNvSpPr txBox="1">
            <a:spLocks noChangeArrowheads="1"/>
          </p:cNvSpPr>
          <p:nvPr/>
        </p:nvSpPr>
        <p:spPr bwMode="auto">
          <a:xfrm>
            <a:off x="5872163" y="2057400"/>
            <a:ext cx="1819275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return value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return address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dynamic link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w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y</a:t>
            </a:r>
          </a:p>
        </p:txBody>
      </p:sp>
      <p:sp>
        <p:nvSpPr>
          <p:cNvPr id="13343" name="Line 29"/>
          <p:cNvSpPr>
            <a:spLocks noChangeShapeType="1"/>
          </p:cNvSpPr>
          <p:nvPr/>
        </p:nvSpPr>
        <p:spPr bwMode="auto">
          <a:xfrm>
            <a:off x="5486400" y="2057400"/>
            <a:ext cx="0" cy="914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44" name="Text Box 30"/>
          <p:cNvSpPr txBox="1">
            <a:spLocks noChangeArrowheads="1"/>
          </p:cNvSpPr>
          <p:nvPr/>
        </p:nvSpPr>
        <p:spPr bwMode="auto">
          <a:xfrm>
            <a:off x="3657600" y="2286000"/>
            <a:ext cx="175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bookkeeping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45" name="Line 31"/>
          <p:cNvSpPr>
            <a:spLocks noChangeShapeType="1"/>
          </p:cNvSpPr>
          <p:nvPr/>
        </p:nvSpPr>
        <p:spPr bwMode="auto">
          <a:xfrm>
            <a:off x="5486400" y="3657600"/>
            <a:ext cx="0" cy="914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46" name="Text Box 32"/>
          <p:cNvSpPr txBox="1">
            <a:spLocks noChangeArrowheads="1"/>
          </p:cNvSpPr>
          <p:nvPr/>
        </p:nvSpPr>
        <p:spPr bwMode="auto">
          <a:xfrm>
            <a:off x="4495800" y="3810000"/>
            <a:ext cx="903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locals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47" name="Line 33"/>
          <p:cNvSpPr>
            <a:spLocks noChangeShapeType="1"/>
          </p:cNvSpPr>
          <p:nvPr/>
        </p:nvSpPr>
        <p:spPr bwMode="auto">
          <a:xfrm>
            <a:off x="8001000" y="2971800"/>
            <a:ext cx="0" cy="609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48" name="Text Box 34"/>
          <p:cNvSpPr txBox="1">
            <a:spLocks noChangeArrowheads="1"/>
          </p:cNvSpPr>
          <p:nvPr/>
        </p:nvSpPr>
        <p:spPr bwMode="auto">
          <a:xfrm>
            <a:off x="8077200" y="3048000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args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916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F39D8-AA7A-4E78-91D0-D33FD4D73FA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B412C8-5EBD-4988-84E1-15FFBCF0AEC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Activation Record Bookkeeping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Return value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always first word in activation record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holds value returned by function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allocated even if function does not return a value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Return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save pointer to next instruction in calling function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convenient location to store R7 in case another function (JSR) is called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Dynamic link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address of previous activation record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used to pop this activation record from stack</a:t>
            </a:r>
          </a:p>
        </p:txBody>
      </p:sp>
    </p:spTree>
    <p:extLst>
      <p:ext uri="{BB962C8B-B14F-4D97-AF65-F5344CB8AC3E}">
        <p14:creationId xmlns:p14="http://schemas.microsoft.com/office/powerpoint/2010/main" val="32686903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6421438" y="2514600"/>
            <a:ext cx="1371600" cy="2438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39137B-8543-4D58-ADEA-E51EB1ED956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991985-9585-4E47-A8B8-7B237111881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Calling the Function</a:t>
            </a:r>
            <a:r>
              <a:rPr lang="en-US" altLang="zh-CN" sz="2000" dirty="0">
                <a:ea typeface="宋体" panose="02010600030101010101" pitchFamily="2" charset="-122"/>
              </a:rPr>
              <a:t>-allocate activation record, passing </a:t>
            </a:r>
            <a:r>
              <a:rPr lang="en-US" altLang="zh-CN" sz="2000" dirty="0" err="1">
                <a:ea typeface="宋体" panose="02010600030101010101" pitchFamily="2" charset="-122"/>
              </a:rPr>
              <a:t>args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5184775" cy="4824413"/>
          </a:xfrm>
          <a:solidFill>
            <a:schemeClr val="accent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b =</a:t>
            </a:r>
            <a:r>
              <a:rPr lang="en-US" altLang="zh-CN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NoName</a:t>
            </a:r>
            <a:r>
              <a:rPr lang="en-US" altLang="zh-CN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(a, 10);</a:t>
            </a:r>
            <a:endParaRPr lang="en-US" altLang="zh-CN" b="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 store a to 1st argument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LDR  R0, R6, #3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STR  R0, R6, #8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 store 10 to 2nd argument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AND  R0, R0, #0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ADD  R0, R0, #10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STR  R0, R6, #9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 store R6 into dynamic link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STR  R6, R6, #7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 move R6 to start of new record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ADD  R6, R6, #5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 call subroutine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JSR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NoName</a:t>
            </a:r>
            <a:endParaRPr lang="en-US" altLang="zh-CN" b="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5366" name="Line 4"/>
          <p:cNvSpPr>
            <a:spLocks noChangeShapeType="1"/>
          </p:cNvSpPr>
          <p:nvPr/>
        </p:nvSpPr>
        <p:spPr bwMode="auto">
          <a:xfrm>
            <a:off x="6421438" y="6858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Line 5"/>
          <p:cNvSpPr>
            <a:spLocks noChangeShapeType="1"/>
          </p:cNvSpPr>
          <p:nvPr/>
        </p:nvSpPr>
        <p:spPr bwMode="auto">
          <a:xfrm>
            <a:off x="7793038" y="6858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8" name="Line 6"/>
          <p:cNvSpPr>
            <a:spLocks noChangeShapeType="1"/>
          </p:cNvSpPr>
          <p:nvPr/>
        </p:nvSpPr>
        <p:spPr bwMode="auto">
          <a:xfrm>
            <a:off x="6421438" y="2514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9" name="Line 7"/>
          <p:cNvSpPr>
            <a:spLocks noChangeShapeType="1"/>
          </p:cNvSpPr>
          <p:nvPr/>
        </p:nvSpPr>
        <p:spPr bwMode="auto">
          <a:xfrm>
            <a:off x="6421438" y="2819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0" name="Line 8"/>
          <p:cNvSpPr>
            <a:spLocks noChangeShapeType="1"/>
          </p:cNvSpPr>
          <p:nvPr/>
        </p:nvSpPr>
        <p:spPr bwMode="auto">
          <a:xfrm>
            <a:off x="6421438" y="3124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1" name="Line 9"/>
          <p:cNvSpPr>
            <a:spLocks noChangeShapeType="1"/>
          </p:cNvSpPr>
          <p:nvPr/>
        </p:nvSpPr>
        <p:spPr bwMode="auto">
          <a:xfrm>
            <a:off x="6421438" y="3429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2" name="Line 10"/>
          <p:cNvSpPr>
            <a:spLocks noChangeShapeType="1"/>
          </p:cNvSpPr>
          <p:nvPr/>
        </p:nvSpPr>
        <p:spPr bwMode="auto">
          <a:xfrm>
            <a:off x="6421438" y="3733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3" name="Line 11"/>
          <p:cNvSpPr>
            <a:spLocks noChangeShapeType="1"/>
          </p:cNvSpPr>
          <p:nvPr/>
        </p:nvSpPr>
        <p:spPr bwMode="auto">
          <a:xfrm>
            <a:off x="6421438" y="4038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4" name="Line 12"/>
          <p:cNvSpPr>
            <a:spLocks noChangeShapeType="1"/>
          </p:cNvSpPr>
          <p:nvPr/>
        </p:nvSpPr>
        <p:spPr bwMode="auto">
          <a:xfrm>
            <a:off x="6421438" y="4343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5" name="Line 13"/>
          <p:cNvSpPr>
            <a:spLocks noChangeShapeType="1"/>
          </p:cNvSpPr>
          <p:nvPr/>
        </p:nvSpPr>
        <p:spPr bwMode="auto">
          <a:xfrm>
            <a:off x="6421438" y="4648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6" name="Line 14"/>
          <p:cNvSpPr>
            <a:spLocks noChangeShapeType="1"/>
          </p:cNvSpPr>
          <p:nvPr/>
        </p:nvSpPr>
        <p:spPr bwMode="auto">
          <a:xfrm>
            <a:off x="6421438" y="49530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7" name="Text Box 15"/>
          <p:cNvSpPr txBox="1">
            <a:spLocks noChangeArrowheads="1"/>
          </p:cNvSpPr>
          <p:nvPr/>
        </p:nvSpPr>
        <p:spPr bwMode="auto">
          <a:xfrm>
            <a:off x="7793038" y="914400"/>
            <a:ext cx="1033462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addr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dyn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addr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dyn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y</a:t>
            </a:r>
          </a:p>
        </p:txBody>
      </p:sp>
      <p:sp>
        <p:nvSpPr>
          <p:cNvPr id="15378" name="Line 16"/>
          <p:cNvSpPr>
            <a:spLocks noChangeShapeType="1"/>
          </p:cNvSpPr>
          <p:nvPr/>
        </p:nvSpPr>
        <p:spPr bwMode="auto">
          <a:xfrm>
            <a:off x="6421438" y="2209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9" name="Line 17"/>
          <p:cNvSpPr>
            <a:spLocks noChangeShapeType="1"/>
          </p:cNvSpPr>
          <p:nvPr/>
        </p:nvSpPr>
        <p:spPr bwMode="auto">
          <a:xfrm>
            <a:off x="6421438" y="1905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0" name="Line 18"/>
          <p:cNvSpPr>
            <a:spLocks noChangeShapeType="1"/>
          </p:cNvSpPr>
          <p:nvPr/>
        </p:nvSpPr>
        <p:spPr bwMode="auto">
          <a:xfrm>
            <a:off x="6421438" y="1600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1" name="Line 19"/>
          <p:cNvSpPr>
            <a:spLocks noChangeShapeType="1"/>
          </p:cNvSpPr>
          <p:nvPr/>
        </p:nvSpPr>
        <p:spPr bwMode="auto">
          <a:xfrm>
            <a:off x="6421438" y="1295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2" name="Line 20"/>
          <p:cNvSpPr>
            <a:spLocks noChangeShapeType="1"/>
          </p:cNvSpPr>
          <p:nvPr/>
        </p:nvSpPr>
        <p:spPr bwMode="auto">
          <a:xfrm>
            <a:off x="6421438" y="990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3" name="Text Box 21"/>
          <p:cNvSpPr txBox="1">
            <a:spLocks noChangeArrowheads="1"/>
          </p:cNvSpPr>
          <p:nvPr/>
        </p:nvSpPr>
        <p:spPr bwMode="auto">
          <a:xfrm>
            <a:off x="6421438" y="990600"/>
            <a:ext cx="137160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x3F00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x4100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4" name="Text Box 22"/>
          <p:cNvSpPr txBox="1">
            <a:spLocks noChangeArrowheads="1"/>
          </p:cNvSpPr>
          <p:nvPr/>
        </p:nvSpPr>
        <p:spPr bwMode="auto">
          <a:xfrm>
            <a:off x="5554663" y="990600"/>
            <a:ext cx="866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x4100</a:t>
            </a:r>
          </a:p>
        </p:txBody>
      </p:sp>
      <p:sp>
        <p:nvSpPr>
          <p:cNvPr id="15385" name="Text Box 23"/>
          <p:cNvSpPr txBox="1">
            <a:spLocks noChangeArrowheads="1"/>
          </p:cNvSpPr>
          <p:nvPr/>
        </p:nvSpPr>
        <p:spPr bwMode="auto">
          <a:xfrm>
            <a:off x="5364163" y="1524000"/>
            <a:ext cx="488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6" name="Line 24"/>
          <p:cNvSpPr>
            <a:spLocks noChangeShapeType="1"/>
          </p:cNvSpPr>
          <p:nvPr/>
        </p:nvSpPr>
        <p:spPr bwMode="auto">
          <a:xfrm flipV="1">
            <a:off x="5811838" y="1219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7" name="Line 25"/>
          <p:cNvSpPr>
            <a:spLocks noChangeShapeType="1"/>
          </p:cNvSpPr>
          <p:nvPr/>
        </p:nvSpPr>
        <p:spPr bwMode="auto">
          <a:xfrm>
            <a:off x="2915816" y="2209798"/>
            <a:ext cx="3789783" cy="137160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8" name="Line 26"/>
          <p:cNvSpPr>
            <a:spLocks noChangeShapeType="1"/>
          </p:cNvSpPr>
          <p:nvPr/>
        </p:nvSpPr>
        <p:spPr bwMode="auto">
          <a:xfrm>
            <a:off x="3059832" y="3489325"/>
            <a:ext cx="3645768" cy="3968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9" name="Line 27"/>
          <p:cNvSpPr>
            <a:spLocks noChangeShapeType="1"/>
          </p:cNvSpPr>
          <p:nvPr/>
        </p:nvSpPr>
        <p:spPr bwMode="auto">
          <a:xfrm flipV="1">
            <a:off x="2743200" y="3276600"/>
            <a:ext cx="3962400" cy="914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90" name="Line 28"/>
          <p:cNvSpPr>
            <a:spLocks noChangeShapeType="1"/>
          </p:cNvSpPr>
          <p:nvPr/>
        </p:nvSpPr>
        <p:spPr bwMode="auto">
          <a:xfrm>
            <a:off x="5659438" y="1828800"/>
            <a:ext cx="762000" cy="838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91" name="Text Box 29"/>
          <p:cNvSpPr txBox="1">
            <a:spLocks noChangeArrowheads="1"/>
          </p:cNvSpPr>
          <p:nvPr/>
        </p:nvSpPr>
        <p:spPr bwMode="auto">
          <a:xfrm>
            <a:off x="304800" y="5867400"/>
            <a:ext cx="858768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Note: Caller needs to know number and type of arguments, doesn't know about local variables.</a:t>
            </a: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972750E7-E383-DC6B-E095-C334CC8F0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69" y="2716769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2363D6D7-A941-8A84-D71A-137DA71B2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1814" y="3295440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D3B27E2C-FE82-05F2-1436-CAFFCEA89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364" y="3260208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6" name="Text Box 22">
            <a:extLst>
              <a:ext uri="{FF2B5EF4-FFF2-40B4-BE49-F238E27FC236}">
                <a16:creationId xmlns:a16="http://schemas.microsoft.com/office/drawing/2014/main" id="{B3200563-4AA3-9292-90E1-A63E05895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851" y="2123321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F951CD28-5B3F-BED8-933C-4AD2714DB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440451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72512016-145C-3306-82FF-6ED8A4209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2386326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257B23F9-D6CF-944D-7FF6-9AF41BF1A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3701534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10" name="Text Box 22">
            <a:extLst>
              <a:ext uri="{FF2B5EF4-FFF2-40B4-BE49-F238E27FC236}">
                <a16:creationId xmlns:a16="http://schemas.microsoft.com/office/drawing/2014/main" id="{91106903-113F-2D1D-620F-A46D64CDF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4384179"/>
            <a:ext cx="322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955351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212527" y="1004650"/>
            <a:ext cx="4612482" cy="17121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store return address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STR  R7, R6, #1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6477000" y="2514600"/>
            <a:ext cx="1371600" cy="245427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F5A811-8162-4B38-B8A7-DDC3E256DA5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D9F74D-93F4-4F70-AEA6-261C97DB95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Starting the Callee Function</a:t>
            </a:r>
          </a:p>
        </p:txBody>
      </p:sp>
      <p:sp>
        <p:nvSpPr>
          <p:cNvPr id="16390" name="Line 4"/>
          <p:cNvSpPr>
            <a:spLocks noChangeShapeType="1"/>
          </p:cNvSpPr>
          <p:nvPr/>
        </p:nvSpPr>
        <p:spPr bwMode="auto">
          <a:xfrm>
            <a:off x="6477000" y="2514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1" name="Line 5"/>
          <p:cNvSpPr>
            <a:spLocks noChangeShapeType="1"/>
          </p:cNvSpPr>
          <p:nvPr/>
        </p:nvSpPr>
        <p:spPr bwMode="auto">
          <a:xfrm>
            <a:off x="6477000" y="2819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2" name="Line 6"/>
          <p:cNvSpPr>
            <a:spLocks noChangeShapeType="1"/>
          </p:cNvSpPr>
          <p:nvPr/>
        </p:nvSpPr>
        <p:spPr bwMode="auto">
          <a:xfrm>
            <a:off x="6477000" y="3124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3" name="Line 7"/>
          <p:cNvSpPr>
            <a:spLocks noChangeShapeType="1"/>
          </p:cNvSpPr>
          <p:nvPr/>
        </p:nvSpPr>
        <p:spPr bwMode="auto">
          <a:xfrm>
            <a:off x="6477000" y="3429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4" name="Line 8"/>
          <p:cNvSpPr>
            <a:spLocks noChangeShapeType="1"/>
          </p:cNvSpPr>
          <p:nvPr/>
        </p:nvSpPr>
        <p:spPr bwMode="auto">
          <a:xfrm>
            <a:off x="6477000" y="3733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5" name="Line 9"/>
          <p:cNvSpPr>
            <a:spLocks noChangeShapeType="1"/>
          </p:cNvSpPr>
          <p:nvPr/>
        </p:nvSpPr>
        <p:spPr bwMode="auto">
          <a:xfrm>
            <a:off x="6477000" y="4038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6" name="Line 10"/>
          <p:cNvSpPr>
            <a:spLocks noChangeShapeType="1"/>
          </p:cNvSpPr>
          <p:nvPr/>
        </p:nvSpPr>
        <p:spPr bwMode="auto">
          <a:xfrm>
            <a:off x="6477000" y="4343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7" name="Line 11"/>
          <p:cNvSpPr>
            <a:spLocks noChangeShapeType="1"/>
          </p:cNvSpPr>
          <p:nvPr/>
        </p:nvSpPr>
        <p:spPr bwMode="auto">
          <a:xfrm>
            <a:off x="6477000" y="4648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8" name="Line 12"/>
          <p:cNvSpPr>
            <a:spLocks noChangeShapeType="1"/>
          </p:cNvSpPr>
          <p:nvPr/>
        </p:nvSpPr>
        <p:spPr bwMode="auto">
          <a:xfrm>
            <a:off x="6477000" y="49530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9" name="Text Box 13"/>
          <p:cNvSpPr txBox="1">
            <a:spLocks noChangeArrowheads="1"/>
          </p:cNvSpPr>
          <p:nvPr/>
        </p:nvSpPr>
        <p:spPr bwMode="auto">
          <a:xfrm>
            <a:off x="7848600" y="914400"/>
            <a:ext cx="1057275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addr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dyn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addr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dyn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y</a:t>
            </a:r>
          </a:p>
        </p:txBody>
      </p:sp>
      <p:sp>
        <p:nvSpPr>
          <p:cNvPr id="16400" name="Line 14"/>
          <p:cNvSpPr>
            <a:spLocks noChangeShapeType="1"/>
          </p:cNvSpPr>
          <p:nvPr/>
        </p:nvSpPr>
        <p:spPr bwMode="auto">
          <a:xfrm>
            <a:off x="6477000" y="2209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1" name="Line 15"/>
          <p:cNvSpPr>
            <a:spLocks noChangeShapeType="1"/>
          </p:cNvSpPr>
          <p:nvPr/>
        </p:nvSpPr>
        <p:spPr bwMode="auto">
          <a:xfrm>
            <a:off x="6477000" y="1905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2" name="Line 16"/>
          <p:cNvSpPr>
            <a:spLocks noChangeShapeType="1"/>
          </p:cNvSpPr>
          <p:nvPr/>
        </p:nvSpPr>
        <p:spPr bwMode="auto">
          <a:xfrm>
            <a:off x="6477000" y="1600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3" name="Line 17"/>
          <p:cNvSpPr>
            <a:spLocks noChangeShapeType="1"/>
          </p:cNvSpPr>
          <p:nvPr/>
        </p:nvSpPr>
        <p:spPr bwMode="auto">
          <a:xfrm>
            <a:off x="6477000" y="1295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4" name="Line 18"/>
          <p:cNvSpPr>
            <a:spLocks noChangeShapeType="1"/>
          </p:cNvSpPr>
          <p:nvPr/>
        </p:nvSpPr>
        <p:spPr bwMode="auto">
          <a:xfrm>
            <a:off x="6477000" y="990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5" name="Text Box 19"/>
          <p:cNvSpPr txBox="1">
            <a:spLocks noChangeArrowheads="1"/>
          </p:cNvSpPr>
          <p:nvPr/>
        </p:nvSpPr>
        <p:spPr bwMode="auto">
          <a:xfrm>
            <a:off x="6477000" y="990600"/>
            <a:ext cx="137160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x3F00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x3100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x4100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6" name="Text Box 20"/>
          <p:cNvSpPr txBox="1">
            <a:spLocks noChangeArrowheads="1"/>
          </p:cNvSpPr>
          <p:nvPr/>
        </p:nvSpPr>
        <p:spPr bwMode="auto">
          <a:xfrm>
            <a:off x="5610225" y="990600"/>
            <a:ext cx="866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x4100</a:t>
            </a:r>
          </a:p>
        </p:txBody>
      </p:sp>
      <p:sp>
        <p:nvSpPr>
          <p:cNvPr id="16407" name="Text Box 21"/>
          <p:cNvSpPr txBox="1">
            <a:spLocks noChangeArrowheads="1"/>
          </p:cNvSpPr>
          <p:nvPr/>
        </p:nvSpPr>
        <p:spPr bwMode="auto">
          <a:xfrm>
            <a:off x="5638800" y="25146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8" name="Line 22"/>
          <p:cNvSpPr>
            <a:spLocks noChangeShapeType="1"/>
          </p:cNvSpPr>
          <p:nvPr/>
        </p:nvSpPr>
        <p:spPr bwMode="auto">
          <a:xfrm>
            <a:off x="6172200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9" name="Line 23"/>
          <p:cNvSpPr>
            <a:spLocks noChangeShapeType="1"/>
          </p:cNvSpPr>
          <p:nvPr/>
        </p:nvSpPr>
        <p:spPr bwMode="auto">
          <a:xfrm>
            <a:off x="6477000" y="6858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10" name="Line 24"/>
          <p:cNvSpPr>
            <a:spLocks noChangeShapeType="1"/>
          </p:cNvSpPr>
          <p:nvPr/>
        </p:nvSpPr>
        <p:spPr bwMode="auto">
          <a:xfrm>
            <a:off x="7848600" y="6858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11" name="Line 25"/>
          <p:cNvSpPr>
            <a:spLocks noChangeShapeType="1"/>
          </p:cNvSpPr>
          <p:nvPr/>
        </p:nvSpPr>
        <p:spPr bwMode="auto">
          <a:xfrm>
            <a:off x="2987824" y="1581071"/>
            <a:ext cx="3641576" cy="1390729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B3AFEE3A-F358-128D-F39E-C4CAC0356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5750" y="2179171"/>
            <a:ext cx="322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5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016AE5D5-F2A2-4C39-7CF7-F37C22349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24176"/>
            <a:ext cx="322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5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9927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6477000" y="2514600"/>
            <a:ext cx="1371600" cy="2438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659D79-3CFE-474D-A732-C1FC6C2193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70F8F3-2568-47D5-BA2B-84D363D4E28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Ending the Callee Function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5400675" cy="5481638"/>
          </a:xfrm>
          <a:solidFill>
            <a:schemeClr val="accent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return y;</a:t>
            </a:r>
            <a:endParaRPr lang="en-US" altLang="zh-CN" b="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copy y into return value</a:t>
            </a:r>
            <a:br>
              <a:rPr lang="en-US" altLang="zh-CN" sz="20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LDR  R0, R6, #7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STR  R0, R6, #0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load the return address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LDR  R7, R6, #1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load the dynamic link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(pops the activation record)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LDR  R6, R6, #2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return control to caller</a:t>
            </a:r>
            <a:br>
              <a:rPr lang="en-US" altLang="zh-CN" sz="20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RET</a:t>
            </a:r>
            <a:endParaRPr lang="en-US" altLang="zh-CN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7414" name="Line 4"/>
          <p:cNvSpPr>
            <a:spLocks noChangeShapeType="1"/>
          </p:cNvSpPr>
          <p:nvPr/>
        </p:nvSpPr>
        <p:spPr bwMode="auto">
          <a:xfrm>
            <a:off x="6477000" y="2514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5" name="Line 5"/>
          <p:cNvSpPr>
            <a:spLocks noChangeShapeType="1"/>
          </p:cNvSpPr>
          <p:nvPr/>
        </p:nvSpPr>
        <p:spPr bwMode="auto">
          <a:xfrm>
            <a:off x="6477000" y="2819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6" name="Line 6"/>
          <p:cNvSpPr>
            <a:spLocks noChangeShapeType="1"/>
          </p:cNvSpPr>
          <p:nvPr/>
        </p:nvSpPr>
        <p:spPr bwMode="auto">
          <a:xfrm>
            <a:off x="6477000" y="3124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7" name="Line 7"/>
          <p:cNvSpPr>
            <a:spLocks noChangeShapeType="1"/>
          </p:cNvSpPr>
          <p:nvPr/>
        </p:nvSpPr>
        <p:spPr bwMode="auto">
          <a:xfrm>
            <a:off x="6477000" y="3429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8" name="Line 8"/>
          <p:cNvSpPr>
            <a:spLocks noChangeShapeType="1"/>
          </p:cNvSpPr>
          <p:nvPr/>
        </p:nvSpPr>
        <p:spPr bwMode="auto">
          <a:xfrm>
            <a:off x="6477000" y="3733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9" name="Line 9"/>
          <p:cNvSpPr>
            <a:spLocks noChangeShapeType="1"/>
          </p:cNvSpPr>
          <p:nvPr/>
        </p:nvSpPr>
        <p:spPr bwMode="auto">
          <a:xfrm>
            <a:off x="6477000" y="4038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0" name="Line 10"/>
          <p:cNvSpPr>
            <a:spLocks noChangeShapeType="1"/>
          </p:cNvSpPr>
          <p:nvPr/>
        </p:nvSpPr>
        <p:spPr bwMode="auto">
          <a:xfrm>
            <a:off x="6477000" y="4343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1" name="Line 11"/>
          <p:cNvSpPr>
            <a:spLocks noChangeShapeType="1"/>
          </p:cNvSpPr>
          <p:nvPr/>
        </p:nvSpPr>
        <p:spPr bwMode="auto">
          <a:xfrm>
            <a:off x="6477000" y="4648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2" name="Line 12"/>
          <p:cNvSpPr>
            <a:spLocks noChangeShapeType="1"/>
          </p:cNvSpPr>
          <p:nvPr/>
        </p:nvSpPr>
        <p:spPr bwMode="auto">
          <a:xfrm>
            <a:off x="6477000" y="49530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3" name="Text Box 13"/>
          <p:cNvSpPr txBox="1">
            <a:spLocks noChangeArrowheads="1"/>
          </p:cNvSpPr>
          <p:nvPr/>
        </p:nvSpPr>
        <p:spPr bwMode="auto">
          <a:xfrm>
            <a:off x="7848600" y="914400"/>
            <a:ext cx="1057275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addr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dyn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addr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dyn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y</a:t>
            </a:r>
          </a:p>
        </p:txBody>
      </p:sp>
      <p:sp>
        <p:nvSpPr>
          <p:cNvPr id="17424" name="Line 14"/>
          <p:cNvSpPr>
            <a:spLocks noChangeShapeType="1"/>
          </p:cNvSpPr>
          <p:nvPr/>
        </p:nvSpPr>
        <p:spPr bwMode="auto">
          <a:xfrm>
            <a:off x="6477000" y="2209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5" name="Line 15"/>
          <p:cNvSpPr>
            <a:spLocks noChangeShapeType="1"/>
          </p:cNvSpPr>
          <p:nvPr/>
        </p:nvSpPr>
        <p:spPr bwMode="auto">
          <a:xfrm>
            <a:off x="6477000" y="1905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6" name="Line 16"/>
          <p:cNvSpPr>
            <a:spLocks noChangeShapeType="1"/>
          </p:cNvSpPr>
          <p:nvPr/>
        </p:nvSpPr>
        <p:spPr bwMode="auto">
          <a:xfrm>
            <a:off x="6477000" y="1600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7" name="Line 17"/>
          <p:cNvSpPr>
            <a:spLocks noChangeShapeType="1"/>
          </p:cNvSpPr>
          <p:nvPr/>
        </p:nvSpPr>
        <p:spPr bwMode="auto">
          <a:xfrm>
            <a:off x="6477000" y="1295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8" name="Line 18"/>
          <p:cNvSpPr>
            <a:spLocks noChangeShapeType="1"/>
          </p:cNvSpPr>
          <p:nvPr/>
        </p:nvSpPr>
        <p:spPr bwMode="auto">
          <a:xfrm>
            <a:off x="6477000" y="990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9" name="Text Box 19"/>
          <p:cNvSpPr txBox="1">
            <a:spLocks noChangeArrowheads="1"/>
          </p:cNvSpPr>
          <p:nvPr/>
        </p:nvSpPr>
        <p:spPr bwMode="auto">
          <a:xfrm>
            <a:off x="6477000" y="990600"/>
            <a:ext cx="137160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x3F00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x3100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x4100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30" name="Text Box 20"/>
          <p:cNvSpPr txBox="1">
            <a:spLocks noChangeArrowheads="1"/>
          </p:cNvSpPr>
          <p:nvPr/>
        </p:nvSpPr>
        <p:spPr bwMode="auto">
          <a:xfrm>
            <a:off x="5610225" y="990600"/>
            <a:ext cx="866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x4100</a:t>
            </a:r>
          </a:p>
        </p:txBody>
      </p:sp>
      <p:sp>
        <p:nvSpPr>
          <p:cNvPr id="17431" name="Text Box 21"/>
          <p:cNvSpPr txBox="1">
            <a:spLocks noChangeArrowheads="1"/>
          </p:cNvSpPr>
          <p:nvPr/>
        </p:nvSpPr>
        <p:spPr bwMode="auto">
          <a:xfrm>
            <a:off x="5638800" y="25146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32" name="Line 22"/>
          <p:cNvSpPr>
            <a:spLocks noChangeShapeType="1"/>
          </p:cNvSpPr>
          <p:nvPr/>
        </p:nvSpPr>
        <p:spPr bwMode="auto">
          <a:xfrm>
            <a:off x="6172200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33" name="Line 23"/>
          <p:cNvSpPr>
            <a:spLocks noChangeShapeType="1"/>
          </p:cNvSpPr>
          <p:nvPr/>
        </p:nvSpPr>
        <p:spPr bwMode="auto">
          <a:xfrm>
            <a:off x="6477000" y="6858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34" name="Line 24"/>
          <p:cNvSpPr>
            <a:spLocks noChangeShapeType="1"/>
          </p:cNvSpPr>
          <p:nvPr/>
        </p:nvSpPr>
        <p:spPr bwMode="auto">
          <a:xfrm>
            <a:off x="7848600" y="6858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35" name="Line 25"/>
          <p:cNvSpPr>
            <a:spLocks noChangeShapeType="1"/>
          </p:cNvSpPr>
          <p:nvPr/>
        </p:nvSpPr>
        <p:spPr bwMode="auto">
          <a:xfrm>
            <a:off x="2987824" y="2659062"/>
            <a:ext cx="3641576" cy="8413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36" name="Line 26"/>
          <p:cNvSpPr>
            <a:spLocks noChangeShapeType="1"/>
          </p:cNvSpPr>
          <p:nvPr/>
        </p:nvSpPr>
        <p:spPr bwMode="auto">
          <a:xfrm flipV="1">
            <a:off x="2915816" y="2971800"/>
            <a:ext cx="3713584" cy="36353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37" name="Line 27"/>
          <p:cNvSpPr>
            <a:spLocks noChangeShapeType="1"/>
          </p:cNvSpPr>
          <p:nvPr/>
        </p:nvSpPr>
        <p:spPr bwMode="auto">
          <a:xfrm flipV="1">
            <a:off x="6019800" y="1143000"/>
            <a:ext cx="838200" cy="1371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76F9C7D9-F294-FDD4-AEEB-172A4911D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409" y="2344916"/>
            <a:ext cx="322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6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6D591D03-186C-674B-3482-999238D4A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671" y="2887661"/>
            <a:ext cx="322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7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3307DE83-F459-D421-A259-15235B0C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4196317"/>
            <a:ext cx="322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8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22">
            <a:extLst>
              <a:ext uri="{FF2B5EF4-FFF2-40B4-BE49-F238E27FC236}">
                <a16:creationId xmlns:a16="http://schemas.microsoft.com/office/drawing/2014/main" id="{C19426A2-68DB-03F9-669E-007798361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333" y="1683273"/>
            <a:ext cx="322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8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8267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6476999" y="2514600"/>
            <a:ext cx="137160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311705" y="980728"/>
            <a:ext cx="4612482" cy="2433637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E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NoName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(a,10);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load return value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LDR  R0, R6, #5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 store result into b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STR  R0, R6, #4</a:t>
            </a:r>
          </a:p>
        </p:txBody>
      </p:sp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9AF1C6-213C-4DD8-8124-A396BE71CB8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7873F5-6B10-4527-83A9-04AF0667A8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Resuming the Caller Function</a:t>
            </a:r>
          </a:p>
        </p:txBody>
      </p:sp>
      <p:sp>
        <p:nvSpPr>
          <p:cNvPr id="18438" name="Line 4"/>
          <p:cNvSpPr>
            <a:spLocks noChangeShapeType="1"/>
          </p:cNvSpPr>
          <p:nvPr/>
        </p:nvSpPr>
        <p:spPr bwMode="auto">
          <a:xfrm>
            <a:off x="6477000" y="2514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9" name="Line 5"/>
          <p:cNvSpPr>
            <a:spLocks noChangeShapeType="1"/>
          </p:cNvSpPr>
          <p:nvPr/>
        </p:nvSpPr>
        <p:spPr bwMode="auto">
          <a:xfrm>
            <a:off x="6477000" y="2819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0" name="Text Box 6"/>
          <p:cNvSpPr txBox="1">
            <a:spLocks noChangeArrowheads="1"/>
          </p:cNvSpPr>
          <p:nvPr/>
        </p:nvSpPr>
        <p:spPr bwMode="auto">
          <a:xfrm>
            <a:off x="7848600" y="914400"/>
            <a:ext cx="1057275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addr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dyn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ret val</a:t>
            </a:r>
          </a:p>
        </p:txBody>
      </p:sp>
      <p:sp>
        <p:nvSpPr>
          <p:cNvPr id="18441" name="Line 7"/>
          <p:cNvSpPr>
            <a:spLocks noChangeShapeType="1"/>
          </p:cNvSpPr>
          <p:nvPr/>
        </p:nvSpPr>
        <p:spPr bwMode="auto">
          <a:xfrm>
            <a:off x="6477000" y="2209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2" name="Line 8"/>
          <p:cNvSpPr>
            <a:spLocks noChangeShapeType="1"/>
          </p:cNvSpPr>
          <p:nvPr/>
        </p:nvSpPr>
        <p:spPr bwMode="auto">
          <a:xfrm>
            <a:off x="6477000" y="1905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3" name="Line 9"/>
          <p:cNvSpPr>
            <a:spLocks noChangeShapeType="1"/>
          </p:cNvSpPr>
          <p:nvPr/>
        </p:nvSpPr>
        <p:spPr bwMode="auto">
          <a:xfrm>
            <a:off x="6477000" y="1600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4" name="Line 10"/>
          <p:cNvSpPr>
            <a:spLocks noChangeShapeType="1"/>
          </p:cNvSpPr>
          <p:nvPr/>
        </p:nvSpPr>
        <p:spPr bwMode="auto">
          <a:xfrm>
            <a:off x="6477000" y="1295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5" name="Line 11"/>
          <p:cNvSpPr>
            <a:spLocks noChangeShapeType="1"/>
          </p:cNvSpPr>
          <p:nvPr/>
        </p:nvSpPr>
        <p:spPr bwMode="auto">
          <a:xfrm>
            <a:off x="6477000" y="990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6" name="Text Box 12"/>
          <p:cNvSpPr txBox="1">
            <a:spLocks noChangeArrowheads="1"/>
          </p:cNvSpPr>
          <p:nvPr/>
        </p:nvSpPr>
        <p:spPr bwMode="auto">
          <a:xfrm>
            <a:off x="6477000" y="990600"/>
            <a:ext cx="13716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x3F00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40</a:t>
            </a:r>
          </a:p>
        </p:txBody>
      </p:sp>
      <p:sp>
        <p:nvSpPr>
          <p:cNvPr id="18447" name="Text Box 13"/>
          <p:cNvSpPr txBox="1">
            <a:spLocks noChangeArrowheads="1"/>
          </p:cNvSpPr>
          <p:nvPr/>
        </p:nvSpPr>
        <p:spPr bwMode="auto">
          <a:xfrm>
            <a:off x="5610225" y="990600"/>
            <a:ext cx="866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x4100</a:t>
            </a:r>
          </a:p>
        </p:txBody>
      </p:sp>
      <p:sp>
        <p:nvSpPr>
          <p:cNvPr id="18448" name="Text Box 14"/>
          <p:cNvSpPr txBox="1">
            <a:spLocks noChangeArrowheads="1"/>
          </p:cNvSpPr>
          <p:nvPr/>
        </p:nvSpPr>
        <p:spPr bwMode="auto">
          <a:xfrm>
            <a:off x="5739765" y="13559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9" name="Line 15"/>
          <p:cNvSpPr>
            <a:spLocks noChangeShapeType="1"/>
          </p:cNvSpPr>
          <p:nvPr/>
        </p:nvSpPr>
        <p:spPr bwMode="auto">
          <a:xfrm flipV="1">
            <a:off x="6172199" y="1173412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50" name="Line 16"/>
          <p:cNvSpPr>
            <a:spLocks noChangeShapeType="1"/>
          </p:cNvSpPr>
          <p:nvPr/>
        </p:nvSpPr>
        <p:spPr bwMode="auto">
          <a:xfrm>
            <a:off x="6477000" y="6858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51" name="Line 17"/>
          <p:cNvSpPr>
            <a:spLocks noChangeShapeType="1"/>
          </p:cNvSpPr>
          <p:nvPr/>
        </p:nvSpPr>
        <p:spPr bwMode="auto">
          <a:xfrm>
            <a:off x="7848600" y="6858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52" name="Line 18"/>
          <p:cNvSpPr>
            <a:spLocks noChangeShapeType="1"/>
          </p:cNvSpPr>
          <p:nvPr/>
        </p:nvSpPr>
        <p:spPr bwMode="auto">
          <a:xfrm flipH="1" flipV="1">
            <a:off x="2743199" y="2214562"/>
            <a:ext cx="3886201" cy="45243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53" name="Line 19"/>
          <p:cNvSpPr>
            <a:spLocks noChangeShapeType="1"/>
          </p:cNvSpPr>
          <p:nvPr/>
        </p:nvSpPr>
        <p:spPr bwMode="auto">
          <a:xfrm flipV="1">
            <a:off x="2743198" y="2362200"/>
            <a:ext cx="3962402" cy="457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 Box 22">
            <a:extLst>
              <a:ext uri="{FF2B5EF4-FFF2-40B4-BE49-F238E27FC236}">
                <a16:creationId xmlns:a16="http://schemas.microsoft.com/office/drawing/2014/main" id="{020C03EE-23E7-B968-1D59-A628B433A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113003"/>
            <a:ext cx="322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9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C2C9C902-104F-B4BA-6AD9-A4026F287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086" y="2595150"/>
            <a:ext cx="4603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10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415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14-</a:t>
            </a:r>
            <a:fld id="{44678255-2535-486D-9948-004CF43C6582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39200" cy="4320133"/>
          </a:xfrm>
          <a:solidFill>
            <a:srgbClr val="CCFF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/* Function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ToUpper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* If the argument is lower case, 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* return its upper case ASCII value */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char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ToUpper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(char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outchar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if ('a' &lt;=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&amp;&amp;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&lt;= 'z')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outchar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- ('a' - 'A');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return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outchar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9388" y="5445124"/>
            <a:ext cx="8839200" cy="64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仿宋" panose="02010609060101010101" pitchFamily="49" charset="-122"/>
                <a:cs typeface="Courier New" panose="02070309020205020404" pitchFamily="49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Compile this function to LC-3 assembly language.</a:t>
            </a:r>
            <a:endParaRPr lang="en-US" altLang="zh-CN" sz="2000" baseline="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7747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14-</a:t>
            </a:r>
            <a:fld id="{DB8B4B82-5CC1-4AB0-B764-836F22A0BF6F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Example: LC-3 Code for </a:t>
            </a:r>
            <a:r>
              <a:rPr lang="en-US" altLang="zh-CN" dirty="0" err="1">
                <a:ea typeface="宋体" panose="02010600030101010101" pitchFamily="2" charset="-122"/>
              </a:rPr>
              <a:t>ToUpper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CCFF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ToUpper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STR  R7, R6, #1 	; save return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addr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LDR  R0, R6, #3 	; load parameter (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STR  R0, R6, #4 	; initialize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outchar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LD   R1,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neg_a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	; load -'a'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ADD  R1, R0, R1 	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- 'a'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BRn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FALSE      	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br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if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&lt; 'a'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LD   R1,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neg_z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	; load -'z'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ADD  R1, R0, R1 	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- 'z'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BRp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FALSE      	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br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if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&gt; 'z'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LD   R1,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neg_upper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	; load -('a' - 'A')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ADD  R0, R0, R1    	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inchar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- ('a' - 'A')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STR  R0, R6, #4 	; store to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outchar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FALSE    LDR  R0, R6, #4 	; load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outchar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STR  R0, R6, #0 	; store in result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LDR  R7, R6, #1 	; load return address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LDR  R6, R6, #2 	; load dynamic link</a:t>
            </a:r>
            <a:b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        RET</a:t>
            </a:r>
          </a:p>
        </p:txBody>
      </p:sp>
    </p:spTree>
    <p:extLst>
      <p:ext uri="{BB962C8B-B14F-4D97-AF65-F5344CB8AC3E}">
        <p14:creationId xmlns:p14="http://schemas.microsoft.com/office/powerpoint/2010/main" val="4570405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1_学术交流模板3-中文">
  <a:themeElements>
    <a:clrScheme name="学术交流模板3-中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6082</TotalTime>
  <Pages>0</Pages>
  <Words>4963</Words>
  <Characters>0</Characters>
  <Application>Microsoft Office PowerPoint</Application>
  <DocSecurity>0</DocSecurity>
  <PresentationFormat>全屏显示(4:3)</PresentationFormat>
  <Lines>0</Lines>
  <Paragraphs>1115</Paragraphs>
  <Slides>58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8" baseType="lpstr">
      <vt:lpstr>CourierPS</vt:lpstr>
      <vt:lpstr>Gungsuh</vt:lpstr>
      <vt:lpstr>仿宋</vt:lpstr>
      <vt:lpstr>黑体</vt:lpstr>
      <vt:lpstr>华文新魏</vt:lpstr>
      <vt:lpstr>KaiTi</vt:lpstr>
      <vt:lpstr>KaiTi</vt:lpstr>
      <vt:lpstr>微软雅黑</vt:lpstr>
      <vt:lpstr>Arial</vt:lpstr>
      <vt:lpstr>Calibri</vt:lpstr>
      <vt:lpstr>Comic Sans MS</vt:lpstr>
      <vt:lpstr>Courier New</vt:lpstr>
      <vt:lpstr>Franklin Gothic Book</vt:lpstr>
      <vt:lpstr>Tahoma</vt:lpstr>
      <vt:lpstr>Wingdings</vt:lpstr>
      <vt:lpstr>Wingdings 3</vt:lpstr>
      <vt:lpstr>1_Office 主题​​</vt:lpstr>
      <vt:lpstr>1_学术交流模板3-中文</vt:lpstr>
      <vt:lpstr>学术交流模板3-中文</vt:lpstr>
      <vt:lpstr>CorelDRAW</vt:lpstr>
      <vt:lpstr>Chapter 8-2   Memory Model  for Program Execution &amp; the Stack</vt:lpstr>
      <vt:lpstr>PowerPoint 演示文稿</vt:lpstr>
      <vt:lpstr>PowerPoint 演示文稿</vt:lpstr>
      <vt:lpstr>Review: The Call/Return Mechanism</vt:lpstr>
      <vt:lpstr>Review: Control Instructions for Subroutines</vt:lpstr>
      <vt:lpstr>Review: Memory in Von Neumann Model</vt:lpstr>
      <vt:lpstr>Review: Using Memory</vt:lpstr>
      <vt:lpstr>Review: Using Memory</vt:lpstr>
      <vt:lpstr>Today: Memory Model for Function Calls</vt:lpstr>
      <vt:lpstr>PowerPoint 演示文稿</vt:lpstr>
      <vt:lpstr>Problem</vt:lpstr>
      <vt:lpstr>Motivation</vt:lpstr>
      <vt:lpstr>Goals</vt:lpstr>
      <vt:lpstr>Memory Model in the LC-3</vt:lpstr>
      <vt:lpstr>PowerPoint 演示文稿</vt:lpstr>
      <vt:lpstr>Stack: An Abstract Data Type</vt:lpstr>
      <vt:lpstr>Stack Data Structure</vt:lpstr>
      <vt:lpstr>A Physical Stack</vt:lpstr>
      <vt:lpstr>A Hardware Stack Implementation</vt:lpstr>
      <vt:lpstr>A Software Stack Implementation</vt:lpstr>
      <vt:lpstr>Basic Push and Pop Code</vt:lpstr>
      <vt:lpstr>Pop with Underflow Detection</vt:lpstr>
      <vt:lpstr>Push with Overflow Detection</vt:lpstr>
      <vt:lpstr>PUSH &amp; POP in LC-3 - 1</vt:lpstr>
      <vt:lpstr>PUSH &amp; POP in LC-3 - 3</vt:lpstr>
      <vt:lpstr>Arithmetic Using a Stack</vt:lpstr>
      <vt:lpstr>(25+17) x (3+2)</vt:lpstr>
      <vt:lpstr>PowerPoint 演示文稿</vt:lpstr>
      <vt:lpstr>Function in C</vt:lpstr>
      <vt:lpstr>Example of High-Level Structure</vt:lpstr>
      <vt:lpstr>Functions in C</vt:lpstr>
      <vt:lpstr>Function Definition</vt:lpstr>
      <vt:lpstr>Why Declaration?</vt:lpstr>
      <vt:lpstr>Example</vt:lpstr>
      <vt:lpstr>Storage Requirements</vt:lpstr>
      <vt:lpstr>Function Call in C</vt:lpstr>
      <vt:lpstr>Possible Solution: Mixed Code and Data</vt:lpstr>
      <vt:lpstr>Possible Solution: Mixed Code and Data</vt:lpstr>
      <vt:lpstr>Possible Solution: Mixed Code and Data</vt:lpstr>
      <vt:lpstr>Possible Solution: Separate Code and Data</vt:lpstr>
      <vt:lpstr>Possible Solution: Separate Code and Data</vt:lpstr>
      <vt:lpstr>Real Solution: Execution Stack</vt:lpstr>
      <vt:lpstr>Execution Stack Requirements</vt:lpstr>
      <vt:lpstr>Execution Stack</vt:lpstr>
      <vt:lpstr>Execution Stack</vt:lpstr>
      <vt:lpstr>Execution Stack</vt:lpstr>
      <vt:lpstr>Stack Pointers</vt:lpstr>
      <vt:lpstr>Implementing Functions  in C Using a Execution Stack</vt:lpstr>
      <vt:lpstr>Run-Time Stack</vt:lpstr>
      <vt:lpstr>Run-Time Stack</vt:lpstr>
      <vt:lpstr>Activation Record</vt:lpstr>
      <vt:lpstr>Activation Record Bookkeeping</vt:lpstr>
      <vt:lpstr>Calling the Function-allocate activation record, passing args</vt:lpstr>
      <vt:lpstr>Starting the Callee Function</vt:lpstr>
      <vt:lpstr>Ending the Callee Function</vt:lpstr>
      <vt:lpstr>Resuming the Caller Function</vt:lpstr>
      <vt:lpstr>Example</vt:lpstr>
      <vt:lpstr>Example: LC-3 Code for ToUpper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739</cp:revision>
  <cp:lastPrinted>1601-01-01T00:00:00Z</cp:lastPrinted>
  <dcterms:created xsi:type="dcterms:W3CDTF">2012-09-03T16:09:03Z</dcterms:created>
  <dcterms:modified xsi:type="dcterms:W3CDTF">2025-10-21T00:45:44Z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