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54" r:id="rId2"/>
    <p:sldMasterId id="2147483870" r:id="rId3"/>
  </p:sldMasterIdLst>
  <p:notesMasterIdLst>
    <p:notesMasterId r:id="rId53"/>
  </p:notesMasterIdLst>
  <p:sldIdLst>
    <p:sldId id="1541" r:id="rId4"/>
    <p:sldId id="1713" r:id="rId5"/>
    <p:sldId id="1715" r:id="rId6"/>
    <p:sldId id="1719" r:id="rId7"/>
    <p:sldId id="1688" r:id="rId8"/>
    <p:sldId id="1703" r:id="rId9"/>
    <p:sldId id="1702" r:id="rId10"/>
    <p:sldId id="1712" r:id="rId11"/>
    <p:sldId id="355" r:id="rId12"/>
    <p:sldId id="497" r:id="rId13"/>
    <p:sldId id="498" r:id="rId14"/>
    <p:sldId id="356" r:id="rId15"/>
    <p:sldId id="1711" r:id="rId16"/>
    <p:sldId id="357" r:id="rId17"/>
    <p:sldId id="358" r:id="rId18"/>
    <p:sldId id="510" r:id="rId19"/>
    <p:sldId id="471" r:id="rId20"/>
    <p:sldId id="472" r:id="rId21"/>
    <p:sldId id="473" r:id="rId22"/>
    <p:sldId id="474" r:id="rId23"/>
    <p:sldId id="516" r:id="rId24"/>
    <p:sldId id="514" r:id="rId25"/>
    <p:sldId id="359" r:id="rId26"/>
    <p:sldId id="360" r:id="rId27"/>
    <p:sldId id="379" r:id="rId28"/>
    <p:sldId id="515" r:id="rId29"/>
    <p:sldId id="378" r:id="rId30"/>
    <p:sldId id="380" r:id="rId31"/>
    <p:sldId id="381" r:id="rId32"/>
    <p:sldId id="1710" r:id="rId33"/>
    <p:sldId id="361" r:id="rId34"/>
    <p:sldId id="475" r:id="rId35"/>
    <p:sldId id="476" r:id="rId36"/>
    <p:sldId id="477" r:id="rId37"/>
    <p:sldId id="528" r:id="rId38"/>
    <p:sldId id="529" r:id="rId39"/>
    <p:sldId id="362" r:id="rId40"/>
    <p:sldId id="479" r:id="rId41"/>
    <p:sldId id="480" r:id="rId42"/>
    <p:sldId id="481" r:id="rId43"/>
    <p:sldId id="483" r:id="rId44"/>
    <p:sldId id="482" r:id="rId45"/>
    <p:sldId id="520" r:id="rId46"/>
    <p:sldId id="1708" r:id="rId47"/>
    <p:sldId id="521" r:id="rId48"/>
    <p:sldId id="414" r:id="rId49"/>
    <p:sldId id="1716" r:id="rId50"/>
    <p:sldId id="1718" r:id="rId51"/>
    <p:sldId id="527" r:id="rId52"/>
  </p:sldIdLst>
  <p:sldSz cx="9144000" cy="6858000" type="screen4x3"/>
  <p:notesSz cx="7102475" cy="10233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4B6DB2"/>
    <a:srgbClr val="003399"/>
    <a:srgbClr val="333399"/>
    <a:srgbClr val="CCFFFF"/>
    <a:srgbClr val="FFCCFF"/>
    <a:srgbClr val="0074BF"/>
    <a:srgbClr val="A6E0E0"/>
    <a:srgbClr val="CC33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86" autoAdjust="0"/>
    <p:restoredTop sz="95400" autoAdjust="0"/>
  </p:normalViewPr>
  <p:slideViewPr>
    <p:cSldViewPr>
      <p:cViewPr varScale="1">
        <p:scale>
          <a:sx n="113" d="100"/>
          <a:sy n="113" d="100"/>
        </p:scale>
        <p:origin x="1905" y="42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0" d="100"/>
        <a:sy n="200" d="100"/>
      </p:scale>
      <p:origin x="0" y="-27163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448" y="0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2025/10/14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8" y="4860687"/>
            <a:ext cx="5681980" cy="460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9598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448" y="9719598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00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170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459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112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4538" y="833438"/>
            <a:ext cx="5551487" cy="4165600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777" y="5278181"/>
            <a:ext cx="5162447" cy="4999259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4619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8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064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1007767">
              <a:spcBef>
                <a:spcPct val="0"/>
              </a:spcBef>
            </a:pPr>
            <a:fld id="{50F7C710-E7CA-447B-9921-FDA3CA326E01}" type="slidenum">
              <a:rPr lang="zh-CN" altLang="en-US" sz="1300" baseline="0">
                <a:solidFill>
                  <a:srgbClr val="000000"/>
                </a:solidFill>
                <a:latin typeface="Garamond" panose="02020404030301010803" pitchFamily="18" charset="0"/>
              </a:rPr>
              <a:pPr algn="r" defTabSz="1007767">
                <a:spcBef>
                  <a:spcPct val="0"/>
                </a:spcBef>
              </a:pPr>
              <a:t>9</a:t>
            </a:fld>
            <a:endParaRPr lang="en-US" altLang="zh-CN" sz="1300" baseline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385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13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167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245CBE62-7048-4BEC-9A53-24CD4432DB72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15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r>
              <a:rPr lang="en-US" altLang="zh-CN"/>
              <a:t>If all zero, no CC is tested, so branch is never taken. (See Appendix B.)</a:t>
            </a:r>
          </a:p>
          <a:p>
            <a:pPr eaLnBrk="1" hangingPunct="1"/>
            <a:r>
              <a:rPr lang="en-US" altLang="zh-CN"/>
              <a:t>If all one, then all are tested.  Since at least one of the CC bits is set to one after each operate/load instruction, then branch is always taken.  (Assumes some instruction has set CC before branch instruction, otherwise undefined.)</a:t>
            </a:r>
          </a:p>
        </p:txBody>
      </p:sp>
    </p:spTree>
    <p:extLst>
      <p:ext uri="{BB962C8B-B14F-4D97-AF65-F5344CB8AC3E}">
        <p14:creationId xmlns:p14="http://schemas.microsoft.com/office/powerpoint/2010/main" val="797410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245CBE62-7048-4BEC-9A53-24CD4432DB72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16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r>
              <a:rPr lang="en-US" altLang="zh-CN"/>
              <a:t>If all zero, no CC is tested, so branch is never taken. (See Appendix B.)</a:t>
            </a:r>
          </a:p>
          <a:p>
            <a:pPr eaLnBrk="1" hangingPunct="1"/>
            <a:r>
              <a:rPr lang="en-US" altLang="zh-CN"/>
              <a:t>If all one, then all are tested.  Since at least one of the CC bits is set to one after each operate/load instruction, then branch is always taken.  (Assumes some instruction has set CC before branch instruction, otherwise undefined.)</a:t>
            </a:r>
          </a:p>
        </p:txBody>
      </p:sp>
    </p:spTree>
    <p:extLst>
      <p:ext uri="{BB962C8B-B14F-4D97-AF65-F5344CB8AC3E}">
        <p14:creationId xmlns:p14="http://schemas.microsoft.com/office/powerpoint/2010/main" val="2764016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3296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6916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501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8423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400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3BADB64B-CF91-4577-94EF-E9D15AF68B1F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23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548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8617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DA15E37-719C-4446-94E6-E12D64CAAB35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25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576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DA15E37-719C-4446-94E6-E12D64CAAB35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26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9116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AC693D18-6181-417E-88B9-07C5B1F0D6C8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28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06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30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018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985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9921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931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842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4283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1007767">
              <a:spcBef>
                <a:spcPct val="0"/>
              </a:spcBef>
            </a:pPr>
            <a:fld id="{202AD1AD-C176-440E-9356-7A1119B1429E}" type="slidenum">
              <a:rPr lang="zh-CN" altLang="en-US" sz="1300" baseline="0">
                <a:solidFill>
                  <a:srgbClr val="000000"/>
                </a:solidFill>
                <a:latin typeface="Garamond" panose="02020404030301010803" pitchFamily="18" charset="0"/>
              </a:rPr>
              <a:pPr algn="r" defTabSz="1007767">
                <a:spcBef>
                  <a:spcPct val="0"/>
                </a:spcBef>
              </a:pPr>
              <a:t>37</a:t>
            </a:fld>
            <a:endParaRPr lang="en-US" altLang="zh-CN" sz="1300" baseline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1841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38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0162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39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9179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526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868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189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115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44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4713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3264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112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42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77DE7ED3-F08B-42E1-9FA3-46A86819226E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721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2025/10/14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2025/10/14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409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180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26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5851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59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967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346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929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43455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096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1004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903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9132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2025/10/14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467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614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736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3885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573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8672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851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0763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1516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3851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9463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0081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5007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46396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2025/10/14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68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9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9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1800" b="1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47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5-3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LC-3 Control Instructions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CS1002A.01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2769BD-5087-442A-BCB2-70EFDF6AF1D9}"/>
              </a:ext>
            </a:extLst>
          </p:cNvPr>
          <p:cNvSpPr txBox="1"/>
          <p:nvPr/>
        </p:nvSpPr>
        <p:spPr>
          <a:xfrm>
            <a:off x="2426624" y="506430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136986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1276899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41790" y="19239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7CA1ABF6-512F-4E23-8BED-97B5C396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17189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Control Instructions Overview</a:t>
            </a:r>
          </a:p>
        </p:txBody>
      </p:sp>
      <p:sp>
        <p:nvSpPr>
          <p:cNvPr id="40" name="Text Box 17">
            <a:extLst>
              <a:ext uri="{FF2B5EF4-FFF2-40B4-BE49-F238E27FC236}">
                <a16:creationId xmlns:a16="http://schemas.microsoft.com/office/drawing/2014/main" id="{B90F23FD-87CF-4514-9F1B-7A22DB095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078929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D063DF9-A08E-4271-8E45-8D82510F001A}"/>
              </a:ext>
            </a:extLst>
          </p:cNvPr>
          <p:cNvCxnSpPr/>
          <p:nvPr/>
        </p:nvCxnSpPr>
        <p:spPr>
          <a:xfrm>
            <a:off x="441790" y="272595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">
            <a:extLst>
              <a:ext uri="{FF2B5EF4-FFF2-40B4-BE49-F238E27FC236}">
                <a16:creationId xmlns:a16="http://schemas.microsoft.com/office/drawing/2014/main" id="{992D6025-C1FE-4145-818B-1BAF735D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880959"/>
            <a:ext cx="7418983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Conditional Branch Instruction and Loop Control Example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5492AE36-B4D1-4EC1-8F5F-D762EDC5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954192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02130A7-98BD-4448-9D19-CC61B0CAC32A}"/>
              </a:ext>
            </a:extLst>
          </p:cNvPr>
          <p:cNvCxnSpPr/>
          <p:nvPr/>
        </p:nvCxnSpPr>
        <p:spPr>
          <a:xfrm>
            <a:off x="441790" y="360121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11AF7488-951F-44E9-95DD-D797BE05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3899757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Jump &amp; TRAP Instruction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2D153A1E-D5BA-47B5-AC4C-18C6BFB2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3806791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1BA157-4AE6-4F73-B007-1B18D2FEB5BA}"/>
              </a:ext>
            </a:extLst>
          </p:cNvPr>
          <p:cNvCxnSpPr/>
          <p:nvPr/>
        </p:nvCxnSpPr>
        <p:spPr>
          <a:xfrm>
            <a:off x="441790" y="445381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7">
            <a:extLst>
              <a:ext uri="{FF2B5EF4-FFF2-40B4-BE49-F238E27FC236}">
                <a16:creationId xmlns:a16="http://schemas.microsoft.com/office/drawing/2014/main" id="{0D7DF76F-F355-46EB-91F2-3633C435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474715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82DD75B4-06C8-4C5A-BAAC-D44C2B0A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4654187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BA0EB1-A160-4151-9580-BE1F360F8F0F}"/>
              </a:ext>
            </a:extLst>
          </p:cNvPr>
          <p:cNvCxnSpPr/>
          <p:nvPr/>
        </p:nvCxnSpPr>
        <p:spPr>
          <a:xfrm>
            <a:off x="441790" y="530120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H_Others_2">
            <a:extLst>
              <a:ext uri="{FF2B5EF4-FFF2-40B4-BE49-F238E27FC236}">
                <a16:creationId xmlns:a16="http://schemas.microsoft.com/office/drawing/2014/main" id="{69A31DFF-EB4B-46D0-BF99-3CFD38C055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7443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136986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1276899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41790" y="19239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7CA1ABF6-512F-4E23-8BED-97B5C396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17189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Control Instructions Overview</a:t>
            </a:r>
          </a:p>
        </p:txBody>
      </p:sp>
      <p:sp>
        <p:nvSpPr>
          <p:cNvPr id="40" name="Text Box 17">
            <a:extLst>
              <a:ext uri="{FF2B5EF4-FFF2-40B4-BE49-F238E27FC236}">
                <a16:creationId xmlns:a16="http://schemas.microsoft.com/office/drawing/2014/main" id="{B90F23FD-87CF-4514-9F1B-7A22DB095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07892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4B6DB2">
                  <a:tint val="66000"/>
                  <a:satMod val="160000"/>
                </a:srgbClr>
              </a:gs>
              <a:gs pos="50000">
                <a:srgbClr val="4B6DB2">
                  <a:tint val="44500"/>
                  <a:satMod val="160000"/>
                </a:srgbClr>
              </a:gs>
              <a:gs pos="100000">
                <a:srgbClr val="4B6DB2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D063DF9-A08E-4271-8E45-8D82510F001A}"/>
              </a:ext>
            </a:extLst>
          </p:cNvPr>
          <p:cNvCxnSpPr/>
          <p:nvPr/>
        </p:nvCxnSpPr>
        <p:spPr>
          <a:xfrm>
            <a:off x="441790" y="272595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">
            <a:extLst>
              <a:ext uri="{FF2B5EF4-FFF2-40B4-BE49-F238E27FC236}">
                <a16:creationId xmlns:a16="http://schemas.microsoft.com/office/drawing/2014/main" id="{992D6025-C1FE-4145-818B-1BAF735D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880959"/>
            <a:ext cx="7418983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Conditional Branch Instruction and Loop Control Example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5492AE36-B4D1-4EC1-8F5F-D762EDC5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95419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4B6DB2">
                  <a:tint val="66000"/>
                  <a:satMod val="160000"/>
                </a:srgbClr>
              </a:gs>
              <a:gs pos="50000">
                <a:srgbClr val="4B6DB2">
                  <a:tint val="44500"/>
                  <a:satMod val="160000"/>
                </a:srgbClr>
              </a:gs>
              <a:gs pos="100000">
                <a:srgbClr val="4B6DB2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02130A7-98BD-4448-9D19-CC61B0CAC32A}"/>
              </a:ext>
            </a:extLst>
          </p:cNvPr>
          <p:cNvCxnSpPr/>
          <p:nvPr/>
        </p:nvCxnSpPr>
        <p:spPr>
          <a:xfrm>
            <a:off x="441790" y="360121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11AF7488-951F-44E9-95DD-D797BE05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3899757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Jump &amp; TRAP Instruction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2D153A1E-D5BA-47B5-AC4C-18C6BFB2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3806791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4B6DB2">
                  <a:tint val="66000"/>
                  <a:satMod val="160000"/>
                </a:srgbClr>
              </a:gs>
              <a:gs pos="50000">
                <a:srgbClr val="4B6DB2">
                  <a:tint val="44500"/>
                  <a:satMod val="160000"/>
                </a:srgbClr>
              </a:gs>
              <a:gs pos="100000">
                <a:srgbClr val="4B6DB2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1BA157-4AE6-4F73-B007-1B18D2FEB5BA}"/>
              </a:ext>
            </a:extLst>
          </p:cNvPr>
          <p:cNvCxnSpPr/>
          <p:nvPr/>
        </p:nvCxnSpPr>
        <p:spPr>
          <a:xfrm>
            <a:off x="441790" y="445381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7">
            <a:extLst>
              <a:ext uri="{FF2B5EF4-FFF2-40B4-BE49-F238E27FC236}">
                <a16:creationId xmlns:a16="http://schemas.microsoft.com/office/drawing/2014/main" id="{0D7DF76F-F355-46EB-91F2-3633C435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474715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82DD75B4-06C8-4C5A-BAAC-D44C2B0A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465418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4B6DB2">
                  <a:tint val="66000"/>
                  <a:satMod val="160000"/>
                </a:srgbClr>
              </a:gs>
              <a:gs pos="50000">
                <a:srgbClr val="4B6DB2">
                  <a:tint val="44500"/>
                  <a:satMod val="160000"/>
                </a:srgbClr>
              </a:gs>
              <a:gs pos="100000">
                <a:srgbClr val="4B6DB2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BA0EB1-A160-4151-9580-BE1F360F8F0F}"/>
              </a:ext>
            </a:extLst>
          </p:cNvPr>
          <p:cNvCxnSpPr/>
          <p:nvPr/>
        </p:nvCxnSpPr>
        <p:spPr>
          <a:xfrm>
            <a:off x="441790" y="530120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H_Others_2">
            <a:extLst>
              <a:ext uri="{FF2B5EF4-FFF2-40B4-BE49-F238E27FC236}">
                <a16:creationId xmlns:a16="http://schemas.microsoft.com/office/drawing/2014/main" id="{69A31DFF-EB4B-46D0-BF99-3CFD38C055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0727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#3: Abstraction Helps Us Manage Complexity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2025/10/14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200" baseline="0">
                  <a:solidFill>
                    <a:srgbClr val="000000"/>
                  </a:solidFill>
                  <a:ea typeface="宋体" panose="02010600030101010101" pitchFamily="2" charset="-122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Gaussian 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Jacobi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C560C8C4-5EEE-41C4-AC70-48165D0473EA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245196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Algorithm and Data Structure</a:t>
              </a:r>
              <a:endParaRPr lang="zh-CN" altLang="en-US" sz="1800" b="0" baseline="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aseline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aseline="0" dirty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baseline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aseline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2957E336-7614-43E1-A24C-6C1A453F3684}"/>
              </a:ext>
            </a:extLst>
          </p:cNvPr>
          <p:cNvCxnSpPr>
            <a:cxnSpLocks/>
            <a:stCxn id="78" idx="1"/>
          </p:cNvCxnSpPr>
          <p:nvPr/>
        </p:nvCxnSpPr>
        <p:spPr bwMode="auto">
          <a:xfrm flipH="1" flipV="1">
            <a:off x="4030060" y="3704685"/>
            <a:ext cx="235906" cy="623928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5C80D713-1397-43BF-A430-C9B60EBCF6FC}"/>
              </a:ext>
            </a:extLst>
          </p:cNvPr>
          <p:cNvSpPr/>
          <p:nvPr/>
        </p:nvSpPr>
        <p:spPr bwMode="auto">
          <a:xfrm>
            <a:off x="4265966" y="3704685"/>
            <a:ext cx="4716524" cy="1247855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6692F43F-8414-49CD-93C0-36333FEC4028}"/>
              </a:ext>
            </a:extLst>
          </p:cNvPr>
          <p:cNvSpPr/>
          <p:nvPr/>
        </p:nvSpPr>
        <p:spPr bwMode="auto">
          <a:xfrm>
            <a:off x="3850697" y="3178055"/>
            <a:ext cx="301009" cy="1053619"/>
          </a:xfrm>
          <a:prstGeom prst="rightBrace">
            <a:avLst>
              <a:gd name="adj1" fmla="val 8333"/>
              <a:gd name="adj2" fmla="val 47787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8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组合 134"/>
          <p:cNvGrpSpPr/>
          <p:nvPr/>
        </p:nvGrpSpPr>
        <p:grpSpPr>
          <a:xfrm>
            <a:off x="459787" y="3573877"/>
            <a:ext cx="3851482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控制指令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TrapVector8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TRAP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n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z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p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PCoffset9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PCoffset11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BR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JSRR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RTI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JSR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JMP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RET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 bwMode="auto">
          <a:xfrm>
            <a:off x="35496" y="966680"/>
            <a:ext cx="9108504" cy="5702680"/>
          </a:xfrm>
          <a:prstGeom prst="rect">
            <a:avLst/>
          </a:prstGeom>
          <a:solidFill>
            <a:schemeClr val="bg1">
              <a:alpha val="79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4716016" y="1591482"/>
            <a:ext cx="3939034" cy="4256413"/>
            <a:chOff x="4860032" y="1548851"/>
            <a:chExt cx="3939034" cy="4256413"/>
          </a:xfrm>
        </p:grpSpPr>
        <p:sp>
          <p:nvSpPr>
            <p:cNvPr id="283" name="矩形 282"/>
            <p:cNvSpPr/>
            <p:nvPr/>
          </p:nvSpPr>
          <p:spPr bwMode="auto">
            <a:xfrm>
              <a:off x="4860032" y="1548851"/>
              <a:ext cx="3939034" cy="4256413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移动数据指令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284" name="组合 283"/>
            <p:cNvGrpSpPr/>
            <p:nvPr/>
          </p:nvGrpSpPr>
          <p:grpSpPr>
            <a:xfrm>
              <a:off x="5148040" y="2407131"/>
              <a:ext cx="3539683" cy="1449519"/>
              <a:chOff x="833366" y="4427663"/>
              <a:chExt cx="3539683" cy="1449519"/>
            </a:xfrm>
          </p:grpSpPr>
          <p:grpSp>
            <p:nvGrpSpPr>
              <p:cNvPr id="360" name="组合 359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416" name="组合 41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434" name="矩形 43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5" name="矩形 43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6" name="矩形 43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7" name="矩形 43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38" name="矩形 43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DR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41" name="矩形 44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PCoffset9</a:t>
                    </a:r>
                    <a:r>
                      <a:rPr kumimoji="0" lang="zh-CN" altLang="en-US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 </a:t>
                    </a:r>
                  </a:p>
                </p:txBody>
              </p:sp>
            </p:grpSp>
            <p:grpSp>
              <p:nvGrpSpPr>
                <p:cNvPr id="417" name="组合 41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418" name="矩形 41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19" name="矩形 41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0" name="矩形 41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1" name="矩形 42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2" name="矩形 42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3" name="矩形 42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4" name="矩形 42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5" name="矩形 42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6" name="矩形 42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7" name="矩形 42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8" name="矩形 42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9" name="矩形 42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0" name="矩形 42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1" name="矩形 43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2" name="矩形 43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3" name="矩形 43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361" name="组合 360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400" name="矩形 3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1" name="矩形 4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2" name="矩形 4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3" name="矩形 4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04" name="矩形 40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7" name="矩形 4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10" name="矩形 40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PCoffset6</a:t>
                  </a:r>
                  <a:endParaRPr lang="zh-CN" altLang="en-US" dirty="0">
                    <a:latin typeface="Arial" charset="0"/>
                  </a:endParaRPr>
                </a:p>
              </p:txBody>
            </p:sp>
          </p:grpSp>
          <p:grpSp>
            <p:nvGrpSpPr>
              <p:cNvPr id="362" name="组合 361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384" name="矩形 3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5" name="矩形 3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6" name="矩形 3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7" name="矩形 3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88" name="矩形 38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91" name="矩形 39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PCoffset9</a:t>
                  </a:r>
                  <a:r>
                    <a:rPr lang="zh-CN" altLang="en-US" dirty="0">
                      <a:latin typeface="Arial" charset="0"/>
                    </a:rPr>
                    <a:t> </a:t>
                  </a:r>
                </a:p>
              </p:txBody>
            </p:sp>
          </p:grpSp>
          <p:grpSp>
            <p:nvGrpSpPr>
              <p:cNvPr id="363" name="组合 362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368" name="矩形 3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69" name="矩形 3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0" name="矩形 3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1" name="矩形 3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72" name="矩形 371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5" name="矩形 37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PCoffset9</a:t>
                  </a:r>
                  <a:r>
                    <a:rPr lang="zh-CN" altLang="en-US" dirty="0">
                      <a:latin typeface="Arial" charset="0"/>
                    </a:rPr>
                    <a:t> </a:t>
                  </a:r>
                </a:p>
              </p:txBody>
            </p:sp>
          </p:grpSp>
          <p:sp>
            <p:nvSpPr>
              <p:cNvPr id="364" name="矩形 363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5" name="矩形 364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LDI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6" name="矩形 365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LEA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7" name="矩形 366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LDR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285" name="组合 284"/>
            <p:cNvGrpSpPr/>
            <p:nvPr/>
          </p:nvGrpSpPr>
          <p:grpSpPr>
            <a:xfrm>
              <a:off x="5088934" y="4522496"/>
              <a:ext cx="3611691" cy="1134354"/>
              <a:chOff x="5326485" y="4443852"/>
              <a:chExt cx="3611691" cy="1134354"/>
            </a:xfrm>
          </p:grpSpPr>
          <p:grpSp>
            <p:nvGrpSpPr>
              <p:cNvPr id="288" name="组合 287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326" name="组合 32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344" name="矩形 34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5" name="矩形 34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6" name="矩形 34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7" name="矩形 34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48" name="矩形 34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51" name="矩形 3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PCoffset9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327" name="组合 32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328" name="矩形 32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29" name="矩形 32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0" name="矩形 32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1" name="矩形 33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2" name="矩形 33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3" name="矩形 33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4" name="矩形 33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5" name="矩形 33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6" name="矩形 33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7" name="矩形 33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8" name="矩形 33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9" name="矩形 33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0" name="矩形 33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1" name="矩形 34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2" name="矩形 34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3" name="矩形 34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289" name="组合 288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310" name="矩形 30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1" name="矩形 31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2" name="矩形 31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3" name="矩形 31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14" name="矩形 31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7" name="矩形 31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20" name="矩形 31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PCoffset6</a:t>
                  </a:r>
                  <a:endParaRPr lang="zh-CN" altLang="en-US" dirty="0">
                    <a:latin typeface="Arial" charset="0"/>
                  </a:endParaRPr>
                </a:p>
              </p:txBody>
            </p:sp>
          </p:grpSp>
          <p:grpSp>
            <p:nvGrpSpPr>
              <p:cNvPr id="290" name="组合 289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294" name="矩形 29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01" name="矩形 30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PCoffset9</a:t>
                  </a:r>
                  <a:endParaRPr lang="zh-CN" altLang="en-US" dirty="0">
                    <a:latin typeface="Arial" charset="0"/>
                  </a:endParaRPr>
                </a:p>
              </p:txBody>
            </p:sp>
          </p:grpSp>
          <p:sp>
            <p:nvSpPr>
              <p:cNvPr id="291" name="矩形 290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STI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STR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286" name="文本框 285"/>
            <p:cNvSpPr txBox="1"/>
            <p:nvPr/>
          </p:nvSpPr>
          <p:spPr>
            <a:xfrm>
              <a:off x="6350794" y="1995475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取数指令</a:t>
              </a:r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6350794" y="4137131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存数指令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运算指令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DR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SR1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SR2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Imm5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SR2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Imm5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ADD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AND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AND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NOT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 dirty="0">
                    <a:latin typeface="Arial" charset="0"/>
                  </a:rPr>
                  <a:t>Reserved</a:t>
                </a:r>
                <a:endParaRPr kumimoji="0" lang="zh-CN" altLang="en-US" sz="16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ADD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 Overview</a:t>
            </a:r>
            <a:r>
              <a:rPr lang="zh-CN" altLang="en-US" dirty="0"/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56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7865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2786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>
            <a:cxnSpLocks/>
          </p:cNvCxnSpPr>
          <p:nvPr/>
        </p:nvCxnSpPr>
        <p:spPr bwMode="auto">
          <a:xfrm flipV="1">
            <a:off x="1219899" y="3970961"/>
            <a:ext cx="7780" cy="74107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3" name="直接连接符 262"/>
          <p:cNvCxnSpPr/>
          <p:nvPr/>
        </p:nvCxnSpPr>
        <p:spPr bwMode="auto">
          <a:xfrm rot="10800000">
            <a:off x="3366482" y="3988800"/>
            <a:ext cx="1726" cy="84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321927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LC-3  Data Path After Load/Store Instruction</a:t>
            </a: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52" name="直接连接符 451"/>
          <p:cNvCxnSpPr>
            <a:cxnSpLocks/>
          </p:cNvCxnSpPr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5" name="文本框 354"/>
          <p:cNvSpPr txBox="1"/>
          <p:nvPr/>
        </p:nvSpPr>
        <p:spPr>
          <a:xfrm>
            <a:off x="6122062" y="4190891"/>
            <a:ext cx="84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ADD/AND</a:t>
            </a:r>
            <a:endParaRPr lang="zh-CN" altLang="en-US" sz="1000" b="1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039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EA6FBC-31A5-461C-9A68-BB8169FC91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Today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 are going to learn how to: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Used to alter the sequence of instructions (by changing the Program Counter)</a:t>
            </a: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1835696" y="2673809"/>
          <a:ext cx="5352256" cy="375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orelDRAW" r:id="rId4" imgW="5743575" imgH="4029075" progId="CorelDRAW.Graphic.9">
                  <p:embed/>
                </p:oleObj>
              </mc:Choice>
              <mc:Fallback>
                <p:oleObj name="CorelDRAW" r:id="rId4" imgW="5743575" imgH="4029075" progId="CorelDRAW.Graphic.9">
                  <p:embed/>
                  <p:pic>
                    <p:nvPicPr>
                      <p:cNvPr id="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673809"/>
                        <a:ext cx="5352256" cy="3754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2666999" y="5427321"/>
            <a:ext cx="3701459" cy="100111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D847CD-3A84-4244-8A25-695199C38716}"/>
              </a:ext>
            </a:extLst>
          </p:cNvPr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909A08DE-FFA4-4D18-A5DC-7926DFFB5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B2C5CDCC-C194-4B6B-856E-18FD199EA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7612F04B-1D4D-48CA-965F-5F1A793DA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52EC5AF1-659B-4B7E-B97D-1FC8269D0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A4B85D9F-7C01-4991-924E-C1E367D53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42C28447-D47C-483A-98E3-CA9B9E21D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AC3C823F-1F63-4802-A77D-29BCD7585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4FCD24E3-0624-4207-8215-7DAADED30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35DD780D-8E3D-40B7-A4E8-FB53426B1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2C89ED00-8B05-44F6-8A6F-297651D74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2DC6E25C-3820-4188-AD1A-67289C218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C2B76F26-AEBC-4154-BBEF-56FB58CF7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25CABBA1-3307-4A0C-BE9C-AB63057A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FACC10C4-D07C-46EA-8D71-E3AFEC56C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25" name="Text Box 19">
              <a:extLst>
                <a:ext uri="{FF2B5EF4-FFF2-40B4-BE49-F238E27FC236}">
                  <a16:creationId xmlns:a16="http://schemas.microsoft.com/office/drawing/2014/main" id="{94AEB6E9-9BA1-48A0-A1A8-47AB67915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DBD529B4-E16B-4B19-BBA2-3DFF534D6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5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136986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127689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41790" y="19239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7CA1ABF6-512F-4E23-8BED-97B5C396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17189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Control Instructions Overview</a:t>
            </a:r>
          </a:p>
        </p:txBody>
      </p:sp>
      <p:sp>
        <p:nvSpPr>
          <p:cNvPr id="40" name="Text Box 17">
            <a:extLst>
              <a:ext uri="{FF2B5EF4-FFF2-40B4-BE49-F238E27FC236}">
                <a16:creationId xmlns:a16="http://schemas.microsoft.com/office/drawing/2014/main" id="{B90F23FD-87CF-4514-9F1B-7A22DB095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078929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D063DF9-A08E-4271-8E45-8D82510F001A}"/>
              </a:ext>
            </a:extLst>
          </p:cNvPr>
          <p:cNvCxnSpPr/>
          <p:nvPr/>
        </p:nvCxnSpPr>
        <p:spPr>
          <a:xfrm>
            <a:off x="441790" y="272595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">
            <a:extLst>
              <a:ext uri="{FF2B5EF4-FFF2-40B4-BE49-F238E27FC236}">
                <a16:creationId xmlns:a16="http://schemas.microsoft.com/office/drawing/2014/main" id="{992D6025-C1FE-4145-818B-1BAF735D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880959"/>
            <a:ext cx="7418983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Conditional Branch Instruction and Loop Control Example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5492AE36-B4D1-4EC1-8F5F-D762EDC5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95419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02130A7-98BD-4448-9D19-CC61B0CAC32A}"/>
              </a:ext>
            </a:extLst>
          </p:cNvPr>
          <p:cNvCxnSpPr/>
          <p:nvPr/>
        </p:nvCxnSpPr>
        <p:spPr>
          <a:xfrm>
            <a:off x="441790" y="360121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11AF7488-951F-44E9-95DD-D797BE05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3899757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Jump &amp; TRAP Instruction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2D153A1E-D5BA-47B5-AC4C-18C6BFB2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3806791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1BA157-4AE6-4F73-B007-1B18D2FEB5BA}"/>
              </a:ext>
            </a:extLst>
          </p:cNvPr>
          <p:cNvCxnSpPr/>
          <p:nvPr/>
        </p:nvCxnSpPr>
        <p:spPr>
          <a:xfrm>
            <a:off x="441790" y="445381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7">
            <a:extLst>
              <a:ext uri="{FF2B5EF4-FFF2-40B4-BE49-F238E27FC236}">
                <a16:creationId xmlns:a16="http://schemas.microsoft.com/office/drawing/2014/main" id="{0D7DF76F-F355-46EB-91F2-3633C435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474715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82DD75B4-06C8-4C5A-BAAC-D44C2B0A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465418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BA0EB1-A160-4151-9580-BE1F360F8F0F}"/>
              </a:ext>
            </a:extLst>
          </p:cNvPr>
          <p:cNvCxnSpPr/>
          <p:nvPr/>
        </p:nvCxnSpPr>
        <p:spPr>
          <a:xfrm>
            <a:off x="441790" y="530120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H_Others_2">
            <a:extLst>
              <a:ext uri="{FF2B5EF4-FFF2-40B4-BE49-F238E27FC236}">
                <a16:creationId xmlns:a16="http://schemas.microsoft.com/office/drawing/2014/main" id="{69A31DFF-EB4B-46D0-BF99-3CFD38C055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8233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9E921E-7FD0-42CF-BD44-67E0E3B3061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F3D092-D68B-4393-8217-9C0DD0EC5A4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Control Instructions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66788"/>
            <a:ext cx="8686800" cy="54864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Conditional Branch</a:t>
            </a:r>
            <a:endParaRPr lang="en-US" altLang="zh-CN" dirty="0">
              <a:ea typeface="宋体" panose="02010600030101010101" pitchFamily="2" charset="-122"/>
            </a:endParaRPr>
          </a:p>
          <a:p>
            <a:pPr marL="576263" lvl="1" indent="-234950"/>
            <a:r>
              <a:rPr lang="en-US" altLang="zh-CN" dirty="0"/>
              <a:t>branch is </a:t>
            </a:r>
            <a:r>
              <a:rPr lang="en-US" altLang="zh-CN" i="1" dirty="0"/>
              <a:t>taken</a:t>
            </a:r>
            <a:r>
              <a:rPr lang="en-US" altLang="zh-CN" dirty="0"/>
              <a:t> if a specified condition is true</a:t>
            </a:r>
          </a:p>
          <a:p>
            <a:pPr marL="1022350" lvl="2" indent="-222250"/>
            <a:r>
              <a:rPr lang="en-US" altLang="zh-CN" dirty="0"/>
              <a:t>signed offset is added to PC to yield new PC</a:t>
            </a:r>
          </a:p>
          <a:p>
            <a:pPr marL="576263" lvl="1" indent="-234950"/>
            <a:r>
              <a:rPr lang="en-US" altLang="zh-CN" dirty="0"/>
              <a:t>else, the branch is </a:t>
            </a:r>
            <a:r>
              <a:rPr lang="en-US" altLang="zh-CN" i="1" dirty="0"/>
              <a:t>not taken</a:t>
            </a:r>
            <a:endParaRPr lang="en-US" altLang="zh-CN" dirty="0"/>
          </a:p>
          <a:p>
            <a:pPr marL="1022350" lvl="2" indent="-222250"/>
            <a:r>
              <a:rPr lang="en-US" altLang="zh-CN" dirty="0"/>
              <a:t>PC is not changed, points to the next sequential instruction</a:t>
            </a:r>
          </a:p>
          <a:p>
            <a:pPr marL="0" indent="0">
              <a:lnSpc>
                <a:spcPct val="90000"/>
              </a:lnSpc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Unconditional Branch (or Jump)</a:t>
            </a:r>
            <a:endParaRPr lang="en-US" altLang="zh-CN" dirty="0">
              <a:ea typeface="宋体" panose="02010600030101010101" pitchFamily="2" charset="-122"/>
            </a:endParaRPr>
          </a:p>
          <a:p>
            <a:pPr marL="576263" lvl="1" indent="-234950"/>
            <a:r>
              <a:rPr lang="en-US" altLang="zh-CN" dirty="0"/>
              <a:t>always changes the PC</a:t>
            </a:r>
          </a:p>
          <a:p>
            <a:pPr marL="0" indent="0">
              <a:lnSpc>
                <a:spcPct val="90000"/>
              </a:lnSpc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TRAP</a:t>
            </a:r>
            <a:endParaRPr lang="en-US" altLang="zh-CN" dirty="0">
              <a:ea typeface="宋体" panose="02010600030101010101" pitchFamily="2" charset="-122"/>
            </a:endParaRPr>
          </a:p>
          <a:p>
            <a:pPr marL="576263" lvl="1" indent="-234950"/>
            <a:r>
              <a:rPr lang="en-US" altLang="zh-CN" dirty="0"/>
              <a:t>changes PC to the address of an OS “service routine”</a:t>
            </a:r>
          </a:p>
          <a:p>
            <a:pPr marL="576263" lvl="1" indent="-234950"/>
            <a:r>
              <a:rPr lang="en-US" altLang="zh-CN" dirty="0"/>
              <a:t>routine will return control to the next instruction (after TRAP)</a:t>
            </a:r>
          </a:p>
        </p:txBody>
      </p:sp>
    </p:spTree>
    <p:extLst>
      <p:ext uri="{BB962C8B-B14F-4D97-AF65-F5344CB8AC3E}">
        <p14:creationId xmlns:p14="http://schemas.microsoft.com/office/powerpoint/2010/main" val="3043546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组合 281"/>
          <p:cNvGrpSpPr/>
          <p:nvPr/>
        </p:nvGrpSpPr>
        <p:grpSpPr>
          <a:xfrm>
            <a:off x="4716016" y="1591482"/>
            <a:ext cx="3939034" cy="4256413"/>
            <a:chOff x="4860032" y="1548851"/>
            <a:chExt cx="3939034" cy="4256413"/>
          </a:xfrm>
        </p:grpSpPr>
        <p:sp>
          <p:nvSpPr>
            <p:cNvPr id="283" name="矩形 282"/>
            <p:cNvSpPr/>
            <p:nvPr/>
          </p:nvSpPr>
          <p:spPr bwMode="auto">
            <a:xfrm>
              <a:off x="4860032" y="1548851"/>
              <a:ext cx="3939034" cy="4256413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移动数据指令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284" name="组合 283"/>
            <p:cNvGrpSpPr/>
            <p:nvPr/>
          </p:nvGrpSpPr>
          <p:grpSpPr>
            <a:xfrm>
              <a:off x="5148040" y="2407131"/>
              <a:ext cx="3539683" cy="1449519"/>
              <a:chOff x="833366" y="4427663"/>
              <a:chExt cx="3539683" cy="1449519"/>
            </a:xfrm>
          </p:grpSpPr>
          <p:grpSp>
            <p:nvGrpSpPr>
              <p:cNvPr id="360" name="组合 359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416" name="组合 41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434" name="矩形 43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5" name="矩形 43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6" name="矩形 43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7" name="矩形 43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38" name="矩形 43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DR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41" name="矩形 44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PCoffset9</a:t>
                    </a:r>
                    <a:r>
                      <a:rPr kumimoji="0" lang="zh-CN" altLang="en-US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 </a:t>
                    </a:r>
                  </a:p>
                </p:txBody>
              </p:sp>
            </p:grpSp>
            <p:grpSp>
              <p:nvGrpSpPr>
                <p:cNvPr id="417" name="组合 41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418" name="矩形 41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19" name="矩形 41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0" name="矩形 41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1" name="矩形 42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2" name="矩形 42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3" name="矩形 42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4" name="矩形 42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5" name="矩形 42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6" name="矩形 42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7" name="矩形 42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8" name="矩形 42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29" name="矩形 42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0" name="矩形 42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1" name="矩形 43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2" name="矩形 43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33" name="矩形 43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361" name="组合 360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400" name="矩形 3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1" name="矩形 4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2" name="矩形 4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3" name="矩形 4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04" name="矩形 40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7" name="矩形 4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10" name="矩形 40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PCoffset6</a:t>
                  </a:r>
                  <a:endParaRPr lang="zh-CN" altLang="en-US" dirty="0">
                    <a:latin typeface="Arial" charset="0"/>
                  </a:endParaRPr>
                </a:p>
              </p:txBody>
            </p:sp>
          </p:grpSp>
          <p:grpSp>
            <p:nvGrpSpPr>
              <p:cNvPr id="362" name="组合 361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384" name="矩形 3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5" name="矩形 3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6" name="矩形 3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7" name="矩形 3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88" name="矩形 38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91" name="矩形 39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PCoffset9</a:t>
                  </a:r>
                  <a:r>
                    <a:rPr lang="zh-CN" altLang="en-US" dirty="0">
                      <a:latin typeface="Arial" charset="0"/>
                    </a:rPr>
                    <a:t> </a:t>
                  </a:r>
                </a:p>
              </p:txBody>
            </p:sp>
          </p:grpSp>
          <p:grpSp>
            <p:nvGrpSpPr>
              <p:cNvPr id="363" name="组合 362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368" name="矩形 3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69" name="矩形 3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0" name="矩形 3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1" name="矩形 3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72" name="矩形 371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5" name="矩形 37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PCoffset9</a:t>
                  </a:r>
                  <a:r>
                    <a:rPr lang="zh-CN" altLang="en-US" dirty="0">
                      <a:latin typeface="Arial" charset="0"/>
                    </a:rPr>
                    <a:t> </a:t>
                  </a:r>
                </a:p>
              </p:txBody>
            </p:sp>
          </p:grpSp>
          <p:sp>
            <p:nvSpPr>
              <p:cNvPr id="364" name="矩形 363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5" name="矩形 364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LDI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6" name="矩形 365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LEA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7" name="矩形 366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LDR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285" name="组合 284"/>
            <p:cNvGrpSpPr/>
            <p:nvPr/>
          </p:nvGrpSpPr>
          <p:grpSpPr>
            <a:xfrm>
              <a:off x="5088934" y="4522496"/>
              <a:ext cx="3611691" cy="1134354"/>
              <a:chOff x="5326485" y="4443852"/>
              <a:chExt cx="3611691" cy="1134354"/>
            </a:xfrm>
          </p:grpSpPr>
          <p:grpSp>
            <p:nvGrpSpPr>
              <p:cNvPr id="288" name="组合 287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326" name="组合 32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344" name="矩形 34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5" name="矩形 34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6" name="矩形 34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7" name="矩形 34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48" name="矩形 34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51" name="矩形 3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PCoffset9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327" name="组合 32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328" name="矩形 32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29" name="矩形 32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0" name="矩形 32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1" name="矩形 33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2" name="矩形 33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3" name="矩形 33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4" name="矩形 33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5" name="矩形 33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6" name="矩形 33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7" name="矩形 33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8" name="矩形 33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9" name="矩形 33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0" name="矩形 33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1" name="矩形 34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2" name="矩形 34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43" name="矩形 34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289" name="组合 288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310" name="矩形 30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1" name="矩形 31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2" name="矩形 31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3" name="矩形 31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14" name="矩形 31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7" name="矩形 31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20" name="矩形 31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PCoffset6</a:t>
                  </a:r>
                  <a:endParaRPr lang="zh-CN" altLang="en-US" dirty="0">
                    <a:latin typeface="Arial" charset="0"/>
                  </a:endParaRPr>
                </a:p>
              </p:txBody>
            </p:sp>
          </p:grpSp>
          <p:grpSp>
            <p:nvGrpSpPr>
              <p:cNvPr id="290" name="组合 289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294" name="矩形 29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01" name="矩形 30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dirty="0">
                      <a:latin typeface="Arial" charset="0"/>
                    </a:rPr>
                    <a:t>PCoffset9</a:t>
                  </a:r>
                  <a:endParaRPr lang="zh-CN" altLang="en-US" dirty="0">
                    <a:latin typeface="Arial" charset="0"/>
                  </a:endParaRPr>
                </a:p>
              </p:txBody>
            </p:sp>
          </p:grpSp>
          <p:sp>
            <p:nvSpPr>
              <p:cNvPr id="291" name="矩形 290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STI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STR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286" name="文本框 285"/>
            <p:cNvSpPr txBox="1"/>
            <p:nvPr/>
          </p:nvSpPr>
          <p:spPr>
            <a:xfrm>
              <a:off x="6350794" y="1995475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取数指令</a:t>
              </a:r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6350794" y="4137131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存数指令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运算指令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DR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SR1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SR2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Imm5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SR2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Imm5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DR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SR1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ADD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AND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AND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NOT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 dirty="0">
                    <a:latin typeface="Arial" charset="0"/>
                  </a:rPr>
                  <a:t>Reserved</a:t>
                </a:r>
                <a:endParaRPr kumimoji="0" lang="zh-CN" altLang="en-US" sz="16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ADD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 Overview</a:t>
            </a:r>
            <a:r>
              <a:rPr lang="zh-CN" altLang="en-US" dirty="0"/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 bwMode="auto">
          <a:xfrm>
            <a:off x="35496" y="966680"/>
            <a:ext cx="9108504" cy="5702680"/>
          </a:xfrm>
          <a:prstGeom prst="rect">
            <a:avLst/>
          </a:prstGeom>
          <a:solidFill>
            <a:schemeClr val="bg1">
              <a:alpha val="79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459787" y="3573877"/>
            <a:ext cx="3851482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控制指令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solidFill>
                      <a:schemeClr val="bg1"/>
                    </a:solidFill>
                    <a:latin typeface="Arial" charset="0"/>
                  </a:rPr>
                  <a:t>1</a:t>
                </a:r>
                <a:endParaRPr kumimoji="0" lang="zh-CN" altLang="en-US" b="1" i="0" u="none" strike="noStrike" cap="none" normalizeH="0" baseline="-2500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TrapVector8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>
                  <a:latin typeface="Arial" charset="0"/>
                </a:rPr>
                <a:t>TRAP</a:t>
              </a:r>
              <a:endParaRPr kumimoji="0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n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z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p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dirty="0">
                        <a:latin typeface="Arial" charset="0"/>
                      </a:rPr>
                      <a:t>PCoffset9</a:t>
                    </a:r>
                    <a:endParaRPr kumimoji="0" lang="zh-CN" altLang="en-US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9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8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7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6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5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4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3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2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1400" dirty="0">
                        <a:latin typeface="Arial" charset="0"/>
                      </a:rPr>
                      <a:t>1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1400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PCoffset11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1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BR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JSRR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RTI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JSR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 err="1">
                      <a:latin typeface="Arial" charset="0"/>
                    </a:rPr>
                    <a:t>BaseR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JMP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b="1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b="1" i="0" u="none" strike="noStrike" cap="none" normalizeH="0" baseline="-2500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dirty="0">
                      <a:latin typeface="Arial" charset="0"/>
                    </a:rPr>
                    <a:t>1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b="0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dirty="0">
                    <a:latin typeface="Arial" charset="0"/>
                  </a:rPr>
                  <a:t>RET</a:t>
                </a:r>
                <a:endParaRPr kumimoji="0" lang="zh-CN" altLang="en-US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067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Control 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TrapVector8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TRAP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n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z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p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PCoffset9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15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14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13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12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11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10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9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8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7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6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5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4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3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2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PCoffset11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 err="1">
                  <a:latin typeface="Arial" charset="0"/>
                </a:rPr>
                <a:t>BaseR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baseline="0" dirty="0">
                <a:solidFill>
                  <a:schemeClr val="accent1"/>
                </a:solidFill>
                <a:latin typeface="Arial" charset="0"/>
              </a:rPr>
              <a:t>BR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JSRR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RTI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JSR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 err="1">
                  <a:latin typeface="Arial" charset="0"/>
                </a:rPr>
                <a:t>BaseR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baseline="0" dirty="0">
                <a:solidFill>
                  <a:schemeClr val="accent1"/>
                </a:solidFill>
                <a:latin typeface="Arial" charset="0"/>
              </a:rPr>
              <a:t>JMP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RET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6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387840-CA8F-45C3-89D3-F74A1F707B8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9A55FC-97B4-4BCA-A2FB-C0C85892D47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Condition Codes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LC-3 has three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condition code</a:t>
            </a:r>
            <a:r>
              <a:rPr lang="en-US" altLang="zh-CN" dirty="0">
                <a:ea typeface="宋体" panose="02010600030101010101" pitchFamily="2" charset="-122"/>
              </a:rPr>
              <a:t> registers: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rgbClr val="CE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-- negative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dirty="0">
                <a:solidFill>
                  <a:srgbClr val="CE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Z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-- zero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	</a:t>
            </a:r>
            <a:r>
              <a:rPr lang="en-US" altLang="zh-CN" dirty="0">
                <a:solidFill>
                  <a:srgbClr val="CE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-- positive (greater than zero)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Set by any instruction that writes a value to a register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(ADD, AND, NOT, LD, LDR, LDI, LEA)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5715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Exactly </a:t>
            </a:r>
            <a:r>
              <a:rPr lang="en-US" altLang="zh-CN" u="sng" dirty="0">
                <a:ea typeface="宋体" panose="02010600030101010101" pitchFamily="2" charset="-122"/>
              </a:rPr>
              <a:t>one</a:t>
            </a:r>
            <a:r>
              <a:rPr lang="en-US" altLang="zh-CN" dirty="0">
                <a:ea typeface="宋体" panose="02010600030101010101" pitchFamily="2" charset="-122"/>
              </a:rPr>
              <a:t> will be set at all times</a:t>
            </a:r>
          </a:p>
          <a:p>
            <a:pPr marL="576263" lvl="1" indent="-234950">
              <a:tabLst>
                <a:tab pos="571500" algn="l"/>
              </a:tabLst>
            </a:pPr>
            <a:r>
              <a:rPr lang="en-US" altLang="zh-CN" dirty="0"/>
              <a:t>Based on the last instruction that altered a register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136986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127689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41790" y="19239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7CA1ABF6-512F-4E23-8BED-97B5C396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17189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Control Instructions Overview</a:t>
            </a:r>
          </a:p>
        </p:txBody>
      </p:sp>
      <p:sp>
        <p:nvSpPr>
          <p:cNvPr id="40" name="Text Box 17">
            <a:extLst>
              <a:ext uri="{FF2B5EF4-FFF2-40B4-BE49-F238E27FC236}">
                <a16:creationId xmlns:a16="http://schemas.microsoft.com/office/drawing/2014/main" id="{B90F23FD-87CF-4514-9F1B-7A22DB095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07892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D063DF9-A08E-4271-8E45-8D82510F001A}"/>
              </a:ext>
            </a:extLst>
          </p:cNvPr>
          <p:cNvCxnSpPr/>
          <p:nvPr/>
        </p:nvCxnSpPr>
        <p:spPr>
          <a:xfrm>
            <a:off x="441790" y="272595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">
            <a:extLst>
              <a:ext uri="{FF2B5EF4-FFF2-40B4-BE49-F238E27FC236}">
                <a16:creationId xmlns:a16="http://schemas.microsoft.com/office/drawing/2014/main" id="{992D6025-C1FE-4145-818B-1BAF735D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880959"/>
            <a:ext cx="7418983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Conditional Branch Instruction and Loop Control Example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5492AE36-B4D1-4EC1-8F5F-D762EDC5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954192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02130A7-98BD-4448-9D19-CC61B0CAC32A}"/>
              </a:ext>
            </a:extLst>
          </p:cNvPr>
          <p:cNvCxnSpPr/>
          <p:nvPr/>
        </p:nvCxnSpPr>
        <p:spPr>
          <a:xfrm>
            <a:off x="441790" y="360121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11AF7488-951F-44E9-95DD-D797BE05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3899757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Jump &amp; TRAP Instruction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2D153A1E-D5BA-47B5-AC4C-18C6BFB2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3806791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1BA157-4AE6-4F73-B007-1B18D2FEB5BA}"/>
              </a:ext>
            </a:extLst>
          </p:cNvPr>
          <p:cNvCxnSpPr/>
          <p:nvPr/>
        </p:nvCxnSpPr>
        <p:spPr>
          <a:xfrm>
            <a:off x="441790" y="445381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7">
            <a:extLst>
              <a:ext uri="{FF2B5EF4-FFF2-40B4-BE49-F238E27FC236}">
                <a16:creationId xmlns:a16="http://schemas.microsoft.com/office/drawing/2014/main" id="{0D7DF76F-F355-46EB-91F2-3633C435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474715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82DD75B4-06C8-4C5A-BAAC-D44C2B0A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465418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5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BA0EB1-A160-4151-9580-BE1F360F8F0F}"/>
              </a:ext>
            </a:extLst>
          </p:cNvPr>
          <p:cNvCxnSpPr/>
          <p:nvPr/>
        </p:nvCxnSpPr>
        <p:spPr>
          <a:xfrm>
            <a:off x="441790" y="530120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H_Others_2">
            <a:extLst>
              <a:ext uri="{FF2B5EF4-FFF2-40B4-BE49-F238E27FC236}">
                <a16:creationId xmlns:a16="http://schemas.microsoft.com/office/drawing/2014/main" id="{69A31DFF-EB4B-46D0-BF99-3CFD38C055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1285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1A4855-B873-4A2F-B3CB-A1D28A1A4A9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4F4690-4C1D-4888-9821-D5105919E4BA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</a:rPr>
              <a:t>Conditional </a:t>
            </a:r>
            <a:r>
              <a:rPr lang="en-US" altLang="zh-CN" dirty="0">
                <a:ea typeface="宋体" panose="02010600030101010101" pitchFamily="2" charset="-122"/>
              </a:rPr>
              <a:t>Branch Instruction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Branch specifies one or more condition codes.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If the specified bit is set, the branch is taken.</a:t>
            </a:r>
          </a:p>
          <a:p>
            <a:pPr marL="576263" lvl="1" indent="-234950">
              <a:spcBef>
                <a:spcPct val="50000"/>
              </a:spcBef>
            </a:pPr>
            <a:r>
              <a:rPr lang="en-US" altLang="zh-CN" dirty="0"/>
              <a:t>PC-relative addressing:</a:t>
            </a:r>
            <a:br>
              <a:rPr lang="en-US" altLang="zh-CN" dirty="0"/>
            </a:br>
            <a:r>
              <a:rPr lang="en-US" altLang="zh-CN" dirty="0">
                <a:solidFill>
                  <a:srgbClr val="CE0000"/>
                </a:solidFill>
              </a:rPr>
              <a:t>target address</a:t>
            </a:r>
            <a:r>
              <a:rPr lang="en-US" altLang="zh-CN" dirty="0"/>
              <a:t> is made by adding signed offset (IR[8:0])</a:t>
            </a:r>
            <a:br>
              <a:rPr lang="en-US" altLang="zh-CN" dirty="0"/>
            </a:br>
            <a:r>
              <a:rPr lang="en-US" altLang="zh-CN" dirty="0"/>
              <a:t>to current PC.</a:t>
            </a:r>
          </a:p>
          <a:p>
            <a:pPr marL="576263" lvl="1" indent="-234950">
              <a:spcBef>
                <a:spcPct val="50000"/>
              </a:spcBef>
            </a:pPr>
            <a:r>
              <a:rPr lang="en-US" altLang="zh-CN" dirty="0"/>
              <a:t>Note: PC has already been incremented by FETCH stage.</a:t>
            </a:r>
          </a:p>
          <a:p>
            <a:pPr marL="576263" lvl="1" indent="-234950">
              <a:spcBef>
                <a:spcPct val="50000"/>
              </a:spcBef>
            </a:pPr>
            <a:r>
              <a:rPr lang="en-US" altLang="zh-CN" dirty="0"/>
              <a:t>Note: Target must be within 256 words of BR instruction.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If the branch is not taken, the next sequential instruction is executed.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0F0A2E-9391-4BC1-A5EC-D871430C320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507E0F-BD6F-43BD-B151-6D5450C6995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BR (PC-Relative)</a:t>
            </a:r>
          </a:p>
        </p:txBody>
      </p:sp>
      <p:sp>
        <p:nvSpPr>
          <p:cNvPr id="52229" name="Text Box 3"/>
          <p:cNvSpPr txBox="1">
            <a:spLocks noChangeArrowheads="1"/>
          </p:cNvSpPr>
          <p:nvPr/>
        </p:nvSpPr>
        <p:spPr bwMode="auto">
          <a:xfrm>
            <a:off x="2341984" y="6155581"/>
            <a:ext cx="3886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i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What happens if bits [11:9] are all zero?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600" b="0" i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What happens if bits [11:9] are all one?</a:t>
            </a:r>
          </a:p>
        </p:txBody>
      </p:sp>
      <p:pic>
        <p:nvPicPr>
          <p:cNvPr id="52230" name="Picture 4" descr="ch05-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202488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组合 98"/>
          <p:cNvGrpSpPr/>
          <p:nvPr/>
        </p:nvGrpSpPr>
        <p:grpSpPr>
          <a:xfrm>
            <a:off x="755576" y="1988840"/>
            <a:ext cx="7707290" cy="3933416"/>
            <a:chOff x="467544" y="1919902"/>
            <a:chExt cx="7707290" cy="3933416"/>
          </a:xfrm>
        </p:grpSpPr>
        <p:sp>
          <p:nvSpPr>
            <p:cNvPr id="175" name="矩形 174"/>
            <p:cNvSpPr/>
            <p:nvPr/>
          </p:nvSpPr>
          <p:spPr bwMode="auto">
            <a:xfrm>
              <a:off x="2147128" y="5099536"/>
              <a:ext cx="1585364" cy="4293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baseline="0" dirty="0">
                  <a:latin typeface="Arial" charset="0"/>
                </a:rPr>
                <a:t>taken =</a:t>
              </a:r>
              <a:r>
                <a:rPr lang="zh-CN" altLang="en-US" baseline="0" dirty="0">
                  <a:latin typeface="Arial" charset="0"/>
                </a:rPr>
                <a:t>“</a:t>
              </a:r>
              <a:r>
                <a:rPr lang="en-US" altLang="zh-CN" baseline="0" dirty="0">
                  <a:latin typeface="Arial" charset="0"/>
                </a:rPr>
                <a:t>yes</a:t>
              </a:r>
              <a:r>
                <a:rPr lang="zh-CN" altLang="en-US" baseline="0" dirty="0">
                  <a:latin typeface="Arial" charset="0"/>
                </a:rPr>
                <a:t>”</a:t>
              </a:r>
              <a:endPara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3851920" y="4077072"/>
              <a:ext cx="1773164" cy="611872"/>
              <a:chOff x="4671044" y="5013176"/>
              <a:chExt cx="1485948" cy="494110"/>
            </a:xfrm>
          </p:grpSpPr>
          <p:sp>
            <p:nvSpPr>
              <p:cNvPr id="12" name="流程图: 手动操作 11"/>
              <p:cNvSpPr/>
              <p:nvPr/>
            </p:nvSpPr>
            <p:spPr bwMode="auto">
              <a:xfrm>
                <a:off x="4671044" y="5022164"/>
                <a:ext cx="1485948" cy="485122"/>
              </a:xfrm>
              <a:prstGeom prst="flowChartManualOperation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3200" baseline="0" dirty="0">
                    <a:latin typeface="Arial" charset="0"/>
                  </a:rPr>
                  <a:t>+</a:t>
                </a:r>
                <a:endParaRPr kumimoji="0" lang="zh-CN" alt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14" name="流程图: 合并 13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15" name="直接连接符 14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" name="直接连接符 15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2" name="矩形 1"/>
            <p:cNvSpPr/>
            <p:nvPr/>
          </p:nvSpPr>
          <p:spPr bwMode="auto">
            <a:xfrm>
              <a:off x="5724128" y="2492896"/>
              <a:ext cx="2450706" cy="31777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" name="梯形 3"/>
            <p:cNvSpPr/>
            <p:nvPr/>
          </p:nvSpPr>
          <p:spPr bwMode="auto">
            <a:xfrm>
              <a:off x="4046633" y="5278170"/>
              <a:ext cx="1368378" cy="468933"/>
            </a:xfrm>
            <a:prstGeom prst="trapezoid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PCMUX</a:t>
              </a:r>
              <a:endParaRPr kumimoji="0" lang="zh-CN" altLang="en-US" sz="24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52276" name="组合 52275"/>
            <p:cNvGrpSpPr/>
            <p:nvPr/>
          </p:nvGrpSpPr>
          <p:grpSpPr>
            <a:xfrm>
              <a:off x="467544" y="2204864"/>
              <a:ext cx="2880320" cy="3168352"/>
              <a:chOff x="251520" y="2780928"/>
              <a:chExt cx="2880320" cy="3168352"/>
            </a:xfrm>
          </p:grpSpPr>
          <p:grpSp>
            <p:nvGrpSpPr>
              <p:cNvPr id="52235" name="组合 52234"/>
              <p:cNvGrpSpPr/>
              <p:nvPr/>
            </p:nvGrpSpPr>
            <p:grpSpPr>
              <a:xfrm>
                <a:off x="755576" y="4645647"/>
                <a:ext cx="1285228" cy="1303633"/>
                <a:chOff x="771435" y="4505240"/>
                <a:chExt cx="1285228" cy="1303633"/>
              </a:xfrm>
            </p:grpSpPr>
            <p:grpSp>
              <p:nvGrpSpPr>
                <p:cNvPr id="52232" name="组合 52231"/>
                <p:cNvGrpSpPr/>
                <p:nvPr/>
              </p:nvGrpSpPr>
              <p:grpSpPr>
                <a:xfrm flipV="1">
                  <a:off x="771435" y="4505240"/>
                  <a:ext cx="1285228" cy="1303633"/>
                  <a:chOff x="2555776" y="3041410"/>
                  <a:chExt cx="3252848" cy="3267910"/>
                </a:xfrm>
                <a:solidFill>
                  <a:schemeClr val="bg1"/>
                </a:solidFill>
              </p:grpSpPr>
              <p:sp>
                <p:nvSpPr>
                  <p:cNvPr id="72" name="弧形 71"/>
                  <p:cNvSpPr/>
                  <p:nvPr/>
                </p:nvSpPr>
                <p:spPr bwMode="auto">
                  <a:xfrm flipH="1">
                    <a:off x="3563888" y="3041410"/>
                    <a:ext cx="2244736" cy="3267910"/>
                  </a:xfrm>
                  <a:prstGeom prst="arc">
                    <a:avLst>
                      <a:gd name="adj1" fmla="val 17329235"/>
                      <a:gd name="adj2" fmla="val 67716"/>
                    </a:avLst>
                  </a:prstGeom>
                  <a:grp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" name="弧形 72"/>
                  <p:cNvSpPr/>
                  <p:nvPr/>
                </p:nvSpPr>
                <p:spPr bwMode="auto">
                  <a:xfrm>
                    <a:off x="2555776" y="3041410"/>
                    <a:ext cx="2244736" cy="3267910"/>
                  </a:xfrm>
                  <a:prstGeom prst="arc">
                    <a:avLst>
                      <a:gd name="adj1" fmla="val 17329235"/>
                      <a:gd name="adj2" fmla="val 67716"/>
                    </a:avLst>
                  </a:prstGeom>
                  <a:grp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2233" name="弧形 52232"/>
                <p:cNvSpPr/>
                <p:nvPr/>
              </p:nvSpPr>
              <p:spPr bwMode="auto">
                <a:xfrm flipV="1">
                  <a:off x="1169748" y="4982803"/>
                  <a:ext cx="488601" cy="318405"/>
                </a:xfrm>
                <a:prstGeom prst="arc">
                  <a:avLst>
                    <a:gd name="adj1" fmla="val 11015866"/>
                    <a:gd name="adj2" fmla="val 21453458"/>
                  </a:avLst>
                </a:prstGeom>
                <a:solidFill>
                  <a:schemeClr val="bg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275" name="组合 52274"/>
              <p:cNvGrpSpPr/>
              <p:nvPr/>
            </p:nvGrpSpPr>
            <p:grpSpPr>
              <a:xfrm>
                <a:off x="251520" y="2780928"/>
                <a:ext cx="2880320" cy="2651221"/>
                <a:chOff x="251520" y="2780928"/>
                <a:chExt cx="2880320" cy="2651221"/>
              </a:xfrm>
            </p:grpSpPr>
            <p:sp>
              <p:nvSpPr>
                <p:cNvPr id="5" name="矩形 4"/>
                <p:cNvSpPr/>
                <p:nvPr/>
              </p:nvSpPr>
              <p:spPr bwMode="auto">
                <a:xfrm>
                  <a:off x="683568" y="2780928"/>
                  <a:ext cx="504056" cy="292699"/>
                </a:xfrm>
                <a:prstGeom prst="rect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 bwMode="auto">
                <a:xfrm>
                  <a:off x="1187624" y="2780928"/>
                  <a:ext cx="216024" cy="29269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10800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N</a:t>
                  </a:r>
                  <a:endParaRPr kumimoji="0" lang="zh-CN" altLang="en-US" sz="18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1835696" y="2780928"/>
                  <a:ext cx="1296144" cy="291600"/>
                </a:xfrm>
                <a:prstGeom prst="rect">
                  <a:avLst/>
                </a:prstGeom>
                <a:solidFill>
                  <a:srgbClr val="996633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1403648" y="2780928"/>
                  <a:ext cx="216024" cy="29269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10800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Z</a:t>
                  </a:r>
                  <a:endParaRPr kumimoji="0" lang="zh-CN" altLang="en-US" sz="18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1619672" y="2780928"/>
                  <a:ext cx="216024" cy="29269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10800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rPr>
                    <a:t>P</a:t>
                  </a:r>
                  <a:endParaRPr kumimoji="0" lang="zh-CN" altLang="en-US" sz="18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17" name="肘形连接符 16"/>
                <p:cNvCxnSpPr/>
                <p:nvPr/>
              </p:nvCxnSpPr>
              <p:spPr bwMode="auto">
                <a:xfrm rot="5400000">
                  <a:off x="255501" y="3430063"/>
                  <a:ext cx="1399811" cy="640364"/>
                </a:xfrm>
                <a:prstGeom prst="bentConnector3">
                  <a:avLst>
                    <a:gd name="adj1" fmla="val 20449"/>
                  </a:avLst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3" name="肘形连接符 32"/>
                <p:cNvCxnSpPr/>
                <p:nvPr/>
              </p:nvCxnSpPr>
              <p:spPr bwMode="auto">
                <a:xfrm rot="16200000" flipH="1">
                  <a:off x="1373141" y="3428172"/>
                  <a:ext cx="1368152" cy="659062"/>
                </a:xfrm>
                <a:prstGeom prst="bentConnector3">
                  <a:avLst>
                    <a:gd name="adj1" fmla="val 21357"/>
                  </a:avLst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40" name="组合 39"/>
                <p:cNvGrpSpPr/>
                <p:nvPr/>
              </p:nvGrpSpPr>
              <p:grpSpPr>
                <a:xfrm>
                  <a:off x="251520" y="3429000"/>
                  <a:ext cx="472144" cy="1359782"/>
                  <a:chOff x="251520" y="4144413"/>
                  <a:chExt cx="472144" cy="1359782"/>
                </a:xfrm>
              </p:grpSpPr>
              <p:sp>
                <p:nvSpPr>
                  <p:cNvPr id="45" name="矩形 44"/>
                  <p:cNvSpPr/>
                  <p:nvPr/>
                </p:nvSpPr>
                <p:spPr bwMode="auto">
                  <a:xfrm>
                    <a:off x="287524" y="4144413"/>
                    <a:ext cx="216024" cy="292699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108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N</a:t>
                    </a:r>
                    <a:endParaRPr kumimoji="0" lang="zh-CN" altLang="en-US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cxnSp>
                <p:nvCxnSpPr>
                  <p:cNvPr id="29" name="直接箭头连接符 28"/>
                  <p:cNvCxnSpPr/>
                  <p:nvPr/>
                </p:nvCxnSpPr>
                <p:spPr bwMode="auto">
                  <a:xfrm flipH="1">
                    <a:off x="395536" y="4703626"/>
                    <a:ext cx="0" cy="453566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6" name="流程图: 延期 5"/>
                  <p:cNvSpPr/>
                  <p:nvPr/>
                </p:nvSpPr>
                <p:spPr bwMode="auto">
                  <a:xfrm rot="5400000" flipV="1">
                    <a:off x="350094" y="5130626"/>
                    <a:ext cx="347003" cy="400136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6" name="矩形 35"/>
                  <p:cNvSpPr/>
                  <p:nvPr/>
                </p:nvSpPr>
                <p:spPr bwMode="auto">
                  <a:xfrm>
                    <a:off x="251520" y="4437112"/>
                    <a:ext cx="288032" cy="288032"/>
                  </a:xfrm>
                  <a:prstGeom prst="rect">
                    <a:avLst/>
                  </a:prstGeom>
                  <a:solidFill>
                    <a:srgbClr val="FFC000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108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latin typeface="Arial" charset="0"/>
                      </a:rPr>
                      <a:t>0</a:t>
                    </a:r>
                    <a:endParaRPr kumimoji="0" lang="zh-CN" altLang="en-US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115616" y="3429000"/>
                  <a:ext cx="472144" cy="1359782"/>
                  <a:chOff x="251520" y="4144413"/>
                  <a:chExt cx="472144" cy="1359782"/>
                </a:xfrm>
              </p:grpSpPr>
              <p:sp>
                <p:nvSpPr>
                  <p:cNvPr id="54" name="矩形 53"/>
                  <p:cNvSpPr/>
                  <p:nvPr/>
                </p:nvSpPr>
                <p:spPr bwMode="auto">
                  <a:xfrm>
                    <a:off x="287524" y="4144413"/>
                    <a:ext cx="216024" cy="292699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108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latin typeface="Arial" charset="0"/>
                      </a:rPr>
                      <a:t>Z</a:t>
                    </a:r>
                    <a:endParaRPr kumimoji="0" lang="zh-CN" altLang="en-US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cxnSp>
                <p:nvCxnSpPr>
                  <p:cNvPr id="55" name="直接箭头连接符 54"/>
                  <p:cNvCxnSpPr/>
                  <p:nvPr/>
                </p:nvCxnSpPr>
                <p:spPr bwMode="auto">
                  <a:xfrm flipH="1">
                    <a:off x="395536" y="4703626"/>
                    <a:ext cx="0" cy="453566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56" name="流程图: 延期 55"/>
                  <p:cNvSpPr/>
                  <p:nvPr/>
                </p:nvSpPr>
                <p:spPr bwMode="auto">
                  <a:xfrm rot="5400000" flipV="1">
                    <a:off x="350094" y="5130626"/>
                    <a:ext cx="347003" cy="400136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57" name="矩形 56"/>
                  <p:cNvSpPr/>
                  <p:nvPr/>
                </p:nvSpPr>
                <p:spPr bwMode="auto">
                  <a:xfrm>
                    <a:off x="251520" y="4437112"/>
                    <a:ext cx="288032" cy="288032"/>
                  </a:xfrm>
                  <a:prstGeom prst="rect">
                    <a:avLst/>
                  </a:prstGeom>
                  <a:solidFill>
                    <a:srgbClr val="FFC000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108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latin typeface="Arial" charset="0"/>
                      </a:rPr>
                      <a:t>1</a:t>
                    </a:r>
                    <a:endParaRPr kumimoji="0" lang="zh-CN" altLang="en-US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58" name="组合 57"/>
                <p:cNvGrpSpPr/>
                <p:nvPr/>
              </p:nvGrpSpPr>
              <p:grpSpPr>
                <a:xfrm>
                  <a:off x="1979712" y="3429000"/>
                  <a:ext cx="472144" cy="1359782"/>
                  <a:chOff x="251520" y="4144413"/>
                  <a:chExt cx="472144" cy="1359782"/>
                </a:xfrm>
              </p:grpSpPr>
              <p:sp>
                <p:nvSpPr>
                  <p:cNvPr id="59" name="矩形 58"/>
                  <p:cNvSpPr/>
                  <p:nvPr/>
                </p:nvSpPr>
                <p:spPr bwMode="auto">
                  <a:xfrm>
                    <a:off x="287524" y="4144413"/>
                    <a:ext cx="216024" cy="292699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108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latin typeface="Arial" charset="0"/>
                      </a:rPr>
                      <a:t>P</a:t>
                    </a:r>
                    <a:endParaRPr kumimoji="0" lang="zh-CN" altLang="en-US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cxnSp>
                <p:nvCxnSpPr>
                  <p:cNvPr id="60" name="直接箭头连接符 59"/>
                  <p:cNvCxnSpPr/>
                  <p:nvPr/>
                </p:nvCxnSpPr>
                <p:spPr bwMode="auto">
                  <a:xfrm flipH="1">
                    <a:off x="395536" y="4703626"/>
                    <a:ext cx="0" cy="453566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sp>
                <p:nvSpPr>
                  <p:cNvPr id="61" name="流程图: 延期 60"/>
                  <p:cNvSpPr/>
                  <p:nvPr/>
                </p:nvSpPr>
                <p:spPr bwMode="auto">
                  <a:xfrm rot="5400000" flipV="1">
                    <a:off x="350094" y="5130626"/>
                    <a:ext cx="347003" cy="400136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-25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 bwMode="auto">
                  <a:xfrm>
                    <a:off x="251520" y="4437112"/>
                    <a:ext cx="288032" cy="288032"/>
                  </a:xfrm>
                  <a:prstGeom prst="rect">
                    <a:avLst/>
                  </a:prstGeom>
                  <a:solidFill>
                    <a:srgbClr val="FFC000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108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b="1" dirty="0">
                        <a:latin typeface="Arial" charset="0"/>
                      </a:rPr>
                      <a:t>0</a:t>
                    </a:r>
                    <a:endParaRPr kumimoji="0" lang="zh-CN" altLang="en-US" sz="1800" b="1" i="0" u="none" strike="noStrike" cap="none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  <p:cxnSp>
              <p:nvCxnSpPr>
                <p:cNvPr id="42" name="直接箭头连接符 41"/>
                <p:cNvCxnSpPr>
                  <a:stCxn id="23" idx="2"/>
                </p:cNvCxnSpPr>
                <p:nvPr/>
              </p:nvCxnSpPr>
              <p:spPr bwMode="auto">
                <a:xfrm>
                  <a:off x="1511660" y="3073627"/>
                  <a:ext cx="0" cy="1376522"/>
                </a:xfrm>
                <a:prstGeom prst="straightConnector1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2" name="直接箭头连接符 91"/>
                <p:cNvCxnSpPr/>
                <p:nvPr/>
              </p:nvCxnSpPr>
              <p:spPr bwMode="auto">
                <a:xfrm>
                  <a:off x="1389600" y="4781982"/>
                  <a:ext cx="0" cy="648000"/>
                </a:xfrm>
                <a:prstGeom prst="straightConnector1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52274" name="组合 52273"/>
                <p:cNvGrpSpPr/>
                <p:nvPr/>
              </p:nvGrpSpPr>
              <p:grpSpPr>
                <a:xfrm>
                  <a:off x="518032" y="4788783"/>
                  <a:ext cx="741600" cy="634997"/>
                  <a:chOff x="518032" y="4788783"/>
                  <a:chExt cx="741600" cy="634997"/>
                </a:xfrm>
              </p:grpSpPr>
              <p:cxnSp>
                <p:nvCxnSpPr>
                  <p:cNvPr id="52270" name="直接连接符 52269"/>
                  <p:cNvCxnSpPr>
                    <a:stCxn id="6" idx="3"/>
                  </p:cNvCxnSpPr>
                  <p:nvPr/>
                </p:nvCxnSpPr>
                <p:spPr bwMode="auto">
                  <a:xfrm flipH="1">
                    <a:off x="523595" y="4788783"/>
                    <a:ext cx="1" cy="317199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17" name="直接连接符 116"/>
                  <p:cNvCxnSpPr/>
                  <p:nvPr/>
                </p:nvCxnSpPr>
                <p:spPr bwMode="auto">
                  <a:xfrm rot="5400000" flipH="1">
                    <a:off x="888831" y="4728982"/>
                    <a:ext cx="1" cy="74160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52273" name="直接箭头连接符 52272"/>
                  <p:cNvCxnSpPr/>
                  <p:nvPr/>
                </p:nvCxnSpPr>
                <p:spPr bwMode="auto">
                  <a:xfrm flipH="1">
                    <a:off x="1259632" y="5099780"/>
                    <a:ext cx="0" cy="32400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121" name="组合 120"/>
                <p:cNvGrpSpPr/>
                <p:nvPr/>
              </p:nvGrpSpPr>
              <p:grpSpPr>
                <a:xfrm flipH="1">
                  <a:off x="1526144" y="4797152"/>
                  <a:ext cx="741600" cy="634997"/>
                  <a:chOff x="518032" y="4788783"/>
                  <a:chExt cx="741600" cy="634997"/>
                </a:xfrm>
              </p:grpSpPr>
              <p:cxnSp>
                <p:nvCxnSpPr>
                  <p:cNvPr id="122" name="直接连接符 121"/>
                  <p:cNvCxnSpPr/>
                  <p:nvPr/>
                </p:nvCxnSpPr>
                <p:spPr bwMode="auto">
                  <a:xfrm flipH="1">
                    <a:off x="523595" y="4788783"/>
                    <a:ext cx="1" cy="317199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23" name="直接连接符 122"/>
                  <p:cNvCxnSpPr/>
                  <p:nvPr/>
                </p:nvCxnSpPr>
                <p:spPr bwMode="auto">
                  <a:xfrm rot="5400000" flipH="1">
                    <a:off x="888831" y="4728982"/>
                    <a:ext cx="1" cy="74160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124" name="直接箭头连接符 123"/>
                  <p:cNvCxnSpPr/>
                  <p:nvPr/>
                </p:nvCxnSpPr>
                <p:spPr bwMode="auto">
                  <a:xfrm flipH="1">
                    <a:off x="1259632" y="5099780"/>
                    <a:ext cx="0" cy="32400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</p:grpSp>
        <p:cxnSp>
          <p:nvCxnSpPr>
            <p:cNvPr id="52280" name="肘形连接符 52279"/>
            <p:cNvCxnSpPr>
              <a:stCxn id="72" idx="0"/>
              <a:endCxn id="4" idx="1"/>
            </p:cNvCxnSpPr>
            <p:nvPr/>
          </p:nvCxnSpPr>
          <p:spPr bwMode="auto">
            <a:xfrm>
              <a:off x="1614744" y="5304176"/>
              <a:ext cx="2490506" cy="208461"/>
            </a:xfrm>
            <a:prstGeom prst="bentConnector3">
              <a:avLst>
                <a:gd name="adj1" fmla="val 172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5" name="矩形 134"/>
            <p:cNvSpPr/>
            <p:nvPr/>
          </p:nvSpPr>
          <p:spPr bwMode="auto">
            <a:xfrm>
              <a:off x="600484" y="2244028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baseline="0" dirty="0">
                  <a:latin typeface="Arial" charset="0"/>
                </a:rPr>
                <a:t>IR</a:t>
              </a:r>
              <a:endPara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矩形 135"/>
            <p:cNvSpPr/>
            <p:nvPr/>
          </p:nvSpPr>
          <p:spPr bwMode="auto">
            <a:xfrm>
              <a:off x="5304181" y="2543676"/>
              <a:ext cx="383704" cy="22656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baseline="0" dirty="0">
                  <a:latin typeface="Arial" charset="0"/>
                </a:rPr>
                <a:t>PC</a:t>
              </a:r>
              <a:endPara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46" name="直接连接符 145"/>
            <p:cNvCxnSpPr>
              <a:stCxn id="12" idx="2"/>
              <a:endCxn id="4" idx="0"/>
            </p:cNvCxnSpPr>
            <p:nvPr/>
          </p:nvCxnSpPr>
          <p:spPr bwMode="auto">
            <a:xfrm flipH="1">
              <a:off x="4730822" y="4688944"/>
              <a:ext cx="7680" cy="58922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肘形连接符 81"/>
            <p:cNvCxnSpPr>
              <a:endCxn id="4" idx="2"/>
            </p:cNvCxnSpPr>
            <p:nvPr/>
          </p:nvCxnSpPr>
          <p:spPr bwMode="auto">
            <a:xfrm rot="5400000">
              <a:off x="4320374" y="3117995"/>
              <a:ext cx="3039557" cy="2218659"/>
            </a:xfrm>
            <a:prstGeom prst="bentConnector3">
              <a:avLst>
                <a:gd name="adj1" fmla="val 107521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1" name="肘形连接符 160"/>
            <p:cNvCxnSpPr/>
            <p:nvPr/>
          </p:nvCxnSpPr>
          <p:spPr bwMode="auto">
            <a:xfrm rot="5400000" flipH="1" flipV="1">
              <a:off x="5094085" y="2861881"/>
              <a:ext cx="1416203" cy="996011"/>
            </a:xfrm>
            <a:prstGeom prst="bentConnector3">
              <a:avLst>
                <a:gd name="adj1" fmla="val 25403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矩形 163"/>
            <p:cNvSpPr/>
            <p:nvPr/>
          </p:nvSpPr>
          <p:spPr bwMode="auto">
            <a:xfrm>
              <a:off x="3157613" y="3064430"/>
              <a:ext cx="1035409" cy="30521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SEXT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65" name="肘形连接符 164"/>
            <p:cNvCxnSpPr>
              <a:stCxn id="164" idx="0"/>
              <a:endCxn id="22" idx="3"/>
            </p:cNvCxnSpPr>
            <p:nvPr/>
          </p:nvCxnSpPr>
          <p:spPr bwMode="auto">
            <a:xfrm rot="16200000" flipV="1">
              <a:off x="3154708" y="2543820"/>
              <a:ext cx="713766" cy="327454"/>
            </a:xfrm>
            <a:prstGeom prst="bentConnector2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8" name="肘形连接符 167"/>
            <p:cNvCxnSpPr>
              <a:endCxn id="164" idx="2"/>
            </p:cNvCxnSpPr>
            <p:nvPr/>
          </p:nvCxnSpPr>
          <p:spPr bwMode="auto">
            <a:xfrm rot="16200000" flipV="1">
              <a:off x="3564904" y="3480063"/>
              <a:ext cx="698338" cy="47750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2" name="矩形 171"/>
            <p:cNvSpPr/>
            <p:nvPr/>
          </p:nvSpPr>
          <p:spPr bwMode="auto">
            <a:xfrm>
              <a:off x="1374642" y="1919902"/>
              <a:ext cx="699440" cy="25284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IR[11:9]</a:t>
              </a:r>
              <a:endPara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3707904" y="2636912"/>
              <a:ext cx="699440" cy="25284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IR[8:0]</a:t>
              </a:r>
              <a:endPara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等腰三角形 96"/>
            <p:cNvSpPr/>
            <p:nvPr/>
          </p:nvSpPr>
          <p:spPr bwMode="auto">
            <a:xfrm rot="5400000">
              <a:off x="3911921" y="5433217"/>
              <a:ext cx="168923" cy="143122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6917681" y="371335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③</a:t>
              </a:r>
              <a:endParaRPr lang="zh-CN" altLang="en-US" baseline="0" dirty="0"/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4706386" y="480923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②</a:t>
              </a:r>
              <a:endParaRPr lang="zh-CN" altLang="en-US" baseline="0" dirty="0"/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1672227" y="310385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①</a:t>
              </a:r>
              <a:endParaRPr lang="zh-CN" altLang="en-US" baseline="0" dirty="0"/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3370225" y="200938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①</a:t>
              </a:r>
              <a:endParaRPr lang="zh-CN" altLang="en-US" baseline="0" dirty="0"/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5940152" y="304287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①</a:t>
              </a:r>
              <a:endParaRPr lang="zh-CN" altLang="en-US" baseline="0" dirty="0"/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2338133" y="548398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②</a:t>
              </a:r>
              <a:endParaRPr lang="zh-CN" altLang="en-US" baseline="0" dirty="0"/>
            </a:p>
          </p:txBody>
        </p:sp>
      </p:grpSp>
      <p:sp>
        <p:nvSpPr>
          <p:cNvPr id="100" name="矩形 99"/>
          <p:cNvSpPr/>
          <p:nvPr/>
        </p:nvSpPr>
        <p:spPr bwMode="auto">
          <a:xfrm>
            <a:off x="589256" y="3731286"/>
            <a:ext cx="2664113" cy="2190970"/>
          </a:xfrm>
          <a:prstGeom prst="rect">
            <a:avLst/>
          </a:prstGeom>
          <a:noFill/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0F0A2E-9391-4BC1-A5EC-D871430C3202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507E0F-BD6F-43BD-B151-6D5450C6995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BR (PC-Relative): </a:t>
            </a:r>
            <a:r>
              <a:rPr lang="en-US" altLang="zh-CN" dirty="0" err="1">
                <a:ea typeface="宋体" panose="02010600030101010101" pitchFamily="2" charset="-122"/>
              </a:rPr>
              <a:t>BR</a:t>
            </a:r>
            <a:r>
              <a:rPr lang="en-US" altLang="zh-CN" baseline="-25000" dirty="0" err="1">
                <a:ea typeface="宋体" panose="02010600030101010101" pitchFamily="2" charset="-122"/>
              </a:rPr>
              <a:t>z</a:t>
            </a:r>
            <a:r>
              <a:rPr lang="en-US" altLang="zh-CN" baseline="-25000" dirty="0">
                <a:ea typeface="宋体" panose="02010600030101010101" pitchFamily="2" charset="-122"/>
              </a:rPr>
              <a:t>    </a:t>
            </a:r>
            <a:r>
              <a:rPr lang="en-US" altLang="zh-CN" dirty="0">
                <a:ea typeface="宋体" panose="02010600030101010101" pitchFamily="2" charset="-122"/>
              </a:rPr>
              <a:t>x4101</a:t>
            </a:r>
          </a:p>
        </p:txBody>
      </p:sp>
      <p:sp>
        <p:nvSpPr>
          <p:cNvPr id="52229" name="Text Box 3"/>
          <p:cNvSpPr txBox="1">
            <a:spLocks noChangeArrowheads="1"/>
          </p:cNvSpPr>
          <p:nvPr/>
        </p:nvSpPr>
        <p:spPr bwMode="auto">
          <a:xfrm>
            <a:off x="2341984" y="6155581"/>
            <a:ext cx="3886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i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What happens if bits [11:9] are all zero?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600" b="0" i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What happens if bits [11:9] are all one?</a:t>
            </a:r>
          </a:p>
        </p:txBody>
      </p:sp>
      <p:pic>
        <p:nvPicPr>
          <p:cNvPr id="52230" name="Picture 4" descr="ch05-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202488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组合 26"/>
          <p:cNvGrpSpPr/>
          <p:nvPr/>
        </p:nvGrpSpPr>
        <p:grpSpPr>
          <a:xfrm>
            <a:off x="251520" y="1819466"/>
            <a:ext cx="8280920" cy="4108202"/>
            <a:chOff x="251520" y="1819466"/>
            <a:chExt cx="8280920" cy="4108202"/>
          </a:xfrm>
        </p:grpSpPr>
        <p:sp>
          <p:nvSpPr>
            <p:cNvPr id="173" name="矩形 172"/>
            <p:cNvSpPr/>
            <p:nvPr/>
          </p:nvSpPr>
          <p:spPr bwMode="auto">
            <a:xfrm>
              <a:off x="3654356" y="2708920"/>
              <a:ext cx="1277684" cy="3184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IR[8:0] = xD9</a:t>
              </a:r>
              <a:endPara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113495" y="5183633"/>
              <a:ext cx="1585364" cy="4293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baseline="0" dirty="0">
                  <a:latin typeface="Arial" charset="0"/>
                </a:rPr>
                <a:t>taken =</a:t>
              </a:r>
              <a:r>
                <a:rPr lang="zh-CN" altLang="en-US" baseline="0" dirty="0">
                  <a:latin typeface="Arial" charset="0"/>
                </a:rPr>
                <a:t>“</a:t>
              </a:r>
              <a:r>
                <a:rPr lang="en-US" altLang="zh-CN" baseline="0" dirty="0">
                  <a:latin typeface="Arial" charset="0"/>
                </a:rPr>
                <a:t>yes</a:t>
              </a:r>
              <a:r>
                <a:rPr lang="zh-CN" altLang="en-US" baseline="0" dirty="0">
                  <a:latin typeface="Arial" charset="0"/>
                </a:rPr>
                <a:t>”</a:t>
              </a:r>
              <a:endParaRPr kumimoji="0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129719" y="4151422"/>
              <a:ext cx="1773164" cy="611872"/>
              <a:chOff x="4671044" y="5013176"/>
              <a:chExt cx="1485948" cy="494110"/>
            </a:xfrm>
          </p:grpSpPr>
          <p:sp>
            <p:nvSpPr>
              <p:cNvPr id="12" name="流程图: 手动操作 11"/>
              <p:cNvSpPr/>
              <p:nvPr/>
            </p:nvSpPr>
            <p:spPr bwMode="auto">
              <a:xfrm>
                <a:off x="4671044" y="5022164"/>
                <a:ext cx="1485948" cy="485122"/>
              </a:xfrm>
              <a:prstGeom prst="flowChartManualOperation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3200" baseline="0" dirty="0">
                    <a:latin typeface="Arial" charset="0"/>
                  </a:rPr>
                  <a:t>+</a:t>
                </a:r>
                <a:endParaRPr kumimoji="0" lang="zh-CN" alt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14" name="流程图: 合并 13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15" name="直接连接符 14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6" name="直接连接符 15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4" name="梯形 3"/>
            <p:cNvSpPr/>
            <p:nvPr/>
          </p:nvSpPr>
          <p:spPr bwMode="auto">
            <a:xfrm>
              <a:off x="4324432" y="5352520"/>
              <a:ext cx="1368378" cy="468933"/>
            </a:xfrm>
            <a:prstGeom prst="trapezoid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PCMUX</a:t>
              </a:r>
              <a:endParaRPr kumimoji="0" lang="zh-CN" altLang="en-US" sz="24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52232" name="组合 52231"/>
            <p:cNvGrpSpPr/>
            <p:nvPr/>
          </p:nvGrpSpPr>
          <p:grpSpPr>
            <a:xfrm flipV="1">
              <a:off x="1249399" y="4143933"/>
              <a:ext cx="1285228" cy="1303633"/>
              <a:chOff x="2555776" y="3041410"/>
              <a:chExt cx="3252848" cy="3267910"/>
            </a:xfrm>
            <a:solidFill>
              <a:schemeClr val="bg1"/>
            </a:solidFill>
          </p:grpSpPr>
          <p:sp>
            <p:nvSpPr>
              <p:cNvPr id="72" name="弧形 71"/>
              <p:cNvSpPr/>
              <p:nvPr/>
            </p:nvSpPr>
            <p:spPr bwMode="auto">
              <a:xfrm flipH="1">
                <a:off x="3563888" y="3041410"/>
                <a:ext cx="2244736" cy="3267910"/>
              </a:xfrm>
              <a:prstGeom prst="arc">
                <a:avLst>
                  <a:gd name="adj1" fmla="val 17329235"/>
                  <a:gd name="adj2" fmla="val 67716"/>
                </a:avLst>
              </a:prstGeom>
              <a:grp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弧形 72"/>
              <p:cNvSpPr/>
              <p:nvPr/>
            </p:nvSpPr>
            <p:spPr bwMode="auto">
              <a:xfrm>
                <a:off x="2555776" y="3041410"/>
                <a:ext cx="2244736" cy="3267910"/>
              </a:xfrm>
              <a:prstGeom prst="arc">
                <a:avLst>
                  <a:gd name="adj1" fmla="val 17329235"/>
                  <a:gd name="adj2" fmla="val 67716"/>
                </a:avLst>
              </a:prstGeom>
              <a:grp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233" name="弧形 52232"/>
            <p:cNvSpPr/>
            <p:nvPr/>
          </p:nvSpPr>
          <p:spPr bwMode="auto">
            <a:xfrm flipV="1">
              <a:off x="1647712" y="4621496"/>
              <a:ext cx="488601" cy="318405"/>
            </a:xfrm>
            <a:prstGeom prst="arc">
              <a:avLst>
                <a:gd name="adj1" fmla="val 11015866"/>
                <a:gd name="adj2" fmla="val 21453458"/>
              </a:avLst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肘形连接符 16"/>
            <p:cNvCxnSpPr/>
            <p:nvPr/>
          </p:nvCxnSpPr>
          <p:spPr bwMode="auto">
            <a:xfrm rot="5400000">
              <a:off x="749324" y="2928349"/>
              <a:ext cx="1399811" cy="640364"/>
            </a:xfrm>
            <a:prstGeom prst="bentConnector3">
              <a:avLst>
                <a:gd name="adj1" fmla="val 20449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肘形连接符 32"/>
            <p:cNvCxnSpPr/>
            <p:nvPr/>
          </p:nvCxnSpPr>
          <p:spPr bwMode="auto">
            <a:xfrm rot="16200000" flipH="1">
              <a:off x="1866964" y="2926458"/>
              <a:ext cx="1368152" cy="659062"/>
            </a:xfrm>
            <a:prstGeom prst="bentConnector3">
              <a:avLst>
                <a:gd name="adj1" fmla="val 21357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" name="组合 39"/>
            <p:cNvGrpSpPr/>
            <p:nvPr/>
          </p:nvGrpSpPr>
          <p:grpSpPr>
            <a:xfrm>
              <a:off x="745343" y="2927286"/>
              <a:ext cx="472144" cy="1359782"/>
              <a:chOff x="251520" y="4144413"/>
              <a:chExt cx="472144" cy="1359782"/>
            </a:xfrm>
          </p:grpSpPr>
          <p:sp>
            <p:nvSpPr>
              <p:cNvPr id="45" name="矩形 44"/>
              <p:cNvSpPr/>
              <p:nvPr/>
            </p:nvSpPr>
            <p:spPr bwMode="auto">
              <a:xfrm>
                <a:off x="287524" y="4144413"/>
                <a:ext cx="216024" cy="292699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108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N</a:t>
                </a:r>
                <a:endParaRPr kumimoji="0" lang="zh-CN" altLang="en-US" sz="18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29" name="直接箭头连接符 28"/>
              <p:cNvCxnSpPr/>
              <p:nvPr/>
            </p:nvCxnSpPr>
            <p:spPr bwMode="auto">
              <a:xfrm flipH="1">
                <a:off x="395536" y="4703626"/>
                <a:ext cx="0" cy="45356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" name="流程图: 延期 5"/>
              <p:cNvSpPr/>
              <p:nvPr/>
            </p:nvSpPr>
            <p:spPr bwMode="auto">
              <a:xfrm rot="5400000" flipV="1">
                <a:off x="350094" y="5130626"/>
                <a:ext cx="347003" cy="400136"/>
              </a:xfrm>
              <a:prstGeom prst="flowChartDelay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 bwMode="auto">
              <a:xfrm>
                <a:off x="251520" y="4437112"/>
                <a:ext cx="288032" cy="288032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108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latin typeface="Arial" charset="0"/>
                  </a:rPr>
                  <a:t>0</a:t>
                </a:r>
                <a:endParaRPr kumimoji="0" lang="zh-CN" altLang="en-US" sz="18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609439" y="2927286"/>
              <a:ext cx="472144" cy="1359782"/>
              <a:chOff x="251520" y="4144413"/>
              <a:chExt cx="472144" cy="1359782"/>
            </a:xfrm>
          </p:grpSpPr>
          <p:sp>
            <p:nvSpPr>
              <p:cNvPr id="54" name="矩形 53"/>
              <p:cNvSpPr/>
              <p:nvPr/>
            </p:nvSpPr>
            <p:spPr bwMode="auto">
              <a:xfrm>
                <a:off x="287524" y="4144413"/>
                <a:ext cx="216024" cy="292699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108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latin typeface="Arial" charset="0"/>
                  </a:rPr>
                  <a:t>Z</a:t>
                </a:r>
                <a:endParaRPr kumimoji="0" lang="zh-CN" altLang="en-US" sz="18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55" name="直接箭头连接符 54"/>
              <p:cNvCxnSpPr/>
              <p:nvPr/>
            </p:nvCxnSpPr>
            <p:spPr bwMode="auto">
              <a:xfrm flipH="1">
                <a:off x="395536" y="4703626"/>
                <a:ext cx="0" cy="45356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" name="流程图: 延期 55"/>
              <p:cNvSpPr/>
              <p:nvPr/>
            </p:nvSpPr>
            <p:spPr bwMode="auto">
              <a:xfrm rot="5400000" flipV="1">
                <a:off x="350094" y="5130626"/>
                <a:ext cx="347003" cy="400136"/>
              </a:xfrm>
              <a:prstGeom prst="flowChartDelay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 bwMode="auto">
              <a:xfrm>
                <a:off x="251520" y="4437112"/>
                <a:ext cx="288032" cy="288032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108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latin typeface="Arial" charset="0"/>
                  </a:rPr>
                  <a:t>1</a:t>
                </a:r>
                <a:endParaRPr kumimoji="0" lang="zh-CN" altLang="en-US" sz="18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2473535" y="2927286"/>
              <a:ext cx="472144" cy="1359782"/>
              <a:chOff x="251520" y="4144413"/>
              <a:chExt cx="472144" cy="1359782"/>
            </a:xfrm>
          </p:grpSpPr>
          <p:sp>
            <p:nvSpPr>
              <p:cNvPr id="59" name="矩形 58"/>
              <p:cNvSpPr/>
              <p:nvPr/>
            </p:nvSpPr>
            <p:spPr bwMode="auto">
              <a:xfrm>
                <a:off x="287524" y="4144413"/>
                <a:ext cx="216024" cy="292699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108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latin typeface="Arial" charset="0"/>
                  </a:rPr>
                  <a:t>P</a:t>
                </a:r>
                <a:endParaRPr kumimoji="0" lang="zh-CN" altLang="en-US" sz="18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60" name="直接箭头连接符 59"/>
              <p:cNvCxnSpPr/>
              <p:nvPr/>
            </p:nvCxnSpPr>
            <p:spPr bwMode="auto">
              <a:xfrm flipH="1">
                <a:off x="395536" y="4703626"/>
                <a:ext cx="0" cy="45356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1" name="流程图: 延期 60"/>
              <p:cNvSpPr/>
              <p:nvPr/>
            </p:nvSpPr>
            <p:spPr bwMode="auto">
              <a:xfrm rot="5400000" flipV="1">
                <a:off x="350094" y="5130626"/>
                <a:ext cx="347003" cy="400136"/>
              </a:xfrm>
              <a:prstGeom prst="flowChartDelay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 bwMode="auto">
              <a:xfrm>
                <a:off x="251520" y="4437112"/>
                <a:ext cx="288032" cy="288032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108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b="1" dirty="0">
                    <a:latin typeface="Arial" charset="0"/>
                  </a:rPr>
                  <a:t>0</a:t>
                </a:r>
                <a:endParaRPr kumimoji="0" lang="zh-CN" altLang="en-US" sz="1800" b="1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cxnSp>
          <p:nvCxnSpPr>
            <p:cNvPr id="42" name="直接箭头连接符 41"/>
            <p:cNvCxnSpPr/>
            <p:nvPr/>
          </p:nvCxnSpPr>
          <p:spPr bwMode="auto">
            <a:xfrm>
              <a:off x="2005483" y="2571913"/>
              <a:ext cx="0" cy="1376522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直接箭头连接符 91"/>
            <p:cNvCxnSpPr/>
            <p:nvPr/>
          </p:nvCxnSpPr>
          <p:spPr bwMode="auto">
            <a:xfrm>
              <a:off x="1883423" y="4280268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52274" name="组合 52273"/>
            <p:cNvGrpSpPr/>
            <p:nvPr/>
          </p:nvGrpSpPr>
          <p:grpSpPr>
            <a:xfrm>
              <a:off x="1011855" y="4287069"/>
              <a:ext cx="741600" cy="634997"/>
              <a:chOff x="518032" y="4788783"/>
              <a:chExt cx="741600" cy="634997"/>
            </a:xfrm>
          </p:grpSpPr>
          <p:cxnSp>
            <p:nvCxnSpPr>
              <p:cNvPr id="52270" name="直接连接符 52269"/>
              <p:cNvCxnSpPr>
                <a:stCxn id="6" idx="3"/>
              </p:cNvCxnSpPr>
              <p:nvPr/>
            </p:nvCxnSpPr>
            <p:spPr bwMode="auto">
              <a:xfrm flipH="1">
                <a:off x="523595" y="4788783"/>
                <a:ext cx="1" cy="31719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7" name="直接连接符 116"/>
              <p:cNvCxnSpPr/>
              <p:nvPr/>
            </p:nvCxnSpPr>
            <p:spPr bwMode="auto">
              <a:xfrm rot="5400000" flipH="1">
                <a:off x="888831" y="4728982"/>
                <a:ext cx="1" cy="7416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2273" name="直接箭头连接符 52272"/>
              <p:cNvCxnSpPr/>
              <p:nvPr/>
            </p:nvCxnSpPr>
            <p:spPr bwMode="auto">
              <a:xfrm flipH="1">
                <a:off x="1259632" y="5099780"/>
                <a:ext cx="0" cy="32400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1" name="组合 120"/>
            <p:cNvGrpSpPr/>
            <p:nvPr/>
          </p:nvGrpSpPr>
          <p:grpSpPr>
            <a:xfrm flipH="1">
              <a:off x="2019967" y="4295438"/>
              <a:ext cx="741600" cy="634997"/>
              <a:chOff x="518032" y="4788783"/>
              <a:chExt cx="741600" cy="634997"/>
            </a:xfrm>
          </p:grpSpPr>
          <p:cxnSp>
            <p:nvCxnSpPr>
              <p:cNvPr id="122" name="直接连接符 121"/>
              <p:cNvCxnSpPr/>
              <p:nvPr/>
            </p:nvCxnSpPr>
            <p:spPr bwMode="auto">
              <a:xfrm flipH="1">
                <a:off x="523595" y="4788783"/>
                <a:ext cx="1" cy="317199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" name="直接连接符 122"/>
              <p:cNvCxnSpPr/>
              <p:nvPr/>
            </p:nvCxnSpPr>
            <p:spPr bwMode="auto">
              <a:xfrm rot="5400000" flipH="1">
                <a:off x="888831" y="4728982"/>
                <a:ext cx="1" cy="7416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4" name="直接箭头连接符 123"/>
              <p:cNvCxnSpPr/>
              <p:nvPr/>
            </p:nvCxnSpPr>
            <p:spPr bwMode="auto">
              <a:xfrm flipH="1">
                <a:off x="1259632" y="5099780"/>
                <a:ext cx="0" cy="32400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52280" name="肘形连接符 52279"/>
            <p:cNvCxnSpPr>
              <a:stCxn id="72" idx="0"/>
              <a:endCxn id="4" idx="1"/>
            </p:cNvCxnSpPr>
            <p:nvPr/>
          </p:nvCxnSpPr>
          <p:spPr bwMode="auto">
            <a:xfrm>
              <a:off x="1892543" y="5378526"/>
              <a:ext cx="2490506" cy="208461"/>
            </a:xfrm>
            <a:prstGeom prst="bentConnector3">
              <a:avLst>
                <a:gd name="adj1" fmla="val 172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直接连接符 145"/>
            <p:cNvCxnSpPr>
              <a:stCxn id="12" idx="2"/>
              <a:endCxn id="4" idx="0"/>
            </p:cNvCxnSpPr>
            <p:nvPr/>
          </p:nvCxnSpPr>
          <p:spPr bwMode="auto">
            <a:xfrm flipH="1">
              <a:off x="5008621" y="4763294"/>
              <a:ext cx="7680" cy="58922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肘形连接符 81"/>
            <p:cNvCxnSpPr>
              <a:stCxn id="78" idx="2"/>
              <a:endCxn id="4" idx="2"/>
            </p:cNvCxnSpPr>
            <p:nvPr/>
          </p:nvCxnSpPr>
          <p:spPr bwMode="auto">
            <a:xfrm rot="5400000">
              <a:off x="4458230" y="3101594"/>
              <a:ext cx="3270251" cy="2169467"/>
            </a:xfrm>
            <a:prstGeom prst="bentConnector3">
              <a:avLst>
                <a:gd name="adj1" fmla="val 10699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1" name="肘形连接符 160"/>
            <p:cNvCxnSpPr>
              <a:endCxn id="75" idx="2"/>
            </p:cNvCxnSpPr>
            <p:nvPr/>
          </p:nvCxnSpPr>
          <p:spPr bwMode="auto">
            <a:xfrm rot="5400000" flipH="1" flipV="1">
              <a:off x="5309621" y="2823562"/>
              <a:ext cx="1591137" cy="1046418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矩形 163"/>
            <p:cNvSpPr/>
            <p:nvPr/>
          </p:nvSpPr>
          <p:spPr bwMode="auto">
            <a:xfrm>
              <a:off x="3176551" y="3138780"/>
              <a:ext cx="1035409" cy="305219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SEXT</a:t>
              </a:r>
              <a:endPara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65" name="肘形连接符 164"/>
            <p:cNvCxnSpPr/>
            <p:nvPr/>
          </p:nvCxnSpPr>
          <p:spPr bwMode="auto">
            <a:xfrm rot="16200000" flipV="1">
              <a:off x="3187294" y="2618170"/>
              <a:ext cx="713766" cy="327454"/>
            </a:xfrm>
            <a:prstGeom prst="bentConnector2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2" name="矩形 171"/>
            <p:cNvSpPr/>
            <p:nvPr/>
          </p:nvSpPr>
          <p:spPr bwMode="auto">
            <a:xfrm>
              <a:off x="1600306" y="1819466"/>
              <a:ext cx="699440" cy="25284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baseline="0" dirty="0">
                  <a:latin typeface="Arial" charset="0"/>
                </a:rPr>
                <a:t>IR[11:9]</a:t>
              </a:r>
              <a:endPara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等腰三角形 96"/>
            <p:cNvSpPr/>
            <p:nvPr/>
          </p:nvSpPr>
          <p:spPr bwMode="auto">
            <a:xfrm rot="5400000">
              <a:off x="4189720" y="5507567"/>
              <a:ext cx="168923" cy="143122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7174790" y="278092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③</a:t>
              </a:r>
              <a:endParaRPr lang="zh-CN" altLang="en-US" baseline="0" dirty="0"/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4984185" y="488358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②</a:t>
              </a:r>
              <a:endParaRPr lang="zh-CN" altLang="en-US" baseline="0" dirty="0"/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1950026" y="31782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①</a:t>
              </a:r>
              <a:endParaRPr lang="zh-CN" altLang="en-US" baseline="0" dirty="0"/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6244734" y="278092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①</a:t>
              </a:r>
              <a:endParaRPr lang="zh-CN" altLang="en-US" baseline="0" dirty="0"/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2615932" y="555833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②</a:t>
              </a:r>
              <a:endParaRPr lang="zh-CN" altLang="en-US" baseline="0" dirty="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919644" y="2174996"/>
              <a:ext cx="3449571" cy="383726"/>
              <a:chOff x="428719" y="4926337"/>
              <a:chExt cx="2083497" cy="233511"/>
            </a:xfrm>
          </p:grpSpPr>
          <p:sp>
            <p:nvSpPr>
              <p:cNvPr id="75" name="矩形 74"/>
              <p:cNvSpPr/>
              <p:nvPr/>
            </p:nvSpPr>
            <p:spPr bwMode="auto">
              <a:xfrm>
                <a:off x="1405368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76" name="矩形 75"/>
              <p:cNvSpPr/>
              <p:nvPr/>
            </p:nvSpPr>
            <p:spPr bwMode="auto">
              <a:xfrm>
                <a:off x="1516037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77" name="矩形 76"/>
              <p:cNvSpPr/>
              <p:nvPr/>
            </p:nvSpPr>
            <p:spPr bwMode="auto">
              <a:xfrm>
                <a:off x="1626706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 bwMode="auto">
              <a:xfrm>
                <a:off x="1737374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79" name="矩形 78"/>
              <p:cNvSpPr/>
              <p:nvPr/>
            </p:nvSpPr>
            <p:spPr bwMode="auto">
              <a:xfrm>
                <a:off x="1848043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1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0" name="矩形 79"/>
              <p:cNvSpPr/>
              <p:nvPr/>
            </p:nvSpPr>
            <p:spPr bwMode="auto">
              <a:xfrm>
                <a:off x="1958711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1" name="矩形 80"/>
              <p:cNvSpPr/>
              <p:nvPr/>
            </p:nvSpPr>
            <p:spPr bwMode="auto">
              <a:xfrm>
                <a:off x="2069380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1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 bwMode="auto">
              <a:xfrm>
                <a:off x="2180048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 bwMode="auto">
              <a:xfrm>
                <a:off x="2290717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 bwMode="auto">
              <a:xfrm>
                <a:off x="2401383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 bwMode="auto">
              <a:xfrm>
                <a:off x="741357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200" b="1" i="0" u="none" strike="noStrike" cap="none" normalizeH="0" baseline="0" dirty="0">
                    <a:ln>
                      <a:noFill/>
                    </a:ln>
                    <a:effectLst/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 bwMode="auto">
              <a:xfrm>
                <a:off x="852026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1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 bwMode="auto">
              <a:xfrm>
                <a:off x="962694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 bwMode="auto">
              <a:xfrm>
                <a:off x="1073363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 bwMode="auto">
              <a:xfrm>
                <a:off x="1184031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 bwMode="auto">
              <a:xfrm>
                <a:off x="1294700" y="4926337"/>
                <a:ext cx="110833" cy="22893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93" name="矩形 92"/>
              <p:cNvSpPr/>
              <p:nvPr/>
            </p:nvSpPr>
            <p:spPr bwMode="auto">
              <a:xfrm>
                <a:off x="428719" y="4930913"/>
                <a:ext cx="267142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600" b="1" baseline="0" dirty="0">
                    <a:latin typeface="Arial" charset="0"/>
                  </a:rPr>
                  <a:t>PC</a:t>
                </a:r>
                <a:endParaRPr kumimoji="0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827584" y="2176237"/>
              <a:ext cx="3456384" cy="376996"/>
              <a:chOff x="896960" y="2176237"/>
              <a:chExt cx="3098976" cy="376996"/>
            </a:xfrm>
          </p:grpSpPr>
          <p:sp>
            <p:nvSpPr>
              <p:cNvPr id="182" name="文本框 181"/>
              <p:cNvSpPr txBox="1"/>
              <p:nvPr/>
            </p:nvSpPr>
            <p:spPr>
              <a:xfrm>
                <a:off x="3576016" y="2185230"/>
                <a:ext cx="415498" cy="290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aseline="0" dirty="0">
                    <a:latin typeface="宋体" panose="02010600030101010101" pitchFamily="2" charset="-122"/>
                  </a:rPr>
                  <a:t>①</a:t>
                </a:r>
                <a:endParaRPr lang="zh-CN" altLang="en-US" baseline="0" dirty="0"/>
              </a:p>
            </p:txBody>
          </p:sp>
          <p:sp>
            <p:nvSpPr>
              <p:cNvPr id="94" name="矩形 93"/>
              <p:cNvSpPr/>
              <p:nvPr/>
            </p:nvSpPr>
            <p:spPr bwMode="auto">
              <a:xfrm>
                <a:off x="2058969" y="2176237"/>
                <a:ext cx="193956" cy="376996"/>
              </a:xfrm>
              <a:prstGeom prst="rect">
                <a:avLst/>
              </a:prstGeom>
              <a:solidFill>
                <a:srgbClr val="FF99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0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6" name="矩形 95"/>
              <p:cNvSpPr/>
              <p:nvPr/>
            </p:nvSpPr>
            <p:spPr bwMode="auto">
              <a:xfrm>
                <a:off x="2252638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0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8" name="矩形 97"/>
              <p:cNvSpPr/>
              <p:nvPr/>
            </p:nvSpPr>
            <p:spPr bwMode="auto">
              <a:xfrm>
                <a:off x="2446307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0" name="矩形 99"/>
              <p:cNvSpPr/>
              <p:nvPr/>
            </p:nvSpPr>
            <p:spPr bwMode="auto">
              <a:xfrm>
                <a:off x="2639974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1" name="矩形 100"/>
              <p:cNvSpPr/>
              <p:nvPr/>
            </p:nvSpPr>
            <p:spPr bwMode="auto">
              <a:xfrm>
                <a:off x="2833643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0</a:t>
                </a:r>
                <a:endParaRPr kumimoji="0" lang="zh-CN" altLang="en-US" sz="1200" i="0" u="none" strike="noStrike" cap="none" normalizeH="0" baseline="0" dirty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  <p:sp>
            <p:nvSpPr>
              <p:cNvPr id="102" name="矩形 101"/>
              <p:cNvSpPr/>
              <p:nvPr/>
            </p:nvSpPr>
            <p:spPr bwMode="auto">
              <a:xfrm>
                <a:off x="3027311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3" name="矩形 102"/>
              <p:cNvSpPr/>
              <p:nvPr/>
            </p:nvSpPr>
            <p:spPr bwMode="auto">
              <a:xfrm>
                <a:off x="3220980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4" name="矩形 103"/>
              <p:cNvSpPr/>
              <p:nvPr/>
            </p:nvSpPr>
            <p:spPr bwMode="auto">
              <a:xfrm>
                <a:off x="3414647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0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5" name="矩形 104"/>
              <p:cNvSpPr/>
              <p:nvPr/>
            </p:nvSpPr>
            <p:spPr bwMode="auto">
              <a:xfrm>
                <a:off x="3608316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0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6" name="矩形 105"/>
              <p:cNvSpPr/>
              <p:nvPr/>
            </p:nvSpPr>
            <p:spPr bwMode="auto">
              <a:xfrm>
                <a:off x="3801980" y="2176237"/>
                <a:ext cx="193956" cy="37699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7" name="矩形 106"/>
              <p:cNvSpPr/>
              <p:nvPr/>
            </p:nvSpPr>
            <p:spPr bwMode="auto">
              <a:xfrm>
                <a:off x="896960" y="2176237"/>
                <a:ext cx="193956" cy="376996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2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8" name="矩形 107"/>
              <p:cNvSpPr/>
              <p:nvPr/>
            </p:nvSpPr>
            <p:spPr bwMode="auto">
              <a:xfrm>
                <a:off x="1090629" y="2176237"/>
                <a:ext cx="193956" cy="376996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9" name="矩形 108"/>
              <p:cNvSpPr/>
              <p:nvPr/>
            </p:nvSpPr>
            <p:spPr bwMode="auto">
              <a:xfrm>
                <a:off x="1284296" y="2176237"/>
                <a:ext cx="193956" cy="376996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0" name="矩形 109"/>
              <p:cNvSpPr/>
              <p:nvPr/>
            </p:nvSpPr>
            <p:spPr bwMode="auto">
              <a:xfrm>
                <a:off x="1477965" y="2176237"/>
                <a:ext cx="193956" cy="376996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 bwMode="auto">
              <a:xfrm>
                <a:off x="1671632" y="2176237"/>
                <a:ext cx="193956" cy="376996"/>
              </a:xfrm>
              <a:prstGeom prst="rect">
                <a:avLst/>
              </a:prstGeom>
              <a:solidFill>
                <a:srgbClr val="FF99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0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 bwMode="auto">
              <a:xfrm>
                <a:off x="1865302" y="2176237"/>
                <a:ext cx="193956" cy="376996"/>
              </a:xfrm>
              <a:prstGeom prst="rect">
                <a:avLst/>
              </a:prstGeom>
              <a:solidFill>
                <a:srgbClr val="FF99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13" name="矩形 112"/>
            <p:cNvSpPr/>
            <p:nvPr/>
          </p:nvSpPr>
          <p:spPr bwMode="auto">
            <a:xfrm>
              <a:off x="251520" y="2183772"/>
              <a:ext cx="467494" cy="3769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IR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16" name="肘形连接符 115"/>
            <p:cNvCxnSpPr>
              <a:endCxn id="164" idx="3"/>
            </p:cNvCxnSpPr>
            <p:nvPr/>
          </p:nvCxnSpPr>
          <p:spPr bwMode="auto">
            <a:xfrm rot="16200000" flipV="1">
              <a:off x="3890652" y="3612699"/>
              <a:ext cx="894937" cy="252319"/>
            </a:xfrm>
            <a:prstGeom prst="bentConnector2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矩形 114"/>
            <p:cNvSpPr/>
            <p:nvPr/>
          </p:nvSpPr>
          <p:spPr bwMode="auto">
            <a:xfrm>
              <a:off x="3356233" y="3645024"/>
              <a:ext cx="2088449" cy="27690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0000 000</a:t>
              </a:r>
              <a:r>
                <a:rPr lang="en-US" altLang="zh-CN" sz="1200" b="1" baseline="0" dirty="0">
                  <a:latin typeface="Arial" charset="0"/>
                </a:rPr>
                <a:t>0 1101 1001 = x00D9</a:t>
              </a:r>
              <a:endParaRPr lang="zh-CN" altLang="en-US" sz="1200" baseline="0" dirty="0">
                <a:latin typeface="Arial" charset="0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4427984" y="327569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aseline="0" dirty="0">
                  <a:latin typeface="宋体" panose="02010600030101010101" pitchFamily="2" charset="-122"/>
                </a:rPr>
                <a:t>①</a:t>
              </a:r>
              <a:endParaRPr lang="zh-CN" altLang="en-US" baseline="0" dirty="0"/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6300192" y="3645024"/>
              <a:ext cx="2232248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r>
                <a:rPr lang="en-US" altLang="zh-CN" sz="1200" b="1" baseline="0" dirty="0">
                  <a:latin typeface="Arial" charset="0"/>
                </a:rPr>
                <a:t>0100 0001 0000 0001= x4101</a:t>
              </a:r>
              <a:endParaRPr lang="zh-CN" altLang="en-US" sz="1200" baseline="0" dirty="0">
                <a:latin typeface="Arial" charset="0"/>
              </a:endParaRPr>
            </a:p>
          </p:txBody>
        </p:sp>
      </p:grpSp>
      <p:sp>
        <p:nvSpPr>
          <p:cNvPr id="127" name="矩形 126"/>
          <p:cNvSpPr/>
          <p:nvPr/>
        </p:nvSpPr>
        <p:spPr bwMode="auto">
          <a:xfrm>
            <a:off x="7445224" y="4530878"/>
            <a:ext cx="1610753" cy="13606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PC     = x4027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PC+1 = x4028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x4028 + x00D9 = x4101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60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BR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138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BR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9082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BR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9100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0" name="文本框 379"/>
          <p:cNvSpPr txBox="1"/>
          <p:nvPr/>
        </p:nvSpPr>
        <p:spPr>
          <a:xfrm>
            <a:off x="3228899" y="1886635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taken</a:t>
            </a:r>
            <a:endParaRPr lang="zh-CN" altLang="en-US" sz="1000" baseline="0" dirty="0"/>
          </a:p>
        </p:txBody>
      </p: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>
            <a:off x="4366265" y="6202436"/>
            <a:ext cx="424099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BR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0" name="组合 449"/>
          <p:cNvGrpSpPr/>
          <p:nvPr/>
        </p:nvGrpSpPr>
        <p:grpSpPr>
          <a:xfrm>
            <a:off x="4101216" y="189333"/>
            <a:ext cx="4863271" cy="567522"/>
            <a:chOff x="3706688" y="189333"/>
            <a:chExt cx="5257800" cy="567522"/>
          </a:xfrm>
        </p:grpSpPr>
        <p:sp>
          <p:nvSpPr>
            <p:cNvPr id="455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7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8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9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0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1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2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3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4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6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7" name="直接连接符 466"/>
          <p:cNvCxnSpPr/>
          <p:nvPr/>
        </p:nvCxnSpPr>
        <p:spPr bwMode="auto">
          <a:xfrm flipV="1">
            <a:off x="1225726" y="3938400"/>
            <a:ext cx="10" cy="77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5928061" y="188640"/>
            <a:ext cx="444139" cy="307777"/>
          </a:xfrm>
          <a:prstGeom prst="rect">
            <a:avLst/>
          </a:prstGeom>
          <a:solidFill>
            <a:srgbClr val="003399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baseline="0" dirty="0">
                <a:solidFill>
                  <a:schemeClr val="bg1"/>
                </a:solidFill>
                <a:latin typeface="Arial" charset="0"/>
                <a:ea typeface="+mn-ea"/>
              </a:rPr>
              <a:t>EA</a:t>
            </a:r>
          </a:p>
        </p:txBody>
      </p:sp>
      <p:sp>
        <p:nvSpPr>
          <p:cNvPr id="397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8" name="Text Box 10"/>
          <p:cNvSpPr txBox="1">
            <a:spLocks noChangeArrowheads="1"/>
          </p:cNvSpPr>
          <p:nvPr/>
        </p:nvSpPr>
        <p:spPr bwMode="auto">
          <a:xfrm>
            <a:off x="751223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9" name="Text Box 10"/>
          <p:cNvSpPr txBox="1">
            <a:spLocks noChangeArrowheads="1"/>
          </p:cNvSpPr>
          <p:nvPr/>
        </p:nvSpPr>
        <p:spPr bwMode="auto">
          <a:xfrm>
            <a:off x="823231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sp>
        <p:nvSpPr>
          <p:cNvPr id="408" name="Text Box 10"/>
          <p:cNvSpPr txBox="1">
            <a:spLocks noChangeArrowheads="1"/>
          </p:cNvSpPr>
          <p:nvPr/>
        </p:nvSpPr>
        <p:spPr bwMode="auto">
          <a:xfrm>
            <a:off x="5148064" y="188640"/>
            <a:ext cx="444139" cy="307777"/>
          </a:xfrm>
          <a:prstGeom prst="rect">
            <a:avLst/>
          </a:prstGeom>
          <a:solidFill>
            <a:srgbClr val="003399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baseline="0" dirty="0">
                <a:solidFill>
                  <a:schemeClr val="bg1"/>
                </a:solidFill>
                <a:latin typeface="Arial" charset="0"/>
                <a:ea typeface="+mn-ea"/>
              </a:rPr>
              <a:t>D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7" name="直接连接符 206"/>
          <p:cNvCxnSpPr/>
          <p:nvPr/>
        </p:nvCxnSpPr>
        <p:spPr bwMode="auto">
          <a:xfrm flipV="1">
            <a:off x="4078177" y="4352224"/>
            <a:ext cx="662400" cy="1726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1287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BR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0" name="组合 449"/>
          <p:cNvGrpSpPr/>
          <p:nvPr/>
        </p:nvGrpSpPr>
        <p:grpSpPr>
          <a:xfrm>
            <a:off x="4101216" y="189333"/>
            <a:ext cx="4863271" cy="567522"/>
            <a:chOff x="3706688" y="189333"/>
            <a:chExt cx="5257800" cy="567522"/>
          </a:xfrm>
        </p:grpSpPr>
        <p:sp>
          <p:nvSpPr>
            <p:cNvPr id="455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7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8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9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0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1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2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3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4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6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453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rgbClr val="003399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baseline="0" dirty="0">
                <a:solidFill>
                  <a:schemeClr val="bg1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" name="文本框 379"/>
          <p:cNvSpPr txBox="1"/>
          <p:nvPr/>
        </p:nvSpPr>
        <p:spPr>
          <a:xfrm>
            <a:off x="3228899" y="1886635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taken</a:t>
            </a:r>
            <a:endParaRPr lang="zh-CN" altLang="en-US" sz="1000" baseline="0" dirty="0"/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5928061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EA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5135973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D</a:t>
            </a:r>
          </a:p>
        </p:txBody>
      </p:sp>
      <p:sp>
        <p:nvSpPr>
          <p:cNvPr id="397" name="Text Box 10"/>
          <p:cNvSpPr txBox="1">
            <a:spLocks noChangeArrowheads="1"/>
          </p:cNvSpPr>
          <p:nvPr/>
        </p:nvSpPr>
        <p:spPr bwMode="auto">
          <a:xfrm>
            <a:off x="670805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389" name="直接连接符 388"/>
          <p:cNvCxnSpPr/>
          <p:nvPr/>
        </p:nvCxnSpPr>
        <p:spPr bwMode="auto">
          <a:xfrm flipV="1">
            <a:off x="1225726" y="3938400"/>
            <a:ext cx="10" cy="77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8" name="Text Box 10">
            <a:extLst>
              <a:ext uri="{FF2B5EF4-FFF2-40B4-BE49-F238E27FC236}">
                <a16:creationId xmlns:a16="http://schemas.microsoft.com/office/drawing/2014/main" id="{64B4F562-F3F5-4B0A-AF99-DAD76B417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23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1408664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Check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nzp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x4101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(n=1 or  z=1 or p=1)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JMP  x4101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  x4101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(n=1)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z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 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x4101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(z=1) 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p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 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x4101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(p=1) 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nz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x4101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(n=1 or z=1)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np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x4101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(n=1 or p=1) </a:t>
            </a:r>
          </a:p>
          <a:p>
            <a:pPr lvl="1"/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BR</a:t>
            </a:r>
            <a:r>
              <a:rPr lang="en-US" altLang="zh-CN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zp</a:t>
            </a:r>
            <a:r>
              <a:rPr lang="en-US" altLang="zh-CN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   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x4101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(z=1 or p=1)</a:t>
            </a:r>
          </a:p>
          <a:p>
            <a:pPr lvl="1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       x4101     	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PC=PC+1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Set</a:t>
            </a:r>
          </a:p>
          <a:p>
            <a:pPr lvl="1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DR &lt; 0, set N=1 and Z=0 and P=0</a:t>
            </a:r>
          </a:p>
          <a:p>
            <a:pPr lvl="1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DR = 0, set N=0 and Z=1 and P=0</a:t>
            </a:r>
          </a:p>
          <a:p>
            <a:pPr lvl="1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If DR &gt; 0, set N=0 and Z=0 and P=1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2025/10/14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BR (PC-Relative)</a:t>
            </a:r>
          </a:p>
        </p:txBody>
      </p:sp>
    </p:spTree>
    <p:extLst>
      <p:ext uri="{BB962C8B-B14F-4D97-AF65-F5344CB8AC3E}">
        <p14:creationId xmlns:p14="http://schemas.microsoft.com/office/powerpoint/2010/main" val="348186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CEB2F5-A2D7-40BE-9639-7513BBAF1CA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28824A-21E2-4C4A-AF9B-BE6C317650E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Using Branch Instructions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6850" y="981075"/>
            <a:ext cx="8839200" cy="54816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Compute sum of 12 integers.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Numbers start at location x3100.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Program starts at location x3000.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2857" y="5673427"/>
            <a:ext cx="37814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baseline="0" dirty="0"/>
              <a:t>Two Method for Loop Control</a:t>
            </a: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zh-CN" b="1" baseline="0" dirty="0">
                <a:latin typeface="等线" panose="02010600030101010101" pitchFamily="2" charset="-122"/>
                <a:ea typeface="等线" panose="02010600030101010101" pitchFamily="2" charset="-122"/>
              </a:rPr>
              <a:t>The use of a counter</a:t>
            </a:r>
          </a:p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zh-CN" b="1" baseline="0" dirty="0">
                <a:latin typeface="等线" panose="02010600030101010101" pitchFamily="2" charset="-122"/>
                <a:ea typeface="等线" panose="02010600030101010101" pitchFamily="2" charset="-122"/>
              </a:rPr>
              <a:t>The use of a sentinel</a:t>
            </a:r>
          </a:p>
        </p:txBody>
      </p:sp>
      <p:sp>
        <p:nvSpPr>
          <p:cNvPr id="54291" name="文本框 2"/>
          <p:cNvSpPr txBox="1">
            <a:spLocks noChangeArrowheads="1"/>
          </p:cNvSpPr>
          <p:nvPr/>
        </p:nvSpPr>
        <p:spPr bwMode="auto">
          <a:xfrm>
            <a:off x="201833" y="2317585"/>
            <a:ext cx="2628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u="sng" baseline="0" dirty="0">
                <a:ea typeface="宋体" panose="02010600030101010101" pitchFamily="2" charset="-122"/>
              </a:rPr>
              <a:t>The use of a counter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67836" y="2835904"/>
            <a:ext cx="4343400" cy="3276600"/>
            <a:chOff x="444500" y="2362200"/>
            <a:chExt cx="4343400" cy="3276600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444500" y="2362200"/>
              <a:ext cx="16002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  <a:t>R1 </a:t>
              </a: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  <a:t> x3100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  <a:t>R3 </a:t>
              </a: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  <a:t> 0</a:t>
              </a:r>
              <a:b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</a:b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  <a:t>R2 </a:t>
              </a: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 dirty="0">
                  <a:latin typeface="CourierPS" pitchFamily="49" charset="0"/>
                  <a:ea typeface="宋体" panose="02010600030101010101" pitchFamily="2" charset="-122"/>
                </a:rPr>
                <a:t> 12</a:t>
              </a:r>
            </a:p>
          </p:txBody>
        </p:sp>
        <p:sp>
          <p:nvSpPr>
            <p:cNvPr id="23" name="AutoShape 5"/>
            <p:cNvSpPr>
              <a:spLocks noChangeArrowheads="1"/>
            </p:cNvSpPr>
            <p:nvPr/>
          </p:nvSpPr>
          <p:spPr bwMode="auto">
            <a:xfrm>
              <a:off x="673100" y="3657600"/>
              <a:ext cx="1143000" cy="114300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R2=0?</a:t>
              </a: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2730500" y="3695700"/>
              <a:ext cx="1600200" cy="1066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R4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 M[R1]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R3  R3+R4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R1  R1+1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R2  R2-1</a:t>
              </a:r>
            </a:p>
          </p:txBody>
        </p:sp>
        <p:cxnSp>
          <p:nvCxnSpPr>
            <p:cNvPr id="25" name="AutoShape 7"/>
            <p:cNvCxnSpPr>
              <a:cxnSpLocks noChangeShapeType="1"/>
              <a:stCxn id="22" idx="2"/>
              <a:endCxn id="23" idx="0"/>
            </p:cNvCxnSpPr>
            <p:nvPr/>
          </p:nvCxnSpPr>
          <p:spPr bwMode="auto">
            <a:xfrm>
              <a:off x="1244600" y="3200400"/>
              <a:ext cx="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 Box 8"/>
            <p:cNvSpPr txBox="1">
              <a:spLocks noChangeArrowheads="1"/>
            </p:cNvSpPr>
            <p:nvPr/>
          </p:nvSpPr>
          <p:spPr bwMode="auto">
            <a:xfrm>
              <a:off x="1762125" y="3954463"/>
              <a:ext cx="3968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0" i="1" baseline="0">
                  <a:latin typeface="CourierPS" pitchFamily="49" charset="0"/>
                  <a:ea typeface="宋体" panose="02010600030101010101" pitchFamily="2" charset="-122"/>
                </a:rPr>
                <a:t>NO</a:t>
              </a:r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728663" y="4800600"/>
              <a:ext cx="50323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0" i="1" baseline="0">
                  <a:latin typeface="CourierPS" pitchFamily="49" charset="0"/>
                  <a:ea typeface="宋体" panose="02010600030101010101" pitchFamily="2" charset="-122"/>
                </a:rPr>
                <a:t>YES</a:t>
              </a:r>
            </a:p>
          </p:txBody>
        </p:sp>
        <p:cxnSp>
          <p:nvCxnSpPr>
            <p:cNvPr id="28" name="AutoShape 10"/>
            <p:cNvCxnSpPr>
              <a:cxnSpLocks noChangeShapeType="1"/>
              <a:stCxn id="23" idx="3"/>
              <a:endCxn id="24" idx="1"/>
            </p:cNvCxnSpPr>
            <p:nvPr/>
          </p:nvCxnSpPr>
          <p:spPr bwMode="auto">
            <a:xfrm>
              <a:off x="1816100" y="4229100"/>
              <a:ext cx="9144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Line 11"/>
            <p:cNvSpPr>
              <a:spLocks noChangeShapeType="1"/>
            </p:cNvSpPr>
            <p:nvPr/>
          </p:nvSpPr>
          <p:spPr bwMode="auto">
            <a:xfrm>
              <a:off x="3492500" y="48006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3492500" y="502920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13"/>
            <p:cNvSpPr>
              <a:spLocks noChangeShapeType="1"/>
            </p:cNvSpPr>
            <p:nvPr/>
          </p:nvSpPr>
          <p:spPr bwMode="auto">
            <a:xfrm flipV="1">
              <a:off x="4787900" y="3429000"/>
              <a:ext cx="0" cy="16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 flipH="1">
              <a:off x="1282700" y="3429000"/>
              <a:ext cx="3505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15"/>
            <p:cNvSpPr>
              <a:spLocks noChangeShapeType="1"/>
            </p:cNvSpPr>
            <p:nvPr/>
          </p:nvSpPr>
          <p:spPr bwMode="auto">
            <a:xfrm>
              <a:off x="1244600" y="48006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486440" y="1008346"/>
            <a:ext cx="2097117" cy="2175313"/>
            <a:chOff x="2915816" y="1037663"/>
            <a:chExt cx="2097117" cy="2175313"/>
          </a:xfrm>
        </p:grpSpPr>
        <p:sp>
          <p:nvSpPr>
            <p:cNvPr id="35" name="矩形 34"/>
            <p:cNvSpPr/>
            <p:nvPr/>
          </p:nvSpPr>
          <p:spPr bwMode="auto">
            <a:xfrm>
              <a:off x="3231704" y="1376976"/>
              <a:ext cx="1781229" cy="1836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3233189" y="1602610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矩形 36"/>
            <p:cNvSpPr/>
            <p:nvPr/>
          </p:nvSpPr>
          <p:spPr bwMode="auto">
            <a:xfrm>
              <a:off x="3233189" y="1834897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12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3233189" y="2292818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temp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3233189" y="2750741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3233189" y="2979701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2915816" y="1377002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R0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915816" y="183492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R2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2915816" y="2521804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R5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2915816" y="160596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latin typeface="Arial" charset="0"/>
                  <a:ea typeface="宋体" pitchFamily="2" charset="-122"/>
                </a:rPr>
                <a:t>R1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2915816" y="206388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R3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2915816" y="2292844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R4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2915816" y="275076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R6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2915816" y="297972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R7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3235214" y="2080748"/>
              <a:ext cx="1771200" cy="22544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3477631" y="1037663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Register File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588306" y="980728"/>
            <a:ext cx="2376182" cy="5563420"/>
            <a:chOff x="5436096" y="980728"/>
            <a:chExt cx="2376182" cy="5563420"/>
          </a:xfrm>
        </p:grpSpPr>
        <p:sp>
          <p:nvSpPr>
            <p:cNvPr id="52" name="矩形 51"/>
            <p:cNvSpPr/>
            <p:nvPr/>
          </p:nvSpPr>
          <p:spPr bwMode="auto">
            <a:xfrm>
              <a:off x="5436096" y="3212976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x300A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5446366" y="1739679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x3000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5436096" y="2962829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x3009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矩形 54"/>
            <p:cNvSpPr/>
            <p:nvPr/>
          </p:nvSpPr>
          <p:spPr bwMode="auto">
            <a:xfrm>
              <a:off x="5446366" y="4869734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x3100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矩形 55"/>
            <p:cNvSpPr/>
            <p:nvPr/>
          </p:nvSpPr>
          <p:spPr bwMode="auto">
            <a:xfrm>
              <a:off x="5446366" y="6021288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x310B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矩形 56"/>
            <p:cNvSpPr/>
            <p:nvPr/>
          </p:nvSpPr>
          <p:spPr bwMode="auto">
            <a:xfrm>
              <a:off x="5446366" y="6237312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x310C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6031049" y="1340768"/>
              <a:ext cx="1781229" cy="519655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6261283" y="980728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Memory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6031049" y="1769282"/>
              <a:ext cx="1770859" cy="228960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6031049" y="4899337"/>
              <a:ext cx="1770859" cy="228960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rPr>
                <a:t>Number 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62" name="矩形 61"/>
            <p:cNvSpPr/>
            <p:nvPr/>
          </p:nvSpPr>
          <p:spPr bwMode="auto">
            <a:xfrm>
              <a:off x="6031049" y="2988000"/>
              <a:ext cx="1770859" cy="228960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3" name="矩形 62"/>
            <p:cNvSpPr/>
            <p:nvPr/>
          </p:nvSpPr>
          <p:spPr bwMode="auto">
            <a:xfrm>
              <a:off x="6031049" y="6084000"/>
              <a:ext cx="1770859" cy="228960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Number 12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4" name="矩形 63"/>
            <p:cNvSpPr/>
            <p:nvPr/>
          </p:nvSpPr>
          <p:spPr bwMode="auto">
            <a:xfrm>
              <a:off x="6031049" y="6300000"/>
              <a:ext cx="1770859" cy="228960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5" name="矩形 64"/>
            <p:cNvSpPr/>
            <p:nvPr/>
          </p:nvSpPr>
          <p:spPr bwMode="auto">
            <a:xfrm>
              <a:off x="6033472" y="3232800"/>
              <a:ext cx="1770859" cy="228960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6" name="矩形 65"/>
            <p:cNvSpPr/>
            <p:nvPr/>
          </p:nvSpPr>
          <p:spPr bwMode="auto">
            <a:xfrm>
              <a:off x="6026400" y="1998242"/>
              <a:ext cx="1770859" cy="973918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Program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7" name="矩形 66"/>
            <p:cNvSpPr/>
            <p:nvPr/>
          </p:nvSpPr>
          <p:spPr bwMode="auto">
            <a:xfrm>
              <a:off x="6033600" y="5136662"/>
              <a:ext cx="1770859" cy="932174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Data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774142" y="3511949"/>
            <a:ext cx="1770859" cy="568274"/>
            <a:chOff x="755576" y="1037663"/>
            <a:chExt cx="1770859" cy="568274"/>
          </a:xfrm>
        </p:grpSpPr>
        <p:sp>
          <p:nvSpPr>
            <p:cNvPr id="70" name="矩形 69"/>
            <p:cNvSpPr/>
            <p:nvPr/>
          </p:nvSpPr>
          <p:spPr bwMode="auto">
            <a:xfrm>
              <a:off x="755576" y="1376977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x3000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1" name="矩形 70"/>
            <p:cNvSpPr/>
            <p:nvPr/>
          </p:nvSpPr>
          <p:spPr bwMode="auto">
            <a:xfrm>
              <a:off x="1034523" y="1037663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PC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B4A1C04-F17C-2A4F-CA3C-BB2DFC50674F}"/>
              </a:ext>
            </a:extLst>
          </p:cNvPr>
          <p:cNvSpPr txBox="1"/>
          <p:nvPr/>
        </p:nvSpPr>
        <p:spPr>
          <a:xfrm>
            <a:off x="1990818" y="2817301"/>
            <a:ext cx="3129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R1: address of the current integers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R2: no. of the left integers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R3: sum of integers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R4: the current integer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7B999D-7D1E-48EA-91EB-ECA8909EB876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70363C-A7B6-4E43-A313-F4A902ECEBB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1447800" y="1524000"/>
            <a:ext cx="1143000" cy="45720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0" baseline="0">
              <a:ea typeface="宋体" panose="02010600030101010101" pitchFamily="2" charset="-122"/>
            </a:endParaRP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Sample Program(</a:t>
            </a:r>
            <a:r>
              <a:rPr lang="en-US" altLang="zh-CN"/>
              <a:t>The use of a counter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6384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681903"/>
              </p:ext>
            </p:extLst>
          </p:nvPr>
        </p:nvGraphicFramePr>
        <p:xfrm>
          <a:off x="266700" y="1143000"/>
          <a:ext cx="8610600" cy="494538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Instruction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Comments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1 1 1 0 0 0 1 0 1 1 1 1 1 1 1 1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R1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x3100 (PC+0xFF)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LEA   R1, x3100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0 1 0 1 0 1 1 0 1 1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R3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0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 R3,R3,x0000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0 1 0 1 0 1 0 0 1 0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R2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0   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 R2,R2,x0000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0 1 1 0 0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R2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12,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 R2,R2,12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0 0 0 0 0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0 0 0 0 0 0 0 1 0 1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If Z, </a:t>
                      </a:r>
                      <a:r>
                        <a:rPr kumimoji="0" lang="en-US" altLang="zh-CN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goto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(PC+5) = X300A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BR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x3005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0 1 1 0 1 0 0 0 0 1 0 0 0 0 0 0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Load next value to R4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LDR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x3006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0 0 0 1 0 1 1 0 1 1 0 0 0 1 0 0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R3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R3 + R4     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x3007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0 0 0 1 0 0 1 0 0 1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Increment R1 (pointer)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  <a:endParaRPr kumimoji="0" lang="en-US" altLang="zh-CN" sz="1600" b="0" i="1" u="none" strike="noStrike" cap="none" normalizeH="0" baseline="0" dirty="0">
                        <a:ln>
                          <a:noFill/>
                        </a:ln>
                        <a:solidFill>
                          <a:srgbClr val="CE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X3008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 1 1 1 1 1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Decrement R2 (counter)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x3009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1 1 1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1 1 1 1 1 1 0 1 0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Goto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(PC-6)=x3004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BR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6371" name="Line 67"/>
          <p:cNvSpPr>
            <a:spLocks noChangeShapeType="1"/>
          </p:cNvSpPr>
          <p:nvPr/>
        </p:nvSpPr>
        <p:spPr bwMode="auto">
          <a:xfrm>
            <a:off x="27432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2" name="Line 68"/>
          <p:cNvSpPr>
            <a:spLocks noChangeShapeType="1"/>
          </p:cNvSpPr>
          <p:nvPr/>
        </p:nvSpPr>
        <p:spPr bwMode="auto">
          <a:xfrm>
            <a:off x="2743200" y="2371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3" name="Line 69"/>
          <p:cNvSpPr>
            <a:spLocks noChangeShapeType="1"/>
          </p:cNvSpPr>
          <p:nvPr/>
        </p:nvSpPr>
        <p:spPr bwMode="auto">
          <a:xfrm>
            <a:off x="27432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4" name="Line 70"/>
          <p:cNvSpPr>
            <a:spLocks noChangeShapeType="1"/>
          </p:cNvSpPr>
          <p:nvPr/>
        </p:nvSpPr>
        <p:spPr bwMode="auto">
          <a:xfrm>
            <a:off x="2743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5" name="Line 71"/>
          <p:cNvSpPr>
            <a:spLocks noChangeShapeType="1"/>
          </p:cNvSpPr>
          <p:nvPr/>
        </p:nvSpPr>
        <p:spPr bwMode="auto">
          <a:xfrm>
            <a:off x="2743200" y="37052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6" name="Line 72"/>
          <p:cNvSpPr>
            <a:spLocks noChangeShapeType="1"/>
          </p:cNvSpPr>
          <p:nvPr/>
        </p:nvSpPr>
        <p:spPr bwMode="auto">
          <a:xfrm>
            <a:off x="2743200" y="414337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7" name="Line 73"/>
          <p:cNvSpPr>
            <a:spLocks noChangeShapeType="1"/>
          </p:cNvSpPr>
          <p:nvPr/>
        </p:nvSpPr>
        <p:spPr bwMode="auto">
          <a:xfrm>
            <a:off x="2743200" y="4581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8" name="Line 74"/>
          <p:cNvSpPr>
            <a:spLocks noChangeShapeType="1"/>
          </p:cNvSpPr>
          <p:nvPr/>
        </p:nvSpPr>
        <p:spPr bwMode="auto">
          <a:xfrm>
            <a:off x="2743200" y="5029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9" name="Line 75"/>
          <p:cNvSpPr>
            <a:spLocks noChangeShapeType="1"/>
          </p:cNvSpPr>
          <p:nvPr/>
        </p:nvSpPr>
        <p:spPr bwMode="auto">
          <a:xfrm>
            <a:off x="27432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0" name="Line 76"/>
          <p:cNvSpPr>
            <a:spLocks noChangeShapeType="1"/>
          </p:cNvSpPr>
          <p:nvPr/>
        </p:nvSpPr>
        <p:spPr bwMode="auto">
          <a:xfrm>
            <a:off x="2743200" y="59150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1" name="Line 77"/>
          <p:cNvSpPr>
            <a:spLocks noChangeShapeType="1"/>
          </p:cNvSpPr>
          <p:nvPr/>
        </p:nvSpPr>
        <p:spPr bwMode="auto">
          <a:xfrm>
            <a:off x="3657600" y="192405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2" name="Line 78"/>
          <p:cNvSpPr>
            <a:spLocks noChangeShapeType="1"/>
          </p:cNvSpPr>
          <p:nvPr/>
        </p:nvSpPr>
        <p:spPr bwMode="auto">
          <a:xfrm>
            <a:off x="3657600" y="2371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3" name="Line 79"/>
          <p:cNvSpPr>
            <a:spLocks noChangeShapeType="1"/>
          </p:cNvSpPr>
          <p:nvPr/>
        </p:nvSpPr>
        <p:spPr bwMode="auto">
          <a:xfrm>
            <a:off x="4876800" y="23717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4" name="Line 80"/>
          <p:cNvSpPr>
            <a:spLocks noChangeShapeType="1"/>
          </p:cNvSpPr>
          <p:nvPr/>
        </p:nvSpPr>
        <p:spPr bwMode="auto">
          <a:xfrm>
            <a:off x="36576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5" name="Line 81"/>
          <p:cNvSpPr>
            <a:spLocks noChangeShapeType="1"/>
          </p:cNvSpPr>
          <p:nvPr/>
        </p:nvSpPr>
        <p:spPr bwMode="auto">
          <a:xfrm>
            <a:off x="4876800" y="281940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6" name="Line 82"/>
          <p:cNvSpPr>
            <a:spLocks noChangeShapeType="1"/>
          </p:cNvSpPr>
          <p:nvPr/>
        </p:nvSpPr>
        <p:spPr bwMode="auto">
          <a:xfrm>
            <a:off x="36576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7" name="Line 83"/>
          <p:cNvSpPr>
            <a:spLocks noChangeShapeType="1"/>
          </p:cNvSpPr>
          <p:nvPr/>
        </p:nvSpPr>
        <p:spPr bwMode="auto">
          <a:xfrm>
            <a:off x="4876800" y="325755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8" name="Line 84"/>
          <p:cNvSpPr>
            <a:spLocks noChangeShapeType="1"/>
          </p:cNvSpPr>
          <p:nvPr/>
        </p:nvSpPr>
        <p:spPr bwMode="auto">
          <a:xfrm>
            <a:off x="3657600" y="370522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89" name="Line 85"/>
          <p:cNvSpPr>
            <a:spLocks noChangeShapeType="1"/>
          </p:cNvSpPr>
          <p:nvPr/>
        </p:nvSpPr>
        <p:spPr bwMode="auto">
          <a:xfrm flipV="1">
            <a:off x="4572000" y="4143375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0" name="Line 86"/>
          <p:cNvSpPr>
            <a:spLocks noChangeShapeType="1"/>
          </p:cNvSpPr>
          <p:nvPr/>
        </p:nvSpPr>
        <p:spPr bwMode="auto">
          <a:xfrm>
            <a:off x="3657600" y="414337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1" name="Line 87"/>
          <p:cNvSpPr>
            <a:spLocks noChangeShapeType="1"/>
          </p:cNvSpPr>
          <p:nvPr/>
        </p:nvSpPr>
        <p:spPr bwMode="auto">
          <a:xfrm>
            <a:off x="3657600" y="4581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2" name="Line 88"/>
          <p:cNvSpPr>
            <a:spLocks noChangeShapeType="1"/>
          </p:cNvSpPr>
          <p:nvPr/>
        </p:nvSpPr>
        <p:spPr bwMode="auto">
          <a:xfrm>
            <a:off x="5486400" y="4581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3" name="Line 89"/>
          <p:cNvSpPr>
            <a:spLocks noChangeShapeType="1"/>
          </p:cNvSpPr>
          <p:nvPr/>
        </p:nvSpPr>
        <p:spPr bwMode="auto">
          <a:xfrm>
            <a:off x="3657600" y="5029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4" name="Line 90"/>
          <p:cNvSpPr>
            <a:spLocks noChangeShapeType="1"/>
          </p:cNvSpPr>
          <p:nvPr/>
        </p:nvSpPr>
        <p:spPr bwMode="auto">
          <a:xfrm>
            <a:off x="4876800" y="502920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5" name="Line 91"/>
          <p:cNvSpPr>
            <a:spLocks noChangeShapeType="1"/>
          </p:cNvSpPr>
          <p:nvPr/>
        </p:nvSpPr>
        <p:spPr bwMode="auto">
          <a:xfrm>
            <a:off x="36576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6" name="Line 92"/>
          <p:cNvSpPr>
            <a:spLocks noChangeShapeType="1"/>
          </p:cNvSpPr>
          <p:nvPr/>
        </p:nvSpPr>
        <p:spPr bwMode="auto">
          <a:xfrm>
            <a:off x="4876800" y="548640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97" name="Line 93"/>
          <p:cNvSpPr>
            <a:spLocks noChangeShapeType="1"/>
          </p:cNvSpPr>
          <p:nvPr/>
        </p:nvSpPr>
        <p:spPr bwMode="auto">
          <a:xfrm>
            <a:off x="3657600" y="591502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Compute sum of 12 integers.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Numbers start at location x3100.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Program starts at location x3000.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7" name="日期占位符 1"/>
          <p:cNvSpPr txBox="1">
            <a:spLocks noGrp="1"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DBD8AD-F0D5-42E3-9A46-BE963245F2AE}" type="datetime1">
              <a:rPr lang="zh-CN" altLang="en-US" sz="1400" b="0" baseline="0"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57348" name="灯片编号占位符 3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DF8BB49-56DB-4DEE-80C3-856A1E26CF45}" type="slidenum">
              <a:rPr lang="en-US" altLang="zh-CN" sz="1400" b="0" baseline="0"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Branch Instructions</a:t>
            </a:r>
          </a:p>
        </p:txBody>
      </p:sp>
      <p:grpSp>
        <p:nvGrpSpPr>
          <p:cNvPr id="57350" name="Group 18"/>
          <p:cNvGrpSpPr>
            <a:grpSpLocks/>
          </p:cNvGrpSpPr>
          <p:nvPr/>
        </p:nvGrpSpPr>
        <p:grpSpPr bwMode="auto">
          <a:xfrm>
            <a:off x="395288" y="2889250"/>
            <a:ext cx="4032250" cy="3276600"/>
            <a:chOff x="340" y="1488"/>
            <a:chExt cx="2736" cy="2064"/>
          </a:xfrm>
        </p:grpSpPr>
        <p:sp>
          <p:nvSpPr>
            <p:cNvPr id="57353" name="Rectangle 4"/>
            <p:cNvSpPr>
              <a:spLocks noChangeArrowheads="1"/>
            </p:cNvSpPr>
            <p:nvPr/>
          </p:nvSpPr>
          <p:spPr bwMode="auto">
            <a:xfrm>
              <a:off x="340" y="1488"/>
              <a:ext cx="1008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R1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 x3100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R3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 0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R4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 M[R1]</a:t>
              </a:r>
            </a:p>
          </p:txBody>
        </p:sp>
        <p:sp>
          <p:nvSpPr>
            <p:cNvPr id="57354" name="AutoShape 5"/>
            <p:cNvSpPr>
              <a:spLocks noChangeArrowheads="1"/>
            </p:cNvSpPr>
            <p:nvPr/>
          </p:nvSpPr>
          <p:spPr bwMode="auto">
            <a:xfrm>
              <a:off x="484" y="2304"/>
              <a:ext cx="720" cy="72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R4=-1?</a:t>
              </a:r>
            </a:p>
          </p:txBody>
        </p:sp>
        <p:sp>
          <p:nvSpPr>
            <p:cNvPr id="57355" name="Rectangle 6"/>
            <p:cNvSpPr>
              <a:spLocks noChangeArrowheads="1"/>
            </p:cNvSpPr>
            <p:nvPr/>
          </p:nvSpPr>
          <p:spPr bwMode="auto">
            <a:xfrm>
              <a:off x="1780" y="2328"/>
              <a:ext cx="10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R3  R3+R4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R1  R1+1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R4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 M[R1]</a:t>
              </a:r>
            </a:p>
          </p:txBody>
        </p:sp>
        <p:cxnSp>
          <p:nvCxnSpPr>
            <p:cNvPr id="57356" name="AutoShape 7"/>
            <p:cNvCxnSpPr>
              <a:cxnSpLocks noChangeShapeType="1"/>
              <a:stCxn id="57353" idx="2"/>
              <a:endCxn id="57354" idx="0"/>
            </p:cNvCxnSpPr>
            <p:nvPr/>
          </p:nvCxnSpPr>
          <p:spPr bwMode="auto">
            <a:xfrm>
              <a:off x="844" y="2016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57" name="Text Box 8"/>
            <p:cNvSpPr txBox="1">
              <a:spLocks noChangeArrowheads="1"/>
            </p:cNvSpPr>
            <p:nvPr/>
          </p:nvSpPr>
          <p:spPr bwMode="auto">
            <a:xfrm>
              <a:off x="1195" y="2640"/>
              <a:ext cx="2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0" i="1" baseline="0">
                  <a:latin typeface="CourierPS" pitchFamily="49" charset="0"/>
                  <a:ea typeface="宋体" panose="02010600030101010101" pitchFamily="2" charset="-122"/>
                </a:rPr>
                <a:t>NO</a:t>
              </a:r>
            </a:p>
          </p:txBody>
        </p:sp>
        <p:sp>
          <p:nvSpPr>
            <p:cNvPr id="57358" name="Text Box 9"/>
            <p:cNvSpPr txBox="1">
              <a:spLocks noChangeArrowheads="1"/>
            </p:cNvSpPr>
            <p:nvPr/>
          </p:nvSpPr>
          <p:spPr bwMode="auto">
            <a:xfrm>
              <a:off x="472" y="3072"/>
              <a:ext cx="3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0" i="1" baseline="0">
                  <a:latin typeface="CourierPS" pitchFamily="49" charset="0"/>
                  <a:ea typeface="宋体" panose="02010600030101010101" pitchFamily="2" charset="-122"/>
                </a:rPr>
                <a:t>YES</a:t>
              </a:r>
            </a:p>
          </p:txBody>
        </p:sp>
        <p:cxnSp>
          <p:nvCxnSpPr>
            <p:cNvPr id="57359" name="AutoShape 10"/>
            <p:cNvCxnSpPr>
              <a:cxnSpLocks noChangeShapeType="1"/>
              <a:stCxn id="57354" idx="3"/>
              <a:endCxn id="57355" idx="1"/>
            </p:cNvCxnSpPr>
            <p:nvPr/>
          </p:nvCxnSpPr>
          <p:spPr bwMode="auto">
            <a:xfrm>
              <a:off x="1204" y="2664"/>
              <a:ext cx="5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60" name="Line 11"/>
            <p:cNvSpPr>
              <a:spLocks noChangeShapeType="1"/>
            </p:cNvSpPr>
            <p:nvPr/>
          </p:nvSpPr>
          <p:spPr bwMode="auto">
            <a:xfrm>
              <a:off x="226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1" name="Line 12"/>
            <p:cNvSpPr>
              <a:spLocks noChangeShapeType="1"/>
            </p:cNvSpPr>
            <p:nvPr/>
          </p:nvSpPr>
          <p:spPr bwMode="auto">
            <a:xfrm>
              <a:off x="2260" y="31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 flipV="1">
              <a:off x="3076" y="216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 flipH="1">
              <a:off x="868" y="2160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844" y="302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621213" y="1916113"/>
            <a:ext cx="4217987" cy="24191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A special character used to indicate the end of a sequence</a:t>
            </a:r>
            <a:br>
              <a:rPr lang="en-US" altLang="zh-CN" sz="2800" b="1" dirty="0"/>
            </a:br>
            <a:r>
              <a:rPr lang="en-US" altLang="zh-CN" sz="2800" b="1" dirty="0"/>
              <a:t>is often called a </a:t>
            </a:r>
            <a:r>
              <a:rPr lang="en-US" altLang="zh-CN" sz="2800" b="1" dirty="0">
                <a:solidFill>
                  <a:srgbClr val="009900"/>
                </a:solidFill>
              </a:rPr>
              <a:t>sentinel</a:t>
            </a:r>
            <a:r>
              <a:rPr lang="en-US" altLang="zh-CN" sz="2800" b="1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/>
          </a:p>
          <a:p>
            <a:pPr marL="457200" indent="-457200">
              <a:lnSpc>
                <a:spcPct val="90000"/>
              </a:lnSpc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zh-CN" sz="2800" dirty="0"/>
              <a:t>Useful when you don’t know ahead of time how many times to execute a loop.</a:t>
            </a:r>
          </a:p>
          <a:p>
            <a:pPr marL="457200" indent="-457200">
              <a:lnSpc>
                <a:spcPct val="90000"/>
              </a:lnSpc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zh-CN" sz="2800" dirty="0"/>
              <a:t>Example: set</a:t>
            </a:r>
            <a:r>
              <a:rPr lang="zh-CN" altLang="en-US" sz="2800" dirty="0"/>
              <a:t> </a:t>
            </a:r>
            <a:r>
              <a:rPr lang="en-US" altLang="zh-CN" sz="2800" dirty="0"/>
              <a:t>-1</a:t>
            </a:r>
            <a:r>
              <a:rPr lang="zh-CN" altLang="en-US" sz="2800" dirty="0"/>
              <a:t> 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rgbClr val="00B050"/>
                </a:solidFill>
              </a:rPr>
              <a:t>sentine</a:t>
            </a:r>
            <a:r>
              <a:rPr lang="en-US" altLang="zh-CN" sz="2800" dirty="0"/>
              <a:t>l) as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end</a:t>
            </a:r>
            <a:r>
              <a:rPr lang="zh-CN" altLang="en-US" sz="2800" dirty="0"/>
              <a:t> </a:t>
            </a:r>
            <a:r>
              <a:rPr lang="en-US" altLang="zh-CN" sz="2800" dirty="0"/>
              <a:t>of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sequence</a:t>
            </a:r>
            <a:r>
              <a:rPr lang="zh-CN" altLang="en-US" sz="2800" dirty="0"/>
              <a:t> </a:t>
            </a:r>
            <a:r>
              <a:rPr lang="en-US" altLang="zh-CN" sz="2800" dirty="0"/>
              <a:t>of</a:t>
            </a:r>
            <a:r>
              <a:rPr lang="zh-CN" altLang="en-US" sz="2800" dirty="0"/>
              <a:t> </a:t>
            </a:r>
            <a:r>
              <a:rPr lang="en-US" altLang="zh-CN" sz="2800" dirty="0"/>
              <a:t>integers.</a:t>
            </a:r>
          </a:p>
        </p:txBody>
      </p:sp>
      <p:sp>
        <p:nvSpPr>
          <p:cNvPr id="21" name="文本框 1"/>
          <p:cNvSpPr txBox="1">
            <a:spLocks noChangeArrowheads="1"/>
          </p:cNvSpPr>
          <p:nvPr/>
        </p:nvSpPr>
        <p:spPr bwMode="auto">
          <a:xfrm>
            <a:off x="323850" y="2411596"/>
            <a:ext cx="24673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u="sng" baseline="0" dirty="0">
                <a:ea typeface="宋体" panose="02010600030101010101" pitchFamily="2" charset="-122"/>
              </a:rPr>
              <a:t>The use of a sentinel</a:t>
            </a:r>
            <a:endParaRPr lang="zh-CN" altLang="en-US" sz="1800" u="sng" dirty="0"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CAAA3C-BC9E-18DF-FE14-865D9EF711DF}"/>
              </a:ext>
            </a:extLst>
          </p:cNvPr>
          <p:cNvSpPr txBox="1"/>
          <p:nvPr/>
        </p:nvSpPr>
        <p:spPr>
          <a:xfrm>
            <a:off x="4887501" y="4678588"/>
            <a:ext cx="3129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R1: address of the current integers</a:t>
            </a: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R3: sum of integers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R4: the current integer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Compute sum of 12 integers.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Numbers start at location x3100.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Program starts at location x3000.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7" name="日期占位符 1"/>
          <p:cNvSpPr txBox="1">
            <a:spLocks noGrp="1"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DBD8AD-F0D5-42E3-9A46-BE963245F2AE}" type="datetime1">
              <a:rPr lang="zh-CN" altLang="en-US" sz="1400" b="0" baseline="0"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57348" name="灯片编号占位符 3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DF8BB49-56DB-4DEE-80C3-856A1E26CF45}" type="slidenum">
              <a:rPr lang="en-US" altLang="zh-CN" sz="1400" b="0" baseline="0"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Using Branch Instructions</a:t>
            </a:r>
          </a:p>
        </p:txBody>
      </p:sp>
      <p:grpSp>
        <p:nvGrpSpPr>
          <p:cNvPr id="57350" name="Group 18"/>
          <p:cNvGrpSpPr>
            <a:grpSpLocks/>
          </p:cNvGrpSpPr>
          <p:nvPr/>
        </p:nvGrpSpPr>
        <p:grpSpPr bwMode="auto">
          <a:xfrm>
            <a:off x="395288" y="2889250"/>
            <a:ext cx="4032250" cy="3276600"/>
            <a:chOff x="340" y="1488"/>
            <a:chExt cx="2736" cy="2064"/>
          </a:xfrm>
        </p:grpSpPr>
        <p:sp>
          <p:nvSpPr>
            <p:cNvPr id="57353" name="Rectangle 4"/>
            <p:cNvSpPr>
              <a:spLocks noChangeArrowheads="1"/>
            </p:cNvSpPr>
            <p:nvPr/>
          </p:nvSpPr>
          <p:spPr bwMode="auto">
            <a:xfrm>
              <a:off x="340" y="1488"/>
              <a:ext cx="1008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R1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 x3100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R3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 0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R4 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 M[R1]</a:t>
              </a:r>
            </a:p>
          </p:txBody>
        </p:sp>
        <p:sp>
          <p:nvSpPr>
            <p:cNvPr id="57354" name="AutoShape 5"/>
            <p:cNvSpPr>
              <a:spLocks noChangeArrowheads="1"/>
            </p:cNvSpPr>
            <p:nvPr/>
          </p:nvSpPr>
          <p:spPr bwMode="auto">
            <a:xfrm>
              <a:off x="484" y="2304"/>
              <a:ext cx="720" cy="720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</a:rPr>
                <a:t>R4=-1?</a:t>
              </a:r>
            </a:p>
          </p:txBody>
        </p:sp>
        <p:sp>
          <p:nvSpPr>
            <p:cNvPr id="57355" name="Rectangle 6"/>
            <p:cNvSpPr>
              <a:spLocks noChangeArrowheads="1"/>
            </p:cNvSpPr>
            <p:nvPr/>
          </p:nvSpPr>
          <p:spPr bwMode="auto">
            <a:xfrm>
              <a:off x="1780" y="2328"/>
              <a:ext cx="1008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R3  R3+R4</a:t>
              </a:r>
              <a:b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</a:br>
              <a:r>
                <a:rPr lang="en-US" altLang="zh-CN" sz="1600" b="0" baseline="0">
                  <a:latin typeface="CourierPS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R1  R1+1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R4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 M[R1]</a:t>
              </a:r>
            </a:p>
          </p:txBody>
        </p:sp>
        <p:cxnSp>
          <p:nvCxnSpPr>
            <p:cNvPr id="57356" name="AutoShape 7"/>
            <p:cNvCxnSpPr>
              <a:cxnSpLocks noChangeShapeType="1"/>
              <a:stCxn id="57353" idx="2"/>
              <a:endCxn id="57354" idx="0"/>
            </p:cNvCxnSpPr>
            <p:nvPr/>
          </p:nvCxnSpPr>
          <p:spPr bwMode="auto">
            <a:xfrm>
              <a:off x="844" y="2016"/>
              <a:ext cx="0" cy="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57" name="Text Box 8"/>
            <p:cNvSpPr txBox="1">
              <a:spLocks noChangeArrowheads="1"/>
            </p:cNvSpPr>
            <p:nvPr/>
          </p:nvSpPr>
          <p:spPr bwMode="auto">
            <a:xfrm>
              <a:off x="1195" y="2640"/>
              <a:ext cx="2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0" i="1" baseline="0">
                  <a:latin typeface="CourierPS" pitchFamily="49" charset="0"/>
                  <a:ea typeface="宋体" panose="02010600030101010101" pitchFamily="2" charset="-122"/>
                </a:rPr>
                <a:t>NO</a:t>
              </a:r>
            </a:p>
          </p:txBody>
        </p:sp>
        <p:sp>
          <p:nvSpPr>
            <p:cNvPr id="57358" name="Text Box 9"/>
            <p:cNvSpPr txBox="1">
              <a:spLocks noChangeArrowheads="1"/>
            </p:cNvSpPr>
            <p:nvPr/>
          </p:nvSpPr>
          <p:spPr bwMode="auto">
            <a:xfrm>
              <a:off x="472" y="3072"/>
              <a:ext cx="3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00" b="0" i="1" baseline="0">
                  <a:latin typeface="CourierPS" pitchFamily="49" charset="0"/>
                  <a:ea typeface="宋体" panose="02010600030101010101" pitchFamily="2" charset="-122"/>
                </a:rPr>
                <a:t>YES</a:t>
              </a:r>
            </a:p>
          </p:txBody>
        </p:sp>
        <p:cxnSp>
          <p:nvCxnSpPr>
            <p:cNvPr id="57359" name="AutoShape 10"/>
            <p:cNvCxnSpPr>
              <a:cxnSpLocks noChangeShapeType="1"/>
              <a:stCxn id="57354" idx="3"/>
              <a:endCxn id="57355" idx="1"/>
            </p:cNvCxnSpPr>
            <p:nvPr/>
          </p:nvCxnSpPr>
          <p:spPr bwMode="auto">
            <a:xfrm>
              <a:off x="1204" y="2664"/>
              <a:ext cx="5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60" name="Line 11"/>
            <p:cNvSpPr>
              <a:spLocks noChangeShapeType="1"/>
            </p:cNvSpPr>
            <p:nvPr/>
          </p:nvSpPr>
          <p:spPr bwMode="auto">
            <a:xfrm>
              <a:off x="2260" y="30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1" name="Line 12"/>
            <p:cNvSpPr>
              <a:spLocks noChangeShapeType="1"/>
            </p:cNvSpPr>
            <p:nvPr/>
          </p:nvSpPr>
          <p:spPr bwMode="auto">
            <a:xfrm>
              <a:off x="2260" y="31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 flipV="1">
              <a:off x="3076" y="216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 flipH="1">
              <a:off x="868" y="2160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844" y="302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351" name="文本框 1"/>
          <p:cNvSpPr txBox="1">
            <a:spLocks noChangeArrowheads="1"/>
          </p:cNvSpPr>
          <p:nvPr/>
        </p:nvSpPr>
        <p:spPr bwMode="auto">
          <a:xfrm>
            <a:off x="323850" y="2411596"/>
            <a:ext cx="24673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u="sng" baseline="0" dirty="0">
                <a:ea typeface="宋体" panose="02010600030101010101" pitchFamily="2" charset="-122"/>
              </a:rPr>
              <a:t>The use of a sentinel</a:t>
            </a:r>
            <a:endParaRPr lang="zh-CN" altLang="en-US" sz="1800" u="sng" dirty="0">
              <a:ea typeface="宋体" panose="02010600030101010101" pitchFamily="2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486440" y="1008346"/>
            <a:ext cx="2097117" cy="2175313"/>
            <a:chOff x="2915816" y="1037663"/>
            <a:chExt cx="2097117" cy="2175313"/>
          </a:xfrm>
        </p:grpSpPr>
        <p:sp>
          <p:nvSpPr>
            <p:cNvPr id="22" name="矩形 21"/>
            <p:cNvSpPr/>
            <p:nvPr/>
          </p:nvSpPr>
          <p:spPr bwMode="auto">
            <a:xfrm>
              <a:off x="3231704" y="1376976"/>
              <a:ext cx="1781229" cy="18360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3239127" y="1603614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3233189" y="2292818"/>
              <a:ext cx="1770859" cy="22896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temp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3233189" y="2750741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3233189" y="2979701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915816" y="1377002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R0</a:t>
              </a:r>
              <a:endParaRPr kumimoji="0" lang="zh-CN" altLang="en-US" sz="1200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915816" y="183492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R2</a:t>
              </a:r>
              <a:endParaRPr kumimoji="0" lang="zh-CN" altLang="en-US" sz="1200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2915816" y="2521804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R5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2915816" y="160596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R1</a:t>
              </a:r>
              <a:endParaRPr lang="zh-CN" altLang="en-US" sz="1200" b="1" baseline="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2915816" y="206388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R3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2915816" y="2292844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rgbClr val="FF0000"/>
                  </a:solidFill>
                  <a:latin typeface="Arial" charset="0"/>
                </a:rPr>
                <a:t>R4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2915816" y="275076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R6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2915816" y="2979725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R7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3233189" y="2067376"/>
              <a:ext cx="1771200" cy="22544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矩形 36"/>
            <p:cNvSpPr/>
            <p:nvPr/>
          </p:nvSpPr>
          <p:spPr bwMode="auto">
            <a:xfrm>
              <a:off x="3477631" y="1037663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Register File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588306" y="980728"/>
            <a:ext cx="2376182" cy="5563420"/>
            <a:chOff x="5436096" y="980728"/>
            <a:chExt cx="2376182" cy="5563420"/>
          </a:xfrm>
        </p:grpSpPr>
        <p:sp>
          <p:nvSpPr>
            <p:cNvPr id="39" name="矩形 38"/>
            <p:cNvSpPr/>
            <p:nvPr/>
          </p:nvSpPr>
          <p:spPr bwMode="auto">
            <a:xfrm>
              <a:off x="5436096" y="3212976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x300A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5446366" y="1739679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x3000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5436096" y="2962829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x3009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5446366" y="4869734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x3100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5446366" y="6021288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x310B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5446366" y="6237312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x310C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6031049" y="1340768"/>
              <a:ext cx="1781229" cy="519655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6261283" y="980728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Memory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6031049" y="1769282"/>
              <a:ext cx="1770859" cy="228960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6031049" y="4899337"/>
              <a:ext cx="1770859" cy="228960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rPr>
                <a:t>Number 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6031049" y="2988000"/>
              <a:ext cx="1770859" cy="228960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6031049" y="6084000"/>
              <a:ext cx="1770859" cy="228960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Number 12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6031049" y="6300000"/>
              <a:ext cx="1770859" cy="228960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-1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6033472" y="3232800"/>
              <a:ext cx="1770859" cy="228960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6041419" y="1998242"/>
              <a:ext cx="1770859" cy="973918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Program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4" name="矩形 53"/>
            <p:cNvSpPr/>
            <p:nvPr/>
          </p:nvSpPr>
          <p:spPr bwMode="auto">
            <a:xfrm>
              <a:off x="6033600" y="5136662"/>
              <a:ext cx="1770859" cy="932174"/>
            </a:xfrm>
            <a:prstGeom prst="rect">
              <a:avLst/>
            </a:prstGeom>
            <a:solidFill>
              <a:srgbClr val="CC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Data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774142" y="3511949"/>
            <a:ext cx="1770859" cy="568274"/>
            <a:chOff x="755576" y="1037663"/>
            <a:chExt cx="1770859" cy="568274"/>
          </a:xfrm>
        </p:grpSpPr>
        <p:sp>
          <p:nvSpPr>
            <p:cNvPr id="56" name="矩形 55"/>
            <p:cNvSpPr/>
            <p:nvPr/>
          </p:nvSpPr>
          <p:spPr bwMode="auto">
            <a:xfrm>
              <a:off x="755576" y="1376977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x3000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矩形 56"/>
            <p:cNvSpPr/>
            <p:nvPr/>
          </p:nvSpPr>
          <p:spPr bwMode="auto">
            <a:xfrm>
              <a:off x="1034523" y="1037663"/>
              <a:ext cx="1310393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b="1" baseline="0" dirty="0">
                  <a:latin typeface="Arial" charset="0"/>
                </a:rPr>
                <a:t>PC</a:t>
              </a:r>
              <a:endPara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4955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1"/>
          <p:cNvSpPr txBox="1">
            <a:spLocks noGrp="1"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06B9AB-6340-46A2-8479-ED5FF214EFC4}" type="datetime1">
              <a:rPr lang="zh-CN" altLang="en-US" sz="1400" b="0" baseline="0"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59395" name="灯片编号占位符 3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B90AC3D-3674-4471-8020-886CD1B76026}" type="slidenum">
              <a:rPr lang="en-US" altLang="zh-CN" sz="1400" b="0" baseline="0"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59396" name="Rectangle 2"/>
          <p:cNvSpPr>
            <a:spLocks noChangeArrowheads="1"/>
          </p:cNvSpPr>
          <p:nvPr/>
        </p:nvSpPr>
        <p:spPr bwMode="auto">
          <a:xfrm>
            <a:off x="1447800" y="1524000"/>
            <a:ext cx="1143000" cy="3633788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0" baseline="0">
              <a:ea typeface="宋体" panose="02010600030101010101" pitchFamily="2" charset="-122"/>
            </a:endParaRP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Sample Program(</a:t>
            </a:r>
            <a:r>
              <a:rPr lang="en-US" altLang="zh-CN"/>
              <a:t>The use of a sentinel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74877" name="Group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43347"/>
              </p:ext>
            </p:extLst>
          </p:nvPr>
        </p:nvGraphicFramePr>
        <p:xfrm>
          <a:off x="266700" y="1143000"/>
          <a:ext cx="8610600" cy="405638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1 1 1 0 0 0 1 0 1 1 1 1 1 1 1 1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(PC+0xFF)=x3100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LEA R1, 0xFF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0 1 0 1 0 1 1 0 1 1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R3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 R3,R3,0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0 1 1 0 1 0 0 0 0 1 0 0 0 0 0 0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M[R1] 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 R4,R1,0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0 0 0 0 1 0 0 0 0 0 0 0 0 1 0 0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 N, </a:t>
                      </a:r>
                      <a:r>
                        <a:rPr kumimoji="0" lang="en-US" altLang="zh-CN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(PC+ 4)=X3008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0 0 0 1 0 1 1 0 1 1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R3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R3 + R4 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R3,R3,R4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X3005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0 0 0 1 0 0 1 0 0 1 1 0 0 0 0 1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+ 1 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X3006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0 1 1 0 1 0 0 0 0 1 0 0 0 0 0 0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M[R1]  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x3007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0 0 0 0 1 1 1 1 1 1 1 1 1 0 1 1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(PC-5)= x3003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9435" name="Line 67"/>
          <p:cNvSpPr>
            <a:spLocks noChangeShapeType="1"/>
          </p:cNvSpPr>
          <p:nvPr/>
        </p:nvSpPr>
        <p:spPr bwMode="auto">
          <a:xfrm>
            <a:off x="27432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6" name="Line 68"/>
          <p:cNvSpPr>
            <a:spLocks noChangeShapeType="1"/>
          </p:cNvSpPr>
          <p:nvPr/>
        </p:nvSpPr>
        <p:spPr bwMode="auto">
          <a:xfrm>
            <a:off x="2743200" y="2371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7" name="Line 69"/>
          <p:cNvSpPr>
            <a:spLocks noChangeShapeType="1"/>
          </p:cNvSpPr>
          <p:nvPr/>
        </p:nvSpPr>
        <p:spPr bwMode="auto">
          <a:xfrm>
            <a:off x="27432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8" name="Line 70"/>
          <p:cNvSpPr>
            <a:spLocks noChangeShapeType="1"/>
          </p:cNvSpPr>
          <p:nvPr/>
        </p:nvSpPr>
        <p:spPr bwMode="auto">
          <a:xfrm>
            <a:off x="2743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9" name="Line 71"/>
          <p:cNvSpPr>
            <a:spLocks noChangeShapeType="1"/>
          </p:cNvSpPr>
          <p:nvPr/>
        </p:nvSpPr>
        <p:spPr bwMode="auto">
          <a:xfrm>
            <a:off x="2743200" y="37052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0" name="Line 72"/>
          <p:cNvSpPr>
            <a:spLocks noChangeShapeType="1"/>
          </p:cNvSpPr>
          <p:nvPr/>
        </p:nvSpPr>
        <p:spPr bwMode="auto">
          <a:xfrm>
            <a:off x="2743200" y="414337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1" name="Line 73"/>
          <p:cNvSpPr>
            <a:spLocks noChangeShapeType="1"/>
          </p:cNvSpPr>
          <p:nvPr/>
        </p:nvSpPr>
        <p:spPr bwMode="auto">
          <a:xfrm>
            <a:off x="2743200" y="4581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2" name="Line 74"/>
          <p:cNvSpPr>
            <a:spLocks noChangeShapeType="1"/>
          </p:cNvSpPr>
          <p:nvPr/>
        </p:nvSpPr>
        <p:spPr bwMode="auto">
          <a:xfrm>
            <a:off x="2743200" y="5029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3" name="Line 77"/>
          <p:cNvSpPr>
            <a:spLocks noChangeShapeType="1"/>
          </p:cNvSpPr>
          <p:nvPr/>
        </p:nvSpPr>
        <p:spPr bwMode="auto">
          <a:xfrm>
            <a:off x="3657600" y="192405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4" name="Line 78"/>
          <p:cNvSpPr>
            <a:spLocks noChangeShapeType="1"/>
          </p:cNvSpPr>
          <p:nvPr/>
        </p:nvSpPr>
        <p:spPr bwMode="auto">
          <a:xfrm>
            <a:off x="3657600" y="2371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5" name="Line 79"/>
          <p:cNvSpPr>
            <a:spLocks noChangeShapeType="1"/>
          </p:cNvSpPr>
          <p:nvPr/>
        </p:nvSpPr>
        <p:spPr bwMode="auto">
          <a:xfrm>
            <a:off x="4876800" y="23717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6" name="Line 80"/>
          <p:cNvSpPr>
            <a:spLocks noChangeShapeType="1"/>
          </p:cNvSpPr>
          <p:nvPr/>
        </p:nvSpPr>
        <p:spPr bwMode="auto">
          <a:xfrm>
            <a:off x="36576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7" name="Line 81"/>
          <p:cNvSpPr>
            <a:spLocks noChangeShapeType="1"/>
          </p:cNvSpPr>
          <p:nvPr/>
        </p:nvSpPr>
        <p:spPr bwMode="auto">
          <a:xfrm>
            <a:off x="4570413" y="2819400"/>
            <a:ext cx="167798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8" name="Line 83"/>
          <p:cNvSpPr>
            <a:spLocks noChangeShapeType="1"/>
          </p:cNvSpPr>
          <p:nvPr/>
        </p:nvSpPr>
        <p:spPr bwMode="auto">
          <a:xfrm>
            <a:off x="3635375" y="3284538"/>
            <a:ext cx="25955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49" name="Line 86"/>
          <p:cNvSpPr>
            <a:spLocks noChangeShapeType="1"/>
          </p:cNvSpPr>
          <p:nvPr/>
        </p:nvSpPr>
        <p:spPr bwMode="auto">
          <a:xfrm>
            <a:off x="3635375" y="4149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0" name="Line 87"/>
          <p:cNvSpPr>
            <a:spLocks noChangeShapeType="1"/>
          </p:cNvSpPr>
          <p:nvPr/>
        </p:nvSpPr>
        <p:spPr bwMode="auto">
          <a:xfrm>
            <a:off x="3657600" y="4581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1" name="Line 88"/>
          <p:cNvSpPr>
            <a:spLocks noChangeShapeType="1"/>
          </p:cNvSpPr>
          <p:nvPr/>
        </p:nvSpPr>
        <p:spPr bwMode="auto">
          <a:xfrm>
            <a:off x="4570414" y="4581525"/>
            <a:ext cx="170021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2" name="Line 90"/>
          <p:cNvSpPr>
            <a:spLocks noChangeShapeType="1"/>
          </p:cNvSpPr>
          <p:nvPr/>
        </p:nvSpPr>
        <p:spPr bwMode="auto">
          <a:xfrm>
            <a:off x="3635375" y="5018088"/>
            <a:ext cx="2613025" cy="1111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3" name="Line 86"/>
          <p:cNvSpPr>
            <a:spLocks noChangeShapeType="1"/>
          </p:cNvSpPr>
          <p:nvPr/>
        </p:nvSpPr>
        <p:spPr bwMode="auto">
          <a:xfrm>
            <a:off x="3635375" y="3716338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4" name="Line 86"/>
          <p:cNvSpPr>
            <a:spLocks noChangeShapeType="1"/>
          </p:cNvSpPr>
          <p:nvPr/>
        </p:nvSpPr>
        <p:spPr bwMode="auto">
          <a:xfrm>
            <a:off x="5508625" y="3716338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5" name="Line 86"/>
          <p:cNvSpPr>
            <a:spLocks noChangeShapeType="1"/>
          </p:cNvSpPr>
          <p:nvPr/>
        </p:nvSpPr>
        <p:spPr bwMode="auto">
          <a:xfrm>
            <a:off x="4889500" y="3716338"/>
            <a:ext cx="4746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56" name="Line 90"/>
          <p:cNvSpPr>
            <a:spLocks noChangeShapeType="1"/>
          </p:cNvSpPr>
          <p:nvPr/>
        </p:nvSpPr>
        <p:spPr bwMode="auto">
          <a:xfrm>
            <a:off x="4570413" y="4151313"/>
            <a:ext cx="1660525" cy="1587"/>
          </a:xfrm>
          <a:custGeom>
            <a:avLst/>
            <a:gdLst>
              <a:gd name="T0" fmla="*/ 0 w 1046"/>
              <a:gd name="T1" fmla="*/ 0 h 1"/>
              <a:gd name="T2" fmla="*/ 2147483646 w 104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46" h="1">
                <a:moveTo>
                  <a:pt x="0" y="0"/>
                </a:moveTo>
                <a:lnTo>
                  <a:pt x="1046" y="0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81075"/>
            <a:ext cx="8839200" cy="54816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Compute sum of 12 integers.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Numbers start at location x3100.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Program starts at location x3000.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19" name="日期占位符 1"/>
          <p:cNvSpPr txBox="1">
            <a:spLocks noGrp="1"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380C28-024F-46E8-A2C9-2103B2341D94}" type="datetime1">
              <a:rPr lang="zh-CN" altLang="en-US" sz="1400" b="0" baseline="0"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60420" name="灯片编号占位符 3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1996533-CCA4-4635-B870-9C186BF40968}" type="slidenum">
              <a:rPr lang="en-US" altLang="zh-CN" sz="1400" b="0" baseline="0"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Branch Instructions(Code Optimization)</a:t>
            </a:r>
          </a:p>
        </p:txBody>
      </p:sp>
      <p:sp>
        <p:nvSpPr>
          <p:cNvPr id="60422" name="Rectangle 4"/>
          <p:cNvSpPr>
            <a:spLocks noChangeArrowheads="1"/>
          </p:cNvSpPr>
          <p:nvPr/>
        </p:nvSpPr>
        <p:spPr bwMode="auto">
          <a:xfrm>
            <a:off x="323850" y="2349500"/>
            <a:ext cx="14859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R1 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 x3100</a:t>
            </a:r>
            <a:b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</a:b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R3 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 0</a:t>
            </a:r>
            <a:b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</a:br>
            <a:r>
              <a:rPr lang="en-US" altLang="zh-CN" sz="1600" b="0" baseline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</a:rPr>
              <a:t>R4 </a:t>
            </a:r>
            <a:r>
              <a:rPr lang="en-US" altLang="zh-CN" sz="1600" b="0" baseline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1600" b="0" baseline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</a:rPr>
              <a:t> M[R1]</a:t>
            </a:r>
          </a:p>
        </p:txBody>
      </p:sp>
      <p:sp>
        <p:nvSpPr>
          <p:cNvPr id="60423" name="AutoShape 5"/>
          <p:cNvSpPr>
            <a:spLocks noChangeArrowheads="1"/>
          </p:cNvSpPr>
          <p:nvPr/>
        </p:nvSpPr>
        <p:spPr bwMode="auto">
          <a:xfrm>
            <a:off x="536575" y="3644900"/>
            <a:ext cx="1060450" cy="1143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R4=-1?</a:t>
            </a:r>
          </a:p>
        </p:txBody>
      </p:sp>
      <p:sp>
        <p:nvSpPr>
          <p:cNvPr id="60424" name="Rectangle 6"/>
          <p:cNvSpPr>
            <a:spLocks noChangeArrowheads="1"/>
          </p:cNvSpPr>
          <p:nvPr/>
        </p:nvSpPr>
        <p:spPr bwMode="auto">
          <a:xfrm>
            <a:off x="2051050" y="3683000"/>
            <a:ext cx="14859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R3  R3+R4</a:t>
            </a:r>
            <a:b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R1  R1+1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</a:rPr>
              <a:t>R4 </a:t>
            </a:r>
            <a:r>
              <a:rPr lang="en-US" altLang="zh-CN" b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 M[R1]</a:t>
            </a:r>
          </a:p>
        </p:txBody>
      </p:sp>
      <p:cxnSp>
        <p:nvCxnSpPr>
          <p:cNvPr id="60425" name="AutoShape 7"/>
          <p:cNvCxnSpPr>
            <a:cxnSpLocks noChangeShapeType="1"/>
            <a:stCxn id="60422" idx="2"/>
            <a:endCxn id="60423" idx="0"/>
          </p:cNvCxnSpPr>
          <p:nvPr/>
        </p:nvCxnSpPr>
        <p:spPr bwMode="auto">
          <a:xfrm>
            <a:off x="1066800" y="3187700"/>
            <a:ext cx="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26" name="Text Box 8"/>
          <p:cNvSpPr txBox="1">
            <a:spLocks noChangeArrowheads="1"/>
          </p:cNvSpPr>
          <p:nvPr/>
        </p:nvSpPr>
        <p:spPr bwMode="auto">
          <a:xfrm>
            <a:off x="1584325" y="4178300"/>
            <a:ext cx="396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i="1" baseline="0">
                <a:latin typeface="CourierPS" pitchFamily="49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60427" name="Text Box 9"/>
          <p:cNvSpPr txBox="1">
            <a:spLocks noChangeArrowheads="1"/>
          </p:cNvSpPr>
          <p:nvPr/>
        </p:nvSpPr>
        <p:spPr bwMode="auto">
          <a:xfrm>
            <a:off x="519113" y="4864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i="1" baseline="0">
                <a:latin typeface="CourierPS" pitchFamily="49" charset="0"/>
                <a:ea typeface="宋体" panose="02010600030101010101" pitchFamily="2" charset="-122"/>
              </a:rPr>
              <a:t>YES</a:t>
            </a:r>
          </a:p>
        </p:txBody>
      </p:sp>
      <p:cxnSp>
        <p:nvCxnSpPr>
          <p:cNvPr id="60428" name="AutoShape 10"/>
          <p:cNvCxnSpPr>
            <a:cxnSpLocks noChangeShapeType="1"/>
            <a:stCxn id="60423" idx="3"/>
            <a:endCxn id="60424" idx="1"/>
          </p:cNvCxnSpPr>
          <p:nvPr/>
        </p:nvCxnSpPr>
        <p:spPr bwMode="auto">
          <a:xfrm>
            <a:off x="1597025" y="4216400"/>
            <a:ext cx="4540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29" name="Line 11"/>
          <p:cNvSpPr>
            <a:spLocks noChangeShapeType="1"/>
          </p:cNvSpPr>
          <p:nvPr/>
        </p:nvSpPr>
        <p:spPr bwMode="auto">
          <a:xfrm>
            <a:off x="3152775" y="47879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Line 12"/>
          <p:cNvSpPr>
            <a:spLocks noChangeShapeType="1"/>
          </p:cNvSpPr>
          <p:nvPr/>
        </p:nvSpPr>
        <p:spPr bwMode="auto">
          <a:xfrm flipV="1">
            <a:off x="3152775" y="5013325"/>
            <a:ext cx="6270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Line 13"/>
          <p:cNvSpPr>
            <a:spLocks noChangeShapeType="1"/>
          </p:cNvSpPr>
          <p:nvPr/>
        </p:nvSpPr>
        <p:spPr bwMode="auto">
          <a:xfrm flipV="1">
            <a:off x="3779838" y="34163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Line 14"/>
          <p:cNvSpPr>
            <a:spLocks noChangeShapeType="1"/>
          </p:cNvSpPr>
          <p:nvPr/>
        </p:nvSpPr>
        <p:spPr bwMode="auto">
          <a:xfrm>
            <a:off x="1065213" y="3417888"/>
            <a:ext cx="2711450" cy="9525"/>
          </a:xfrm>
          <a:custGeom>
            <a:avLst/>
            <a:gdLst>
              <a:gd name="T0" fmla="*/ 2147483646 w 1708"/>
              <a:gd name="T1" fmla="*/ 0 h 6"/>
              <a:gd name="T2" fmla="*/ 0 w 1708"/>
              <a:gd name="T3" fmla="*/ 2147483646 h 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708" h="6">
                <a:moveTo>
                  <a:pt x="1708" y="0"/>
                </a:moveTo>
                <a:lnTo>
                  <a:pt x="0" y="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3" name="Line 15"/>
          <p:cNvSpPr>
            <a:spLocks noChangeShapeType="1"/>
          </p:cNvSpPr>
          <p:nvPr/>
        </p:nvSpPr>
        <p:spPr bwMode="auto">
          <a:xfrm>
            <a:off x="1066800" y="47879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4" name="Rectangle 4"/>
          <p:cNvSpPr>
            <a:spLocks noChangeArrowheads="1"/>
          </p:cNvSpPr>
          <p:nvPr/>
        </p:nvSpPr>
        <p:spPr bwMode="auto">
          <a:xfrm>
            <a:off x="4932363" y="2349500"/>
            <a:ext cx="14859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R1 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 x3100</a:t>
            </a:r>
            <a:b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</a:b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R3 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 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 b="0" baseline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60435" name="AutoShape 5"/>
          <p:cNvSpPr>
            <a:spLocks noChangeArrowheads="1"/>
          </p:cNvSpPr>
          <p:nvPr/>
        </p:nvSpPr>
        <p:spPr bwMode="auto">
          <a:xfrm>
            <a:off x="5167313" y="4302125"/>
            <a:ext cx="1060450" cy="1143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</a:rPr>
              <a:t>R4=-1?</a:t>
            </a:r>
          </a:p>
        </p:txBody>
      </p:sp>
      <p:sp>
        <p:nvSpPr>
          <p:cNvPr id="60436" name="Rectangle 6"/>
          <p:cNvSpPr>
            <a:spLocks noChangeArrowheads="1"/>
          </p:cNvSpPr>
          <p:nvPr/>
        </p:nvSpPr>
        <p:spPr bwMode="auto">
          <a:xfrm>
            <a:off x="6659563" y="4365625"/>
            <a:ext cx="14859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R3  R3+R4</a:t>
            </a:r>
            <a:b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1600" b="0" baseline="0"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R1  R1+1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 b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60437" name="AutoShape 7"/>
          <p:cNvCxnSpPr>
            <a:cxnSpLocks noChangeShapeType="1"/>
            <a:stCxn id="60434" idx="2"/>
            <a:endCxn id="60445" idx="0"/>
          </p:cNvCxnSpPr>
          <p:nvPr/>
        </p:nvCxnSpPr>
        <p:spPr bwMode="auto">
          <a:xfrm>
            <a:off x="5675313" y="3187700"/>
            <a:ext cx="0" cy="385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8" name="Text Box 8"/>
          <p:cNvSpPr txBox="1">
            <a:spLocks noChangeArrowheads="1"/>
          </p:cNvSpPr>
          <p:nvPr/>
        </p:nvSpPr>
        <p:spPr bwMode="auto">
          <a:xfrm>
            <a:off x="6192838" y="4852988"/>
            <a:ext cx="396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i="1" baseline="0">
                <a:latin typeface="CourierPS" pitchFamily="49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60439" name="Text Box 9"/>
          <p:cNvSpPr txBox="1">
            <a:spLocks noChangeArrowheads="1"/>
          </p:cNvSpPr>
          <p:nvPr/>
        </p:nvSpPr>
        <p:spPr bwMode="auto">
          <a:xfrm>
            <a:off x="5148263" y="5516563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0" i="1" baseline="0">
                <a:latin typeface="CourierPS" pitchFamily="49" charset="0"/>
                <a:ea typeface="宋体" panose="02010600030101010101" pitchFamily="2" charset="-122"/>
              </a:rPr>
              <a:t>YES</a:t>
            </a:r>
          </a:p>
        </p:txBody>
      </p:sp>
      <p:cxnSp>
        <p:nvCxnSpPr>
          <p:cNvPr id="60440" name="AutoShape 10"/>
          <p:cNvCxnSpPr>
            <a:cxnSpLocks noChangeShapeType="1"/>
            <a:stCxn id="60435" idx="3"/>
            <a:endCxn id="60436" idx="1"/>
          </p:cNvCxnSpPr>
          <p:nvPr/>
        </p:nvCxnSpPr>
        <p:spPr bwMode="auto">
          <a:xfrm>
            <a:off x="6227763" y="4873625"/>
            <a:ext cx="431800" cy="2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41" name="Line 11"/>
          <p:cNvSpPr>
            <a:spLocks noChangeShapeType="1"/>
          </p:cNvSpPr>
          <p:nvPr/>
        </p:nvSpPr>
        <p:spPr bwMode="auto">
          <a:xfrm>
            <a:off x="7524750" y="5445125"/>
            <a:ext cx="1588" cy="203200"/>
          </a:xfrm>
          <a:custGeom>
            <a:avLst/>
            <a:gdLst>
              <a:gd name="T0" fmla="*/ 0 w 1"/>
              <a:gd name="T1" fmla="*/ 0 h 128"/>
              <a:gd name="T2" fmla="*/ 0 w 1"/>
              <a:gd name="T3" fmla="*/ 2147483646 h 12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28">
                <a:moveTo>
                  <a:pt x="0" y="0"/>
                </a:moveTo>
                <a:lnTo>
                  <a:pt x="0" y="12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2" name="Line 13"/>
          <p:cNvSpPr>
            <a:spLocks noChangeShapeType="1"/>
          </p:cNvSpPr>
          <p:nvPr/>
        </p:nvSpPr>
        <p:spPr bwMode="auto">
          <a:xfrm>
            <a:off x="8375650" y="3416300"/>
            <a:ext cx="12700" cy="2260600"/>
          </a:xfrm>
          <a:custGeom>
            <a:avLst/>
            <a:gdLst>
              <a:gd name="T0" fmla="*/ 0 w 8"/>
              <a:gd name="T1" fmla="*/ 2147483646 h 1424"/>
              <a:gd name="T2" fmla="*/ 2147483646 w 8"/>
              <a:gd name="T3" fmla="*/ 0 h 142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" h="1424">
                <a:moveTo>
                  <a:pt x="0" y="1424"/>
                </a:moveTo>
                <a:lnTo>
                  <a:pt x="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3" name="Line 14"/>
          <p:cNvSpPr>
            <a:spLocks noChangeShapeType="1"/>
          </p:cNvSpPr>
          <p:nvPr/>
        </p:nvSpPr>
        <p:spPr bwMode="auto">
          <a:xfrm>
            <a:off x="5710238" y="3417888"/>
            <a:ext cx="2681287" cy="1587"/>
          </a:xfrm>
          <a:custGeom>
            <a:avLst/>
            <a:gdLst>
              <a:gd name="T0" fmla="*/ 2147483646 w 1689"/>
              <a:gd name="T1" fmla="*/ 2147483646 h 1"/>
              <a:gd name="T2" fmla="*/ 0 w 1689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89" h="1">
                <a:moveTo>
                  <a:pt x="1689" y="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4" name="Line 15"/>
          <p:cNvSpPr>
            <a:spLocks noChangeShapeType="1"/>
          </p:cNvSpPr>
          <p:nvPr/>
        </p:nvSpPr>
        <p:spPr bwMode="auto">
          <a:xfrm>
            <a:off x="5697538" y="5445125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5" name="Rectangle 6"/>
          <p:cNvSpPr>
            <a:spLocks noChangeArrowheads="1"/>
          </p:cNvSpPr>
          <p:nvPr/>
        </p:nvSpPr>
        <p:spPr bwMode="auto">
          <a:xfrm>
            <a:off x="4932363" y="3573463"/>
            <a:ext cx="1485900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 baseline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</a:rPr>
              <a:t>R4 </a:t>
            </a:r>
            <a:r>
              <a:rPr lang="en-US" altLang="zh-CN" sz="1600" b="0" baseline="0">
                <a:solidFill>
                  <a:srgbClr val="FF0000"/>
                </a:solidFill>
                <a:latin typeface="CourierPS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 M[R1]</a:t>
            </a:r>
          </a:p>
        </p:txBody>
      </p:sp>
      <p:cxnSp>
        <p:nvCxnSpPr>
          <p:cNvPr id="60446" name="AutoShape 7"/>
          <p:cNvCxnSpPr>
            <a:cxnSpLocks noChangeShapeType="1"/>
          </p:cNvCxnSpPr>
          <p:nvPr/>
        </p:nvCxnSpPr>
        <p:spPr bwMode="auto">
          <a:xfrm>
            <a:off x="5697538" y="3906838"/>
            <a:ext cx="0" cy="385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47" name="AutoShape 34"/>
          <p:cNvSpPr>
            <a:spLocks noChangeArrowheads="1"/>
          </p:cNvSpPr>
          <p:nvPr/>
        </p:nvSpPr>
        <p:spPr bwMode="auto">
          <a:xfrm>
            <a:off x="3851275" y="4076700"/>
            <a:ext cx="1008063" cy="504825"/>
          </a:xfrm>
          <a:prstGeom prst="rightArrow">
            <a:avLst>
              <a:gd name="adj1" fmla="val 50000"/>
              <a:gd name="adj2" fmla="val 49921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60448" name="Line 35"/>
          <p:cNvSpPr>
            <a:spLocks noChangeShapeType="1"/>
          </p:cNvSpPr>
          <p:nvPr/>
        </p:nvSpPr>
        <p:spPr bwMode="auto">
          <a:xfrm>
            <a:off x="7524750" y="5661025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1"/>
          <p:cNvSpPr txBox="1">
            <a:spLocks noGrp="1"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D0302D-40BA-4F40-8ABD-6754ECF3E5D1}" type="datetime1">
              <a:rPr lang="zh-CN" altLang="en-US" sz="1400" b="0" baseline="0"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62467" name="灯片编号占位符 3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7FE8AEA-1F43-47E2-B0F5-447A3F6ABE90}" type="slidenum">
              <a:rPr lang="en-US" altLang="zh-CN" sz="1400" b="0" baseline="0"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 b="0" baseline="0">
              <a:ea typeface="宋体" panose="02010600030101010101" pitchFamily="2" charset="-122"/>
            </a:endParaRPr>
          </a:p>
        </p:txBody>
      </p:sp>
      <p:sp>
        <p:nvSpPr>
          <p:cNvPr id="62468" name="Rectangle 2"/>
          <p:cNvSpPr>
            <a:spLocks noChangeArrowheads="1"/>
          </p:cNvSpPr>
          <p:nvPr/>
        </p:nvSpPr>
        <p:spPr bwMode="auto">
          <a:xfrm>
            <a:off x="1447800" y="1524000"/>
            <a:ext cx="1143000" cy="32004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0" baseline="0">
              <a:ea typeface="宋体" panose="02010600030101010101" pitchFamily="2" charset="-122"/>
            </a:endParaRP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Sample Program</a:t>
            </a:r>
          </a:p>
        </p:txBody>
      </p:sp>
      <p:graphicFrame>
        <p:nvGraphicFramePr>
          <p:cNvPr id="79938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152287"/>
              </p:ext>
            </p:extLst>
          </p:nvPr>
        </p:nvGraphicFramePr>
        <p:xfrm>
          <a:off x="266700" y="1143000"/>
          <a:ext cx="8610600" cy="356870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1 1 1 0 0 0 1 0 1 1 1 1 1 1 1 1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(PC+0xFF)= x3100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LEA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0 1 0 1 0 1 1 0 1 1 1 0 0 0 0 0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R3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0 1 1 0 1 0 0 0 0 1 0 0 0 0 0 0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R4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M[R1] 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0 0 0 0 1 0 0 0 0 0 0 0 0 0 1 1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 N, </a:t>
                      </a:r>
                      <a:r>
                        <a:rPr kumimoji="0" lang="en-US" altLang="zh-CN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(PC+ 3)=X3007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0 0 0 1 0 1 1 0 1 1 0 0 0 1 0 0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R3 </a:t>
                      </a: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R3 + R4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X3005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0 0 0 1 0 0 1 0 0 1 1 0 0 0 0 1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R1 </a:t>
                      </a: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+ 1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x3006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0 0 0 0 1 1 1 1 1 1 1 1 1 0 1 1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(PC-5)= x3002 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 PC-5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503" name="Line 67"/>
          <p:cNvSpPr>
            <a:spLocks noChangeShapeType="1"/>
          </p:cNvSpPr>
          <p:nvPr/>
        </p:nvSpPr>
        <p:spPr bwMode="auto">
          <a:xfrm>
            <a:off x="27432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4" name="Line 68"/>
          <p:cNvSpPr>
            <a:spLocks noChangeShapeType="1"/>
          </p:cNvSpPr>
          <p:nvPr/>
        </p:nvSpPr>
        <p:spPr bwMode="auto">
          <a:xfrm>
            <a:off x="2743200" y="2371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5" name="Line 69"/>
          <p:cNvSpPr>
            <a:spLocks noChangeShapeType="1"/>
          </p:cNvSpPr>
          <p:nvPr/>
        </p:nvSpPr>
        <p:spPr bwMode="auto">
          <a:xfrm>
            <a:off x="27432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6" name="Line 70"/>
          <p:cNvSpPr>
            <a:spLocks noChangeShapeType="1"/>
          </p:cNvSpPr>
          <p:nvPr/>
        </p:nvSpPr>
        <p:spPr bwMode="auto">
          <a:xfrm>
            <a:off x="2743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7" name="Line 71"/>
          <p:cNvSpPr>
            <a:spLocks noChangeShapeType="1"/>
          </p:cNvSpPr>
          <p:nvPr/>
        </p:nvSpPr>
        <p:spPr bwMode="auto">
          <a:xfrm>
            <a:off x="2743200" y="37052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8" name="Line 72"/>
          <p:cNvSpPr>
            <a:spLocks noChangeShapeType="1"/>
          </p:cNvSpPr>
          <p:nvPr/>
        </p:nvSpPr>
        <p:spPr bwMode="auto">
          <a:xfrm>
            <a:off x="2743200" y="414337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09" name="Line 73"/>
          <p:cNvSpPr>
            <a:spLocks noChangeShapeType="1"/>
          </p:cNvSpPr>
          <p:nvPr/>
        </p:nvSpPr>
        <p:spPr bwMode="auto">
          <a:xfrm>
            <a:off x="2743200" y="4581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0" name="Line 77"/>
          <p:cNvSpPr>
            <a:spLocks noChangeShapeType="1"/>
          </p:cNvSpPr>
          <p:nvPr/>
        </p:nvSpPr>
        <p:spPr bwMode="auto">
          <a:xfrm>
            <a:off x="3657600" y="192405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1" name="Line 78"/>
          <p:cNvSpPr>
            <a:spLocks noChangeShapeType="1"/>
          </p:cNvSpPr>
          <p:nvPr/>
        </p:nvSpPr>
        <p:spPr bwMode="auto">
          <a:xfrm>
            <a:off x="3657600" y="2371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2" name="Line 79"/>
          <p:cNvSpPr>
            <a:spLocks noChangeShapeType="1"/>
          </p:cNvSpPr>
          <p:nvPr/>
        </p:nvSpPr>
        <p:spPr bwMode="auto">
          <a:xfrm>
            <a:off x="4876800" y="23717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3" name="Line 80"/>
          <p:cNvSpPr>
            <a:spLocks noChangeShapeType="1"/>
          </p:cNvSpPr>
          <p:nvPr/>
        </p:nvSpPr>
        <p:spPr bwMode="auto">
          <a:xfrm>
            <a:off x="36576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4" name="Line 81"/>
          <p:cNvSpPr>
            <a:spLocks noChangeShapeType="1"/>
          </p:cNvSpPr>
          <p:nvPr/>
        </p:nvSpPr>
        <p:spPr bwMode="auto">
          <a:xfrm>
            <a:off x="4876800" y="281940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5" name="Line 83"/>
          <p:cNvSpPr>
            <a:spLocks noChangeShapeType="1"/>
          </p:cNvSpPr>
          <p:nvPr/>
        </p:nvSpPr>
        <p:spPr bwMode="auto">
          <a:xfrm>
            <a:off x="3635375" y="3284538"/>
            <a:ext cx="25955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6" name="Line 86"/>
          <p:cNvSpPr>
            <a:spLocks noChangeShapeType="1"/>
          </p:cNvSpPr>
          <p:nvPr/>
        </p:nvSpPr>
        <p:spPr bwMode="auto">
          <a:xfrm>
            <a:off x="3635375" y="4149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7" name="Line 88"/>
          <p:cNvSpPr>
            <a:spLocks noChangeShapeType="1"/>
          </p:cNvSpPr>
          <p:nvPr/>
        </p:nvSpPr>
        <p:spPr bwMode="auto">
          <a:xfrm>
            <a:off x="3657600" y="4581525"/>
            <a:ext cx="26130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8" name="Line 86"/>
          <p:cNvSpPr>
            <a:spLocks noChangeShapeType="1"/>
          </p:cNvSpPr>
          <p:nvPr/>
        </p:nvSpPr>
        <p:spPr bwMode="auto">
          <a:xfrm>
            <a:off x="3635375" y="3716338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19" name="Line 86"/>
          <p:cNvSpPr>
            <a:spLocks noChangeShapeType="1"/>
          </p:cNvSpPr>
          <p:nvPr/>
        </p:nvSpPr>
        <p:spPr bwMode="auto">
          <a:xfrm>
            <a:off x="5508625" y="3716338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20" name="Line 86"/>
          <p:cNvSpPr>
            <a:spLocks noChangeShapeType="1"/>
          </p:cNvSpPr>
          <p:nvPr/>
        </p:nvSpPr>
        <p:spPr bwMode="auto">
          <a:xfrm>
            <a:off x="4889500" y="3716338"/>
            <a:ext cx="4746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521" name="Line 90"/>
          <p:cNvSpPr>
            <a:spLocks noChangeShapeType="1"/>
          </p:cNvSpPr>
          <p:nvPr/>
        </p:nvSpPr>
        <p:spPr bwMode="auto">
          <a:xfrm>
            <a:off x="4570413" y="4151313"/>
            <a:ext cx="1660525" cy="1587"/>
          </a:xfrm>
          <a:custGeom>
            <a:avLst/>
            <a:gdLst>
              <a:gd name="T0" fmla="*/ 0 w 1046"/>
              <a:gd name="T1" fmla="*/ 0 h 1"/>
              <a:gd name="T2" fmla="*/ 2147483646 w 104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46" h="1">
                <a:moveTo>
                  <a:pt x="0" y="0"/>
                </a:moveTo>
                <a:lnTo>
                  <a:pt x="1046" y="0"/>
                </a:ln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136986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127689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41790" y="19239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7CA1ABF6-512F-4E23-8BED-97B5C396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17189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Control Instructions Overview</a:t>
            </a:r>
          </a:p>
        </p:txBody>
      </p:sp>
      <p:sp>
        <p:nvSpPr>
          <p:cNvPr id="40" name="Text Box 17">
            <a:extLst>
              <a:ext uri="{FF2B5EF4-FFF2-40B4-BE49-F238E27FC236}">
                <a16:creationId xmlns:a16="http://schemas.microsoft.com/office/drawing/2014/main" id="{B90F23FD-87CF-4514-9F1B-7A22DB095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07892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D063DF9-A08E-4271-8E45-8D82510F001A}"/>
              </a:ext>
            </a:extLst>
          </p:cNvPr>
          <p:cNvCxnSpPr/>
          <p:nvPr/>
        </p:nvCxnSpPr>
        <p:spPr>
          <a:xfrm>
            <a:off x="441790" y="272595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">
            <a:extLst>
              <a:ext uri="{FF2B5EF4-FFF2-40B4-BE49-F238E27FC236}">
                <a16:creationId xmlns:a16="http://schemas.microsoft.com/office/drawing/2014/main" id="{992D6025-C1FE-4145-818B-1BAF735D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880959"/>
            <a:ext cx="7418983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Conditional Branch Instruction and Loop Control Example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5492AE36-B4D1-4EC1-8F5F-D762EDC5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95419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02130A7-98BD-4448-9D19-CC61B0CAC32A}"/>
              </a:ext>
            </a:extLst>
          </p:cNvPr>
          <p:cNvCxnSpPr/>
          <p:nvPr/>
        </p:nvCxnSpPr>
        <p:spPr>
          <a:xfrm>
            <a:off x="441790" y="360121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11AF7488-951F-44E9-95DD-D797BE05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3899757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4B6D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Jump &amp; TRAP Instruction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2D153A1E-D5BA-47B5-AC4C-18C6BFB2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3806791"/>
            <a:ext cx="611764" cy="624357"/>
          </a:xfrm>
          <a:prstGeom prst="rect">
            <a:avLst/>
          </a:prstGeom>
          <a:solidFill>
            <a:srgbClr val="4B6DB2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1BA157-4AE6-4F73-B007-1B18D2FEB5BA}"/>
              </a:ext>
            </a:extLst>
          </p:cNvPr>
          <p:cNvCxnSpPr/>
          <p:nvPr/>
        </p:nvCxnSpPr>
        <p:spPr>
          <a:xfrm>
            <a:off x="441790" y="445381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7">
            <a:extLst>
              <a:ext uri="{FF2B5EF4-FFF2-40B4-BE49-F238E27FC236}">
                <a16:creationId xmlns:a16="http://schemas.microsoft.com/office/drawing/2014/main" id="{0D7DF76F-F355-46EB-91F2-3633C435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474715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82DD75B4-06C8-4C5A-BAAC-D44C2B0A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465418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5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BA0EB1-A160-4151-9580-BE1F360F8F0F}"/>
              </a:ext>
            </a:extLst>
          </p:cNvPr>
          <p:cNvCxnSpPr/>
          <p:nvPr/>
        </p:nvCxnSpPr>
        <p:spPr>
          <a:xfrm>
            <a:off x="441790" y="530120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H_Others_2">
            <a:extLst>
              <a:ext uri="{FF2B5EF4-FFF2-40B4-BE49-F238E27FC236}">
                <a16:creationId xmlns:a16="http://schemas.microsoft.com/office/drawing/2014/main" id="{69A31DFF-EB4B-46D0-BF99-3CFD38C055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8585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965D13-67D7-4E8B-8CC4-C2A371BC298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2025/10/14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2A2BEC-C012-4211-BFEC-926EC1774FEA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JMP (Register)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686800" cy="5334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Jump is an unconditional branch -- </a:t>
            </a:r>
            <a:r>
              <a:rPr lang="en-US" altLang="zh-CN" i="1" u="sng" dirty="0">
                <a:ea typeface="宋体" panose="02010600030101010101" pitchFamily="2" charset="-122"/>
              </a:rPr>
              <a:t>always</a:t>
            </a:r>
            <a:r>
              <a:rPr lang="en-US" altLang="zh-CN" dirty="0">
                <a:ea typeface="宋体" panose="02010600030101010101" pitchFamily="2" charset="-122"/>
              </a:rPr>
              <a:t> taken.</a:t>
            </a:r>
          </a:p>
          <a:p>
            <a:pPr marL="576263" lvl="1" indent="-234950"/>
            <a:r>
              <a:rPr lang="en-US" altLang="zh-CN" dirty="0"/>
              <a:t>Target address is the contents of a register.</a:t>
            </a:r>
          </a:p>
          <a:p>
            <a:pPr marL="576263" lvl="1" indent="-234950"/>
            <a:r>
              <a:rPr lang="en-US" altLang="zh-CN" dirty="0"/>
              <a:t>Allows any target address.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63494" name="Picture 4" descr="ch05-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90800"/>
            <a:ext cx="744061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5" descr="ch05-29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10000"/>
            <a:ext cx="5365750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JMP (Register)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043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JMP (Register)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0807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JMP (Register)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2104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solidFill>
                  <a:srgbClr val="003399"/>
                </a:solidFill>
                <a:ea typeface="宋体" panose="02010600030101010101" pitchFamily="2" charset="-122"/>
              </a:rPr>
              <a:t>JMP R7(Register)</a:t>
            </a:r>
            <a:endParaRPr lang="en-US" altLang="zh-CN" kern="0" baseline="0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50" name="组合 449"/>
          <p:cNvGrpSpPr/>
          <p:nvPr/>
        </p:nvGrpSpPr>
        <p:grpSpPr>
          <a:xfrm>
            <a:off x="4101216" y="187437"/>
            <a:ext cx="4863271" cy="569418"/>
            <a:chOff x="3706688" y="187437"/>
            <a:chExt cx="5257800" cy="569418"/>
          </a:xfrm>
        </p:grpSpPr>
        <p:sp>
          <p:nvSpPr>
            <p:cNvPr id="455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7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8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9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0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1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2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3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4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5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66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51223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</a:t>
            </a:r>
            <a:r>
              <a:rPr lang="en-US" altLang="zh-CN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X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823231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59360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EA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5232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solidFill>
                  <a:srgbClr val="003399"/>
                </a:solidFill>
                <a:ea typeface="宋体" panose="02010600030101010101" pitchFamily="2" charset="-122"/>
              </a:rPr>
              <a:t>JMP R7(Register)</a:t>
            </a:r>
            <a:endParaRPr lang="en-US" altLang="zh-CN" kern="0" baseline="0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8640"/>
            <a:ext cx="4863271" cy="568215"/>
            <a:chOff x="4101216" y="188640"/>
            <a:chExt cx="4863271" cy="568215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9333"/>
              <a:ext cx="4863271" cy="567522"/>
              <a:chOff x="3706688" y="189333"/>
              <a:chExt cx="5257800" cy="567522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 dirty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F</a:t>
                </a:r>
              </a:p>
            </p:txBody>
          </p:sp>
        </p:grpSp>
        <p:sp>
          <p:nvSpPr>
            <p:cNvPr id="452" name="Text Box 10"/>
            <p:cNvSpPr txBox="1">
              <a:spLocks noChangeArrowheads="1"/>
            </p:cNvSpPr>
            <p:nvPr/>
          </p:nvSpPr>
          <p:spPr bwMode="auto">
            <a:xfrm>
              <a:off x="6686398" y="198917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3" name="Text Box 10"/>
            <p:cNvSpPr txBox="1">
              <a:spLocks noChangeArrowheads="1"/>
            </p:cNvSpPr>
            <p:nvPr/>
          </p:nvSpPr>
          <p:spPr bwMode="auto">
            <a:xfrm>
              <a:off x="8251832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5135973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D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495270" y="199218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66313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75BDD6-13F7-4031-A64D-0AF749BAE3E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698EF-13E4-4F78-AEA7-929AB033FA7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TRAP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981200"/>
            <a:ext cx="8458200" cy="4572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Calls a </a:t>
            </a:r>
            <a:r>
              <a:rPr lang="en-US" altLang="zh-CN">
                <a:solidFill>
                  <a:srgbClr val="CE0000"/>
                </a:solidFill>
                <a:ea typeface="宋体" panose="02010600030101010101" pitchFamily="2" charset="-122"/>
              </a:rPr>
              <a:t>service routine</a:t>
            </a:r>
            <a:r>
              <a:rPr lang="en-US" altLang="zh-CN">
                <a:ea typeface="宋体" panose="02010600030101010101" pitchFamily="2" charset="-122"/>
              </a:rPr>
              <a:t>, identified by 8-bit “trap vector.”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When routine is done,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PC is set to the instruction following TRAP.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(We’ll talk about how this works later.)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000">
              <a:ea typeface="宋体" panose="02010600030101010101" pitchFamily="2" charset="-122"/>
            </a:endParaRPr>
          </a:p>
        </p:txBody>
      </p:sp>
      <p:graphicFrame>
        <p:nvGraphicFramePr>
          <p:cNvPr id="165892" name="Group 4"/>
          <p:cNvGraphicFramePr>
            <a:graphicFrameLocks noGrp="1"/>
          </p:cNvGraphicFramePr>
          <p:nvPr/>
        </p:nvGraphicFramePr>
        <p:xfrm>
          <a:off x="1600200" y="2590800"/>
          <a:ext cx="5791200" cy="1879600"/>
        </p:xfrm>
        <a:graphic>
          <a:graphicData uri="http://schemas.openxmlformats.org/drawingml/2006/table">
            <a:tbl>
              <a:tblPr/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vector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routine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input a character from the keyboard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output a character to the monitor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halt the program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4535" name="Picture 21" descr="ch05-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70572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4475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1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3114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44022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7437"/>
            <a:ext cx="4863271" cy="569418"/>
            <a:chOff x="4101216" y="187437"/>
            <a:chExt cx="4863271" cy="569418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7437"/>
              <a:ext cx="4863271" cy="569418"/>
              <a:chOff x="3706688" y="187437"/>
              <a:chExt cx="5257800" cy="569418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5" name="Text Box 4"/>
              <p:cNvSpPr txBox="1">
                <a:spLocks noChangeArrowheads="1"/>
              </p:cNvSpPr>
              <p:nvPr/>
            </p:nvSpPr>
            <p:spPr bwMode="auto">
              <a:xfrm>
                <a:off x="4842967" y="187437"/>
                <a:ext cx="480169" cy="307777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D</a:t>
                </a: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3231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788411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8640"/>
            <a:ext cx="4863271" cy="568215"/>
            <a:chOff x="4101216" y="188640"/>
            <a:chExt cx="4863271" cy="568215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9333"/>
              <a:ext cx="4863271" cy="567522"/>
              <a:chOff x="3706688" y="189333"/>
              <a:chExt cx="5257800" cy="567522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68" name="直接连接符 467"/>
          <p:cNvCxnSpPr/>
          <p:nvPr/>
        </p:nvCxnSpPr>
        <p:spPr bwMode="auto">
          <a:xfrm flipV="1">
            <a:off x="4644008" y="14328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35047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44022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5135973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D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32317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8B43B0-D5D5-EFE8-B3CB-56D3909D082E}"/>
              </a:ext>
            </a:extLst>
          </p:cNvPr>
          <p:cNvSpPr txBox="1"/>
          <p:nvPr/>
        </p:nvSpPr>
        <p:spPr>
          <a:xfrm>
            <a:off x="4615282" y="2689564"/>
            <a:ext cx="2193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/>
              <a:t>TRAP</a:t>
            </a:r>
            <a:r>
              <a:rPr lang="zh-CN" altLang="en-US" dirty="0"/>
              <a:t>后的下一条</a:t>
            </a:r>
            <a:r>
              <a:rPr lang="zh-CN" altLang="en-US"/>
              <a:t>指令地址保存入寄存器</a:t>
            </a:r>
            <a:r>
              <a:rPr lang="zh-CN" altLang="en-US" dirty="0"/>
              <a:t>，确保正确返回</a:t>
            </a:r>
          </a:p>
        </p:txBody>
      </p:sp>
    </p:spTree>
    <p:extLst>
      <p:ext uri="{BB962C8B-B14F-4D97-AF65-F5344CB8AC3E}">
        <p14:creationId xmlns:p14="http://schemas.microsoft.com/office/powerpoint/2010/main" val="29908388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7" name="直接连接符 466"/>
          <p:cNvCxnSpPr/>
          <p:nvPr/>
        </p:nvCxnSpPr>
        <p:spPr bwMode="auto">
          <a:xfrm rot="10800000">
            <a:off x="1224000" y="4233600"/>
            <a:ext cx="1726" cy="48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Text Box 10"/>
          <p:cNvSpPr txBox="1">
            <a:spLocks noChangeArrowheads="1"/>
          </p:cNvSpPr>
          <p:nvPr/>
        </p:nvSpPr>
        <p:spPr bwMode="auto">
          <a:xfrm>
            <a:off x="67201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OP</a:t>
            </a:r>
          </a:p>
        </p:txBody>
      </p:sp>
      <p:sp>
        <p:nvSpPr>
          <p:cNvPr id="389" name="Text Box 10"/>
          <p:cNvSpPr txBox="1">
            <a:spLocks noChangeArrowheads="1"/>
          </p:cNvSpPr>
          <p:nvPr/>
        </p:nvSpPr>
        <p:spPr bwMode="auto">
          <a:xfrm>
            <a:off x="744022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EX</a:t>
            </a:r>
          </a:p>
        </p:txBody>
      </p: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j-cs"/>
              </a:rPr>
              <a:t>TRAP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49" name="组合 448"/>
          <p:cNvGrpSpPr/>
          <p:nvPr/>
        </p:nvGrpSpPr>
        <p:grpSpPr>
          <a:xfrm>
            <a:off x="4101216" y="188640"/>
            <a:ext cx="4863271" cy="568215"/>
            <a:chOff x="4101216" y="188640"/>
            <a:chExt cx="4863271" cy="568215"/>
          </a:xfrm>
        </p:grpSpPr>
        <p:grpSp>
          <p:nvGrpSpPr>
            <p:cNvPr id="450" name="组合 449"/>
            <p:cNvGrpSpPr/>
            <p:nvPr/>
          </p:nvGrpSpPr>
          <p:grpSpPr>
            <a:xfrm>
              <a:off x="4101216" y="189333"/>
              <a:ext cx="4863271" cy="567522"/>
              <a:chOff x="3706688" y="189333"/>
              <a:chExt cx="5257800" cy="567522"/>
            </a:xfrm>
          </p:grpSpPr>
          <p:sp>
            <p:nvSpPr>
              <p:cNvPr id="455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6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7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8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9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0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2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3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4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6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charset="0"/>
                    <a:ea typeface="黑体"/>
                    <a:cs typeface="+mn-cs"/>
                  </a:rPr>
                  <a:t>F</a:t>
                </a:r>
              </a:p>
            </p:txBody>
          </p:sp>
        </p:grpSp>
        <p:sp>
          <p:nvSpPr>
            <p:cNvPr id="453" name="Text Box 10"/>
            <p:cNvSpPr txBox="1">
              <a:spLocks noChangeArrowheads="1"/>
            </p:cNvSpPr>
            <p:nvPr/>
          </p:nvSpPr>
          <p:spPr bwMode="auto">
            <a:xfrm>
              <a:off x="8251832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454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5135973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黑体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65928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136986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127689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41790" y="192392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7CA1ABF6-512F-4E23-8BED-97B5C396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171895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Control Instructions Overview</a:t>
            </a:r>
          </a:p>
        </p:txBody>
      </p:sp>
      <p:sp>
        <p:nvSpPr>
          <p:cNvPr id="40" name="Text Box 17">
            <a:extLst>
              <a:ext uri="{FF2B5EF4-FFF2-40B4-BE49-F238E27FC236}">
                <a16:creationId xmlns:a16="http://schemas.microsoft.com/office/drawing/2014/main" id="{B90F23FD-87CF-4514-9F1B-7A22DB095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078929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D063DF9-A08E-4271-8E45-8D82510F001A}"/>
              </a:ext>
            </a:extLst>
          </p:cNvPr>
          <p:cNvCxnSpPr/>
          <p:nvPr/>
        </p:nvCxnSpPr>
        <p:spPr>
          <a:xfrm>
            <a:off x="441790" y="2725950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7">
            <a:extLst>
              <a:ext uri="{FF2B5EF4-FFF2-40B4-BE49-F238E27FC236}">
                <a16:creationId xmlns:a16="http://schemas.microsoft.com/office/drawing/2014/main" id="{992D6025-C1FE-4145-818B-1BAF735D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2880959"/>
            <a:ext cx="7418983" cy="770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Conditional Branch Instruction and Loop Control Example</a:t>
            </a:r>
          </a:p>
        </p:txBody>
      </p:sp>
      <p:sp>
        <p:nvSpPr>
          <p:cNvPr id="44" name="Text Box 17">
            <a:extLst>
              <a:ext uri="{FF2B5EF4-FFF2-40B4-BE49-F238E27FC236}">
                <a16:creationId xmlns:a16="http://schemas.microsoft.com/office/drawing/2014/main" id="{5492AE36-B4D1-4EC1-8F5F-D762EDC5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2954192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02130A7-98BD-4448-9D19-CC61B0CAC32A}"/>
              </a:ext>
            </a:extLst>
          </p:cNvPr>
          <p:cNvCxnSpPr/>
          <p:nvPr/>
        </p:nvCxnSpPr>
        <p:spPr>
          <a:xfrm>
            <a:off x="441790" y="3601213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7">
            <a:extLst>
              <a:ext uri="{FF2B5EF4-FFF2-40B4-BE49-F238E27FC236}">
                <a16:creationId xmlns:a16="http://schemas.microsoft.com/office/drawing/2014/main" id="{11AF7488-951F-44E9-95DD-D797BE05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3899757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Jump &amp; TRAP Instruction</a:t>
            </a:r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2D153A1E-D5BA-47B5-AC4C-18C6BFB2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3806791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91BA157-4AE6-4F73-B007-1B18D2FEB5BA}"/>
              </a:ext>
            </a:extLst>
          </p:cNvPr>
          <p:cNvCxnSpPr/>
          <p:nvPr/>
        </p:nvCxnSpPr>
        <p:spPr>
          <a:xfrm>
            <a:off x="441790" y="445381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7">
            <a:extLst>
              <a:ext uri="{FF2B5EF4-FFF2-40B4-BE49-F238E27FC236}">
                <a16:creationId xmlns:a16="http://schemas.microsoft.com/office/drawing/2014/main" id="{0D7DF76F-F355-46EB-91F2-3633C435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444" y="4747153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4F81BD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82DD75B4-06C8-4C5A-BAAC-D44C2B0A8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201" y="465418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BA0EB1-A160-4151-9580-BE1F360F8F0F}"/>
              </a:ext>
            </a:extLst>
          </p:cNvPr>
          <p:cNvCxnSpPr/>
          <p:nvPr/>
        </p:nvCxnSpPr>
        <p:spPr>
          <a:xfrm>
            <a:off x="441790" y="5301208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H_Others_2">
            <a:extLst>
              <a:ext uri="{FF2B5EF4-FFF2-40B4-BE49-F238E27FC236}">
                <a16:creationId xmlns:a16="http://schemas.microsoft.com/office/drawing/2014/main" id="{69A31DFF-EB4B-46D0-BF99-3CFD38C055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282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</a:t>
            </a:r>
            <a:r>
              <a:rPr lang="zh-CN" altLang="en-US" dirty="0"/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00776" y="6476240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运算指令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(Operate Instructions)</a:t>
              </a:r>
              <a:endPara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SR1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SR2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SR2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NOT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Reserved</a:t>
                </a:r>
                <a:endParaRPr kumimoji="0" lang="zh-CN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grpSp>
        <p:nvGrpSpPr>
          <p:cNvPr id="135" name="组合 134"/>
          <p:cNvGrpSpPr/>
          <p:nvPr/>
        </p:nvGrpSpPr>
        <p:grpSpPr>
          <a:xfrm>
            <a:off x="459787" y="3573877"/>
            <a:ext cx="3851482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控制指令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(Control Instructions)</a:t>
              </a:r>
              <a:endPara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TrapVector8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n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z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PCoffset11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BR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RTI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JMP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sp>
        <p:nvSpPr>
          <p:cNvPr id="283" name="矩形 282"/>
          <p:cNvSpPr/>
          <p:nvPr/>
        </p:nvSpPr>
        <p:spPr bwMode="auto">
          <a:xfrm>
            <a:off x="4716016" y="1268760"/>
            <a:ext cx="3939034" cy="4579135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数据移动指令</a:t>
            </a:r>
            <a:endParaRPr kumimoji="0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(Data Movement Instructions)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84" name="组合 283"/>
          <p:cNvGrpSpPr/>
          <p:nvPr/>
        </p:nvGrpSpPr>
        <p:grpSpPr>
          <a:xfrm>
            <a:off x="5004024" y="2449762"/>
            <a:ext cx="3539683" cy="1449519"/>
            <a:chOff x="833366" y="4427663"/>
            <a:chExt cx="3539683" cy="144951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1502926" y="4427663"/>
              <a:ext cx="2870123" cy="504024"/>
              <a:chOff x="345016" y="2996952"/>
              <a:chExt cx="2870123" cy="504024"/>
            </a:xfrm>
          </p:grpSpPr>
          <p:grpSp>
            <p:nvGrpSpPr>
              <p:cNvPr id="416" name="组合 415"/>
              <p:cNvGrpSpPr/>
              <p:nvPr/>
            </p:nvGrpSpPr>
            <p:grpSpPr>
              <a:xfrm>
                <a:off x="345016" y="3212976"/>
                <a:ext cx="2870123" cy="288000"/>
                <a:chOff x="381000" y="3212976"/>
                <a:chExt cx="2870123" cy="288000"/>
              </a:xfrm>
            </p:grpSpPr>
            <p:sp>
              <p:nvSpPr>
                <p:cNvPr id="434" name="矩形 43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5" name="矩形 43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6" name="矩形 43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7" name="矩形 43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8" name="矩形 43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1" name="矩形 44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PCoffset9</a:t>
                  </a:r>
                  <a:r>
                    <a: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417" name="组合 416"/>
              <p:cNvGrpSpPr/>
              <p:nvPr/>
            </p:nvGrpSpPr>
            <p:grpSpPr>
              <a:xfrm>
                <a:off x="345016" y="2996952"/>
                <a:ext cx="2858832" cy="201861"/>
                <a:chOff x="395536" y="2924976"/>
                <a:chExt cx="2858832" cy="288000"/>
              </a:xfrm>
            </p:grpSpPr>
            <p:sp>
              <p:nvSpPr>
                <p:cNvPr id="418" name="矩形 417"/>
                <p:cNvSpPr/>
                <p:nvPr/>
              </p:nvSpPr>
              <p:spPr bwMode="auto">
                <a:xfrm>
                  <a:off x="39553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9" name="矩形 418"/>
                <p:cNvSpPr/>
                <p:nvPr/>
              </p:nvSpPr>
              <p:spPr bwMode="auto">
                <a:xfrm>
                  <a:off x="57412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0" name="矩形 419"/>
                <p:cNvSpPr/>
                <p:nvPr/>
              </p:nvSpPr>
              <p:spPr bwMode="auto">
                <a:xfrm>
                  <a:off x="75271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1" name="矩形 420"/>
                <p:cNvSpPr/>
                <p:nvPr/>
              </p:nvSpPr>
              <p:spPr bwMode="auto">
                <a:xfrm>
                  <a:off x="93130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2" name="矩形 421"/>
                <p:cNvSpPr/>
                <p:nvPr/>
              </p:nvSpPr>
              <p:spPr bwMode="auto">
                <a:xfrm>
                  <a:off x="110989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3" name="矩形 422"/>
                <p:cNvSpPr/>
                <p:nvPr/>
              </p:nvSpPr>
              <p:spPr bwMode="auto">
                <a:xfrm>
                  <a:off x="1288481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4" name="矩形 423"/>
                <p:cNvSpPr/>
                <p:nvPr/>
              </p:nvSpPr>
              <p:spPr bwMode="auto">
                <a:xfrm>
                  <a:off x="1467070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9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5" name="矩形 424"/>
                <p:cNvSpPr/>
                <p:nvPr/>
              </p:nvSpPr>
              <p:spPr bwMode="auto">
                <a:xfrm>
                  <a:off x="1645659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8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6" name="矩形 425"/>
                <p:cNvSpPr/>
                <p:nvPr/>
              </p:nvSpPr>
              <p:spPr bwMode="auto">
                <a:xfrm>
                  <a:off x="182424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7" name="矩形 426"/>
                <p:cNvSpPr/>
                <p:nvPr/>
              </p:nvSpPr>
              <p:spPr bwMode="auto">
                <a:xfrm>
                  <a:off x="2002837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6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8" name="矩形 427"/>
                <p:cNvSpPr/>
                <p:nvPr/>
              </p:nvSpPr>
              <p:spPr bwMode="auto">
                <a:xfrm>
                  <a:off x="218142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29" name="矩形 428"/>
                <p:cNvSpPr/>
                <p:nvPr/>
              </p:nvSpPr>
              <p:spPr bwMode="auto">
                <a:xfrm>
                  <a:off x="236001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0" name="矩形 429"/>
                <p:cNvSpPr/>
                <p:nvPr/>
              </p:nvSpPr>
              <p:spPr bwMode="auto">
                <a:xfrm>
                  <a:off x="253860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1" name="矩形 430"/>
                <p:cNvSpPr/>
                <p:nvPr/>
              </p:nvSpPr>
              <p:spPr bwMode="auto">
                <a:xfrm>
                  <a:off x="271719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2" name="矩形 431"/>
                <p:cNvSpPr/>
                <p:nvPr/>
              </p:nvSpPr>
              <p:spPr bwMode="auto">
                <a:xfrm>
                  <a:off x="289578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33" name="矩形 432"/>
                <p:cNvSpPr/>
                <p:nvPr/>
              </p:nvSpPr>
              <p:spPr bwMode="auto">
                <a:xfrm>
                  <a:off x="307436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361" name="组合 360"/>
            <p:cNvGrpSpPr/>
            <p:nvPr/>
          </p:nvGrpSpPr>
          <p:grpSpPr>
            <a:xfrm>
              <a:off x="1502926" y="4958852"/>
              <a:ext cx="2865890" cy="288000"/>
              <a:chOff x="381000" y="3212976"/>
              <a:chExt cx="2865890" cy="288000"/>
            </a:xfrm>
          </p:grpSpPr>
          <p:sp>
            <p:nvSpPr>
              <p:cNvPr id="400" name="矩形 399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1" name="矩形 400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2" name="矩形 401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3" name="矩形 402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4" name="矩形 403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07" name="矩形 406"/>
              <p:cNvSpPr/>
              <p:nvPr/>
            </p:nvSpPr>
            <p:spPr bwMode="auto">
              <a:xfrm>
                <a:off x="1631123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BaseR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410" name="矩形 409"/>
              <p:cNvSpPr/>
              <p:nvPr/>
            </p:nvSpPr>
            <p:spPr bwMode="auto">
              <a:xfrm>
                <a:off x="2166890" y="3212976"/>
                <a:ext cx="10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PCoffset6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62" name="组合 361"/>
            <p:cNvGrpSpPr/>
            <p:nvPr/>
          </p:nvGrpSpPr>
          <p:grpSpPr>
            <a:xfrm>
              <a:off x="1502926" y="5274017"/>
              <a:ext cx="2870123" cy="288000"/>
              <a:chOff x="381000" y="3212976"/>
              <a:chExt cx="2870123" cy="288000"/>
            </a:xfrm>
          </p:grpSpPr>
          <p:sp>
            <p:nvSpPr>
              <p:cNvPr id="384" name="矩形 38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5" name="矩形 38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6" name="矩形 38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7" name="矩形 38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8" name="矩形 387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91" name="矩形 39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r>
                  <a: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  <p:grpSp>
          <p:nvGrpSpPr>
            <p:cNvPr id="363" name="组合 362"/>
            <p:cNvGrpSpPr/>
            <p:nvPr/>
          </p:nvGrpSpPr>
          <p:grpSpPr>
            <a:xfrm>
              <a:off x="1502926" y="5589182"/>
              <a:ext cx="2870123" cy="288000"/>
              <a:chOff x="381000" y="3212976"/>
              <a:chExt cx="2870123" cy="288000"/>
            </a:xfrm>
          </p:grpSpPr>
          <p:sp>
            <p:nvSpPr>
              <p:cNvPr id="368" name="矩形 367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9" name="矩形 368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70" name="矩形 369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71" name="矩形 370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2" name="矩形 371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75" name="矩形 374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r>
                  <a: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  <p:sp>
          <p:nvSpPr>
            <p:cNvPr id="364" name="矩形 363"/>
            <p:cNvSpPr/>
            <p:nvPr/>
          </p:nvSpPr>
          <p:spPr bwMode="auto">
            <a:xfrm>
              <a:off x="833366" y="464093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LD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5" name="矩形 364"/>
            <p:cNvSpPr/>
            <p:nvPr/>
          </p:nvSpPr>
          <p:spPr bwMode="auto">
            <a:xfrm>
              <a:off x="833366" y="527236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LDI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6" name="矩形 365"/>
            <p:cNvSpPr/>
            <p:nvPr/>
          </p:nvSpPr>
          <p:spPr bwMode="auto">
            <a:xfrm>
              <a:off x="833366" y="5588080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LEA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67" name="矩形 366"/>
            <p:cNvSpPr/>
            <p:nvPr/>
          </p:nvSpPr>
          <p:spPr bwMode="auto">
            <a:xfrm>
              <a:off x="833366" y="4961335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LDR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4944918" y="4565127"/>
            <a:ext cx="3611691" cy="1134354"/>
            <a:chOff x="5326485" y="4443852"/>
            <a:chExt cx="3611691" cy="1134354"/>
          </a:xfrm>
        </p:grpSpPr>
        <p:grpSp>
          <p:nvGrpSpPr>
            <p:cNvPr id="288" name="组合 287"/>
            <p:cNvGrpSpPr/>
            <p:nvPr/>
          </p:nvGrpSpPr>
          <p:grpSpPr>
            <a:xfrm>
              <a:off x="6068053" y="4443852"/>
              <a:ext cx="2870123" cy="504024"/>
              <a:chOff x="345016" y="2996952"/>
              <a:chExt cx="2870123" cy="504024"/>
            </a:xfrm>
          </p:grpSpPr>
          <p:grpSp>
            <p:nvGrpSpPr>
              <p:cNvPr id="326" name="组合 325"/>
              <p:cNvGrpSpPr/>
              <p:nvPr/>
            </p:nvGrpSpPr>
            <p:grpSpPr>
              <a:xfrm>
                <a:off x="345016" y="3212976"/>
                <a:ext cx="2870123" cy="288000"/>
                <a:chOff x="381000" y="3212976"/>
                <a:chExt cx="2870123" cy="288000"/>
              </a:xfrm>
            </p:grpSpPr>
            <p:sp>
              <p:nvSpPr>
                <p:cNvPr id="344" name="矩形 34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5" name="矩形 34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6" name="矩形 34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7" name="矩形 34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8" name="矩形 34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1" name="矩形 35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327" name="组合 326"/>
              <p:cNvGrpSpPr/>
              <p:nvPr/>
            </p:nvGrpSpPr>
            <p:grpSpPr>
              <a:xfrm>
                <a:off x="345016" y="2996952"/>
                <a:ext cx="2858832" cy="201861"/>
                <a:chOff x="395536" y="2924976"/>
                <a:chExt cx="2858832" cy="288000"/>
              </a:xfrm>
            </p:grpSpPr>
            <p:sp>
              <p:nvSpPr>
                <p:cNvPr id="328" name="矩形 327"/>
                <p:cNvSpPr/>
                <p:nvPr/>
              </p:nvSpPr>
              <p:spPr bwMode="auto">
                <a:xfrm>
                  <a:off x="39553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9" name="矩形 328"/>
                <p:cNvSpPr/>
                <p:nvPr/>
              </p:nvSpPr>
              <p:spPr bwMode="auto">
                <a:xfrm>
                  <a:off x="57412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0" name="矩形 329"/>
                <p:cNvSpPr/>
                <p:nvPr/>
              </p:nvSpPr>
              <p:spPr bwMode="auto">
                <a:xfrm>
                  <a:off x="75271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1" name="矩形 330"/>
                <p:cNvSpPr/>
                <p:nvPr/>
              </p:nvSpPr>
              <p:spPr bwMode="auto">
                <a:xfrm>
                  <a:off x="93130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2" name="矩形 331"/>
                <p:cNvSpPr/>
                <p:nvPr/>
              </p:nvSpPr>
              <p:spPr bwMode="auto">
                <a:xfrm>
                  <a:off x="110989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3" name="矩形 332"/>
                <p:cNvSpPr/>
                <p:nvPr/>
              </p:nvSpPr>
              <p:spPr bwMode="auto">
                <a:xfrm>
                  <a:off x="1288481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4" name="矩形 333"/>
                <p:cNvSpPr/>
                <p:nvPr/>
              </p:nvSpPr>
              <p:spPr bwMode="auto">
                <a:xfrm>
                  <a:off x="1467070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9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5" name="矩形 334"/>
                <p:cNvSpPr/>
                <p:nvPr/>
              </p:nvSpPr>
              <p:spPr bwMode="auto">
                <a:xfrm>
                  <a:off x="1645659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8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6" name="矩形 335"/>
                <p:cNvSpPr/>
                <p:nvPr/>
              </p:nvSpPr>
              <p:spPr bwMode="auto">
                <a:xfrm>
                  <a:off x="182424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7" name="矩形 336"/>
                <p:cNvSpPr/>
                <p:nvPr/>
              </p:nvSpPr>
              <p:spPr bwMode="auto">
                <a:xfrm>
                  <a:off x="2002837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6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8" name="矩形 337"/>
                <p:cNvSpPr/>
                <p:nvPr/>
              </p:nvSpPr>
              <p:spPr bwMode="auto">
                <a:xfrm>
                  <a:off x="2181426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5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9" name="矩形 338"/>
                <p:cNvSpPr/>
                <p:nvPr/>
              </p:nvSpPr>
              <p:spPr bwMode="auto">
                <a:xfrm>
                  <a:off x="2360015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0" name="矩形 339"/>
                <p:cNvSpPr/>
                <p:nvPr/>
              </p:nvSpPr>
              <p:spPr bwMode="auto">
                <a:xfrm>
                  <a:off x="2538604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3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1" name="矩形 340"/>
                <p:cNvSpPr/>
                <p:nvPr/>
              </p:nvSpPr>
              <p:spPr bwMode="auto">
                <a:xfrm>
                  <a:off x="2717193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2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2" name="矩形 341"/>
                <p:cNvSpPr/>
                <p:nvPr/>
              </p:nvSpPr>
              <p:spPr bwMode="auto">
                <a:xfrm>
                  <a:off x="2895782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3" name="矩形 342"/>
                <p:cNvSpPr/>
                <p:nvPr/>
              </p:nvSpPr>
              <p:spPr bwMode="auto">
                <a:xfrm>
                  <a:off x="3074368" y="2924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289" name="组合 288"/>
            <p:cNvGrpSpPr/>
            <p:nvPr/>
          </p:nvGrpSpPr>
          <p:grpSpPr>
            <a:xfrm>
              <a:off x="6068053" y="4975041"/>
              <a:ext cx="2865890" cy="288000"/>
              <a:chOff x="381000" y="3212976"/>
              <a:chExt cx="2865890" cy="288000"/>
            </a:xfrm>
          </p:grpSpPr>
          <p:sp>
            <p:nvSpPr>
              <p:cNvPr id="310" name="矩形 309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1" name="矩形 310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2" name="矩形 311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3" name="矩形 312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4" name="矩形 313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7" name="矩形 316"/>
              <p:cNvSpPr/>
              <p:nvPr/>
            </p:nvSpPr>
            <p:spPr bwMode="auto">
              <a:xfrm>
                <a:off x="1631123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BaseR</a:t>
                </a:r>
                <a:r>
                  <a: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 </a:t>
                </a:r>
              </a:p>
            </p:txBody>
          </p:sp>
          <p:sp>
            <p:nvSpPr>
              <p:cNvPr id="320" name="矩形 319"/>
              <p:cNvSpPr/>
              <p:nvPr/>
            </p:nvSpPr>
            <p:spPr bwMode="auto">
              <a:xfrm>
                <a:off x="2166890" y="3212976"/>
                <a:ext cx="10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PCoffset6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90" name="组合 289"/>
            <p:cNvGrpSpPr/>
            <p:nvPr/>
          </p:nvGrpSpPr>
          <p:grpSpPr>
            <a:xfrm>
              <a:off x="6068053" y="5290206"/>
              <a:ext cx="2870123" cy="288000"/>
              <a:chOff x="381000" y="3212976"/>
              <a:chExt cx="2870123" cy="288000"/>
            </a:xfrm>
          </p:grpSpPr>
          <p:sp>
            <p:nvSpPr>
              <p:cNvPr id="294" name="矩形 29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 bwMode="auto">
              <a:xfrm>
                <a:off x="1095356" y="3212976"/>
                <a:ext cx="54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PCoffset9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1" name="矩形 290"/>
            <p:cNvSpPr/>
            <p:nvPr/>
          </p:nvSpPr>
          <p:spPr bwMode="auto">
            <a:xfrm>
              <a:off x="5326485" y="465712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ST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2" name="矩形 291"/>
            <p:cNvSpPr/>
            <p:nvPr/>
          </p:nvSpPr>
          <p:spPr bwMode="auto">
            <a:xfrm>
              <a:off x="5326485" y="528855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STI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93" name="矩形 292"/>
            <p:cNvSpPr/>
            <p:nvPr/>
          </p:nvSpPr>
          <p:spPr bwMode="auto">
            <a:xfrm>
              <a:off x="5326485" y="4977524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STR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6" name="文本框 285"/>
          <p:cNvSpPr txBox="1"/>
          <p:nvPr/>
        </p:nvSpPr>
        <p:spPr>
          <a:xfrm>
            <a:off x="6437553" y="2038106"/>
            <a:ext cx="1473096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取数指令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(Load)</a:t>
            </a:r>
            <a:endParaRPr kumimoji="0" lang="zh-CN" altLang="en-US" sz="20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6437553" y="4139595"/>
            <a:ext cx="1455911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存数指令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(Store)</a:t>
            </a:r>
            <a:endParaRPr kumimoji="0" lang="zh-CN" altLang="en-US" sz="20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93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D9853F59-A185-4466-AB33-FFBFDE46518B}"/>
              </a:ext>
            </a:extLst>
          </p:cNvPr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 After </a:t>
            </a:r>
            <a:r>
              <a:rPr lang="en-US" altLang="zh-CN" kern="0" baseline="0" dirty="0">
                <a:solidFill>
                  <a:srgbClr val="333399"/>
                </a:solidFill>
                <a:latin typeface="Arial"/>
                <a:ea typeface="黑体"/>
              </a:rPr>
              <a:t>O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perate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Instruction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4906ED09-C9B5-4E99-B912-0A57E47DF2FE}"/>
              </a:ext>
            </a:extLst>
          </p:cNvPr>
          <p:cNvCxnSpPr/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915090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7865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2786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>
            <a:cxnSpLocks/>
          </p:cNvCxnSpPr>
          <p:nvPr/>
        </p:nvCxnSpPr>
        <p:spPr bwMode="auto">
          <a:xfrm flipV="1">
            <a:off x="1219899" y="3970961"/>
            <a:ext cx="7780" cy="74107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3" name="直接连接符 262"/>
          <p:cNvCxnSpPr/>
          <p:nvPr/>
        </p:nvCxnSpPr>
        <p:spPr bwMode="auto">
          <a:xfrm rot="10800000">
            <a:off x="3366482" y="3988800"/>
            <a:ext cx="1726" cy="84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321927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LC-3  Data Path After Load/Store Instruction</a:t>
            </a: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52" name="直接连接符 451"/>
          <p:cNvCxnSpPr>
            <a:cxnSpLocks/>
          </p:cNvCxnSpPr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5" name="文本框 354"/>
          <p:cNvSpPr txBox="1"/>
          <p:nvPr/>
        </p:nvSpPr>
        <p:spPr>
          <a:xfrm>
            <a:off x="6122062" y="4190891"/>
            <a:ext cx="84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ADD/AND</a:t>
            </a:r>
            <a:endParaRPr lang="zh-CN" altLang="en-US" sz="1000" b="1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74371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LC-3  Data Path After Control Instruction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076517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8307" y="5302983"/>
            <a:ext cx="6290524" cy="1497514"/>
            <a:chOff x="138307" y="5302983"/>
            <a:chExt cx="6290524" cy="1497514"/>
          </a:xfrm>
        </p:grpSpPr>
        <p:sp>
          <p:nvSpPr>
            <p:cNvPr id="379" name="矩形 378"/>
            <p:cNvSpPr/>
            <p:nvPr/>
          </p:nvSpPr>
          <p:spPr bwMode="auto">
            <a:xfrm>
              <a:off x="138307" y="5302983"/>
              <a:ext cx="6290524" cy="1497514"/>
            </a:xfrm>
            <a:prstGeom prst="rect">
              <a:avLst/>
            </a:prstGeom>
            <a:noFill/>
            <a:ln w="63500" cap="flat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1" name="矩形 390"/>
            <p:cNvSpPr/>
            <p:nvPr/>
          </p:nvSpPr>
          <p:spPr bwMode="auto">
            <a:xfrm>
              <a:off x="1571013" y="5444804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Memory Unit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组合 21"/>
          <p:cNvGrpSpPr/>
          <p:nvPr/>
        </p:nvGrpSpPr>
        <p:grpSpPr>
          <a:xfrm>
            <a:off x="6094401" y="1111864"/>
            <a:ext cx="2872192" cy="4131264"/>
            <a:chOff x="6094401" y="1111864"/>
            <a:chExt cx="2872192" cy="4131264"/>
          </a:xfrm>
        </p:grpSpPr>
        <p:sp>
          <p:nvSpPr>
            <p:cNvPr id="14" name="矩形 13"/>
            <p:cNvSpPr/>
            <p:nvPr/>
          </p:nvSpPr>
          <p:spPr bwMode="auto">
            <a:xfrm>
              <a:off x="6094401" y="1111864"/>
              <a:ext cx="2872192" cy="4131264"/>
            </a:xfrm>
            <a:prstGeom prst="rect">
              <a:avLst/>
            </a:prstGeom>
            <a:noFill/>
            <a:ln w="635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97" name="矩形 396"/>
            <p:cNvSpPr/>
            <p:nvPr/>
          </p:nvSpPr>
          <p:spPr bwMode="auto">
            <a:xfrm>
              <a:off x="6146232" y="2420306"/>
              <a:ext cx="2736977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Processing Unit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520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1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5432</TotalTime>
  <Pages>0</Pages>
  <Words>5972</Words>
  <Characters>0</Characters>
  <Application>Microsoft Office PowerPoint</Application>
  <DocSecurity>0</DocSecurity>
  <PresentationFormat>全屏显示(4:3)</PresentationFormat>
  <Lines>0</Lines>
  <Paragraphs>3436</Paragraphs>
  <Slides>49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0" baseType="lpstr">
      <vt:lpstr>CourierPS</vt:lpstr>
      <vt:lpstr>Gungsuh</vt:lpstr>
      <vt:lpstr>等线</vt:lpstr>
      <vt:lpstr>仿宋</vt:lpstr>
      <vt:lpstr>黑体</vt:lpstr>
      <vt:lpstr>华文楷体</vt:lpstr>
      <vt:lpstr>华文新魏</vt:lpstr>
      <vt:lpstr>楷体</vt:lpstr>
      <vt:lpstr>宋体</vt:lpstr>
      <vt:lpstr>微软雅黑</vt:lpstr>
      <vt:lpstr>Arial</vt:lpstr>
      <vt:lpstr>Calibri</vt:lpstr>
      <vt:lpstr>Franklin Gothic Book</vt:lpstr>
      <vt:lpstr>Garamond</vt:lpstr>
      <vt:lpstr>Tahoma</vt:lpstr>
      <vt:lpstr>Wingdings</vt:lpstr>
      <vt:lpstr>Wingdings 3</vt:lpstr>
      <vt:lpstr>1_Office 主题​​</vt:lpstr>
      <vt:lpstr>学术交流模板3-中文</vt:lpstr>
      <vt:lpstr>1_学术交流模板3-中文</vt:lpstr>
      <vt:lpstr>CorelDRAW</vt:lpstr>
      <vt:lpstr>Chapter 5-3   The LC-3 Control Instructions</vt:lpstr>
      <vt:lpstr>PowerPoint 演示文稿</vt:lpstr>
      <vt:lpstr>PowerPoint 演示文稿</vt:lpstr>
      <vt:lpstr>Great Idea #3: Abstraction Helps Us Manage Complexity</vt:lpstr>
      <vt:lpstr>LC-3 ISA Overview </vt:lpstr>
      <vt:lpstr>PowerPoint 演示文稿</vt:lpstr>
      <vt:lpstr>Today</vt:lpstr>
      <vt:lpstr>PowerPoint 演示文稿</vt:lpstr>
      <vt:lpstr>Control Instructions</vt:lpstr>
      <vt:lpstr>LC-3 ISA Overview </vt:lpstr>
      <vt:lpstr>Control Instructions</vt:lpstr>
      <vt:lpstr>Condition Codes</vt:lpstr>
      <vt:lpstr>PowerPoint 演示文稿</vt:lpstr>
      <vt:lpstr>Conditional Branch Instruction</vt:lpstr>
      <vt:lpstr>BR (PC-Relative)</vt:lpstr>
      <vt:lpstr>BR (PC-Relative): BRz    x4101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BR (PC-Relative)</vt:lpstr>
      <vt:lpstr>Using Branch Instructions</vt:lpstr>
      <vt:lpstr>Sample Program(The use of a counter)</vt:lpstr>
      <vt:lpstr>Using Branch Instructions</vt:lpstr>
      <vt:lpstr>Using Branch Instructions</vt:lpstr>
      <vt:lpstr>Sample Program(The use of a sentinel)</vt:lpstr>
      <vt:lpstr>Using Branch Instructions(Code Optimization)</vt:lpstr>
      <vt:lpstr>Sample Program</vt:lpstr>
      <vt:lpstr>PowerPoint 演示文稿</vt:lpstr>
      <vt:lpstr>JMP (Register)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LC-3 ISA </vt:lpstr>
      <vt:lpstr>PowerPoint 演示文稿</vt:lpstr>
      <vt:lpstr>PowerPoint 演示文稿</vt:lpstr>
      <vt:lpstr>PowerPoint 演示文稿</vt:lpstr>
      <vt:lpstr>PowerPoint 演示文稿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648</cp:revision>
  <cp:lastPrinted>2020-01-03T04:21:52Z</cp:lastPrinted>
  <dcterms:created xsi:type="dcterms:W3CDTF">2012-09-03T16:09:03Z</dcterms:created>
  <dcterms:modified xsi:type="dcterms:W3CDTF">2025-10-14T06:43:01Z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