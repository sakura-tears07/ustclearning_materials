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40" r:id="rId2"/>
    <p:sldMasterId id="2147483852" r:id="rId3"/>
  </p:sldMasterIdLst>
  <p:notesMasterIdLst>
    <p:notesMasterId r:id="rId40"/>
  </p:notesMasterIdLst>
  <p:sldIdLst>
    <p:sldId id="1541" r:id="rId4"/>
    <p:sldId id="1561" r:id="rId5"/>
    <p:sldId id="1562" r:id="rId6"/>
    <p:sldId id="498" r:id="rId7"/>
    <p:sldId id="616" r:id="rId8"/>
    <p:sldId id="1604" r:id="rId9"/>
    <p:sldId id="1563" r:id="rId10"/>
    <p:sldId id="1564" r:id="rId11"/>
    <p:sldId id="1565" r:id="rId12"/>
    <p:sldId id="1566" r:id="rId13"/>
    <p:sldId id="1567" r:id="rId14"/>
    <p:sldId id="1677" r:id="rId15"/>
    <p:sldId id="1568" r:id="rId16"/>
    <p:sldId id="1686" r:id="rId17"/>
    <p:sldId id="1605" r:id="rId18"/>
    <p:sldId id="1583" r:id="rId19"/>
    <p:sldId id="1584" r:id="rId20"/>
    <p:sldId id="1585" r:id="rId21"/>
    <p:sldId id="1586" r:id="rId22"/>
    <p:sldId id="1587" r:id="rId23"/>
    <p:sldId id="1588" r:id="rId24"/>
    <p:sldId id="1589" r:id="rId25"/>
    <p:sldId id="1590" r:id="rId26"/>
    <p:sldId id="1591" r:id="rId27"/>
    <p:sldId id="1592" r:id="rId28"/>
    <p:sldId id="1593" r:id="rId29"/>
    <p:sldId id="1594" r:id="rId30"/>
    <p:sldId id="1595" r:id="rId31"/>
    <p:sldId id="1596" r:id="rId32"/>
    <p:sldId id="1597" r:id="rId33"/>
    <p:sldId id="1598" r:id="rId34"/>
    <p:sldId id="1599" r:id="rId35"/>
    <p:sldId id="1600" r:id="rId36"/>
    <p:sldId id="1601" r:id="rId37"/>
    <p:sldId id="1602" r:id="rId38"/>
    <p:sldId id="1603" r:id="rId3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3399"/>
    <a:srgbClr val="003399"/>
    <a:srgbClr val="CCFFFF"/>
    <a:srgbClr val="FFCCFF"/>
    <a:srgbClr val="0074BF"/>
    <a:srgbClr val="A6E0E0"/>
    <a:srgbClr val="CC3300"/>
    <a:srgbClr val="00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01" autoAdjust="0"/>
    <p:restoredTop sz="87271" autoAdjust="0"/>
  </p:normalViewPr>
  <p:slideViewPr>
    <p:cSldViewPr>
      <p:cViewPr varScale="1">
        <p:scale>
          <a:sx n="106" d="100"/>
          <a:sy n="106" d="100"/>
        </p:scale>
        <p:origin x="1728" y="67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2025/12/2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826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7703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245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616E1B-D57C-4DD9-8C78-E9F14A888E6F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134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046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212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2025/12/2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100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318EC-F4E5-415D-8AB8-7A2FA76C28D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2030B0-9293-4F0D-82ED-74F0C6335FA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255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19C3C-C5B4-461C-AA2E-E537409AB5D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42061-D800-47C3-AE7A-73681109E7C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337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66FF6-BC31-458D-B337-8AF8E7C91792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D8A4C-00A1-4605-8504-DDED97D9383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748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1FF0F-7912-4D74-A461-24EC544E2526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9363F-A959-4A12-B6A7-45AE6D967CD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434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A7FFC-4CE2-475A-A786-8955FCBC7D30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E45E6-A75F-4D3A-8936-8CF45F7E2FA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3196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707074-B03B-4439-8FF7-3DD393E92B2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B7A60E-B2F0-4E41-9582-06856E61446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3410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49220-AA52-475D-92EF-D1BEEC66470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1E4F5-3281-42B7-9083-A44882BA9EE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168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F4E2C-9229-4EB3-B0B8-F50355712DF3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52AFC-A3A9-4791-A8BD-9497763A62D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1508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969A8-212E-49A4-BF09-D9233341BAE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9139B3-D87C-4ACB-8AF1-AF5146CAC2B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025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98226-4AA4-43DC-A798-AD8696FDE1AC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CCC4F-3B21-4FD9-A588-E801DD52B1B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8464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CAEF9B-3944-45EF-AA65-5FC150746733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524BF-C6D9-4FD0-BB25-AED0825765E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983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318EC-F4E5-415D-8AB8-7A2FA76C28D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2030B0-9293-4F0D-82ED-74F0C6335FA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1094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latin typeface="Courier New" panose="02070309020205020404" pitchFamily="49" charset="0"/>
                <a:ea typeface="仿宋" panose="02010609060101010101" pitchFamily="49" charset="-122"/>
                <a:cs typeface="Courier New" panose="02070309020205020404" pitchFamily="49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19C3C-C5B4-461C-AA2E-E537409AB5D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42061-D800-47C3-AE7A-73681109E7C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1966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66FF6-BC31-458D-B337-8AF8E7C91792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D8A4C-00A1-4605-8504-DDED97D9383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28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1FF0F-7912-4D74-A461-24EC544E2526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9363F-A959-4A12-B6A7-45AE6D967CD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0098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A7FFC-4CE2-475A-A786-8955FCBC7D30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E45E6-A75F-4D3A-8936-8CF45F7E2FA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9517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707074-B03B-4439-8FF7-3DD393E92B2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B7A60E-B2F0-4E41-9582-06856E61446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4511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49220-AA52-475D-92EF-D1BEEC66470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1E4F5-3281-42B7-9083-A44882BA9EE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762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F4E2C-9229-4EB3-B0B8-F50355712DF3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52AFC-A3A9-4791-A8BD-9497763A62D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211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969A8-212E-49A4-BF09-D9233341BAE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9139B3-D87C-4ACB-8AF1-AF5146CAC2B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8926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98226-4AA4-43DC-A798-AD8696FDE1AC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CCC4F-3B21-4FD9-A588-E801DD52B1B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570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CAEF9B-3944-45EF-AA65-5FC150746733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524BF-C6D9-4FD0-BB25-AED0825765E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709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2025/12/2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77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 smtClean="0"/>
            </a:lvl1pPr>
          </a:lstStyle>
          <a:p>
            <a:pPr>
              <a:defRPr/>
            </a:pPr>
            <a:fld id="{68A3BBE9-3DFA-4135-A616-61A59E4C08C1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 smtClean="0"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 smtClean="0"/>
            </a:lvl1pPr>
          </a:lstStyle>
          <a:p>
            <a:pPr>
              <a:defRPr/>
            </a:pPr>
            <a:fld id="{605FD81E-F043-472B-89E0-0A80D04B5A4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62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 kern="1200">
          <a:solidFill>
            <a:schemeClr val="tx1"/>
          </a:solidFill>
          <a:latin typeface="+mn-lt"/>
          <a:ea typeface="楷体_GB2312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itchFamily="18" charset="-127"/>
        <a:buChar char="-"/>
        <a:defRPr b="1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 smtClean="0"/>
            </a:lvl1pPr>
          </a:lstStyle>
          <a:p>
            <a:pPr>
              <a:defRPr/>
            </a:pPr>
            <a:fld id="{68A3BBE9-3DFA-4135-A616-61A59E4C08C1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 smtClean="0"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 smtClean="0"/>
            </a:lvl1pPr>
          </a:lstStyle>
          <a:p>
            <a:pPr>
              <a:defRPr/>
            </a:pPr>
            <a:fld id="{605FD81E-F043-472B-89E0-0A80D04B5A4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79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 kern="1200">
          <a:solidFill>
            <a:schemeClr val="tx1"/>
          </a:solidFill>
          <a:latin typeface="+mn-lt"/>
          <a:ea typeface="楷体_GB2312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itchFamily="18" charset="-127"/>
        <a:buChar char="-"/>
        <a:defRPr b="1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9-2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 Service Routines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CS1002A.01</a:t>
            </a:r>
            <a:r>
              <a:rPr lang="zh-CN" altLang="en-US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31A456-DBBE-4210-BF82-B6118121184C}"/>
              </a:ext>
            </a:extLst>
          </p:cNvPr>
          <p:cNvSpPr txBox="1"/>
          <p:nvPr/>
        </p:nvSpPr>
        <p:spPr>
          <a:xfrm>
            <a:off x="2640971" y="5114173"/>
            <a:ext cx="3857594" cy="1580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28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4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4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28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sz="1600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8960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1926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372256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8960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1926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Operating System Service Routines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372256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7">
            <a:extLst>
              <a:ext uri="{FF2B5EF4-FFF2-40B4-BE49-F238E27FC236}">
                <a16:creationId xmlns:a16="http://schemas.microsoft.com/office/drawing/2014/main" id="{606DEDEA-7C9B-477F-993D-E2F343435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2370889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41" name="Text Box 17">
            <a:extLst>
              <a:ext uri="{FF2B5EF4-FFF2-40B4-BE49-F238E27FC236}">
                <a16:creationId xmlns:a16="http://schemas.microsoft.com/office/drawing/2014/main" id="{C143FE60-2D61-4605-A70B-4032E4F23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27792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0307206-0A2C-488D-BF34-19FFD54CC44C}"/>
              </a:ext>
            </a:extLst>
          </p:cNvPr>
          <p:cNvCxnSpPr/>
          <p:nvPr/>
        </p:nvCxnSpPr>
        <p:spPr>
          <a:xfrm>
            <a:off x="474181" y="292494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7">
            <a:extLst>
              <a:ext uri="{FF2B5EF4-FFF2-40B4-BE49-F238E27FC236}">
                <a16:creationId xmlns:a16="http://schemas.microsoft.com/office/drawing/2014/main" id="{E2F25E77-9020-44EF-9AF9-31A2CE86A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2370889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TRAP Routines</a:t>
            </a:r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B8745904-E097-49DB-A277-EA67834E0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277923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7DFADD7D-5732-4590-B749-38C68B2744B6}"/>
              </a:ext>
            </a:extLst>
          </p:cNvPr>
          <p:cNvCxnSpPr/>
          <p:nvPr/>
        </p:nvCxnSpPr>
        <p:spPr>
          <a:xfrm>
            <a:off x="474181" y="292494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17">
            <a:extLst>
              <a:ext uri="{FF2B5EF4-FFF2-40B4-BE49-F238E27FC236}">
                <a16:creationId xmlns:a16="http://schemas.microsoft.com/office/drawing/2014/main" id="{89008351-D539-9766-90E9-5BEB7C23E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20" y="3921301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" name="矩形 17">
            <a:extLst>
              <a:ext uri="{FF2B5EF4-FFF2-40B4-BE49-F238E27FC236}">
                <a16:creationId xmlns:a16="http://schemas.microsoft.com/office/drawing/2014/main" id="{1C41252E-FF7F-616B-F31C-D022D106E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6260" y="4014267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5EFD902-51B0-E2E4-5816-7F6E4F31A07C}"/>
              </a:ext>
            </a:extLst>
          </p:cNvPr>
          <p:cNvCxnSpPr/>
          <p:nvPr/>
        </p:nvCxnSpPr>
        <p:spPr>
          <a:xfrm>
            <a:off x="435297" y="4574909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17">
            <a:extLst>
              <a:ext uri="{FF2B5EF4-FFF2-40B4-BE49-F238E27FC236}">
                <a16:creationId xmlns:a16="http://schemas.microsoft.com/office/drawing/2014/main" id="{CD728867-D711-19BE-FCC5-A5474FF60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20" y="3921301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D92F482D-8A47-8029-13D9-5CDCC3F5A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6260" y="4014267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Data Type Conversion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F685FF0-E2A2-07AD-4D4B-17845047A32B}"/>
              </a:ext>
            </a:extLst>
          </p:cNvPr>
          <p:cNvCxnSpPr/>
          <p:nvPr/>
        </p:nvCxnSpPr>
        <p:spPr>
          <a:xfrm>
            <a:off x="435297" y="4574909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08500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C4EF60-1B3C-4756-ADAC-AC2EDAD6562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EF408B-58E8-4F79-B5B5-343485345E5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/>
              <a:t>Today: CONTROL in </a:t>
            </a:r>
            <a:r>
              <a:rPr lang="en-US" altLang="zh-CN" dirty="0">
                <a:ea typeface="宋体" panose="02010600030101010101" pitchFamily="2" charset="-122"/>
              </a:rPr>
              <a:t>Von Neumann Model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25605" name="Object 14"/>
          <p:cNvGraphicFramePr>
            <a:graphicFrameLocks noChangeAspect="1"/>
          </p:cNvGraphicFramePr>
          <p:nvPr/>
        </p:nvGraphicFramePr>
        <p:xfrm>
          <a:off x="1219200" y="1382944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CorelDRAW" r:id="rId3" imgW="5743575" imgH="4029075" progId="CorelDRAW.Graphic.9">
                  <p:embed/>
                </p:oleObj>
              </mc:Choice>
              <mc:Fallback>
                <p:oleObj name="CorelDRAW" r:id="rId3" imgW="5743575" imgH="4029075" progId="CorelDRAW.Graphic.9">
                  <p:embed/>
                  <p:pic>
                    <p:nvPicPr>
                      <p:cNvPr id="2560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382944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2339752" y="4869160"/>
            <a:ext cx="4536504" cy="1201688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A920EE-7C48-4D19-94F4-9009AE5405DF}"/>
              </a:ext>
            </a:extLst>
          </p:cNvPr>
          <p:cNvSpPr/>
          <p:nvPr/>
        </p:nvSpPr>
        <p:spPr bwMode="auto">
          <a:xfrm>
            <a:off x="1259632" y="2485280"/>
            <a:ext cx="1440160" cy="17358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514E7C-8E9D-4A90-8623-B6D9A19AA6EF}"/>
              </a:ext>
            </a:extLst>
          </p:cNvPr>
          <p:cNvSpPr/>
          <p:nvPr/>
        </p:nvSpPr>
        <p:spPr bwMode="auto">
          <a:xfrm>
            <a:off x="6534016" y="2485280"/>
            <a:ext cx="1440160" cy="17358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65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Control Instructions for System Calls</a:t>
            </a:r>
            <a:endParaRPr lang="zh-CN" altLang="en-US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1CBB7B-8F77-4532-AF3B-692F6833BD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441A33-B750-4E2E-A7AE-D936BE1FEF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矩形 103"/>
          <p:cNvSpPr/>
          <p:nvPr/>
        </p:nvSpPr>
        <p:spPr bwMode="auto">
          <a:xfrm>
            <a:off x="232668" y="1124744"/>
            <a:ext cx="8659812" cy="4968552"/>
          </a:xfrm>
          <a:prstGeom prst="rect">
            <a:avLst/>
          </a:prstGeom>
          <a:solidFill>
            <a:srgbClr val="FF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244144" y="5450550"/>
            <a:ext cx="6450116" cy="541667"/>
            <a:chOff x="381000" y="3212976"/>
            <a:chExt cx="2868712" cy="288000"/>
          </a:xfrm>
        </p:grpSpPr>
        <p:sp>
          <p:nvSpPr>
            <p:cNvPr id="212" name="矩形 211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3" name="矩形 212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4" name="矩形 213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" name="矩形 214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6" name="矩形 215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7" name="矩形 216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8" name="矩形 217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9" name="矩形 218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20" name="矩形 219"/>
            <p:cNvSpPr/>
            <p:nvPr/>
          </p:nvSpPr>
          <p:spPr bwMode="auto">
            <a:xfrm>
              <a:off x="1809712" y="3212976"/>
              <a:ext cx="144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TrapVector8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6" name="矩形 105"/>
          <p:cNvSpPr/>
          <p:nvPr/>
        </p:nvSpPr>
        <p:spPr bwMode="auto">
          <a:xfrm>
            <a:off x="664114" y="5448477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TRAP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2244144" y="1252106"/>
            <a:ext cx="6453289" cy="947962"/>
            <a:chOff x="345016" y="2996952"/>
            <a:chExt cx="2870123" cy="504024"/>
          </a:xfrm>
        </p:grpSpPr>
        <p:grpSp>
          <p:nvGrpSpPr>
            <p:cNvPr id="186" name="组合 185"/>
            <p:cNvGrpSpPr/>
            <p:nvPr/>
          </p:nvGrpSpPr>
          <p:grpSpPr>
            <a:xfrm>
              <a:off x="345016" y="3212976"/>
              <a:ext cx="2870123" cy="288000"/>
              <a:chOff x="381000" y="3212976"/>
              <a:chExt cx="2870123" cy="288000"/>
            </a:xfrm>
          </p:grpSpPr>
          <p:sp>
            <p:nvSpPr>
              <p:cNvPr id="204" name="矩形 20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06" name="矩形 20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z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p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PCoffset9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345016" y="2996952"/>
              <a:ext cx="2858832" cy="201861"/>
              <a:chOff x="395536" y="2924976"/>
              <a:chExt cx="2858832" cy="288000"/>
            </a:xfrm>
          </p:grpSpPr>
          <p:sp>
            <p:nvSpPr>
              <p:cNvPr id="188" name="矩形 187"/>
              <p:cNvSpPr/>
              <p:nvPr/>
            </p:nvSpPr>
            <p:spPr bwMode="auto">
              <a:xfrm>
                <a:off x="39553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15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9" name="矩形 188"/>
              <p:cNvSpPr/>
              <p:nvPr/>
            </p:nvSpPr>
            <p:spPr bwMode="auto">
              <a:xfrm>
                <a:off x="57412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14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 bwMode="auto">
              <a:xfrm>
                <a:off x="75271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13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 bwMode="auto">
              <a:xfrm>
                <a:off x="93130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12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 bwMode="auto">
              <a:xfrm>
                <a:off x="110989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11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 bwMode="auto">
              <a:xfrm>
                <a:off x="1288481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 bwMode="auto">
              <a:xfrm>
                <a:off x="1467070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9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 bwMode="auto">
              <a:xfrm>
                <a:off x="1645659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8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 bwMode="auto">
              <a:xfrm>
                <a:off x="182424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7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 bwMode="auto">
              <a:xfrm>
                <a:off x="2002837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6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 bwMode="auto">
              <a:xfrm>
                <a:off x="218142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5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 bwMode="auto">
              <a:xfrm>
                <a:off x="236001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4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 bwMode="auto">
              <a:xfrm>
                <a:off x="253860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3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 bwMode="auto">
              <a:xfrm>
                <a:off x="271719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 bwMode="auto">
              <a:xfrm>
                <a:off x="289578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 bwMode="auto">
              <a:xfrm>
                <a:off x="307436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</p:grpSp>
      <p:grpSp>
        <p:nvGrpSpPr>
          <p:cNvPr id="109" name="组合 108"/>
          <p:cNvGrpSpPr/>
          <p:nvPr/>
        </p:nvGrpSpPr>
        <p:grpSpPr>
          <a:xfrm>
            <a:off x="2244144" y="2251160"/>
            <a:ext cx="6459634" cy="541667"/>
            <a:chOff x="381000" y="3212976"/>
            <a:chExt cx="2872945" cy="288000"/>
          </a:xfrm>
        </p:grpSpPr>
        <p:sp>
          <p:nvSpPr>
            <p:cNvPr id="180" name="矩形 17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81" name="矩形 18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2" name="矩形 18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1273945" y="3212976"/>
              <a:ext cx="19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PCoffset11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2244144" y="2843918"/>
            <a:ext cx="6427902" cy="541667"/>
            <a:chOff x="381000" y="3212976"/>
            <a:chExt cx="2858832" cy="288000"/>
          </a:xfrm>
        </p:grpSpPr>
        <p:sp>
          <p:nvSpPr>
            <p:cNvPr id="166" name="矩形 16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7" name="矩形 16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8" name="矩形 16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9" name="矩形 16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0" name="矩形 16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1" name="矩形 17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2" name="矩形 17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3" name="矩形 17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BaseR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" name="矩形 17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5" name="矩形 17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6" name="矩形 17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7" name="矩形 17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8" name="矩形 17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9" name="矩形 17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2244144" y="3436676"/>
            <a:ext cx="6427902" cy="541667"/>
            <a:chOff x="381000" y="3212976"/>
            <a:chExt cx="2858832" cy="288000"/>
          </a:xfrm>
        </p:grpSpPr>
        <p:sp>
          <p:nvSpPr>
            <p:cNvPr id="150" name="矩形 14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矩形 15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2" name="矩形 15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" name="矩形 15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" name="矩形 15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5" name="矩形 15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6" name="矩形 15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7" name="矩形 15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8" name="矩形 15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9" name="矩形 15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0" name="矩形 15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1" name="矩形 16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2" name="矩形 16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3" name="矩形 16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4" name="矩形 16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5" name="矩形 16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664114" y="1653225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BR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3" name="矩形 112"/>
          <p:cNvSpPr/>
          <p:nvPr/>
        </p:nvSpPr>
        <p:spPr bwMode="auto">
          <a:xfrm>
            <a:off x="664114" y="2840811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JSRR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664114" y="3434604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RTI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664114" y="2255830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JSR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244144" y="4031385"/>
            <a:ext cx="6427902" cy="541667"/>
            <a:chOff x="381000" y="3212976"/>
            <a:chExt cx="2858832" cy="288000"/>
          </a:xfrm>
        </p:grpSpPr>
        <p:sp>
          <p:nvSpPr>
            <p:cNvPr id="136" name="矩形 13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矩形 13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矩形 13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矩形 13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矩形 13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1" name="矩形 14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2" name="矩形 14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3" name="矩形 14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BaseR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矩形 14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5" name="矩形 14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6" name="矩形 14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7" name="矩形 14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8" name="矩形 14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9" name="矩形 14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7" name="矩形 116"/>
          <p:cNvSpPr/>
          <p:nvPr/>
        </p:nvSpPr>
        <p:spPr bwMode="auto">
          <a:xfrm>
            <a:off x="664114" y="4029312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JMP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2244144" y="4624020"/>
            <a:ext cx="6427902" cy="541667"/>
            <a:chOff x="381000" y="3212976"/>
            <a:chExt cx="2858832" cy="288000"/>
          </a:xfrm>
        </p:grpSpPr>
        <p:sp>
          <p:nvSpPr>
            <p:cNvPr id="120" name="矩形 11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矩形 12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矩形 12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矩形 12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矩形 12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5" name="矩形 12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6" name="矩形 12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矩形 12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" name="矩形 12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0" name="矩形 12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1" name="矩形 13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2" name="矩形 13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3" name="矩形 13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4" name="矩形 13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5" name="矩形 13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9" name="矩形 118"/>
          <p:cNvSpPr/>
          <p:nvPr/>
        </p:nvSpPr>
        <p:spPr bwMode="auto">
          <a:xfrm>
            <a:off x="664114" y="4621948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4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Today: CONTROL in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LC-3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Data Path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黑体"/>
              <a:cs typeface="+mj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0105" y="1097936"/>
            <a:ext cx="5889529" cy="4131264"/>
            <a:chOff x="130105" y="1097936"/>
            <a:chExt cx="5889529" cy="4131264"/>
          </a:xfrm>
        </p:grpSpPr>
        <p:sp>
          <p:nvSpPr>
            <p:cNvPr id="375" name="矩形 374"/>
            <p:cNvSpPr/>
            <p:nvPr/>
          </p:nvSpPr>
          <p:spPr bwMode="auto">
            <a:xfrm>
              <a:off x="130105" y="1097936"/>
              <a:ext cx="5889529" cy="4131264"/>
            </a:xfrm>
            <a:prstGeom prst="rect">
              <a:avLst/>
            </a:prstGeom>
            <a:noFill/>
            <a:ln w="635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430292" y="2314348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Control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6168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8960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1926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372256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8960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1926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Operating System Service Routines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372256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7">
            <a:extLst>
              <a:ext uri="{FF2B5EF4-FFF2-40B4-BE49-F238E27FC236}">
                <a16:creationId xmlns:a16="http://schemas.microsoft.com/office/drawing/2014/main" id="{606DEDEA-7C9B-477F-993D-E2F343435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2370889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41" name="Text Box 17">
            <a:extLst>
              <a:ext uri="{FF2B5EF4-FFF2-40B4-BE49-F238E27FC236}">
                <a16:creationId xmlns:a16="http://schemas.microsoft.com/office/drawing/2014/main" id="{C143FE60-2D61-4605-A70B-4032E4F23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27792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0307206-0A2C-488D-BF34-19FFD54CC44C}"/>
              </a:ext>
            </a:extLst>
          </p:cNvPr>
          <p:cNvCxnSpPr/>
          <p:nvPr/>
        </p:nvCxnSpPr>
        <p:spPr>
          <a:xfrm>
            <a:off x="474181" y="292494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7">
            <a:extLst>
              <a:ext uri="{FF2B5EF4-FFF2-40B4-BE49-F238E27FC236}">
                <a16:creationId xmlns:a16="http://schemas.microsoft.com/office/drawing/2014/main" id="{E2F25E77-9020-44EF-9AF9-31A2CE86A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2370889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TRAP Routines</a:t>
            </a:r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B8745904-E097-49DB-A277-EA67834E0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2277923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7DFADD7D-5732-4590-B749-38C68B2744B6}"/>
              </a:ext>
            </a:extLst>
          </p:cNvPr>
          <p:cNvCxnSpPr/>
          <p:nvPr/>
        </p:nvCxnSpPr>
        <p:spPr>
          <a:xfrm>
            <a:off x="474181" y="292494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24728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066D5F-F28E-4ECD-89A5-3139BC0333F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7AB90B-FBB0-4F8D-94BF-69BF784AB3F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System Calls</a:t>
            </a:r>
            <a:endParaRPr lang="zh-CN" altLang="en-US"/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Some ops. require specialized knowledge and protection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Abstract I/O device registers and how to use them, Programmers don’t want to know this!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Protection for shared I/O resources - isolate programs from OS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Reuse of common code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Solution: </a:t>
            </a:r>
            <a:r>
              <a:rPr lang="en-US" altLang="zh-CN" i="1" dirty="0"/>
              <a:t>service routines </a:t>
            </a:r>
            <a:r>
              <a:rPr lang="en-US" altLang="zh-CN" dirty="0"/>
              <a:t>or </a:t>
            </a:r>
            <a:r>
              <a:rPr lang="en-US" altLang="zh-CN" i="1" dirty="0"/>
              <a:t>system calls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Low-level, privileged operations performed by operating system</a:t>
            </a:r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1. User program invokes system call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2. Operating system code: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Saves registers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Performs operation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Restores registers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3. Returns control to user program</a:t>
            </a:r>
            <a:endParaRPr lang="en-US" altLang="zh-CN" b="0" dirty="0"/>
          </a:p>
          <a:p>
            <a:pPr>
              <a:lnSpc>
                <a:spcPct val="9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78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FF1F5C-8EB4-48DB-9F7D-7DAA0C244FE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2C944A-B9C2-47EE-AE97-FE36A23DA71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LC-3 TRAP Mechanism</a:t>
            </a:r>
            <a:endParaRPr lang="zh-CN" altLang="en-US" b="0"/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/>
              <a:t>Provides </a:t>
            </a:r>
            <a:r>
              <a:rPr lang="en-US" altLang="zh-CN" i="1">
                <a:solidFill>
                  <a:srgbClr val="FF3300"/>
                </a:solidFill>
              </a:rPr>
              <a:t>set of service routines</a:t>
            </a:r>
          </a:p>
          <a:p>
            <a:pPr lvl="1"/>
            <a:r>
              <a:rPr lang="en-US" altLang="zh-CN"/>
              <a:t>Part of operating system -- routines start at arbitrary addresses</a:t>
            </a:r>
            <a:endParaRPr lang="en-US" altLang="zh-CN" b="0"/>
          </a:p>
          <a:p>
            <a:pPr lvl="1"/>
            <a:r>
              <a:rPr lang="en-US" altLang="zh-CN"/>
              <a:t>Up to 256 routines</a:t>
            </a:r>
          </a:p>
          <a:p>
            <a:r>
              <a:rPr lang="en-US" altLang="zh-CN" i="1"/>
              <a:t>Requires </a:t>
            </a:r>
            <a:r>
              <a:rPr lang="en-US" altLang="zh-CN" i="1">
                <a:solidFill>
                  <a:srgbClr val="FF3300"/>
                </a:solidFill>
              </a:rPr>
              <a:t>table of starting addresses</a:t>
            </a:r>
          </a:p>
          <a:p>
            <a:pPr lvl="1"/>
            <a:r>
              <a:rPr lang="en-US" altLang="zh-CN"/>
              <a:t>Stored in memory (x0000 through x00FF)</a:t>
            </a:r>
          </a:p>
          <a:p>
            <a:pPr lvl="1"/>
            <a:r>
              <a:rPr lang="en-US" altLang="zh-CN"/>
              <a:t>Used to associate code with trap number</a:t>
            </a:r>
          </a:p>
          <a:p>
            <a:pPr lvl="1"/>
            <a:r>
              <a:rPr lang="en-US" altLang="zh-CN"/>
              <a:t>Called </a:t>
            </a:r>
            <a:r>
              <a:rPr lang="en-US" altLang="zh-CN">
                <a:solidFill>
                  <a:srgbClr val="FF3300"/>
                </a:solidFill>
              </a:rPr>
              <a:t>System Control Block</a:t>
            </a:r>
            <a:r>
              <a:rPr lang="en-US" altLang="zh-CN"/>
              <a:t> (or Trap Vector Table)</a:t>
            </a:r>
          </a:p>
          <a:p>
            <a:r>
              <a:rPr lang="en-US" altLang="zh-CN" i="1"/>
              <a:t>Uses </a:t>
            </a:r>
            <a:r>
              <a:rPr lang="en-US" altLang="zh-CN" i="1">
                <a:solidFill>
                  <a:srgbClr val="FF3300"/>
                </a:solidFill>
              </a:rPr>
              <a:t>TRAP instruction</a:t>
            </a:r>
          </a:p>
          <a:p>
            <a:pPr lvl="1"/>
            <a:r>
              <a:rPr lang="en-US" altLang="zh-CN"/>
              <a:t>Used by program to transfer control to operating system (w/ privileges)</a:t>
            </a:r>
          </a:p>
          <a:p>
            <a:pPr lvl="1"/>
            <a:r>
              <a:rPr lang="en-US" altLang="zh-CN" b="0"/>
              <a:t> </a:t>
            </a:r>
            <a:r>
              <a:rPr lang="en-US" altLang="zh-CN"/>
              <a:t>8-bit trap vector names one of the 256 service routines</a:t>
            </a:r>
          </a:p>
          <a:p>
            <a:r>
              <a:rPr lang="en-US" altLang="zh-CN" i="1"/>
              <a:t>Uses </a:t>
            </a:r>
            <a:r>
              <a:rPr lang="en-US" altLang="zh-CN" i="1">
                <a:solidFill>
                  <a:srgbClr val="FF3300"/>
                </a:solidFill>
              </a:rPr>
              <a:t>“RET” instruction(JMP R7)</a:t>
            </a:r>
          </a:p>
          <a:p>
            <a:pPr lvl="1"/>
            <a:r>
              <a:rPr lang="en-US" altLang="zh-CN"/>
              <a:t>Returns control to the user program (w/o privileges)</a:t>
            </a:r>
          </a:p>
          <a:p>
            <a:pPr lvl="1"/>
            <a:r>
              <a:rPr lang="en-US" altLang="zh-CN"/>
              <a:t>Execution resumes immediately after the TRAP instruction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779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479AF8-F0CE-4072-ACB5-D54B0C100D8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BAE85D-D355-4EAA-A1DE-EDA6952692A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LC-3 TRAP Routines(</a:t>
            </a:r>
            <a:r>
              <a:rPr lang="en-US" altLang="zh-CN" i="1">
                <a:solidFill>
                  <a:srgbClr val="FF3300"/>
                </a:solidFill>
              </a:rPr>
              <a:t>service routines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76613" y="1035050"/>
            <a:ext cx="5641975" cy="5562600"/>
          </a:xfrm>
        </p:spPr>
        <p:txBody>
          <a:bodyPr/>
          <a:lstStyle/>
          <a:p>
            <a:pPr marL="342900" lvl="1" indent="-228600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GETC (TRAP x20)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Read a single character from KBD. 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ASCII copied in R0, R0[15:8] cleared.</a:t>
            </a:r>
          </a:p>
          <a:p>
            <a:pPr marL="635000" lvl="2" indent="-177800">
              <a:spcBef>
                <a:spcPts val="0"/>
              </a:spcBef>
            </a:pPr>
            <a:endParaRPr lang="en-US" altLang="zh-CN" sz="1000" dirty="0"/>
          </a:p>
          <a:p>
            <a:pPr marL="342900" lvl="1" indent="-228600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OUT (TRAP x21)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Write R0[7:0] to CRT.</a:t>
            </a:r>
          </a:p>
          <a:p>
            <a:pPr marL="635000" lvl="2" indent="-177800">
              <a:spcBef>
                <a:spcPts val="0"/>
              </a:spcBef>
            </a:pPr>
            <a:endParaRPr lang="en-US" altLang="zh-CN" sz="1000" dirty="0"/>
          </a:p>
          <a:p>
            <a:pPr marL="342900" lvl="1" indent="-228600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PUTS (TRAP x22)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Write a string to CRT. String address in R0.</a:t>
            </a:r>
          </a:p>
          <a:p>
            <a:pPr marL="635000" lvl="2" indent="-177800">
              <a:spcBef>
                <a:spcPts val="0"/>
              </a:spcBef>
            </a:pPr>
            <a:endParaRPr lang="en-US" altLang="zh-CN" sz="1000" dirty="0"/>
          </a:p>
          <a:p>
            <a:pPr marL="342900" lvl="1" indent="-228600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IN (TRAP x23)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Print a prompt on the screen and read a single character from KBD.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Character is echoed to Display. ASCII copied to R0[7:0] and R0[15:8] cleared.</a:t>
            </a:r>
          </a:p>
          <a:p>
            <a:pPr marL="635000" lvl="2" indent="-177800">
              <a:spcBef>
                <a:spcPts val="0"/>
              </a:spcBef>
            </a:pPr>
            <a:endParaRPr lang="en-US" altLang="zh-CN" sz="1000" dirty="0"/>
          </a:p>
          <a:p>
            <a:pPr marL="342900" lvl="1" indent="-228600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HALT (TRAP x25)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Prints message on CRT &amp; halts execution.</a:t>
            </a:r>
          </a:p>
        </p:txBody>
      </p:sp>
      <p:grpSp>
        <p:nvGrpSpPr>
          <p:cNvPr id="6150" name="Group 4"/>
          <p:cNvGrpSpPr>
            <a:grpSpLocks/>
          </p:cNvGrpSpPr>
          <p:nvPr/>
        </p:nvGrpSpPr>
        <p:grpSpPr bwMode="auto">
          <a:xfrm>
            <a:off x="233363" y="1268413"/>
            <a:ext cx="1817687" cy="5141912"/>
            <a:chOff x="176" y="720"/>
            <a:chExt cx="1692" cy="3239"/>
          </a:xfrm>
        </p:grpSpPr>
        <p:sp>
          <p:nvSpPr>
            <p:cNvPr id="6162" name="Rectangle 5"/>
            <p:cNvSpPr>
              <a:spLocks noChangeArrowheads="1"/>
            </p:cNvSpPr>
            <p:nvPr/>
          </p:nvSpPr>
          <p:spPr bwMode="auto">
            <a:xfrm>
              <a:off x="800" y="720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63" name="Rectangle 6"/>
            <p:cNvSpPr>
              <a:spLocks noChangeArrowheads="1"/>
            </p:cNvSpPr>
            <p:nvPr/>
          </p:nvSpPr>
          <p:spPr bwMode="auto">
            <a:xfrm>
              <a:off x="800" y="1001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:</a:t>
              </a:r>
            </a:p>
          </p:txBody>
        </p:sp>
        <p:sp>
          <p:nvSpPr>
            <p:cNvPr id="6164" name="Rectangle 7"/>
            <p:cNvSpPr>
              <a:spLocks noChangeArrowheads="1"/>
            </p:cNvSpPr>
            <p:nvPr/>
          </p:nvSpPr>
          <p:spPr bwMode="auto">
            <a:xfrm>
              <a:off x="800" y="1282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x0400</a:t>
              </a:r>
            </a:p>
          </p:txBody>
        </p:sp>
        <p:sp>
          <p:nvSpPr>
            <p:cNvPr id="6165" name="Rectangle 8"/>
            <p:cNvSpPr>
              <a:spLocks noChangeArrowheads="1"/>
            </p:cNvSpPr>
            <p:nvPr/>
          </p:nvSpPr>
          <p:spPr bwMode="auto">
            <a:xfrm>
              <a:off x="800" y="1563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x0430</a:t>
              </a:r>
            </a:p>
          </p:txBody>
        </p:sp>
        <p:sp>
          <p:nvSpPr>
            <p:cNvPr id="6166" name="Rectangle 9"/>
            <p:cNvSpPr>
              <a:spLocks noChangeArrowheads="1"/>
            </p:cNvSpPr>
            <p:nvPr/>
          </p:nvSpPr>
          <p:spPr bwMode="auto">
            <a:xfrm>
              <a:off x="800" y="1844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x0450</a:t>
              </a:r>
            </a:p>
          </p:txBody>
        </p:sp>
        <p:sp>
          <p:nvSpPr>
            <p:cNvPr id="6167" name="Rectangle 10"/>
            <p:cNvSpPr>
              <a:spLocks noChangeArrowheads="1"/>
            </p:cNvSpPr>
            <p:nvPr/>
          </p:nvSpPr>
          <p:spPr bwMode="auto">
            <a:xfrm>
              <a:off x="800" y="2125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x04A0</a:t>
              </a:r>
            </a:p>
          </p:txBody>
        </p:sp>
        <p:sp>
          <p:nvSpPr>
            <p:cNvPr id="6168" name="Rectangle 11"/>
            <p:cNvSpPr>
              <a:spLocks noChangeArrowheads="1"/>
            </p:cNvSpPr>
            <p:nvPr/>
          </p:nvSpPr>
          <p:spPr bwMode="auto">
            <a:xfrm>
              <a:off x="800" y="2406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x04E0</a:t>
              </a:r>
            </a:p>
          </p:txBody>
        </p:sp>
        <p:sp>
          <p:nvSpPr>
            <p:cNvPr id="6169" name="Rectangle 12"/>
            <p:cNvSpPr>
              <a:spLocks noChangeArrowheads="1"/>
            </p:cNvSpPr>
            <p:nvPr/>
          </p:nvSpPr>
          <p:spPr bwMode="auto">
            <a:xfrm>
              <a:off x="800" y="2688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xFD70</a:t>
              </a:r>
            </a:p>
          </p:txBody>
        </p:sp>
        <p:sp>
          <p:nvSpPr>
            <p:cNvPr id="6170" name="Rectangle 13"/>
            <p:cNvSpPr>
              <a:spLocks noChangeArrowheads="1"/>
            </p:cNvSpPr>
            <p:nvPr/>
          </p:nvSpPr>
          <p:spPr bwMode="auto">
            <a:xfrm>
              <a:off x="176" y="720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x0000</a:t>
              </a:r>
            </a:p>
          </p:txBody>
        </p:sp>
        <p:sp>
          <p:nvSpPr>
            <p:cNvPr id="6171" name="Rectangle 14"/>
            <p:cNvSpPr>
              <a:spLocks noChangeArrowheads="1"/>
            </p:cNvSpPr>
            <p:nvPr/>
          </p:nvSpPr>
          <p:spPr bwMode="auto">
            <a:xfrm>
              <a:off x="176" y="1001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:</a:t>
              </a:r>
            </a:p>
          </p:txBody>
        </p:sp>
        <p:sp>
          <p:nvSpPr>
            <p:cNvPr id="6172" name="Rectangle 15"/>
            <p:cNvSpPr>
              <a:spLocks noChangeArrowheads="1"/>
            </p:cNvSpPr>
            <p:nvPr/>
          </p:nvSpPr>
          <p:spPr bwMode="auto">
            <a:xfrm>
              <a:off x="176" y="1282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x0020</a:t>
              </a:r>
            </a:p>
          </p:txBody>
        </p:sp>
        <p:sp>
          <p:nvSpPr>
            <p:cNvPr id="6173" name="Rectangle 16"/>
            <p:cNvSpPr>
              <a:spLocks noChangeArrowheads="1"/>
            </p:cNvSpPr>
            <p:nvPr/>
          </p:nvSpPr>
          <p:spPr bwMode="auto">
            <a:xfrm>
              <a:off x="176" y="1563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x0021</a:t>
              </a:r>
            </a:p>
          </p:txBody>
        </p:sp>
        <p:sp>
          <p:nvSpPr>
            <p:cNvPr id="6174" name="Rectangle 17"/>
            <p:cNvSpPr>
              <a:spLocks noChangeArrowheads="1"/>
            </p:cNvSpPr>
            <p:nvPr/>
          </p:nvSpPr>
          <p:spPr bwMode="auto">
            <a:xfrm>
              <a:off x="176" y="1844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x0022</a:t>
              </a:r>
            </a:p>
          </p:txBody>
        </p:sp>
        <p:sp>
          <p:nvSpPr>
            <p:cNvPr id="6175" name="Rectangle 18"/>
            <p:cNvSpPr>
              <a:spLocks noChangeArrowheads="1"/>
            </p:cNvSpPr>
            <p:nvPr/>
          </p:nvSpPr>
          <p:spPr bwMode="auto">
            <a:xfrm>
              <a:off x="176" y="2125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x0023</a:t>
              </a:r>
            </a:p>
          </p:txBody>
        </p:sp>
        <p:sp>
          <p:nvSpPr>
            <p:cNvPr id="6176" name="Rectangle 19"/>
            <p:cNvSpPr>
              <a:spLocks noChangeArrowheads="1"/>
            </p:cNvSpPr>
            <p:nvPr/>
          </p:nvSpPr>
          <p:spPr bwMode="auto">
            <a:xfrm>
              <a:off x="176" y="2406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x0024</a:t>
              </a:r>
            </a:p>
          </p:txBody>
        </p:sp>
        <p:sp>
          <p:nvSpPr>
            <p:cNvPr id="6177" name="Rectangle 20"/>
            <p:cNvSpPr>
              <a:spLocks noChangeArrowheads="1"/>
            </p:cNvSpPr>
            <p:nvPr/>
          </p:nvSpPr>
          <p:spPr bwMode="auto">
            <a:xfrm>
              <a:off x="176" y="2688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x0025</a:t>
              </a:r>
            </a:p>
          </p:txBody>
        </p:sp>
        <p:sp>
          <p:nvSpPr>
            <p:cNvPr id="6178" name="Rectangle 21"/>
            <p:cNvSpPr>
              <a:spLocks noChangeArrowheads="1"/>
            </p:cNvSpPr>
            <p:nvPr/>
          </p:nvSpPr>
          <p:spPr bwMode="auto">
            <a:xfrm>
              <a:off x="800" y="2976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:</a:t>
              </a:r>
            </a:p>
          </p:txBody>
        </p:sp>
        <p:sp>
          <p:nvSpPr>
            <p:cNvPr id="6179" name="Rectangle 22"/>
            <p:cNvSpPr>
              <a:spLocks noChangeArrowheads="1"/>
            </p:cNvSpPr>
            <p:nvPr/>
          </p:nvSpPr>
          <p:spPr bwMode="auto">
            <a:xfrm>
              <a:off x="176" y="2976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:</a:t>
              </a:r>
            </a:p>
          </p:txBody>
        </p:sp>
        <p:sp>
          <p:nvSpPr>
            <p:cNvPr id="6180" name="Rectangle 23"/>
            <p:cNvSpPr>
              <a:spLocks noChangeArrowheads="1"/>
            </p:cNvSpPr>
            <p:nvPr/>
          </p:nvSpPr>
          <p:spPr bwMode="auto">
            <a:xfrm>
              <a:off x="800" y="3264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81" name="Rectangle 24"/>
            <p:cNvSpPr>
              <a:spLocks noChangeArrowheads="1"/>
            </p:cNvSpPr>
            <p:nvPr/>
          </p:nvSpPr>
          <p:spPr bwMode="auto">
            <a:xfrm>
              <a:off x="176" y="3264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x00FF</a:t>
              </a:r>
            </a:p>
          </p:txBody>
        </p:sp>
        <p:sp>
          <p:nvSpPr>
            <p:cNvPr id="6182" name="Text Box 25"/>
            <p:cNvSpPr txBox="1">
              <a:spLocks noChangeArrowheads="1"/>
            </p:cNvSpPr>
            <p:nvPr/>
          </p:nvSpPr>
          <p:spPr bwMode="auto">
            <a:xfrm>
              <a:off x="272" y="3552"/>
              <a:ext cx="159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The LC-3 System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Control Block</a:t>
              </a:r>
            </a:p>
          </p:txBody>
        </p:sp>
      </p:grpSp>
      <p:grpSp>
        <p:nvGrpSpPr>
          <p:cNvPr id="6151" name="Group 4"/>
          <p:cNvGrpSpPr>
            <a:grpSpLocks/>
          </p:cNvGrpSpPr>
          <p:nvPr/>
        </p:nvGrpSpPr>
        <p:grpSpPr bwMode="auto">
          <a:xfrm>
            <a:off x="2051050" y="1268413"/>
            <a:ext cx="1208088" cy="4495800"/>
            <a:chOff x="800" y="720"/>
            <a:chExt cx="960" cy="2832"/>
          </a:xfrm>
        </p:grpSpPr>
        <p:sp>
          <p:nvSpPr>
            <p:cNvPr id="6152" name="Rectangle 5"/>
            <p:cNvSpPr>
              <a:spLocks noChangeArrowheads="1"/>
            </p:cNvSpPr>
            <p:nvPr/>
          </p:nvSpPr>
          <p:spPr bwMode="auto">
            <a:xfrm>
              <a:off x="800" y="720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预留代码空间</a:t>
              </a:r>
              <a:endPara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实用代码空间</a:t>
              </a:r>
              <a:r>
                <a:rPr kumimoji="0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)</a:t>
              </a: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3" name="Rectangle 6"/>
            <p:cNvSpPr>
              <a:spLocks noChangeArrowheads="1"/>
            </p:cNvSpPr>
            <p:nvPr/>
          </p:nvSpPr>
          <p:spPr bwMode="auto">
            <a:xfrm>
              <a:off x="800" y="1001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:</a:t>
              </a:r>
            </a:p>
          </p:txBody>
        </p:sp>
        <p:sp>
          <p:nvSpPr>
            <p:cNvPr id="6154" name="Rectangle 7"/>
            <p:cNvSpPr>
              <a:spLocks noChangeArrowheads="1"/>
            </p:cNvSpPr>
            <p:nvPr/>
          </p:nvSpPr>
          <p:spPr bwMode="auto">
            <a:xfrm>
              <a:off x="800" y="1282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48</a:t>
              </a:r>
            </a:p>
          </p:txBody>
        </p:sp>
        <p:sp>
          <p:nvSpPr>
            <p:cNvPr id="6155" name="Rectangle 8"/>
            <p:cNvSpPr>
              <a:spLocks noChangeArrowheads="1"/>
            </p:cNvSpPr>
            <p:nvPr/>
          </p:nvSpPr>
          <p:spPr bwMode="auto">
            <a:xfrm>
              <a:off x="800" y="1563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32(14)</a:t>
              </a:r>
            </a:p>
          </p:txBody>
        </p:sp>
        <p:sp>
          <p:nvSpPr>
            <p:cNvPr id="6156" name="Rectangle 9"/>
            <p:cNvSpPr>
              <a:spLocks noChangeArrowheads="1"/>
            </p:cNvSpPr>
            <p:nvPr/>
          </p:nvSpPr>
          <p:spPr bwMode="auto">
            <a:xfrm>
              <a:off x="800" y="1844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96</a:t>
              </a:r>
            </a:p>
          </p:txBody>
        </p:sp>
        <p:sp>
          <p:nvSpPr>
            <p:cNvPr id="6157" name="Rectangle 10"/>
            <p:cNvSpPr>
              <a:spLocks noChangeArrowheads="1"/>
            </p:cNvSpPr>
            <p:nvPr/>
          </p:nvSpPr>
          <p:spPr bwMode="auto">
            <a:xfrm>
              <a:off x="800" y="2125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64(42)</a:t>
              </a:r>
            </a:p>
          </p:txBody>
        </p:sp>
        <p:sp>
          <p:nvSpPr>
            <p:cNvPr id="6158" name="Rectangle 11"/>
            <p:cNvSpPr>
              <a:spLocks noChangeArrowheads="1"/>
            </p:cNvSpPr>
            <p:nvPr/>
          </p:nvSpPr>
          <p:spPr bwMode="auto">
            <a:xfrm>
              <a:off x="800" y="2406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9" name="Rectangle 12"/>
            <p:cNvSpPr>
              <a:spLocks noChangeArrowheads="1"/>
            </p:cNvSpPr>
            <p:nvPr/>
          </p:nvSpPr>
          <p:spPr bwMode="auto">
            <a:xfrm>
              <a:off x="800" y="2688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60" name="Rectangle 21"/>
            <p:cNvSpPr>
              <a:spLocks noChangeArrowheads="1"/>
            </p:cNvSpPr>
            <p:nvPr/>
          </p:nvSpPr>
          <p:spPr bwMode="auto">
            <a:xfrm>
              <a:off x="800" y="2976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:</a:t>
              </a:r>
            </a:p>
          </p:txBody>
        </p:sp>
        <p:sp>
          <p:nvSpPr>
            <p:cNvPr id="6161" name="Rectangle 23"/>
            <p:cNvSpPr>
              <a:spLocks noChangeArrowheads="1"/>
            </p:cNvSpPr>
            <p:nvPr/>
          </p:nvSpPr>
          <p:spPr bwMode="auto">
            <a:xfrm>
              <a:off x="800" y="3264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6202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E9F650-4CF3-4134-8E57-68370F4EC40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1FDC53-4BDF-4A4D-854D-E2F290F5175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TRAP Instruction</a:t>
            </a:r>
            <a:endParaRPr lang="zh-CN" altLang="en-US" b="0"/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773238"/>
            <a:ext cx="8839200" cy="4689475"/>
          </a:xfrm>
        </p:spPr>
        <p:txBody>
          <a:bodyPr/>
          <a:lstStyle/>
          <a:p>
            <a:r>
              <a:rPr lang="en-US" altLang="zh-CN" dirty="0"/>
              <a:t>Trap vector</a:t>
            </a:r>
          </a:p>
          <a:p>
            <a:pPr lvl="1"/>
            <a:r>
              <a:rPr lang="en-US" altLang="zh-CN" dirty="0"/>
              <a:t>Identifies which system call to invoke</a:t>
            </a:r>
          </a:p>
          <a:p>
            <a:pPr lvl="1"/>
            <a:r>
              <a:rPr lang="en-US" altLang="zh-CN" dirty="0"/>
              <a:t>Serves as index into table of service routine addresses</a:t>
            </a:r>
          </a:p>
          <a:p>
            <a:pPr lvl="2"/>
            <a:r>
              <a:rPr lang="en-US" altLang="zh-CN" dirty="0"/>
              <a:t>LC-3: table stored in memory at 0x0000 </a:t>
            </a:r>
            <a:r>
              <a:rPr lang="en-US" altLang="zh-CN" dirty="0">
                <a:latin typeface="宋体" panose="02010600030101010101" pitchFamily="2" charset="-122"/>
              </a:rPr>
              <a:t>–</a:t>
            </a:r>
            <a:r>
              <a:rPr lang="en-US" altLang="zh-CN" dirty="0"/>
              <a:t> 0x00FF</a:t>
            </a:r>
          </a:p>
          <a:p>
            <a:pPr lvl="2"/>
            <a:r>
              <a:rPr lang="en-US" altLang="zh-CN" dirty="0"/>
              <a:t>8-bit trap vector zero-extended to form 16-bit address</a:t>
            </a:r>
          </a:p>
          <a:p>
            <a:pPr lvl="1"/>
            <a:r>
              <a:rPr lang="en-US" altLang="zh-CN" dirty="0"/>
              <a:t>Enters privileged mode</a:t>
            </a:r>
          </a:p>
          <a:p>
            <a:r>
              <a:rPr lang="en-US" altLang="zh-CN" dirty="0"/>
              <a:t>Where to go</a:t>
            </a:r>
          </a:p>
          <a:p>
            <a:pPr lvl="1"/>
            <a:r>
              <a:rPr lang="en-US" altLang="zh-CN" dirty="0"/>
              <a:t>Lookup starting address from table; place in PC</a:t>
            </a:r>
          </a:p>
          <a:p>
            <a:r>
              <a:rPr lang="en-US" altLang="zh-CN" dirty="0"/>
              <a:t>Enabling return</a:t>
            </a:r>
          </a:p>
          <a:p>
            <a:pPr lvl="1"/>
            <a:r>
              <a:rPr lang="en-US" altLang="zh-CN" dirty="0"/>
              <a:t>Save PSR,  address of next instruction after TRAP </a:t>
            </a:r>
            <a:r>
              <a:rPr lang="zh-CN" altLang="en-US" dirty="0"/>
              <a:t>， </a:t>
            </a:r>
            <a:r>
              <a:rPr lang="en-US" altLang="zh-CN" dirty="0"/>
              <a:t>PSR in system stack.</a:t>
            </a:r>
          </a:p>
        </p:txBody>
      </p:sp>
      <p:grpSp>
        <p:nvGrpSpPr>
          <p:cNvPr id="7174" name="Group 4"/>
          <p:cNvGrpSpPr>
            <a:grpSpLocks/>
          </p:cNvGrpSpPr>
          <p:nvPr/>
        </p:nvGrpSpPr>
        <p:grpSpPr bwMode="auto">
          <a:xfrm>
            <a:off x="2790825" y="981075"/>
            <a:ext cx="4876800" cy="820738"/>
            <a:chOff x="1104" y="2064"/>
            <a:chExt cx="3072" cy="517"/>
          </a:xfrm>
        </p:grpSpPr>
        <p:sp>
          <p:nvSpPr>
            <p:cNvPr id="7176" name="Rectangle 5"/>
            <p:cNvSpPr>
              <a:spLocks noChangeArrowheads="1"/>
            </p:cNvSpPr>
            <p:nvPr/>
          </p:nvSpPr>
          <p:spPr bwMode="auto">
            <a:xfrm>
              <a:off x="1161" y="2284"/>
              <a:ext cx="2919" cy="274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7" name="Text Box 6"/>
            <p:cNvSpPr txBox="1">
              <a:spLocks noChangeArrowheads="1"/>
            </p:cNvSpPr>
            <p:nvPr/>
          </p:nvSpPr>
          <p:spPr bwMode="auto">
            <a:xfrm>
              <a:off x="1104" y="2304"/>
              <a:ext cx="8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1  1  1  1</a:t>
              </a:r>
            </a:p>
          </p:txBody>
        </p:sp>
        <p:sp>
          <p:nvSpPr>
            <p:cNvPr id="7178" name="Line 7"/>
            <p:cNvSpPr>
              <a:spLocks noChangeShapeType="1"/>
            </p:cNvSpPr>
            <p:nvPr/>
          </p:nvSpPr>
          <p:spPr bwMode="auto">
            <a:xfrm flipV="1">
              <a:off x="1959" y="2280"/>
              <a:ext cx="0" cy="277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9" name="Text Box 8"/>
            <p:cNvSpPr txBox="1">
              <a:spLocks noChangeArrowheads="1"/>
            </p:cNvSpPr>
            <p:nvPr/>
          </p:nvSpPr>
          <p:spPr bwMode="auto">
            <a:xfrm>
              <a:off x="1152" y="2064"/>
              <a:ext cx="8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15 14 13 12</a:t>
              </a:r>
            </a:p>
          </p:txBody>
        </p:sp>
        <p:sp>
          <p:nvSpPr>
            <p:cNvPr id="7180" name="Text Box 9"/>
            <p:cNvSpPr txBox="1">
              <a:spLocks noChangeArrowheads="1"/>
            </p:cNvSpPr>
            <p:nvPr/>
          </p:nvSpPr>
          <p:spPr bwMode="auto">
            <a:xfrm>
              <a:off x="1920" y="2064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11  10  9  8</a:t>
              </a:r>
            </a:p>
          </p:txBody>
        </p:sp>
        <p:sp>
          <p:nvSpPr>
            <p:cNvPr id="7181" name="Text Box 10"/>
            <p:cNvSpPr txBox="1">
              <a:spLocks noChangeArrowheads="1"/>
            </p:cNvSpPr>
            <p:nvPr/>
          </p:nvSpPr>
          <p:spPr bwMode="auto">
            <a:xfrm>
              <a:off x="2736" y="2064"/>
              <a:ext cx="13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7  6   5  4   3  2  1  0</a:t>
              </a:r>
            </a:p>
          </p:txBody>
        </p:sp>
        <p:sp>
          <p:nvSpPr>
            <p:cNvPr id="7182" name="Text Box 11"/>
            <p:cNvSpPr txBox="1">
              <a:spLocks noChangeArrowheads="1"/>
            </p:cNvSpPr>
            <p:nvPr/>
          </p:nvSpPr>
          <p:spPr bwMode="auto">
            <a:xfrm>
              <a:off x="1968" y="2304"/>
              <a:ext cx="7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0  0  0  0</a:t>
              </a:r>
            </a:p>
          </p:txBody>
        </p:sp>
        <p:sp>
          <p:nvSpPr>
            <p:cNvPr id="7183" name="Text Box 12"/>
            <p:cNvSpPr txBox="1">
              <a:spLocks noChangeArrowheads="1"/>
            </p:cNvSpPr>
            <p:nvPr/>
          </p:nvSpPr>
          <p:spPr bwMode="auto">
            <a:xfrm>
              <a:off x="2784" y="2284"/>
              <a:ext cx="13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trapvector8</a:t>
              </a:r>
            </a:p>
          </p:txBody>
        </p:sp>
        <p:sp>
          <p:nvSpPr>
            <p:cNvPr id="7184" name="Line 13"/>
            <p:cNvSpPr>
              <a:spLocks noChangeShapeType="1"/>
            </p:cNvSpPr>
            <p:nvPr/>
          </p:nvSpPr>
          <p:spPr bwMode="auto">
            <a:xfrm flipV="1">
              <a:off x="2736" y="2304"/>
              <a:ext cx="0" cy="277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175" name="Text Box 14"/>
          <p:cNvSpPr txBox="1">
            <a:spLocks noChangeArrowheads="1"/>
          </p:cNvSpPr>
          <p:nvPr/>
        </p:nvSpPr>
        <p:spPr bwMode="auto">
          <a:xfrm>
            <a:off x="1763713" y="1311275"/>
            <a:ext cx="10223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TRAP</a:t>
            </a:r>
          </a:p>
        </p:txBody>
      </p:sp>
    </p:spTree>
    <p:extLst>
      <p:ext uri="{BB962C8B-B14F-4D97-AF65-F5344CB8AC3E}">
        <p14:creationId xmlns:p14="http://schemas.microsoft.com/office/powerpoint/2010/main" val="4042148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133475"/>
            <a:ext cx="8553450" cy="4943475"/>
          </a:xfrm>
          <a:prstGeom prst="rect">
            <a:avLst/>
          </a:prstGeom>
        </p:spPr>
      </p:pic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2B9326-11E2-45B9-945F-6B10860E9BD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EBC7A3-91E2-418A-B0DC-8D109AC4504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TRAP Mechanism Operation</a:t>
            </a:r>
            <a:endParaRPr lang="zh-CN" altLang="en-US" b="0"/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>
            <a:off x="6804025" y="5013325"/>
            <a:ext cx="7104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RETI</a:t>
            </a:r>
          </a:p>
        </p:txBody>
      </p:sp>
      <p:sp>
        <p:nvSpPr>
          <p:cNvPr id="9223" name="文本框 1"/>
          <p:cNvSpPr txBox="1">
            <a:spLocks noChangeArrowheads="1"/>
          </p:cNvSpPr>
          <p:nvPr/>
        </p:nvSpPr>
        <p:spPr bwMode="auto">
          <a:xfrm>
            <a:off x="3348038" y="2276475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①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4" name="文本框 11"/>
          <p:cNvSpPr txBox="1">
            <a:spLocks noChangeArrowheads="1"/>
          </p:cNvSpPr>
          <p:nvPr/>
        </p:nvSpPr>
        <p:spPr bwMode="auto">
          <a:xfrm>
            <a:off x="3654425" y="3605213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②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5" name="文本框 12"/>
          <p:cNvSpPr txBox="1">
            <a:spLocks noChangeArrowheads="1"/>
          </p:cNvSpPr>
          <p:nvPr/>
        </p:nvSpPr>
        <p:spPr bwMode="auto">
          <a:xfrm>
            <a:off x="4211638" y="5876925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③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376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F1D53-B2E2-49B6-B175-09810F7CB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Regions for Privilege Mode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E7A76AA-D5A3-42A7-92F8-3931A2C62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62" y="836613"/>
            <a:ext cx="5948938" cy="5481638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47DFFD-D399-4850-8A94-DC4B0E73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3EF5A0-5343-419E-A895-56D10F55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BD4074-9AB4-4E31-AEFB-D348F971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44D57D-72E4-4477-BB08-1737F7AAB091}"/>
              </a:ext>
            </a:extLst>
          </p:cNvPr>
          <p:cNvSpPr/>
          <p:nvPr/>
        </p:nvSpPr>
        <p:spPr>
          <a:xfrm>
            <a:off x="4716016" y="2348880"/>
            <a:ext cx="36724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baseline="0" dirty="0">
                <a:latin typeface="STIXGeneral-Regular"/>
              </a:rPr>
              <a:t>S</a:t>
            </a:r>
            <a:r>
              <a:rPr lang="en-US" altLang="zh-CN" b="1" i="1" baseline="0" dirty="0">
                <a:latin typeface="STIXGeneral-Italic"/>
              </a:rPr>
              <a:t>upervisor stack</a:t>
            </a:r>
          </a:p>
          <a:p>
            <a:pPr lvl="1"/>
            <a:r>
              <a:rPr lang="en-US" altLang="zh-CN" baseline="0" dirty="0">
                <a:latin typeface="STIXGeneral-Regular"/>
              </a:rPr>
              <a:t>in system space </a:t>
            </a:r>
          </a:p>
          <a:p>
            <a:pPr lvl="1"/>
            <a:r>
              <a:rPr lang="en-US" altLang="zh-CN" baseline="0" dirty="0">
                <a:latin typeface="STIXGeneral-Regular"/>
              </a:rPr>
              <a:t> by operating system</a:t>
            </a:r>
          </a:p>
          <a:p>
            <a:pPr lvl="1"/>
            <a:r>
              <a:rPr lang="en-US" altLang="zh-CN" baseline="0" dirty="0">
                <a:latin typeface="STIXGeneral-Regular"/>
              </a:rPr>
              <a:t> supervisor privilege required</a:t>
            </a:r>
          </a:p>
          <a:p>
            <a:endParaRPr lang="en-US" altLang="zh-CN" baseline="0" dirty="0">
              <a:latin typeface="STIXGeneral-Regular"/>
            </a:endParaRPr>
          </a:p>
          <a:p>
            <a:r>
              <a:rPr lang="en-US" altLang="zh-CN" b="1" i="1" baseline="0" dirty="0">
                <a:latin typeface="STIXGeneral-Italic"/>
              </a:rPr>
              <a:t>User stack</a:t>
            </a:r>
            <a:endParaRPr lang="en-US" altLang="zh-CN" b="1" baseline="0" dirty="0">
              <a:latin typeface="STIXGeneral-Regular"/>
            </a:endParaRPr>
          </a:p>
          <a:p>
            <a:pPr lvl="1"/>
            <a:r>
              <a:rPr lang="en-US" altLang="zh-CN" baseline="0" dirty="0">
                <a:latin typeface="STIXGeneral-Regular"/>
              </a:rPr>
              <a:t>in user space </a:t>
            </a:r>
          </a:p>
          <a:p>
            <a:pPr lvl="1"/>
            <a:r>
              <a:rPr lang="en-US" altLang="zh-CN" baseline="0" dirty="0">
                <a:latin typeface="STIXGeneral-Regular"/>
              </a:rPr>
              <a:t> by user program</a:t>
            </a:r>
          </a:p>
          <a:p>
            <a:pPr lvl="1"/>
            <a:r>
              <a:rPr lang="en-US" altLang="zh-CN" baseline="0" dirty="0">
                <a:latin typeface="STIXGeneral-Regular"/>
              </a:rPr>
              <a:t> no supervisor privilege required</a:t>
            </a:r>
          </a:p>
          <a:p>
            <a:endParaRPr lang="en-US" altLang="zh-CN" baseline="0" dirty="0">
              <a:latin typeface="STIXGeneral-Regular"/>
            </a:endParaRPr>
          </a:p>
          <a:p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D45A6E-1D63-41BF-959B-CD9DC5E9EE86}"/>
              </a:ext>
            </a:extLst>
          </p:cNvPr>
          <p:cNvSpPr/>
          <p:nvPr/>
        </p:nvSpPr>
        <p:spPr>
          <a:xfrm>
            <a:off x="3995936" y="5085184"/>
            <a:ext cx="48432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baseline="0" dirty="0">
                <a:latin typeface="STIXGeneral-Regular"/>
              </a:rPr>
              <a:t>R6</a:t>
            </a:r>
            <a:r>
              <a:rPr lang="en-US" altLang="zh-CN" baseline="0" dirty="0">
                <a:latin typeface="STIXGeneral-Regular"/>
              </a:rPr>
              <a:t>: </a:t>
            </a:r>
            <a:r>
              <a:rPr lang="en-US" altLang="zh-CN" baseline="0" dirty="0"/>
              <a:t>stack pointer (SP) for the active stack</a:t>
            </a:r>
          </a:p>
          <a:p>
            <a:r>
              <a:rPr lang="en-US" altLang="zh-CN" baseline="0" dirty="0" err="1"/>
              <a:t>Saved_SSP</a:t>
            </a:r>
            <a:r>
              <a:rPr lang="en-US" altLang="zh-CN" baseline="0" dirty="0"/>
              <a:t> / </a:t>
            </a:r>
            <a:r>
              <a:rPr lang="en-US" altLang="zh-CN" baseline="0" dirty="0" err="1"/>
              <a:t>Saved_USP</a:t>
            </a:r>
            <a:r>
              <a:rPr lang="en-US" altLang="zh-CN" baseline="0" dirty="0"/>
              <a:t>: save the SP not in use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3446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lvl="0"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TRAP        </a:t>
            </a:r>
            <a:r>
              <a:rPr lang="en-US" altLang="zh-CN" baseline="0" dirty="0">
                <a:solidFill>
                  <a:srgbClr val="000000"/>
                </a:solidFill>
                <a:latin typeface="STIXGeneral-Regular"/>
              </a:rPr>
              <a:t>System Call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163785-4F7E-4CEF-8D83-56375234C308}"/>
              </a:ext>
            </a:extLst>
          </p:cNvPr>
          <p:cNvSpPr/>
          <p:nvPr/>
        </p:nvSpPr>
        <p:spPr>
          <a:xfrm>
            <a:off x="934262" y="834816"/>
            <a:ext cx="76501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3600" baseline="0" dirty="0">
              <a:solidFill>
                <a:srgbClr val="000000"/>
              </a:solidFill>
              <a:latin typeface="STIXGeneral-Regular"/>
            </a:endParaRPr>
          </a:p>
          <a:p>
            <a:endParaRPr lang="en-US" altLang="zh-CN" sz="3200" baseline="0" dirty="0">
              <a:solidFill>
                <a:srgbClr val="000000"/>
              </a:solidFill>
              <a:latin typeface="STIXGeneral-Regular"/>
            </a:endParaRPr>
          </a:p>
          <a:p>
            <a:endParaRPr lang="en-US" altLang="zh-CN" sz="3200" baseline="0" dirty="0">
              <a:solidFill>
                <a:srgbClr val="000000"/>
              </a:solidFill>
              <a:latin typeface="STIXGeneral-Regular"/>
            </a:endParaRPr>
          </a:p>
          <a:p>
            <a:endParaRPr lang="en-US" altLang="zh-CN" sz="3200" baseline="0" dirty="0">
              <a:solidFill>
                <a:srgbClr val="000000"/>
              </a:solidFill>
              <a:latin typeface="STIXGeneral-Regular"/>
            </a:endParaRPr>
          </a:p>
          <a:p>
            <a:r>
              <a:rPr lang="en-US" altLang="zh-CN" sz="4000" baseline="0" dirty="0">
                <a:solidFill>
                  <a:srgbClr val="000000"/>
                </a:solidFill>
                <a:latin typeface="STIXGeneral-Regular"/>
              </a:rPr>
              <a:t>Operation</a:t>
            </a:r>
          </a:p>
          <a:p>
            <a:r>
              <a:rPr lang="en-US" altLang="zh-CN" sz="2400" baseline="0" dirty="0">
                <a:solidFill>
                  <a:srgbClr val="4D4D4D"/>
                </a:solidFill>
                <a:latin typeface="LetterGotLOT-Med"/>
              </a:rPr>
              <a:t>TEMP=PSR;</a:t>
            </a:r>
          </a:p>
          <a:p>
            <a:r>
              <a:rPr lang="en-US" altLang="zh-CN" sz="2400" baseline="0" dirty="0">
                <a:solidFill>
                  <a:srgbClr val="4D4D4D"/>
                </a:solidFill>
                <a:latin typeface="LetterGotLOT-Med"/>
              </a:rPr>
              <a:t>if (PSR[15] == 1)</a:t>
            </a:r>
          </a:p>
          <a:p>
            <a:r>
              <a:rPr lang="en-US" altLang="zh-CN" sz="2400" baseline="0" dirty="0">
                <a:solidFill>
                  <a:srgbClr val="4D4D4D"/>
                </a:solidFill>
                <a:latin typeface="LetterGotLOT-Med"/>
              </a:rPr>
              <a:t>      Saved USP=R6 and R6=Saved SSP;</a:t>
            </a:r>
          </a:p>
          <a:p>
            <a:r>
              <a:rPr lang="en-US" altLang="zh-CN" sz="2400" baseline="0" dirty="0">
                <a:solidFill>
                  <a:srgbClr val="4D4D4D"/>
                </a:solidFill>
                <a:latin typeface="LetterGotLOT-Med"/>
              </a:rPr>
              <a:t>      PSR[15]=0;</a:t>
            </a:r>
          </a:p>
          <a:p>
            <a:r>
              <a:rPr lang="en-US" altLang="zh-CN" sz="2400" baseline="0" dirty="0">
                <a:solidFill>
                  <a:srgbClr val="4D4D4D"/>
                </a:solidFill>
                <a:latin typeface="LetterGotLOT-Med"/>
              </a:rPr>
              <a:t>      Push TEMP,PC on the system stack</a:t>
            </a:r>
          </a:p>
          <a:p>
            <a:r>
              <a:rPr lang="en-US" altLang="zh-CN" sz="2400" baseline="0" dirty="0">
                <a:solidFill>
                  <a:srgbClr val="4D4D4D"/>
                </a:solidFill>
                <a:latin typeface="LetterGotLOT-Med"/>
              </a:rPr>
              <a:t>      PC =mem[ZEXT(trapvect8)]</a:t>
            </a:r>
            <a:endParaRPr lang="zh-CN" altLang="en-US" sz="24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A06F26D-F96E-410D-A8CB-58570DBE1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64" y="1412776"/>
            <a:ext cx="7344812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315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F85F3-3702-7764-48E1-333AC93FD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>
            <a:extLst>
              <a:ext uri="{FF2B5EF4-FFF2-40B4-BE49-F238E27FC236}">
                <a16:creationId xmlns:a16="http://schemas.microsoft.com/office/drawing/2014/main" id="{60EF28A2-8254-B59B-7E2F-E2F924EF79E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18C6537-F030-404F-A529-C35054480D1E}" type="datetime1">
              <a:rPr lang="zh-CN" altLang="en-US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2025/12/2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195" name="灯片编号占位符 5">
            <a:extLst>
              <a:ext uri="{FF2B5EF4-FFF2-40B4-BE49-F238E27FC236}">
                <a16:creationId xmlns:a16="http://schemas.microsoft.com/office/drawing/2014/main" id="{E7B4CB40-6E1C-FC43-123F-B6F4C250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9D6FF53B-8A79-4744-BBC6-1F68249DE811}" type="slidenum">
              <a:rPr lang="en-US" altLang="zh-CN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C7B1EB2B-DBB3-A6E1-DABD-441BD98FAB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RTI instruction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07749168-D723-0D64-531D-92CBC091AF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RTI – return instruction</a:t>
            </a:r>
          </a:p>
          <a:p>
            <a:pPr lvl="1"/>
            <a:r>
              <a:rPr lang="en-US" altLang="zh-CN" dirty="0"/>
              <a:t>How to return</a:t>
            </a:r>
          </a:p>
          <a:p>
            <a:pPr marL="800100" lvl="2" indent="0">
              <a:buNone/>
            </a:pPr>
            <a:r>
              <a:rPr lang="en-US" altLang="zh-CN" dirty="0"/>
              <a:t>if (PSR[15] == 1)           % if user mode</a:t>
            </a:r>
          </a:p>
          <a:p>
            <a:pPr marL="800100" lvl="2" indent="0">
              <a:buNone/>
            </a:pPr>
            <a:r>
              <a:rPr lang="en-US" altLang="zh-CN" dirty="0"/>
              <a:t>     </a:t>
            </a:r>
            <a:r>
              <a:rPr lang="en-US" altLang="zh-CN" b="0" dirty="0"/>
              <a:t>Initiate a privilege mode exception;</a:t>
            </a:r>
          </a:p>
          <a:p>
            <a:pPr marL="800100" lvl="2" indent="0">
              <a:buNone/>
            </a:pPr>
            <a:r>
              <a:rPr lang="en-US" altLang="zh-CN" dirty="0"/>
              <a:t>Else                       % if supervisor mode, pop PC, PSR on system stack</a:t>
            </a:r>
          </a:p>
          <a:p>
            <a:pPr marL="800100" lvl="2" indent="0">
              <a:buNone/>
            </a:pPr>
            <a:r>
              <a:rPr lang="en-US" altLang="zh-CN" dirty="0"/>
              <a:t>     </a:t>
            </a:r>
            <a:r>
              <a:rPr lang="en-US" altLang="zh-CN" sz="1600" b="0" dirty="0"/>
              <a:t>PC = mem[R6]; R6 is the SSP, PC is restored</a:t>
            </a:r>
          </a:p>
          <a:p>
            <a:pPr marL="800100" lvl="2" indent="0">
              <a:buNone/>
            </a:pPr>
            <a:r>
              <a:rPr lang="en-US" altLang="zh-CN" sz="1600" b="0" dirty="0"/>
              <a:t>     R6 = R6+1;</a:t>
            </a:r>
          </a:p>
          <a:p>
            <a:pPr marL="800100" lvl="2" indent="0">
              <a:buNone/>
            </a:pPr>
            <a:r>
              <a:rPr lang="en-US" altLang="zh-CN" sz="1600" b="0" dirty="0"/>
              <a:t>     TEMP = mem[R6];</a:t>
            </a:r>
          </a:p>
          <a:p>
            <a:pPr marL="800100" lvl="2" indent="0">
              <a:buNone/>
            </a:pPr>
            <a:r>
              <a:rPr lang="en-US" altLang="zh-CN" sz="1600" b="0" dirty="0"/>
              <a:t>      R6 = R6+1; system stack completes POP before saved PSR is restored</a:t>
            </a:r>
          </a:p>
          <a:p>
            <a:pPr marL="800100" lvl="2" indent="0">
              <a:buNone/>
            </a:pPr>
            <a:r>
              <a:rPr lang="en-US" altLang="zh-CN" sz="1600" b="0" dirty="0"/>
              <a:t>       PSR = TEMP; PSR is restored</a:t>
            </a:r>
          </a:p>
          <a:p>
            <a:pPr marL="800100" lvl="2" indent="0">
              <a:buNone/>
            </a:pPr>
            <a:r>
              <a:rPr lang="en-US" altLang="zh-CN" dirty="0"/>
              <a:t>if (PSR[15] == 1)                          %  come to user mode</a:t>
            </a:r>
          </a:p>
          <a:p>
            <a:pPr marL="800100" lvl="2" indent="0">
              <a:buNone/>
            </a:pPr>
            <a:r>
              <a:rPr lang="en-US" altLang="zh-CN" dirty="0"/>
              <a:t>       </a:t>
            </a:r>
            <a:r>
              <a:rPr lang="en-US" altLang="zh-CN" b="0" dirty="0"/>
              <a:t>Saved SSP=R6 and R6=Saved USP;</a:t>
            </a:r>
            <a:endParaRPr lang="zh-CN" altLang="en-US" b="0" dirty="0"/>
          </a:p>
        </p:txBody>
      </p:sp>
      <p:grpSp>
        <p:nvGrpSpPr>
          <p:cNvPr id="8198" name="Group 19">
            <a:extLst>
              <a:ext uri="{FF2B5EF4-FFF2-40B4-BE49-F238E27FC236}">
                <a16:creationId xmlns:a16="http://schemas.microsoft.com/office/drawing/2014/main" id="{8E6E9F90-61D2-C940-438E-809FBD00D7E4}"/>
              </a:ext>
            </a:extLst>
          </p:cNvPr>
          <p:cNvGrpSpPr>
            <a:grpSpLocks/>
          </p:cNvGrpSpPr>
          <p:nvPr/>
        </p:nvGrpSpPr>
        <p:grpSpPr bwMode="auto">
          <a:xfrm>
            <a:off x="3053916" y="71437"/>
            <a:ext cx="6084168" cy="765175"/>
            <a:chOff x="716" y="1570"/>
            <a:chExt cx="3793" cy="543"/>
          </a:xfrm>
        </p:grpSpPr>
        <p:sp>
          <p:nvSpPr>
            <p:cNvPr id="8199" name="Rectangle 5">
              <a:extLst>
                <a:ext uri="{FF2B5EF4-FFF2-40B4-BE49-F238E27FC236}">
                  <a16:creationId xmlns:a16="http://schemas.microsoft.com/office/drawing/2014/main" id="{450A1D66-5F09-0720-34C2-D2456F5BB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1831"/>
              <a:ext cx="2982" cy="274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0" name="Text Box 6">
              <a:extLst>
                <a:ext uri="{FF2B5EF4-FFF2-40B4-BE49-F238E27FC236}">
                  <a16:creationId xmlns:a16="http://schemas.microsoft.com/office/drawing/2014/main" id="{3A2851C2-2E39-7E87-1D5D-5495F4491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9" y="1831"/>
              <a:ext cx="8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000" baseline="0" dirty="0">
                  <a:solidFill>
                    <a:srgbClr val="0000CC"/>
                  </a:solidFill>
                  <a:ea typeface="宋体" panose="02010600030101010101" pitchFamily="2" charset="-122"/>
                </a:rPr>
                <a:t>  </a:t>
              </a:r>
              <a:r>
                <a:rPr lang="en-US" altLang="zh-CN" sz="2000" baseline="0" dirty="0">
                  <a:solidFill>
                    <a:srgbClr val="0000CC"/>
                  </a:solidFill>
                  <a:ea typeface="宋体" panose="02010600030101010101" pitchFamily="2" charset="-122"/>
                </a:rPr>
                <a:t>1  0  0  0</a:t>
              </a:r>
            </a:p>
          </p:txBody>
        </p:sp>
        <p:sp>
          <p:nvSpPr>
            <p:cNvPr id="8201" name="Line 7">
              <a:extLst>
                <a:ext uri="{FF2B5EF4-FFF2-40B4-BE49-F238E27FC236}">
                  <a16:creationId xmlns:a16="http://schemas.microsoft.com/office/drawing/2014/main" id="{34BF4251-8F5F-D3FB-B6B7-E1E9BAD07D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4" y="1831"/>
              <a:ext cx="0" cy="277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202" name="Text Box 8">
              <a:extLst>
                <a:ext uri="{FF2B5EF4-FFF2-40B4-BE49-F238E27FC236}">
                  <a16:creationId xmlns:a16="http://schemas.microsoft.com/office/drawing/2014/main" id="{6A8E2ADB-B52C-66DC-1CD2-D4D4206B1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7" y="1570"/>
              <a:ext cx="8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15 14 13 12</a:t>
              </a:r>
            </a:p>
          </p:txBody>
        </p:sp>
        <p:sp>
          <p:nvSpPr>
            <p:cNvPr id="8203" name="Text Box 9">
              <a:extLst>
                <a:ext uri="{FF2B5EF4-FFF2-40B4-BE49-F238E27FC236}">
                  <a16:creationId xmlns:a16="http://schemas.microsoft.com/office/drawing/2014/main" id="{B98DA3E1-E511-AF0D-DA69-36CE850A0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" y="1570"/>
              <a:ext cx="11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11  10  9  8  7  6</a:t>
              </a:r>
            </a:p>
          </p:txBody>
        </p:sp>
        <p:sp>
          <p:nvSpPr>
            <p:cNvPr id="8204" name="Text Box 10">
              <a:extLst>
                <a:ext uri="{FF2B5EF4-FFF2-40B4-BE49-F238E27FC236}">
                  <a16:creationId xmlns:a16="http://schemas.microsoft.com/office/drawing/2014/main" id="{E8E7D57D-6542-B903-6B8A-6FCDF962E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4" y="1570"/>
              <a:ext cx="11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5  4   3  2  1  0</a:t>
              </a:r>
            </a:p>
          </p:txBody>
        </p:sp>
        <p:sp>
          <p:nvSpPr>
            <p:cNvPr id="8205" name="Text Box 11">
              <a:extLst>
                <a:ext uri="{FF2B5EF4-FFF2-40B4-BE49-F238E27FC236}">
                  <a16:creationId xmlns:a16="http://schemas.microsoft.com/office/drawing/2014/main" id="{ABEAD25B-E419-2F78-41DE-CCD2387E8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" y="1831"/>
              <a:ext cx="7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aseline="0" dirty="0">
                  <a:solidFill>
                    <a:srgbClr val="0000CC"/>
                  </a:solidFill>
                  <a:ea typeface="宋体" panose="02010600030101010101" pitchFamily="2" charset="-122"/>
                </a:rPr>
                <a:t>0  0  0  </a:t>
              </a:r>
            </a:p>
          </p:txBody>
        </p:sp>
        <p:sp>
          <p:nvSpPr>
            <p:cNvPr id="8207" name="Text Box 14">
              <a:extLst>
                <a:ext uri="{FF2B5EF4-FFF2-40B4-BE49-F238E27FC236}">
                  <a16:creationId xmlns:a16="http://schemas.microsoft.com/office/drawing/2014/main" id="{0AD8F16B-DD28-5547-581B-1DFCA3B50C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" y="1822"/>
              <a:ext cx="4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zh-CN" baseline="0" dirty="0">
                  <a:solidFill>
                    <a:srgbClr val="FF3300"/>
                  </a:solidFill>
                  <a:ea typeface="宋体" panose="02010600030101010101" pitchFamily="2" charset="-122"/>
                </a:rPr>
                <a:t>RTI</a:t>
              </a:r>
            </a:p>
          </p:txBody>
        </p:sp>
        <p:sp>
          <p:nvSpPr>
            <p:cNvPr id="8208" name="Text Box 15">
              <a:extLst>
                <a:ext uri="{FF2B5EF4-FFF2-40B4-BE49-F238E27FC236}">
                  <a16:creationId xmlns:a16="http://schemas.microsoft.com/office/drawing/2014/main" id="{5474818F-B8F0-37EF-5A5B-A91AB6A3A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5" y="1831"/>
              <a:ext cx="7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aseline="0" dirty="0">
                  <a:solidFill>
                    <a:srgbClr val="0000CC"/>
                  </a:solidFill>
                  <a:ea typeface="宋体" panose="02010600030101010101" pitchFamily="2" charset="-122"/>
                </a:rPr>
                <a:t>0  0  0  </a:t>
              </a:r>
            </a:p>
          </p:txBody>
        </p:sp>
        <p:sp>
          <p:nvSpPr>
            <p:cNvPr id="8209" name="Text Box 16">
              <a:extLst>
                <a:ext uri="{FF2B5EF4-FFF2-40B4-BE49-F238E27FC236}">
                  <a16:creationId xmlns:a16="http://schemas.microsoft.com/office/drawing/2014/main" id="{FE7EF452-87B9-A87A-CF38-F786CF04B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9" y="1831"/>
              <a:ext cx="11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0  0  0  0  0  0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5997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8960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1926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372256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8960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1926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Operating System Service Routines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372256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7">
            <a:extLst>
              <a:ext uri="{FF2B5EF4-FFF2-40B4-BE49-F238E27FC236}">
                <a16:creationId xmlns:a16="http://schemas.microsoft.com/office/drawing/2014/main" id="{606DEDEA-7C9B-477F-993D-E2F343435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2370889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41" name="Text Box 17">
            <a:extLst>
              <a:ext uri="{FF2B5EF4-FFF2-40B4-BE49-F238E27FC236}">
                <a16:creationId xmlns:a16="http://schemas.microsoft.com/office/drawing/2014/main" id="{C143FE60-2D61-4605-A70B-4032E4F23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27792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0307206-0A2C-488D-BF34-19FFD54CC44C}"/>
              </a:ext>
            </a:extLst>
          </p:cNvPr>
          <p:cNvCxnSpPr/>
          <p:nvPr/>
        </p:nvCxnSpPr>
        <p:spPr>
          <a:xfrm>
            <a:off x="474181" y="292494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7">
            <a:extLst>
              <a:ext uri="{FF2B5EF4-FFF2-40B4-BE49-F238E27FC236}">
                <a16:creationId xmlns:a16="http://schemas.microsoft.com/office/drawing/2014/main" id="{E2F25E77-9020-44EF-9AF9-31A2CE86A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2370889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TRAP Routines</a:t>
            </a:r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B8745904-E097-49DB-A277-EA67834E0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2277923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7DFADD7D-5732-4590-B749-38C68B2744B6}"/>
              </a:ext>
            </a:extLst>
          </p:cNvPr>
          <p:cNvCxnSpPr/>
          <p:nvPr/>
        </p:nvCxnSpPr>
        <p:spPr>
          <a:xfrm>
            <a:off x="474181" y="292494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133644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FD952C-BED0-443E-BDC6-0E6CC38BF3C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0D614C-7152-4F8B-B6CD-8DB81C1CB46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Character Input Service Routine (IN, TRAP x23)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79388" y="971550"/>
            <a:ext cx="8964612" cy="5810250"/>
          </a:xfrm>
          <a:prstGeom prst="rect">
            <a:avLst/>
          </a:prstGeom>
          <a:solidFill>
            <a:srgbClr val="A6E0E0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01; Service Routine for Keyboard Input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02	.ORIG	x04A0	;System call starting address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03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04;START	ST	R7,SaveR7	;Save the linkage back to the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05;			;program?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06	ST	R1,SaveR1	;Save the values in the registers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07	ST	R2,SaveR2	;that are used so that they can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08	ST	R3,SaveR3	;be restored before RET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09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10;Output Newline on CRT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11	LD	R2,Newline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12 L1	LDI	R3,DSR	;Check DDR—is it free?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13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L1	;Loop until monitor is ready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14	STI	R2,DDR	;Move cursor to new clean line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15;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16;Output “Input a character”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17	LEA	R1,Prompt	;Prompt is starting address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18			;of prompt string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19 Loop 	LDR	R0,R1,#0	;Get next prompt character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20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Input	;Check for end of prompt string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21 L2	LDI	R3,DSR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22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L2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23	STI	R0,DDR	;Write next character of prompt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24			;string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25	ADD	R1,R1,#1	;Increment prompt point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26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BRnzp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Loop	</a:t>
            </a:r>
          </a:p>
        </p:txBody>
      </p:sp>
    </p:spTree>
    <p:extLst>
      <p:ext uri="{BB962C8B-B14F-4D97-AF65-F5344CB8AC3E}">
        <p14:creationId xmlns:p14="http://schemas.microsoft.com/office/powerpoint/2010/main" val="1485516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AB8132-55D4-48FA-A0D0-D8CE0587C31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F54B7E-D755-4B4B-BCE2-F07524F625B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Character Input Service Routine (IN, TRAP x23)</a:t>
            </a:r>
            <a:endParaRPr lang="en-US" altLang="zh-CN" sz="1800" b="0"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9388" y="981075"/>
            <a:ext cx="8839200" cy="5616575"/>
          </a:xfrm>
          <a:prstGeom prst="rect">
            <a:avLst/>
          </a:prstGeom>
          <a:solidFill>
            <a:srgbClr val="A6E0E0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27;Input a character from KB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28 Input	LDI 	R3,KBSR	;Has a character been typed?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29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Input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30	LDI	R0,KBDR	;Load it into R0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31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32;Echo the character on CRT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33 L3	LDI	R3,DSR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34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L3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35 	STI	R0,DDR	;Echo input character to the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36 			;monitor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37;Output Newline on CRT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	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38 L4	LDI	R3,DSR	;Check CRTDR—is it free?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39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L4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40	STI	R2,DDR	;Move cursor to new clean line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41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42;Restore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43	LD	R1,SaveR1	;Service routine done, restore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44	LD	R2,SaveR2	;original values in registers.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45	LD	R3,SaveR3	;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46; 	LD	R7,SaveR7	;Restore linkage back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47; 			;prior to RET?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48	RETI		;Return to calling program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45136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Character Input Service Routine (IN, TRAP x23)</a:t>
            </a:r>
            <a:endParaRPr lang="zh-CN" altLang="en-US"/>
          </a:p>
        </p:txBody>
      </p:sp>
      <p:sp>
        <p:nvSpPr>
          <p:cNvPr id="15363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93229F-F526-4381-BDEC-ECA137F64D1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F0030F-A955-4909-8652-529C49F9ADE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79388" y="981075"/>
            <a:ext cx="8839200" cy="5556250"/>
          </a:xfrm>
          <a:prstGeom prst="rect">
            <a:avLst/>
          </a:prstGeom>
          <a:solidFill>
            <a:srgbClr val="A6E0E0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49;Memory for registers saved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50;	SaveR7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51	SaveR1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52	SaveR2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53	SaveR3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54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55	DSR	.FILL xF3FC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56	DDR	.FILL xF3FF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57	KBSR	.FILL xF400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lain" startAt="58"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	KBDR	.FILL xF401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lain" startAt="58"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59	Newline	.FILL x000A	;ASCII code for newline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60	Prompt	.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STRINGZ”Input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a character&gt;”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61		.END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30818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F5D5B0-87C3-4AD2-843D-72C4D6CA960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7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5DDE7C-3319-4102-BFFA-7C87AE8967B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Character Output Service Routine (OUT, TRAP x21)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79388" y="981075"/>
            <a:ext cx="8839200" cy="5481638"/>
          </a:xfrm>
          <a:prstGeom prst="rect">
            <a:avLst/>
          </a:prstGeom>
          <a:solidFill>
            <a:srgbClr val="A6E0E0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01	.ORIG	x0430 	;System call starting address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02;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	R7,SaveR7	;Save R7 so we can RET at the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03;	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;bottom?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	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04	ST	R1,SaveR1	;R1 will be used to poll the CRT 06			;hardware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07;Write the character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08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TryW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LDI	R1,CRTSR	;Get status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09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TryW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	;Bit 15 on says CRT is ready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10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WIt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STI	R0,CRTDR	;Write character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12;Return from trap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13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Retn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LD	R1,SaveR1	;Restore registers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14;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LD	R7,SaveR7	;Restore jump return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15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RETI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	;Return from trap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16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17 CRTSR		.FILL xF3FC	;Address of CRT status register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18 CRTDR		.FILL xF3FF	;Address of CRT data register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19 SaveR1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20; SaveR7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21      		.END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67433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926F7B-A6FA-4C82-ABB6-EAACA75374A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9C8FF3-956F-4A28-A7A1-E40892239B1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 String Output Service Routine (PUTS,TRAP x22) 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9863" y="981075"/>
            <a:ext cx="8866187" cy="5410200"/>
          </a:xfrm>
          <a:solidFill>
            <a:srgbClr val="A6E0E0"/>
          </a:solidFill>
          <a:ln w="38100">
            <a:solidFill>
              <a:srgbClr val="00B050"/>
            </a:solidFill>
          </a:ln>
        </p:spPr>
        <p:txBody>
          <a:bodyPr/>
          <a:lstStyle/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solidFill>
                  <a:srgbClr val="C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01;puts.asm (TRAP x22)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solidFill>
                  <a:srgbClr val="C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02;R0 points to null-terminated string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solidFill>
                  <a:srgbClr val="C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03;R0, R1 &amp; R3 saved; R7 is lost.	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04		.ORIG 	x0450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05;		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 	R7,SaveR7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06		ST 	R0,SaveR0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07		ST 	R1,SaveR1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08		ST 	R3,SaveR3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09;</a:t>
            </a:r>
          </a:p>
          <a:p>
            <a:pPr marL="0" indent="0">
              <a:spcBef>
                <a:spcPts val="0"/>
              </a:spcBef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LOOP 	LDR 	R1,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R0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,#0	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		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BRz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RETURN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L2 		LDI 	R3,DSR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		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BRzp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L2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		STI 	R1,DDR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		ADD 	R0,R0,#1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		BR 	LOOP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endParaRPr lang="en-US" altLang="zh-CN" sz="18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endParaRPr lang="en-US" altLang="zh-CN" sz="18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endParaRPr lang="en-US" altLang="zh-CN" sz="18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endParaRPr lang="en-US" altLang="zh-CN" sz="18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769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 String Output Service Routine (PUTS,TRAP x22) </a:t>
            </a:r>
            <a:endParaRPr lang="zh-CN" altLang="en-US"/>
          </a:p>
        </p:txBody>
      </p:sp>
      <p:sp>
        <p:nvSpPr>
          <p:cNvPr id="18435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F3E1B9-8E2D-41A3-9D00-6DA156E2ECE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DDCC7B-5965-43A9-905F-C1A84A0ABAE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179388" y="980728"/>
            <a:ext cx="8810625" cy="5410200"/>
          </a:xfrm>
          <a:prstGeom prst="rect">
            <a:avLst/>
          </a:prstGeom>
          <a:solidFill>
            <a:srgbClr val="A6E0E0"/>
          </a:solidFill>
          <a:ln w="38100">
            <a:solidFill>
              <a:srgbClr val="00B050"/>
            </a:solidFill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RETURN 	LD 	R3,SaveR3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		LD 	R1,SaveR1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		LD 	R0,SaveR0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20;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 	R7,SaveR7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RETI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 CRTSR	.FILL 	xF3FC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CRTDR	.FILL 	xF3FF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SaveR0	.FILL 	x0000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SaveR1	.FILL 	x0000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27 SaveR3	.FILL 	x0000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28; SaveR7	.FILL 	x0000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092200" algn="l"/>
                <a:tab pos="22860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29		.END</a:t>
            </a:r>
          </a:p>
        </p:txBody>
      </p:sp>
    </p:spTree>
    <p:extLst>
      <p:ext uri="{BB962C8B-B14F-4D97-AF65-F5344CB8AC3E}">
        <p14:creationId xmlns:p14="http://schemas.microsoft.com/office/powerpoint/2010/main" val="3814514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49CBC9-C4EF-4D0D-A8FB-F9A7B1D9279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7412B4-FBC9-43B1-A13B-598E841BA8B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Halt the machine(HALT,TRAP x25)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79388" y="981075"/>
            <a:ext cx="8839200" cy="5481638"/>
          </a:xfrm>
          <a:prstGeom prst="rect">
            <a:avLst/>
          </a:prstGeom>
          <a:solidFill>
            <a:srgbClr val="A6E0E0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01;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02;Service Routine for halting the machine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03;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04	.ORIG	xFD70	;Where this routine resides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05	ST	R7,SaveR7	;Save the linkage back to the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06			;program?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07	ST	R1,SaveR1	;R1:a temp for MC register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08	ST	R0,SaveR0	;R0 is used as working space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09;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10;Print message that machine is halting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11  	LD	R0,ASCIINewLine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lain" startAt="12"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TRAP	x21						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lain" startAt="13"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	LEA	R0,Message	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lain" startAt="13"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TRAP	x22	;Write a string(Message)to CRT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15 	LD	R0,ASCIINewLine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16 	TRAP	x21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17;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18;Clear bit 15 at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xFFFF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to stop the machine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MCR-RUN latch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19 	LDI	R1,MCR	;Load MC register into R1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20 	LD 	R0,MASK	;R0 = x7FFF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21 	AND	R0,R1,R0	;Mask to clear the top bit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22	STI 	R0,MCR	;Store R0 into MC register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23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Halt the machine(HALT,TRAP x25)</a:t>
            </a:r>
            <a:endParaRPr lang="zh-CN" altLang="en-US"/>
          </a:p>
        </p:txBody>
      </p:sp>
      <p:sp>
        <p:nvSpPr>
          <p:cNvPr id="20483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FDDB5A-F595-43C5-9A78-52AAB4C16E1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EA3F5E-8531-451E-8427-F4D93B9B07F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79388" y="981075"/>
            <a:ext cx="8964612" cy="5481638"/>
          </a:xfrm>
          <a:prstGeom prst="rect">
            <a:avLst/>
          </a:prstGeom>
          <a:solidFill>
            <a:srgbClr val="A6E0E0"/>
          </a:solidFill>
          <a:ln w="41275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23;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24;Return from HALT routine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25;{How can this routine return if the machine is halted above?}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26	LD	R1,SaveR1	;Restore registers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27	LD	R0,SaveR0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28 	LD	R7,SaveR7	;Restore trap return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29 	RETI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30;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31;Some constants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32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ASCIINewLine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.FILL x000A	;ASCII code for newline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33 SaveR0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34 SaveR1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35 SaveR7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36;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37 Message 	.STRING “Halting the machine.”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38 MCR		.FILL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xFFFE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;Address of MCR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39 MASK		.FILL x7FFF	;Mask to clear the top bit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40		.END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lain" startAt="9"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837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DE04C-A6CE-4B1E-A94E-059A624C0A7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5944B0-EBFA-4D22-B12F-D53F67476F4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Data Type Conversion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74725"/>
            <a:ext cx="8686800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I/O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Keyboard input routines read ASCII characters (not binary values)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Console output routines write ASCII (‘s’ not “x73”)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Consider this program:</a:t>
            </a:r>
            <a:endParaRPr lang="en-US" altLang="zh-CN" sz="20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	TRAP  x23         ; input from keyboard</a:t>
            </a:r>
            <a:br>
              <a:rPr lang="en-US" altLang="zh-CN" sz="2000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	ADD   R1, R0, #0  ; move to R1</a:t>
            </a:r>
            <a:br>
              <a:rPr lang="en-US" altLang="zh-CN" sz="2000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	TRAP  x23         ; input from keyboard</a:t>
            </a:r>
            <a:br>
              <a:rPr lang="en-US" altLang="zh-CN" sz="2000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	ADD   R0, R1, R0  ; add two inputs</a:t>
            </a:r>
            <a:br>
              <a:rPr lang="en-US" altLang="zh-CN" sz="2000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	TRAP  x21         ; display result</a:t>
            </a:r>
            <a:br>
              <a:rPr lang="en-US" altLang="zh-CN" sz="2000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	TRAP  x25         ; HALT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User inputs ‘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2’</a:t>
            </a:r>
            <a:r>
              <a:rPr lang="en-US" altLang="zh-CN" dirty="0">
                <a:ea typeface="宋体" panose="02010600030101010101" pitchFamily="2" charset="-122"/>
              </a:rPr>
              <a:t> and ‘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3’</a:t>
            </a:r>
            <a:r>
              <a:rPr lang="en-US" altLang="zh-CN" dirty="0">
                <a:ea typeface="宋体" panose="02010600030101010101" pitchFamily="2" charset="-122"/>
              </a:rPr>
              <a:t> -- what happens?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Result displayed: </a:t>
            </a:r>
            <a:r>
              <a:rPr lang="en-US" altLang="zh-CN" dirty="0">
                <a:solidFill>
                  <a:srgbClr val="CC0000"/>
                </a:solidFill>
                <a:ea typeface="宋体" panose="02010600030101010101" pitchFamily="2" charset="-122"/>
              </a:rPr>
              <a:t>‘e’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Why?  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ASCII '2' (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x32</a:t>
            </a:r>
            <a:r>
              <a:rPr lang="en-US" altLang="zh-CN" dirty="0">
                <a:ea typeface="宋体" panose="02010600030101010101" pitchFamily="2" charset="-122"/>
              </a:rPr>
              <a:t>) + ASCII '3' (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x33</a:t>
            </a:r>
            <a:r>
              <a:rPr lang="en-US" altLang="zh-CN" dirty="0">
                <a:ea typeface="宋体" panose="02010600030101010101" pitchFamily="2" charset="-122"/>
              </a:rPr>
              <a:t>) = ASCII 'e' (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x65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1755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574CE2-CF1E-499F-9026-C4ED1FAD920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B23C73-ECCE-4B37-83F0-DDD505B3937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ASCII to Binary</a:t>
            </a:r>
            <a:endParaRPr lang="zh-CN" altLang="en-US" b="0"/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7416800" cy="5481638"/>
          </a:xfrm>
        </p:spPr>
        <p:txBody>
          <a:bodyPr/>
          <a:lstStyle/>
          <a:p>
            <a:r>
              <a:rPr lang="en-US" altLang="zh-CN" dirty="0"/>
              <a:t>Single digit numbers are trivial </a:t>
            </a:r>
            <a:r>
              <a:rPr lang="en-US" altLang="zh-CN" b="0" dirty="0"/>
              <a:t>(subtract x30)</a:t>
            </a:r>
          </a:p>
          <a:p>
            <a:pPr lvl="1"/>
            <a:r>
              <a:rPr lang="en-US" altLang="zh-CN" b="0" dirty="0"/>
              <a:t>E.g., ‘7’ is ASCII x37, x37 - x30 = x7</a:t>
            </a:r>
          </a:p>
          <a:p>
            <a:r>
              <a:rPr lang="en-US" altLang="zh-CN" dirty="0"/>
              <a:t>Input</a:t>
            </a:r>
          </a:p>
          <a:p>
            <a:pPr lvl="1"/>
            <a:r>
              <a:rPr lang="en-US" altLang="zh-CN" dirty="0"/>
              <a:t>Assume we've read three ASCII digits (</a:t>
            </a:r>
            <a:r>
              <a:rPr lang="en-US" altLang="zh-CN" i="1" dirty="0"/>
              <a:t>e.g., </a:t>
            </a:r>
            <a:r>
              <a:rPr lang="en-US" altLang="zh-CN" dirty="0"/>
              <a:t>"259") into a memory buffer</a:t>
            </a:r>
          </a:p>
          <a:p>
            <a:r>
              <a:rPr lang="en-US" altLang="zh-CN" dirty="0"/>
              <a:t>How do we convert this to a </a:t>
            </a:r>
            <a:r>
              <a:rPr lang="en-US" altLang="zh-CN" i="1" dirty="0">
                <a:solidFill>
                  <a:srgbClr val="FF3300"/>
                </a:solidFill>
              </a:rPr>
              <a:t>number </a:t>
            </a:r>
            <a:r>
              <a:rPr lang="en-US" altLang="zh-CN" dirty="0"/>
              <a:t>we can use?</a:t>
            </a:r>
          </a:p>
          <a:p>
            <a:pPr lvl="1"/>
            <a:r>
              <a:rPr lang="en-US" altLang="zh-CN" dirty="0"/>
              <a:t>Convert first character to digit (subtract x30) and multiply by 100</a:t>
            </a:r>
          </a:p>
          <a:p>
            <a:pPr lvl="1"/>
            <a:r>
              <a:rPr lang="en-US" altLang="zh-CN" dirty="0"/>
              <a:t>Convert second character to digit and multiply by 10</a:t>
            </a:r>
          </a:p>
          <a:p>
            <a:pPr lvl="1"/>
            <a:r>
              <a:rPr lang="en-US" altLang="zh-CN" dirty="0"/>
              <a:t>Convert third character to digit</a:t>
            </a:r>
          </a:p>
          <a:p>
            <a:pPr lvl="1"/>
            <a:r>
              <a:rPr lang="en-US" altLang="zh-CN" dirty="0"/>
              <a:t>Add the three digits together</a:t>
            </a:r>
            <a:endParaRPr lang="zh-CN" altLang="en-US" dirty="0"/>
          </a:p>
        </p:txBody>
      </p:sp>
      <p:pic>
        <p:nvPicPr>
          <p:cNvPr id="1946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293096"/>
            <a:ext cx="205105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6614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F84B6D-9225-458D-9EE3-C36D90C12E8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F0A4C1-BAFD-4457-A5DB-E8D11C2A67D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ASCII to Binary Conversion Algorithm</a:t>
            </a:r>
            <a:endParaRPr lang="zh-CN" altLang="en-US" b="0"/>
          </a:p>
        </p:txBody>
      </p:sp>
      <p:pic>
        <p:nvPicPr>
          <p:cNvPr id="2048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098101"/>
            <a:ext cx="6408737" cy="520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2AE4E6B-5649-A83D-64C8-C60FCA85E97A}"/>
              </a:ext>
            </a:extLst>
          </p:cNvPr>
          <p:cNvSpPr txBox="1"/>
          <p:nvPr/>
        </p:nvSpPr>
        <p:spPr>
          <a:xfrm>
            <a:off x="3707904" y="393305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003BCD-DB42-D801-7CFA-B8CD768FA56B}"/>
              </a:ext>
            </a:extLst>
          </p:cNvPr>
          <p:cNvSpPr txBox="1"/>
          <p:nvPr/>
        </p:nvSpPr>
        <p:spPr>
          <a:xfrm>
            <a:off x="4355976" y="3068960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867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2C282D-E7D6-47F8-8A04-0E35F170F0C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0D7E7F-3134-4B91-95FB-6A3328CC0B8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68413"/>
            <a:ext cx="4140200" cy="261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Multiplication</a:t>
            </a:r>
            <a:endParaRPr lang="zh-CN" altLang="en-US" b="0"/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5976937" cy="5481638"/>
          </a:xfrm>
        </p:spPr>
        <p:txBody>
          <a:bodyPr/>
          <a:lstStyle/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How can we multiply a number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by 10?</a:t>
            </a:r>
            <a:endParaRPr lang="en-US" altLang="zh-CN" dirty="0"/>
          </a:p>
          <a:p>
            <a:pPr lvl="1"/>
            <a:r>
              <a:rPr lang="en-US" altLang="zh-CN" dirty="0"/>
              <a:t>Approach 0</a:t>
            </a:r>
          </a:p>
          <a:p>
            <a:pPr lvl="2"/>
            <a:r>
              <a:rPr lang="en-US" altLang="zh-CN" dirty="0"/>
              <a:t>Use the MUL instruction</a:t>
            </a:r>
          </a:p>
          <a:p>
            <a:pPr lvl="1"/>
            <a:r>
              <a:rPr lang="en-US" altLang="zh-CN" dirty="0"/>
              <a:t>Approach 1</a:t>
            </a:r>
          </a:p>
          <a:p>
            <a:pPr lvl="2"/>
            <a:r>
              <a:rPr lang="en-US" altLang="zh-CN" dirty="0"/>
              <a:t>Add &lt;number&gt; to itself 10 times</a:t>
            </a:r>
          </a:p>
          <a:p>
            <a:pPr lvl="1"/>
            <a:r>
              <a:rPr lang="en-US" altLang="zh-CN" dirty="0"/>
              <a:t>Approach 2</a:t>
            </a:r>
          </a:p>
          <a:p>
            <a:pPr lvl="2"/>
            <a:r>
              <a:rPr lang="en-US" altLang="zh-CN" dirty="0"/>
              <a:t>Add 10 to itself &lt;number&gt; times (better if number &lt; 10)</a:t>
            </a:r>
          </a:p>
          <a:p>
            <a:pPr lvl="1"/>
            <a:r>
              <a:rPr lang="en-US" altLang="zh-CN" dirty="0"/>
              <a:t>Approach 3</a:t>
            </a:r>
          </a:p>
          <a:p>
            <a:pPr lvl="2"/>
            <a:r>
              <a:rPr lang="en-US" altLang="zh-CN" dirty="0"/>
              <a:t>Look it up! Only practical if number of multiplicands is small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4708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6D2538-9D01-41C3-80F7-2C55F22EB8F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AAB346-75AA-4A9C-91AC-E5B4BD09D8D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Code for Lookup Table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 multiply R0 by 100, using lookup table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LEA  R1, Lookup100  ; R1 = table base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ADD  R1, R1, R0     ; add index (R0)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LDR  R0, R1, #0     ; load from M[R1]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...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Lookup100  .FILL #0   		; entry 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.FILL #100 		; entry 1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.FILL #200 		; entry 2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.FILL #300 		; entry 3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.FILL #400 		; entry 4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.FILL #500 		; entry 5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.FILL #600 		; entry 6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.FILL #700 		; entry 7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.FILL #800 		; entry 8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.FILL #900 		; entry 9</a:t>
            </a:r>
          </a:p>
        </p:txBody>
      </p:sp>
    </p:spTree>
    <p:extLst>
      <p:ext uri="{BB962C8B-B14F-4D97-AF65-F5344CB8AC3E}">
        <p14:creationId xmlns:p14="http://schemas.microsoft.com/office/powerpoint/2010/main" val="27924064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Complete ASCII to Binary Conversion Code</a:t>
            </a:r>
            <a:endParaRPr lang="zh-CN" altLang="en-US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179388" y="935831"/>
            <a:ext cx="4286250" cy="54816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ASCII </a:t>
            </a:r>
            <a:r>
              <a:rPr lang="en-US" altLang="zh-CN"/>
              <a:t>"259” to value 259</a:t>
            </a:r>
            <a:endParaRPr lang="zh-CN" altLang="en-US"/>
          </a:p>
        </p:txBody>
      </p:sp>
      <p:sp>
        <p:nvSpPr>
          <p:cNvPr id="2355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523A89-48B2-4A9D-A9E7-1DD5DF17DB5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7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889488-AD50-4DA5-8A31-1489830637D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55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850" y="1341438"/>
            <a:ext cx="205105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9" name="文本框 6"/>
          <p:cNvSpPr txBox="1">
            <a:spLocks noChangeArrowheads="1"/>
          </p:cNvSpPr>
          <p:nvPr/>
        </p:nvSpPr>
        <p:spPr bwMode="auto">
          <a:xfrm>
            <a:off x="7200900" y="1416050"/>
            <a:ext cx="1638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ASCIIBUF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60" name="矩形 7"/>
          <p:cNvSpPr>
            <a:spLocks noChangeArrowheads="1"/>
          </p:cNvSpPr>
          <p:nvPr/>
        </p:nvSpPr>
        <p:spPr bwMode="auto">
          <a:xfrm>
            <a:off x="5292725" y="3676650"/>
            <a:ext cx="1223963" cy="431800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00B05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33CC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61" name="文本框 8"/>
          <p:cNvSpPr txBox="1">
            <a:spLocks noChangeArrowheads="1"/>
          </p:cNvSpPr>
          <p:nvPr/>
        </p:nvSpPr>
        <p:spPr bwMode="auto">
          <a:xfrm>
            <a:off x="7200900" y="3617913"/>
            <a:ext cx="579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R1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3926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9521F6-5839-4863-8162-734351C11C2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1BEF21-E832-4702-85D9-E547D0FE52D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Complete ASCII to Binary Conversion Code (1 of 3)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839200" cy="5616575"/>
          </a:xfr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 Three-digit buffer at ASCIIBUF.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 R1 tells how many digits to convert.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 Put resulting decimal number in R0.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ASCIItoBinary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  AND  R0, R0, #0  	;clear result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 ADD  R1, R1, #0  	;test # digits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BRz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800" dirty="0" err="1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DoneAtoB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;done if no digits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 LD   R3,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NegZero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	;R3 = -x30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 LEA  R2, ASCIIBUF	;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ptr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to the first digit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 ADD  R2, R2, R1	;R2 =(R2)+(R1)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 ADD  R2, R2, #-1 	;points to ones digit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 LDR  R4, R2, #0  	;load digit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 ADD  R4, R4, R3  	;convert to number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 ADD  R0, R0, R4  	;add ones contribution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6B6D8D9-EE11-3A71-FF7A-C02159810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836927"/>
            <a:ext cx="1934632" cy="1516248"/>
          </a:xfrm>
          <a:prstGeom prst="rect">
            <a:avLst/>
          </a:prstGeom>
          <a:ln>
            <a:solidFill>
              <a:srgbClr val="0033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1076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A6F762-346F-49B8-A10F-324D31100C4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96A2C0-9772-4CEA-A6E0-55C4B87E233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Complete ASCII to Binary Conversion Code(2 of 3)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41388"/>
            <a:ext cx="8839200" cy="5800725"/>
          </a:xfr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	</a:t>
            </a:r>
            <a: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ADD  R1, R1, #-1  	;one less digit</a:t>
            </a:r>
            <a:b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800" dirty="0" err="1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BRz</a:t>
            </a:r>
            <a: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800" dirty="0" err="1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DoneAtoB</a:t>
            </a:r>
            <a: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	;done if zero</a:t>
            </a:r>
            <a:b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ADD  R2, R2, #-1  	;points to tens digit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2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	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	LDR  R4, R2, #0   	;load ‘tens’ digit</a:t>
            </a:r>
            <a:b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	ADD  R4, R4, R3   	;convert to number</a:t>
            </a:r>
            <a:b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	LEA  R5, Lookup10 	;multiply by 10</a:t>
            </a:r>
            <a:b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	ADD  R5, R5, R4</a:t>
            </a:r>
            <a:b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	LDR  R4, R5, #0</a:t>
            </a:r>
            <a:b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	ADD  R0, R0, R4   	;adds tens contribution to total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2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	ADD  R1, R1, #-1  	;one less digit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	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BRz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DoneAtoB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	;done if zero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	ADD  R2, R2, #-1  	;points to hundreds digit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Courier New" panose="02070309020205020404" pitchFamily="49" charset="0"/>
                <a:ea typeface="宋体" panose="02010600030101010101" pitchFamily="2" charset="-122"/>
              </a:rPr>
              <a:t>; 	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	LDR  R4, R2, #0   	;load digit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ADD  R4, R4, R3   	;convert to number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LEA  R5, Lookup100 	;multiply by 100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ADD  R5, R5, R4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LDR  R4, R5, #0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ADD  R0, R0, R4   	;adds 100's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contrib</a:t>
            </a:r>
            <a:endParaRPr lang="en-US" altLang="zh-CN" sz="180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87538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EAF3E2-295B-4549-8B8B-AC2B86C22C3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55AA4-223C-42A4-8CB1-A17432AD82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Complete ASCII to Binary Conversion Code(3 of 3)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		</a:t>
            </a:r>
            <a:endParaRPr lang="en-US" altLang="zh-CN" sz="18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DoneAtoB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	RET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NegZero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	.FILL xFFD0  	;-x30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ASCIIBUF    	.BLKW 4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Lookup10    	.FILL #0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      	.FILL #10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	.FILL #20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	...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Lookup100 	.FILL #0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	.FILL #100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	.FILL #200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		...</a:t>
            </a:r>
          </a:p>
        </p:txBody>
      </p:sp>
    </p:spTree>
    <p:extLst>
      <p:ext uri="{BB962C8B-B14F-4D97-AF65-F5344CB8AC3E}">
        <p14:creationId xmlns:p14="http://schemas.microsoft.com/office/powerpoint/2010/main" val="2409501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D88F8D-6BB4-42CF-B888-9E250E6F98D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489836-4B67-44F8-9077-FA719F2D851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Binary to ASCII Conversion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Converting a 2's complement binary value to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 three-digit decimal number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Resulting characters can be output using OUT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Instead of multiplying, we need to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divide by 100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to get hundreds digit.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Why wouldn't we use a lookup table for this problem?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Subtract 100 repeatedly from number to divide.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First, check whether number is negative.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Write sign character (+ or -) to buffer and make positive.</a:t>
            </a:r>
          </a:p>
        </p:txBody>
      </p:sp>
    </p:spTree>
    <p:extLst>
      <p:ext uri="{BB962C8B-B14F-4D97-AF65-F5344CB8AC3E}">
        <p14:creationId xmlns:p14="http://schemas.microsoft.com/office/powerpoint/2010/main" val="3769601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17D5A6-89A1-42C4-A5C1-046B693B109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B381DC-83CC-4585-BA88-3FC820F4EE1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Binary to ASCII Conversion Code (1 of 3)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81075"/>
            <a:ext cx="8686800" cy="5616575"/>
          </a:xfr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 Input: R0 is between -999 and +999.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 Output: Put sign character in ASCIIBUF, followed by three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 ASCII digit characters.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BinaryToASCII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 LEA R1, ASCIIBUF  	;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ptr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to result string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	 ADD R0, R0, #0    	;test sign of value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BRn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NegSign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LD  R2,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ASCIIplus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	;store '+'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STR R2, R1, #0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BR  Begin100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NegSign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 LD  R2,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ASCIIneg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	;store '-'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STR R2, R1, #0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NOT R0, R0        	;convert value to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pos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ADD R0, R0, #1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Begin100	 LD  R2,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ASCIIoffset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LD  R3, Neg100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Loop100	 ADD R0, R0, R3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BRn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End100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ADD R2, R2, #1 	;add one to digit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BR  Loop100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80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D06D236-9C3E-438F-98AC-0A8AFC925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516" y="4529307"/>
            <a:ext cx="3510484" cy="160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57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A2C0B7-AABF-41CD-A3ED-D970F852AB2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C40C02-A1C9-48AB-93D0-698EC5492A5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Binary to ASCII Conversion Code(2 of 3)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81075"/>
            <a:ext cx="8569325" cy="5556250"/>
          </a:xfr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End100		STR R2, R1, #1  ;store ASCII 100‘s digit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	LD  R3, Pos100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	ADD R0, R0, R3  ;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restore last subtract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                  ;</a:t>
            </a:r>
            <a:r>
              <a:rPr lang="zh-CN" altLang="en-US" sz="1800" dirty="0">
                <a:latin typeface="Courier New" panose="02070309020205020404" pitchFamily="49" charset="0"/>
                <a:ea typeface="宋体" panose="02010600030101010101" pitchFamily="2" charset="-122"/>
              </a:rPr>
              <a:t>因为多减了一个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100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	LD  R2,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ASCIIoffset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	LD  R3, Neg10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Loop10   	ADD R0, R0, R3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	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BRn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End10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	ADD R2, R2, #1  ;add one to digit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	BR  Loop10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End10		STR R2, R1, #2  	;store ASCII 10's digit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ADD R0, R0, #10 	;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restore last subtract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LD  R2,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ASCIIoffset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ADD R2, R2, R0  	;convert one's digit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STR R2, R1, #3  	;store one's digit</a:t>
            </a:r>
            <a:b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RET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80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7547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68A61B-F988-4EE1-AEEF-1B653599658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9C080A-D558-4085-B22F-5518B2E2543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Binary to ASCII Conversion Code(3 of 3)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ASCIIplus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.FILL x002B   	;plus sign ASCII code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ASCIIneg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   .FILL x002D   	;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neg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sign ASCII code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ASCIIoffset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 .FILL x0030   	;zero’s ASCII code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Neg100      .FILL xFF9C 	;-100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Pos100      .FILL x0064	;100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Neg10       .FILL xFFF6 	;-10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48E21B-A884-4864-9BDB-F44CEA066B46}"/>
              </a:ext>
            </a:extLst>
          </p:cNvPr>
          <p:cNvSpPr/>
          <p:nvPr/>
        </p:nvSpPr>
        <p:spPr bwMode="auto">
          <a:xfrm>
            <a:off x="5580112" y="3501008"/>
            <a:ext cx="1224136" cy="172819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    ‘+’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rgbClr val="0000FF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  0X32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rgbClr val="0000FF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  0X35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rgbClr val="0000FF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  0X39</a:t>
            </a: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2446C5B-D9E4-48B1-9A79-37B1577C8944}"/>
              </a:ext>
            </a:extLst>
          </p:cNvPr>
          <p:cNvCxnSpPr/>
          <p:nvPr/>
        </p:nvCxnSpPr>
        <p:spPr bwMode="auto">
          <a:xfrm>
            <a:off x="5580112" y="3832248"/>
            <a:ext cx="122413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9DAC9EE-B22E-4842-AF95-7A7BEA2B1344}"/>
              </a:ext>
            </a:extLst>
          </p:cNvPr>
          <p:cNvCxnSpPr/>
          <p:nvPr/>
        </p:nvCxnSpPr>
        <p:spPr bwMode="auto">
          <a:xfrm>
            <a:off x="5580112" y="4199488"/>
            <a:ext cx="122413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FE2036D-2237-4A13-8F81-0E20A4602D93}"/>
              </a:ext>
            </a:extLst>
          </p:cNvPr>
          <p:cNvCxnSpPr/>
          <p:nvPr/>
        </p:nvCxnSpPr>
        <p:spPr bwMode="auto">
          <a:xfrm>
            <a:off x="5580112" y="4573936"/>
            <a:ext cx="122413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0DC629C-A9EE-49FD-B110-94B3F741391D}"/>
              </a:ext>
            </a:extLst>
          </p:cNvPr>
          <p:cNvCxnSpPr/>
          <p:nvPr/>
        </p:nvCxnSpPr>
        <p:spPr bwMode="auto">
          <a:xfrm>
            <a:off x="5580112" y="4912368"/>
            <a:ext cx="122413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0F327864-0C19-4F4A-B161-4C86908892C0}"/>
              </a:ext>
            </a:extLst>
          </p:cNvPr>
          <p:cNvSpPr txBox="1"/>
          <p:nvPr/>
        </p:nvSpPr>
        <p:spPr>
          <a:xfrm>
            <a:off x="4644008" y="3457801"/>
            <a:ext cx="1008112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ASCIIBUF</a:t>
            </a:r>
            <a:endParaRPr lang="zh-CN" altLang="en-US" sz="20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9E6972-E858-494D-AB79-624D9C1B0AD0}"/>
              </a:ext>
            </a:extLst>
          </p:cNvPr>
          <p:cNvSpPr txBox="1"/>
          <p:nvPr/>
        </p:nvSpPr>
        <p:spPr>
          <a:xfrm>
            <a:off x="6853026" y="3449960"/>
            <a:ext cx="1008112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  <a:sym typeface="Wingdings" panose="05000000000000000000" pitchFamily="2" charset="2"/>
              </a:rPr>
              <a:t> </a:t>
            </a: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R1</a:t>
            </a:r>
            <a:endParaRPr lang="zh-CN" altLang="en-US" sz="20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CD0012-82FF-4856-B5E4-D2A415AB364B}"/>
              </a:ext>
            </a:extLst>
          </p:cNvPr>
          <p:cNvSpPr txBox="1"/>
          <p:nvPr/>
        </p:nvSpPr>
        <p:spPr>
          <a:xfrm>
            <a:off x="1867601" y="3429000"/>
            <a:ext cx="262508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R0=259 -100  R2=0x30+1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=159 -100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R2=0x31+1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=59  -100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  +100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=59  -10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R2=0x30+1</a:t>
            </a:r>
            <a:endParaRPr lang="en-US" altLang="zh-CN" sz="20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=49  -10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R2=0x31+1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=39  -10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R2=0x32+1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=29  -10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R2=0x33+1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=19  -10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R2=0x34+1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=9   -10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  +10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=9         R2=0x30+9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D8D5953-DD00-4586-9984-DA0FE0586BDB}"/>
              </a:ext>
            </a:extLst>
          </p:cNvPr>
          <p:cNvCxnSpPr/>
          <p:nvPr/>
        </p:nvCxnSpPr>
        <p:spPr bwMode="auto">
          <a:xfrm>
            <a:off x="4243183" y="3832248"/>
            <a:ext cx="1288151" cy="1728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0D1AE71-11E5-4383-B495-1AF308BD73DD}"/>
              </a:ext>
            </a:extLst>
          </p:cNvPr>
          <p:cNvCxnSpPr/>
          <p:nvPr/>
        </p:nvCxnSpPr>
        <p:spPr bwMode="auto">
          <a:xfrm flipV="1">
            <a:off x="4211960" y="4405851"/>
            <a:ext cx="1319374" cy="8233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0BD3F68-7818-42AD-B42B-C773571A8AC3}"/>
              </a:ext>
            </a:extLst>
          </p:cNvPr>
          <p:cNvCxnSpPr/>
          <p:nvPr/>
        </p:nvCxnSpPr>
        <p:spPr bwMode="auto">
          <a:xfrm flipV="1">
            <a:off x="4243183" y="4808865"/>
            <a:ext cx="1288151" cy="1068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762090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1_学术交流模板3-中文">
  <a:themeElements>
    <a:clrScheme name="学术交流模板3-中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学术交流模板3-中文">
  <a:themeElements>
    <a:clrScheme name="学术交流模板3-中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4010</TotalTime>
  <Pages>0</Pages>
  <Words>4078</Words>
  <Characters>0</Characters>
  <Application>Microsoft Office PowerPoint</Application>
  <DocSecurity>0</DocSecurity>
  <PresentationFormat>全屏显示(4:3)</PresentationFormat>
  <Lines>0</Lines>
  <Paragraphs>743</Paragraphs>
  <Slides>36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7" baseType="lpstr">
      <vt:lpstr>Gungsuh</vt:lpstr>
      <vt:lpstr>LetterGotLOT-Med</vt:lpstr>
      <vt:lpstr>STIXGeneral-Italic</vt:lpstr>
      <vt:lpstr>STIXGeneral-Regular</vt:lpstr>
      <vt:lpstr>仿宋</vt:lpstr>
      <vt:lpstr>黑体</vt:lpstr>
      <vt:lpstr>华文新魏</vt:lpstr>
      <vt:lpstr>KaiTi</vt:lpstr>
      <vt:lpstr>KaiTi</vt:lpstr>
      <vt:lpstr>宋体</vt:lpstr>
      <vt:lpstr>微软雅黑</vt:lpstr>
      <vt:lpstr>Arial</vt:lpstr>
      <vt:lpstr>Calibri</vt:lpstr>
      <vt:lpstr>Courier New</vt:lpstr>
      <vt:lpstr>Tahoma</vt:lpstr>
      <vt:lpstr>Wingdings</vt:lpstr>
      <vt:lpstr>Wingdings 3</vt:lpstr>
      <vt:lpstr>1_Office 主题​​</vt:lpstr>
      <vt:lpstr>1_学术交流模板3-中文</vt:lpstr>
      <vt:lpstr>2_学术交流模板3-中文</vt:lpstr>
      <vt:lpstr>CorelDRAW</vt:lpstr>
      <vt:lpstr>Chapter 9-2  Operating System Service Routines</vt:lpstr>
      <vt:lpstr>PowerPoint 演示文稿</vt:lpstr>
      <vt:lpstr>Today: CONTROL in Von Neumann Model</vt:lpstr>
      <vt:lpstr>Control Instructions for System Calls</vt:lpstr>
      <vt:lpstr>PowerPoint 演示文稿</vt:lpstr>
      <vt:lpstr>PowerPoint 演示文稿</vt:lpstr>
      <vt:lpstr>System Calls</vt:lpstr>
      <vt:lpstr>LC-3 TRAP Mechanism</vt:lpstr>
      <vt:lpstr>LC-3 TRAP Routines(service routines)</vt:lpstr>
      <vt:lpstr>TRAP Instruction</vt:lpstr>
      <vt:lpstr>TRAP Mechanism Operation</vt:lpstr>
      <vt:lpstr>Memory Regions for Privilege Mode</vt:lpstr>
      <vt:lpstr>PowerPoint 演示文稿</vt:lpstr>
      <vt:lpstr>RTI instruction</vt:lpstr>
      <vt:lpstr>PowerPoint 演示文稿</vt:lpstr>
      <vt:lpstr>Character Input Service Routine (IN, TRAP x23)</vt:lpstr>
      <vt:lpstr>Character Input Service Routine (IN, TRAP x23)</vt:lpstr>
      <vt:lpstr>Character Input Service Routine (IN, TRAP x23)</vt:lpstr>
      <vt:lpstr>Character Output Service Routine (OUT, TRAP x21)</vt:lpstr>
      <vt:lpstr>A String Output Service Routine (PUTS,TRAP x22) </vt:lpstr>
      <vt:lpstr>A String Output Service Routine (PUTS,TRAP x22) </vt:lpstr>
      <vt:lpstr>Halt the machine(HALT,TRAP x25)</vt:lpstr>
      <vt:lpstr>Halt the machine(HALT,TRAP x25)</vt:lpstr>
      <vt:lpstr>Data Type Conversion</vt:lpstr>
      <vt:lpstr>ASCII to Binary</vt:lpstr>
      <vt:lpstr>ASCII to Binary Conversion Algorithm</vt:lpstr>
      <vt:lpstr>Multiplication</vt:lpstr>
      <vt:lpstr>Code for Lookup Table</vt:lpstr>
      <vt:lpstr>Complete ASCII to Binary Conversion Code</vt:lpstr>
      <vt:lpstr>Complete ASCII to Binary Conversion Code (1 of 3)</vt:lpstr>
      <vt:lpstr>Complete ASCII to Binary Conversion Code(2 of 3)</vt:lpstr>
      <vt:lpstr>Complete ASCII to Binary Conversion Code(3 of 3)</vt:lpstr>
      <vt:lpstr>Binary to ASCII Conversion</vt:lpstr>
      <vt:lpstr>Binary to ASCII Conversion Code (1 of 3)</vt:lpstr>
      <vt:lpstr>Binary to ASCII Conversion Code(2 of 3)</vt:lpstr>
      <vt:lpstr>Binary to ASCII Conversion Code(3 of 3)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654</cp:revision>
  <cp:lastPrinted>1601-01-01T00:00:00Z</cp:lastPrinted>
  <dcterms:created xsi:type="dcterms:W3CDTF">2012-09-03T16:09:03Z</dcterms:created>
  <dcterms:modified xsi:type="dcterms:W3CDTF">2025-12-02T06:03:46Z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