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  <p:sldMasterId id="2147483854" r:id="rId3"/>
    <p:sldMasterId id="2147483868" r:id="rId4"/>
  </p:sldMasterIdLst>
  <p:notesMasterIdLst>
    <p:notesMasterId r:id="rId47"/>
  </p:notesMasterIdLst>
  <p:sldIdLst>
    <p:sldId id="1541" r:id="rId5"/>
    <p:sldId id="1561" r:id="rId6"/>
    <p:sldId id="1563" r:id="rId7"/>
    <p:sldId id="657" r:id="rId8"/>
    <p:sldId id="560" r:id="rId9"/>
    <p:sldId id="1567" r:id="rId10"/>
    <p:sldId id="561" r:id="rId11"/>
    <p:sldId id="563" r:id="rId12"/>
    <p:sldId id="562" r:id="rId13"/>
    <p:sldId id="1564" r:id="rId14"/>
    <p:sldId id="564" r:id="rId15"/>
    <p:sldId id="565" r:id="rId16"/>
    <p:sldId id="409" r:id="rId17"/>
    <p:sldId id="690" r:id="rId18"/>
    <p:sldId id="569" r:id="rId19"/>
    <p:sldId id="570" r:id="rId20"/>
    <p:sldId id="571" r:id="rId21"/>
    <p:sldId id="572" r:id="rId22"/>
    <p:sldId id="573" r:id="rId23"/>
    <p:sldId id="1562" r:id="rId24"/>
    <p:sldId id="574" r:id="rId25"/>
    <p:sldId id="575" r:id="rId26"/>
    <p:sldId id="576" r:id="rId27"/>
    <p:sldId id="593" r:id="rId28"/>
    <p:sldId id="594" r:id="rId29"/>
    <p:sldId id="577" r:id="rId30"/>
    <p:sldId id="578" r:id="rId31"/>
    <p:sldId id="579" r:id="rId32"/>
    <p:sldId id="1565" r:id="rId33"/>
    <p:sldId id="580" r:id="rId34"/>
    <p:sldId id="581" r:id="rId35"/>
    <p:sldId id="583" r:id="rId36"/>
    <p:sldId id="584" r:id="rId37"/>
    <p:sldId id="585" r:id="rId38"/>
    <p:sldId id="586" r:id="rId39"/>
    <p:sldId id="587" r:id="rId40"/>
    <p:sldId id="588" r:id="rId41"/>
    <p:sldId id="589" r:id="rId42"/>
    <p:sldId id="1568" r:id="rId43"/>
    <p:sldId id="1566" r:id="rId44"/>
    <p:sldId id="591" r:id="rId45"/>
    <p:sldId id="590" r:id="rId46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CCFFCC"/>
    <a:srgbClr val="CCFFFF"/>
    <a:srgbClr val="0152A3"/>
    <a:srgbClr val="333399"/>
    <a:srgbClr val="003399"/>
    <a:srgbClr val="0000FF"/>
    <a:srgbClr val="FFCCFF"/>
    <a:srgbClr val="0074BF"/>
    <a:srgbClr val="A6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95" autoAdjust="0"/>
    <p:restoredTop sz="86390" autoAdjust="0"/>
  </p:normalViewPr>
  <p:slideViewPr>
    <p:cSldViewPr>
      <p:cViewPr varScale="1">
        <p:scale>
          <a:sx n="89" d="100"/>
          <a:sy n="89" d="100"/>
        </p:scale>
        <p:origin x="66" y="204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2023/11/16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4492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84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838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2303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902075" y="8715375"/>
            <a:ext cx="29781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575" tIns="0" rIns="17575" bIns="0" anchor="b"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CB971D-3A3F-46C5-BE2B-C25B76BCD076}" type="slidenum">
              <a:rPr kumimoji="0" lang="en-US" altLang="zh-CN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9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3900" y="879475"/>
            <a:ext cx="5410200" cy="3043238"/>
          </a:xfrm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99" tIns="46867" rIns="95199" bIns="46867" anchor="t"/>
          <a:lstStyle/>
          <a:p>
            <a:endParaRPr lang="zh-CN" altLang="zh-CN" i="1"/>
          </a:p>
        </p:txBody>
      </p:sp>
    </p:spTree>
    <p:extLst>
      <p:ext uri="{BB962C8B-B14F-4D97-AF65-F5344CB8AC3E}">
        <p14:creationId xmlns:p14="http://schemas.microsoft.com/office/powerpoint/2010/main" val="1533704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616E1B-D57C-4DD9-8C78-E9F14A888E6F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605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295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1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4826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011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77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588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308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5938" y="4341813"/>
            <a:ext cx="5910262" cy="4116387"/>
          </a:xfrm>
          <a:noFill/>
        </p:spPr>
        <p:txBody>
          <a:bodyPr lIns="90475" tIns="44444" rIns="90475" bIns="44444" anchor="t"/>
          <a:lstStyle/>
          <a:p>
            <a:pPr defTabSz="457200">
              <a:spcBef>
                <a:spcPct val="0"/>
              </a:spcBef>
            </a:pPr>
            <a:endParaRPr lang="en-US" altLang="zh-CN"/>
          </a:p>
        </p:txBody>
      </p:sp>
      <p:sp>
        <p:nvSpPr>
          <p:cNvPr id="378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587375"/>
            <a:ext cx="6070600" cy="3416300"/>
          </a:xfrm>
          <a:ln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86794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12192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862997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9131395" y="6462759"/>
            <a:ext cx="28448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406400" y="76200"/>
            <a:ext cx="7213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3339" y="1206759"/>
            <a:ext cx="11832856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9"/>
            <a:ext cx="12182149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6" y="148312"/>
            <a:ext cx="11904133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12192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26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2095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592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9703" y="71438"/>
            <a:ext cx="16637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34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1342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9703" y="71438"/>
            <a:ext cx="16637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2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591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061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871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88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78384" y="71439"/>
            <a:ext cx="29464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9184" y="71439"/>
            <a:ext cx="8636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7555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184" y="71438"/>
            <a:ext cx="117856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1854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39184" y="71438"/>
            <a:ext cx="117856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66209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12192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526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862997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487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0321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372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8576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642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4189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547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0441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3373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8438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9131395" y="6462759"/>
            <a:ext cx="28448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406400" y="76200"/>
            <a:ext cx="7213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3339" y="1206759"/>
            <a:ext cx="11832856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9"/>
            <a:ext cx="12182149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6" y="148312"/>
            <a:ext cx="11904133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12192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6106667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2023/11/16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8565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39349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91061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257E-55D3-41F0-801A-E3D888A26E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5733" y="6553200"/>
            <a:ext cx="426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</p:spTree>
    <p:extLst>
      <p:ext uri="{BB962C8B-B14F-4D97-AF65-F5344CB8AC3E}">
        <p14:creationId xmlns:p14="http://schemas.microsoft.com/office/powerpoint/2010/main" val="37338170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406401" y="76201"/>
            <a:ext cx="7213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 sz="280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 flipV="1">
            <a:off x="143934" y="908050"/>
            <a:ext cx="11904133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F37AE24-3830-4517-9653-6328518F9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339" y="6537326"/>
            <a:ext cx="304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2023/11/16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974FBB4-4567-4F85-B958-29342F6C74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5733" y="6553200"/>
            <a:ext cx="426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0CA8C79-FE15-45BB-8EC0-946A163426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00256" y="6537326"/>
            <a:ext cx="3657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C7C778B1-98BA-497F-9A6F-8CA973C8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39" y="71438"/>
            <a:ext cx="11881445" cy="76517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B33E05BD-7534-4C38-B833-50EECCD08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9" y="981075"/>
            <a:ext cx="11881445" cy="5481638"/>
          </a:xfrm>
        </p:spPr>
        <p:txBody>
          <a:bodyPr/>
          <a:lstStyle>
            <a:lvl1pPr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8305508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3934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74478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9703" y="71438"/>
            <a:ext cx="16637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884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9779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99703" y="71438"/>
            <a:ext cx="16637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58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39184" y="71438"/>
            <a:ext cx="117856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28091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38478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70451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3629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78384" y="71439"/>
            <a:ext cx="29464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9184" y="71439"/>
            <a:ext cx="8636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0288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184" y="71438"/>
            <a:ext cx="117856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6713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184" y="71438"/>
            <a:ext cx="117856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239184" y="981075"/>
            <a:ext cx="5791200" cy="54816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3584" y="981075"/>
            <a:ext cx="57912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F1A0903-52F4-47D3-ADE3-F62E55550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508000" y="6537326"/>
            <a:ext cx="3048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CDB2C5-3689-4810-88D9-6DA7D276F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759200" y="6553200"/>
            <a:ext cx="42672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F0D04F-F837-41AF-A6FC-E0078EB32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28000" y="6537326"/>
            <a:ext cx="36576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21567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543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2023/11/16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4" y="981075"/>
            <a:ext cx="117856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537326"/>
            <a:ext cx="3048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59200" y="6553200"/>
            <a:ext cx="426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8000" y="6537326"/>
            <a:ext cx="3657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39184" y="71438"/>
            <a:ext cx="117856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239184" y="908050"/>
            <a:ext cx="11808883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3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2023/11/16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313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4" y="981075"/>
            <a:ext cx="117856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39184" y="71438"/>
            <a:ext cx="117856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239184" y="908050"/>
            <a:ext cx="11808883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F42DEA-B9B9-45D5-96A0-2558790DF8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239349" y="6557698"/>
            <a:ext cx="3048000" cy="224102"/>
          </a:xfrm>
          <a:prstGeom prst="rect">
            <a:avLst/>
          </a:prstGeom>
          <a:ln/>
        </p:spPr>
        <p:txBody>
          <a:bodyPr anchor="ctr"/>
          <a:lstStyle>
            <a:lvl1pPr>
              <a:defRPr sz="1400" baseline="0"/>
            </a:lvl1pPr>
          </a:lstStyle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2023/11/16</a:t>
            </a:fld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8914DB7-AD12-47E1-81D0-BD8F615DF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391061" y="6557698"/>
            <a:ext cx="3657600" cy="224102"/>
          </a:xfrm>
          <a:prstGeom prst="rect">
            <a:avLst/>
          </a:prstGeom>
          <a:ln/>
        </p:spPr>
        <p:txBody>
          <a:bodyPr/>
          <a:lstStyle>
            <a:lvl1pPr algn="r">
              <a:defRPr sz="1400" baseline="0"/>
            </a:lvl1pPr>
          </a:lstStyle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6856612-883B-4082-BA93-A0A90DF38E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5733" y="6572250"/>
            <a:ext cx="42672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Hong An @CS of USTC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147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oleObject" Target="../embeddings/oleObject4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59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7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</a:rPr>
              <a:t>Assembly Language Program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56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CS1002A.03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610179-B450-42CD-B0BA-6EB42BDBF7B2}"/>
              </a:ext>
            </a:extLst>
          </p:cNvPr>
          <p:cNvSpPr txBox="1"/>
          <p:nvPr/>
        </p:nvSpPr>
        <p:spPr>
          <a:xfrm>
            <a:off x="3930644" y="5085184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 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91798" y="224844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17686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A Machine Structure</a:t>
            </a:r>
            <a:r>
              <a:rPr lang="zh-CN" altLang="en-US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von Neumann Model</a:t>
            </a:r>
            <a:r>
              <a:rPr lang="zh-CN" altLang="en-US" sz="2400" b="1" kern="0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 </a:t>
            </a:r>
            <a:endParaRPr lang="en-US" altLang="zh-CN" sz="2400" b="1" baseline="0" dirty="0">
              <a:solidFill>
                <a:srgbClr val="333399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52" y="17686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Assembly Process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Assembly Language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91798" y="224844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17686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A Machine Structure</a:t>
            </a:r>
            <a:r>
              <a:rPr lang="zh-CN" altLang="en-US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von Neumann Model</a:t>
            </a:r>
            <a:r>
              <a:rPr lang="zh-CN" altLang="en-US" sz="2400" b="1" kern="0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 </a:t>
            </a:r>
            <a:endParaRPr lang="en-US" altLang="zh-CN" sz="2400" b="1" baseline="0" dirty="0">
              <a:solidFill>
                <a:srgbClr val="333399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52" y="17686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Assembly Process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Assembly Language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382398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Review: </a:t>
            </a:r>
            <a:r>
              <a:rPr lang="en-US" altLang="zh-CN" dirty="0">
                <a:ea typeface="宋体" panose="02010600030101010101" pitchFamily="2" charset="-122"/>
              </a:rPr>
              <a:t>The Transistor &amp; </a:t>
            </a:r>
            <a:r>
              <a:rPr lang="en-US" altLang="zh-CN" dirty="0"/>
              <a:t>Basic Logical Structure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hangingPunct="0">
              <a:defRPr/>
            </a:pPr>
            <a:fld id="{FAF88401-22E9-4153-B0F5-3C3505E5B3D2}" type="datetime1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defRPr/>
              </a:pPr>
              <a:t>2023/11/16</a:t>
            </a:fld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hangingPunct="0">
              <a:defRPr/>
            </a:pPr>
            <a:fld id="{283AA37B-31F2-46EE-90A4-68D9AA6A4383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8" name="Picture 6" descr="ch03-decod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215" y="1134839"/>
            <a:ext cx="1607995" cy="136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ch03-mu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399" y="1220496"/>
            <a:ext cx="2510333" cy="119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1" descr="ch03-fulladd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576" y="1063729"/>
            <a:ext cx="2160590" cy="1285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ch03-4bitadd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214" y="2790549"/>
            <a:ext cx="4343400" cy="151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ch03-dlatch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914" y="2673225"/>
            <a:ext cx="2537917" cy="93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 descr="ch03-register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061" y="4780753"/>
            <a:ext cx="3383632" cy="128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9" descr="ch03-memor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731" y="3890110"/>
            <a:ext cx="2990974" cy="2769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71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BFC4EF60-1B3C-4756-ADAC-AC2EDAD6562D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65EF408B-58E8-4F79-B5B5-343485345E55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5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Review: </a:t>
            </a:r>
            <a:r>
              <a:rPr lang="en-US" altLang="zh-CN" dirty="0">
                <a:ea typeface="宋体" panose="02010600030101010101" pitchFamily="2" charset="-122"/>
              </a:rPr>
              <a:t>Von Neumann Model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2716214" y="1219201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5"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2560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214" y="1219201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1519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3645F5-D573-4DB4-A689-19E0A28251A8}" type="datetime1">
              <a:rPr lang="zh-CN" altLang="en-US" sz="1400" b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2023/11/16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EA6FBC-31A5-461C-9A68-BB8169FC91BE}" type="slidenum">
              <a:rPr lang="en-US" altLang="zh-CN" sz="1400" b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8" y="71439"/>
            <a:ext cx="8839200" cy="765175"/>
          </a:xfrm>
        </p:spPr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Review: </a:t>
            </a:r>
            <a:r>
              <a:rPr lang="en-US" altLang="zh-CN" dirty="0">
                <a:ea typeface="宋体" panose="02010600030101010101" pitchFamily="2" charset="-122"/>
              </a:rPr>
              <a:t>Von Neumann Model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So far, we’ve learned how to: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compute with values in registers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 data from memory to registers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store data from registers to memory</a:t>
            </a:r>
          </a:p>
        </p:txBody>
      </p: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3048000" y="2673809"/>
          <a:ext cx="5352256" cy="375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2" name="CorelDRAW" r:id="rId4" imgW="5743575" imgH="4029075" progId="CorelDRAW.Graphic.9">
                  <p:embed/>
                </p:oleObj>
              </mc:Choice>
              <mc:Fallback>
                <p:oleObj name="CorelDRAW" r:id="rId4" imgW="5743575" imgH="4029075" progId="CorelDRAW.Graphic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673809"/>
                        <a:ext cx="5352256" cy="3754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4655840" y="2673810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644008" y="4005065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935760" y="5445225"/>
            <a:ext cx="3600400" cy="98320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20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85BB5636-4D6D-4F33-88B9-E03041F5FEFE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830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4D10218A-0C1D-4FAB-9271-766D82DF6C1C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7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8309" name="日期占位符 3"/>
          <p:cNvSpPr txBox="1">
            <a:spLocks noGrp="1"/>
          </p:cNvSpPr>
          <p:nvPr/>
        </p:nvSpPr>
        <p:spPr bwMode="auto">
          <a:xfrm>
            <a:off x="1905000" y="6537326"/>
            <a:ext cx="2286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fld id="{7BAA17DB-206C-4907-A148-5598931F9E26}" type="datetime1">
              <a:rPr lang="zh-CN" altLang="en-US" sz="1400" b="0" baseline="0">
                <a:solidFill>
                  <a:srgbClr val="000000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8310" name="灯片编号占位符 5"/>
          <p:cNvSpPr txBox="1">
            <a:spLocks noGrp="1"/>
          </p:cNvSpPr>
          <p:nvPr/>
        </p:nvSpPr>
        <p:spPr bwMode="auto">
          <a:xfrm>
            <a:off x="7620000" y="6537326"/>
            <a:ext cx="2743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None/>
              <a:defRPr/>
            </a:pPr>
            <a:fld id="{A9678FD7-F509-4BA1-9F23-6F802054B93A}" type="slidenum">
              <a:rPr lang="en-US" altLang="zh-CN" sz="1400" b="0" baseline="0">
                <a:solidFill>
                  <a:srgbClr val="000000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None/>
                <a:defRPr/>
              </a:pPr>
              <a:t>7</a:t>
            </a:fld>
            <a:endParaRPr lang="en-US" altLang="zh-CN" sz="14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98311" name="Picture 2" descr="I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020762"/>
            <a:ext cx="3389312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12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Review: The ISA</a:t>
            </a:r>
            <a:endParaRPr lang="zh-CN" altLang="en-US" i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561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883C5A93-BE8E-4FBA-A949-3817E5A7A2D6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035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7835244A-E1FB-430F-8344-835650AB363F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8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0357" name="日期占位符 3"/>
          <p:cNvSpPr txBox="1">
            <a:spLocks noGrp="1"/>
          </p:cNvSpPr>
          <p:nvPr/>
        </p:nvSpPr>
        <p:spPr bwMode="auto">
          <a:xfrm>
            <a:off x="1905000" y="6537326"/>
            <a:ext cx="2286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fld id="{714875DD-0FEC-47AC-8212-163EC75D4574}" type="datetime1">
              <a:rPr lang="zh-CN" altLang="en-US" sz="1400" b="0" baseline="0">
                <a:solidFill>
                  <a:srgbClr val="000000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0358" name="灯片编号占位符 5"/>
          <p:cNvSpPr txBox="1">
            <a:spLocks noGrp="1"/>
          </p:cNvSpPr>
          <p:nvPr/>
        </p:nvSpPr>
        <p:spPr bwMode="auto">
          <a:xfrm>
            <a:off x="7620000" y="6537326"/>
            <a:ext cx="2743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None/>
              <a:defRPr/>
            </a:pPr>
            <a:fld id="{4121E3F7-9F33-4F82-B8D7-2FE97C4FE606}" type="slidenum">
              <a:rPr lang="en-US" altLang="zh-CN" sz="1400" b="0" baseline="0">
                <a:solidFill>
                  <a:srgbClr val="000000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None/>
                <a:defRPr/>
              </a:pPr>
              <a:t>8</a:t>
            </a:fld>
            <a:endParaRPr lang="en-US" altLang="zh-CN" sz="14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100359" name="Picture 2" descr="StateMachine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27648" y="1006040"/>
            <a:ext cx="4213448" cy="5750608"/>
          </a:xfrm>
          <a:noFill/>
        </p:spPr>
      </p:pic>
      <p:sp>
        <p:nvSpPr>
          <p:cNvPr id="100360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Review: </a:t>
            </a:r>
            <a:r>
              <a:rPr lang="en-US" altLang="zh-CN" dirty="0">
                <a:ea typeface="宋体" panose="02010600030101010101" pitchFamily="2" charset="-122"/>
              </a:rPr>
              <a:t>The State Machine(Turing Machine </a:t>
            </a:r>
            <a:r>
              <a:rPr lang="en-US" altLang="en-US" dirty="0"/>
              <a:t>equivalent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755C306-DC70-4F88-8FC1-24B77FC2A0FC}"/>
              </a:ext>
            </a:extLst>
          </p:cNvPr>
          <p:cNvGrpSpPr/>
          <p:nvPr/>
        </p:nvGrpSpPr>
        <p:grpSpPr>
          <a:xfrm>
            <a:off x="9048328" y="1196752"/>
            <a:ext cx="914400" cy="5257800"/>
            <a:chOff x="7543800" y="1143000"/>
            <a:chExt cx="914400" cy="5257800"/>
          </a:xfrm>
        </p:grpSpPr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11FB77B5-208F-4A3C-BF40-6E49CDC39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350AA21A-150B-441B-9179-97DB61AB3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29DA0A87-103E-4014-B41B-D1FEB30D0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E98BED3A-3BC0-4DB4-81F8-856E0B187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D87478CB-1BAF-4632-A46B-A97E10804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1C97D4B4-38BD-412D-B923-2D29F5AD5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42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rgbClr val="333399"/>
                  </a:solidFill>
                  <a:latin typeface="Arial" charset="0"/>
                  <a:ea typeface="黑体"/>
                </a:rPr>
                <a:t>EA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83AE956B-2CFA-4E06-90CA-FD0CBE4CE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9624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rgbClr val="333399"/>
                  </a:solidFill>
                  <a:latin typeface="Arial" charset="0"/>
                  <a:ea typeface="黑体"/>
                </a:rPr>
                <a:t>OP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EAAC9037-8410-404F-AB72-476CAC82A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8006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rgbClr val="333399"/>
                  </a:solidFill>
                  <a:latin typeface="Arial" charset="0"/>
                  <a:ea typeface="黑体"/>
                </a:rPr>
                <a:t>EX</a:t>
              </a:r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617B7DD3-97E6-4D64-A485-5026E62D8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F2D71C69-9B93-4772-B300-3797B40399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876420BF-7599-4E60-80AD-DC0F5181A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C55B3719-776D-4E84-9746-89A844272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E05DA1F3-DE75-494A-A75A-9E163697A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C71318AF-CB54-40E8-8A06-8F90BB9B5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rgbClr val="333399"/>
                  </a:solidFill>
                  <a:latin typeface="Arial" charset="0"/>
                  <a:ea typeface="黑体"/>
                </a:rPr>
                <a:t>S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B614D9C7-828E-4A54-9B40-7299963EF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1447800"/>
              <a:ext cx="685800" cy="466725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baseline="0">
                  <a:solidFill>
                    <a:srgbClr val="FFFFFF"/>
                  </a:solidFill>
                  <a:latin typeface="Arial" charset="0"/>
                  <a:ea typeface="黑体"/>
                </a:rPr>
                <a:t>F</a:t>
              </a:r>
            </a:p>
          </p:txBody>
        </p:sp>
        <p:sp>
          <p:nvSpPr>
            <p:cNvPr id="24" name="Text Box 4">
              <a:extLst>
                <a:ext uri="{FF2B5EF4-FFF2-40B4-BE49-F238E27FC236}">
                  <a16:creationId xmlns:a16="http://schemas.microsoft.com/office/drawing/2014/main" id="{D82D3DDA-E300-4522-871D-7A25D1BB2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286000"/>
              <a:ext cx="685800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aseline="0">
                  <a:solidFill>
                    <a:srgbClr val="333399"/>
                  </a:solidFill>
                  <a:latin typeface="Arial" charset="0"/>
                  <a:ea typeface="黑体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4165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8B8D4E7D-8263-46BE-89CE-81C2D8BF6527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933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2F21135E-EEB5-4D45-AE6F-CA10777BF62D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9333" name="日期占位符 3"/>
          <p:cNvSpPr txBox="1">
            <a:spLocks noGrp="1"/>
          </p:cNvSpPr>
          <p:nvPr/>
        </p:nvSpPr>
        <p:spPr bwMode="auto">
          <a:xfrm>
            <a:off x="1905000" y="6537326"/>
            <a:ext cx="2286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fld id="{7B71D0C2-3ECF-45A6-88A3-BF1AA1803F68}" type="datetime1">
              <a:rPr lang="zh-CN" altLang="en-US" sz="1400" b="0" baseline="0">
                <a:solidFill>
                  <a:srgbClr val="000000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9334" name="灯片编号占位符 5"/>
          <p:cNvSpPr txBox="1">
            <a:spLocks noGrp="1"/>
          </p:cNvSpPr>
          <p:nvPr/>
        </p:nvSpPr>
        <p:spPr bwMode="auto">
          <a:xfrm>
            <a:off x="7620000" y="6537326"/>
            <a:ext cx="2743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None/>
              <a:defRPr/>
            </a:pPr>
            <a:fld id="{8E8C5D37-17FD-4D93-9CFA-3BF310DD1455}" type="slidenum">
              <a:rPr lang="en-US" altLang="zh-CN" sz="1400" b="0" baseline="0">
                <a:solidFill>
                  <a:srgbClr val="000000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None/>
                <a:defRPr/>
              </a:pPr>
              <a:t>9</a:t>
            </a:fld>
            <a:endParaRPr lang="en-US" altLang="zh-CN" sz="14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99335" name="Picture 2" descr="Datapath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35760" y="1124719"/>
            <a:ext cx="4032448" cy="5560588"/>
          </a:xfrm>
          <a:noFill/>
        </p:spPr>
      </p:pic>
      <p:sp>
        <p:nvSpPr>
          <p:cNvPr id="99336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Review: </a:t>
            </a:r>
            <a:r>
              <a:rPr lang="en-US" altLang="zh-CN" dirty="0">
                <a:ea typeface="宋体" panose="02010600030101010101" pitchFamily="2" charset="-122"/>
              </a:rPr>
              <a:t>The Data Path(von Neumann Model)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071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91798" y="224844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17686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A Machine Structure</a:t>
            </a:r>
            <a:r>
              <a:rPr lang="zh-CN" altLang="en-US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von Neumann Model</a:t>
            </a:r>
            <a:r>
              <a:rPr lang="zh-CN" altLang="en-US" sz="2400" b="1" kern="0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 </a:t>
            </a:r>
            <a:endParaRPr lang="en-US" altLang="zh-CN" sz="2400" b="1" baseline="0" dirty="0">
              <a:solidFill>
                <a:srgbClr val="333399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52" y="176867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Assembly Process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Assembly Language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27795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LC-3 Program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56AFFD-C3BD-4EE6-B713-ECC62B3C1FD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2023/11/16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51C7DF-C7BE-4EB5-A329-87F30D195B6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51585" y="1124744"/>
            <a:ext cx="3066865" cy="4487382"/>
          </a:xfrm>
          <a:prstGeom prst="rect">
            <a:avLst/>
          </a:prstGeom>
          <a:solidFill>
            <a:srgbClr val="FF99FF"/>
          </a:solidFill>
        </p:spPr>
        <p:txBody>
          <a:bodyPr wrap="none" rtlCol="0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0 1 0 1 0 1 0 0 1 0 1 0 0 0 0 0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0 0 1 0 0 1 1 0 0 0 0 1 0 0 0 0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1 1 1 1 0 0 0 0 0 0 1 0 0 0 1 1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0 1 1 0 0 0 1 0 1 1 0 0 0 0 0 0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0 0 0 1 1 0 0 0 0 1 1 1 1 1 0 0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0 0 0 0 0 1 0 0 0 0 0 0 1 0 0 0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1 0 0 1 0 0 1 0 0 1 1 1 1 1 1 1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0 0 0 1 0 0 1 0 0 1 1 0 0 0 0 1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0 0 0 1 0 0 1 0 0 1 0 0 0 0 0 0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0 0 0 0 1 0 1 0 0 0 0 0 0 0 0 1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0 0 0 1 0 1 0 0 1 0 1 0 0 0 0 1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0 0 0 1 0 1 1 0 1 1 1 0 0 0 0 1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0 1 1 0 0 0 1 0 1 1 0 0 0 0 0 0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0 0 0 0 1 1 1 1 1 1 1 1 0 1 1 0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0 0 1 0 0 0 0 0 0 0 0 0 0 1 0 0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0 0 0 1 0 0 0 0 0 0 0 0 0 0 1 0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1 1 1 1 0 0 0 0 0 0 1 0 0 0 0 1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1 1 1 1 0 0 0 0 0 0 1 0 0 1 0 1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1 0 0 0 0 0 0 0 0 0 0 0 0 0 0 1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0 0 0 0 0 0 0 0 0 0 1 1 0 0 0 0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48129" y="1124745"/>
            <a:ext cx="3066865" cy="5373779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0 0 0 0 0 0 0 0 0 1 0 0 1 1 0 0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0 0 0 0 0 0 0 0 0 1 0 0 1 0 1 0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0 0 0 0 0 0 0 0 0 1 0 1 0 0 0 1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0 0 0 0 0 0 0 0 0 1 0 0 1 1 0 0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0 0 0 0 0 0 0 0 0 1 0 1 0 1 1 0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0 0 0 0 0 0 0 0 0 1 0 0 0 0 0 1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0 0 0 0 0 0 0 0 0 1 0 1 0 0 1 1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0 0 0 0 0 0 0 0 0 1 0 1 0 1 1 0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0 0 0 0 0 0 0 0 0 1 0 1 0 1 1 0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0 0 0 0 0 0 0 0 0 1 0 0 1 0 0 1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0 0 0 0 0 0 0 0 0 1 0 1 1 0 0 0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0 0 0 0 0 0 0 0 0 1 0 0 1 1 0 0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0 0 0 0 0 0 0 0 0 1 0 0 1 1 1 0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0 0 0 0 0 0 0 0 0 0 0 0 0 1 0 0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0 0 0 0 0 0 0 0 0 1 0 0 0 0 0 0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0 0 0 0 0 0 0 0 0 1 0 1 1 0 1 0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0 0 0 0 0 0 0 0 0 0 0 0 0 1 0 0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03389" y="1124744"/>
            <a:ext cx="649537" cy="448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X4102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X4103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X4104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X4105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X4106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X4107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X4108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X4109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X410A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X410B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X410C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X410D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X410E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X410F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X4110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X4102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X4103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X4104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600057" y="1124745"/>
            <a:ext cx="649537" cy="5373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X8002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X8003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X8004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X8005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X8006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X8007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X8008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X8009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X800A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X800B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X800C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X800D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X800E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X800F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X8010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X8011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X8012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X8013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X8014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X8015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X8016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X8017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X8018</a:t>
            </a:r>
          </a:p>
        </p:txBody>
      </p:sp>
    </p:spTree>
    <p:extLst>
      <p:ext uri="{BB962C8B-B14F-4D97-AF65-F5344CB8AC3E}">
        <p14:creationId xmlns:p14="http://schemas.microsoft.com/office/powerpoint/2010/main" val="198425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C47CD274-A5C8-4B2F-8C56-50A1CCB61C73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A2041462-AF87-4FCD-BD65-BCED37D4D91A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12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Human-Readable Machine Language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Computers like ones and zeros…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Humans like symbols…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3399"/>
                </a:solidFill>
                <a:ea typeface="宋体" panose="02010600030101010101" pitchFamily="2" charset="-122"/>
              </a:rPr>
              <a:t>Assembler</a:t>
            </a:r>
            <a:r>
              <a:rPr lang="en-US" altLang="zh-CN" dirty="0">
                <a:ea typeface="宋体" panose="02010600030101010101" pitchFamily="2" charset="-122"/>
              </a:rPr>
              <a:t> is a program that turns symbols into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machine instructions.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ISA-specific: close correspondence between symbols and instruction set</a:t>
            </a:r>
          </a:p>
          <a:p>
            <a:pPr lvl="2"/>
            <a:r>
              <a:rPr lang="en-US" altLang="zh-CN" sz="1800" dirty="0"/>
              <a:t>mnemonics for opcodes</a:t>
            </a:r>
          </a:p>
          <a:p>
            <a:pPr lvl="2"/>
            <a:r>
              <a:rPr lang="en-US" altLang="zh-CN" sz="1800" dirty="0"/>
              <a:t>labels for memory locations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additional operations for allocating storage and initializing data</a:t>
            </a:r>
          </a:p>
        </p:txBody>
      </p:sp>
      <p:sp>
        <p:nvSpPr>
          <p:cNvPr id="4102" name="Text Box 4"/>
          <p:cNvSpPr txBox="1">
            <a:spLocks noChangeArrowheads="1"/>
          </p:cNvSpPr>
          <p:nvPr/>
        </p:nvSpPr>
        <p:spPr bwMode="auto">
          <a:xfrm>
            <a:off x="3371432" y="2466976"/>
            <a:ext cx="6455613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zh-CN" baseline="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ADD	R6,R2,R6	</a:t>
            </a:r>
            <a:r>
              <a:rPr lang="en-US" altLang="zh-CN" b="0" i="1" baseline="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 </a:t>
            </a:r>
            <a:r>
              <a:rPr lang="en-US" altLang="zh-CN" sz="2000" i="1" baseline="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increment index reg.</a:t>
            </a:r>
          </a:p>
          <a:p>
            <a:pPr>
              <a:spcBef>
                <a:spcPct val="0"/>
              </a:spcBef>
              <a:buNone/>
              <a:defRPr/>
            </a:pPr>
            <a:r>
              <a:rPr lang="en-US" altLang="zh-CN" i="1" baseline="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or</a:t>
            </a:r>
          </a:p>
          <a:p>
            <a:pPr>
              <a:spcBef>
                <a:spcPct val="0"/>
              </a:spcBef>
              <a:buNone/>
              <a:defRPr/>
            </a:pPr>
            <a:r>
              <a:rPr lang="en-US" altLang="zh-CN" i="1" baseline="0" dirty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 = a + b;</a:t>
            </a:r>
          </a:p>
          <a:p>
            <a:pPr>
              <a:spcBef>
                <a:spcPct val="0"/>
              </a:spcBef>
              <a:buNone/>
              <a:defRPr/>
            </a:pPr>
            <a:endParaRPr lang="en-US" altLang="zh-CN" sz="2000" i="1" baseline="0" dirty="0">
              <a:solidFill>
                <a:srgbClr val="CE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4103" name="Text Box 5"/>
          <p:cNvSpPr txBox="1">
            <a:spLocks noChangeArrowheads="1"/>
          </p:cNvSpPr>
          <p:nvPr/>
        </p:nvSpPr>
        <p:spPr bwMode="auto">
          <a:xfrm>
            <a:off x="3429000" y="1458913"/>
            <a:ext cx="310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zh-CN" baseline="0">
                <a:solidFill>
                  <a:srgbClr val="CE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0001110010000110</a:t>
            </a:r>
            <a:endParaRPr lang="en-US" altLang="zh-CN" sz="2000" i="1" baseline="0">
              <a:solidFill>
                <a:srgbClr val="CE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4676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Great Idea #4: Software and Hardware Co-design</a:t>
            </a:r>
            <a:r>
              <a:rPr lang="en-US" altLang="zh-CN" sz="2400" dirty="0">
                <a:latin typeface="黑体" panose="02010609060101010101" pitchFamily="49" charset="-122"/>
              </a:rPr>
              <a:t> </a:t>
            </a:r>
          </a:p>
        </p:txBody>
      </p:sp>
      <p:pic>
        <p:nvPicPr>
          <p:cNvPr id="74759" name="Picture 18" descr="ch01-transfor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76" y="1119188"/>
            <a:ext cx="2574925" cy="504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0" name="Line 5"/>
          <p:cNvSpPr>
            <a:spLocks noChangeShapeType="1"/>
          </p:cNvSpPr>
          <p:nvPr/>
        </p:nvSpPr>
        <p:spPr bwMode="auto">
          <a:xfrm flipV="1">
            <a:off x="1774826" y="3124201"/>
            <a:ext cx="8304213" cy="17463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4761" name="Text Box 6"/>
          <p:cNvSpPr txBox="1">
            <a:spLocks noChangeArrowheads="1"/>
          </p:cNvSpPr>
          <p:nvPr/>
        </p:nvSpPr>
        <p:spPr bwMode="auto">
          <a:xfrm>
            <a:off x="1631950" y="2667001"/>
            <a:ext cx="1351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i="1" baseline="0" dirty="0">
                <a:solidFill>
                  <a:srgbClr val="333399"/>
                </a:solidFill>
                <a:latin typeface="Franklin Gothic Book" pitchFamily="34" charset="0"/>
                <a:ea typeface="宋体" panose="02010600030101010101" pitchFamily="2" charset="-122"/>
              </a:rPr>
              <a:t>Software</a:t>
            </a:r>
          </a:p>
        </p:txBody>
      </p:sp>
      <p:sp>
        <p:nvSpPr>
          <p:cNvPr id="74762" name="Text Box 7"/>
          <p:cNvSpPr txBox="1">
            <a:spLocks noChangeArrowheads="1"/>
          </p:cNvSpPr>
          <p:nvPr/>
        </p:nvSpPr>
        <p:spPr bwMode="auto">
          <a:xfrm>
            <a:off x="1558926" y="3124201"/>
            <a:ext cx="1451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i="1" baseline="0" dirty="0">
                <a:solidFill>
                  <a:srgbClr val="333399"/>
                </a:solidFill>
                <a:latin typeface="Franklin Gothic Book" pitchFamily="34" charset="0"/>
                <a:ea typeface="宋体" panose="02010600030101010101" pitchFamily="2" charset="-122"/>
              </a:rPr>
              <a:t>Hardware</a:t>
            </a:r>
          </a:p>
        </p:txBody>
      </p:sp>
      <p:sp>
        <p:nvSpPr>
          <p:cNvPr id="74763" name="Text Box 8"/>
          <p:cNvSpPr txBox="1">
            <a:spLocks noChangeArrowheads="1"/>
          </p:cNvSpPr>
          <p:nvPr/>
        </p:nvSpPr>
        <p:spPr bwMode="auto">
          <a:xfrm>
            <a:off x="6649006" y="1196975"/>
            <a:ext cx="15808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2000" baseline="0" dirty="0">
                <a:solidFill>
                  <a:srgbClr val="333399"/>
                </a:solidFill>
              </a:rPr>
              <a:t>Application</a:t>
            </a:r>
            <a:endParaRPr lang="en-US" altLang="zh-CN" sz="2000" baseline="0" dirty="0">
              <a:solidFill>
                <a:srgbClr val="333399"/>
              </a:solidFill>
              <a:latin typeface="黑体" panose="02010609060101010101" pitchFamily="49" charset="-122"/>
            </a:endParaRPr>
          </a:p>
        </p:txBody>
      </p:sp>
      <p:sp>
        <p:nvSpPr>
          <p:cNvPr id="74764" name="Text Box 9"/>
          <p:cNvSpPr txBox="1">
            <a:spLocks noChangeArrowheads="1"/>
          </p:cNvSpPr>
          <p:nvPr/>
        </p:nvSpPr>
        <p:spPr bwMode="auto">
          <a:xfrm>
            <a:off x="6740377" y="2428875"/>
            <a:ext cx="13981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2000" baseline="0" dirty="0">
                <a:solidFill>
                  <a:srgbClr val="333399"/>
                </a:solidFill>
              </a:rPr>
              <a:t>Language</a:t>
            </a:r>
            <a:endParaRPr lang="en-US" altLang="zh-CN" sz="2000" baseline="0" dirty="0">
              <a:solidFill>
                <a:srgbClr val="333399"/>
              </a:solidFill>
              <a:latin typeface="黑体" panose="02010609060101010101" pitchFamily="49" charset="-122"/>
            </a:endParaRPr>
          </a:p>
        </p:txBody>
      </p:sp>
      <p:sp>
        <p:nvSpPr>
          <p:cNvPr id="74765" name="Text Box 10"/>
          <p:cNvSpPr txBox="1">
            <a:spLocks noChangeArrowheads="1"/>
          </p:cNvSpPr>
          <p:nvPr/>
        </p:nvSpPr>
        <p:spPr bwMode="auto">
          <a:xfrm>
            <a:off x="4799856" y="2911112"/>
            <a:ext cx="5279182" cy="5810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baseline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Machine Architecture, ISA </a:t>
            </a:r>
          </a:p>
        </p:txBody>
      </p:sp>
      <p:sp>
        <p:nvSpPr>
          <p:cNvPr id="74766" name="Text Box 11"/>
          <p:cNvSpPr txBox="1">
            <a:spLocks noChangeArrowheads="1"/>
          </p:cNvSpPr>
          <p:nvPr/>
        </p:nvSpPr>
        <p:spPr bwMode="auto">
          <a:xfrm>
            <a:off x="6457449" y="3679825"/>
            <a:ext cx="19639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2000" baseline="0" dirty="0" err="1">
                <a:solidFill>
                  <a:srgbClr val="333399"/>
                </a:solidFill>
              </a:rPr>
              <a:t>Microarchiture</a:t>
            </a:r>
            <a:endParaRPr lang="en-US" altLang="zh-CN" sz="2000" baseline="0" dirty="0">
              <a:solidFill>
                <a:srgbClr val="333399"/>
              </a:solidFill>
            </a:endParaRPr>
          </a:p>
        </p:txBody>
      </p:sp>
      <p:sp>
        <p:nvSpPr>
          <p:cNvPr id="74767" name="Text Box 12"/>
          <p:cNvSpPr txBox="1">
            <a:spLocks noChangeArrowheads="1"/>
          </p:cNvSpPr>
          <p:nvPr/>
        </p:nvSpPr>
        <p:spPr bwMode="auto">
          <a:xfrm>
            <a:off x="6577674" y="4406900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2000" baseline="0" dirty="0">
                <a:solidFill>
                  <a:srgbClr val="333399"/>
                </a:solidFill>
              </a:rPr>
              <a:t>Logic and IC</a:t>
            </a:r>
          </a:p>
        </p:txBody>
      </p:sp>
      <p:sp>
        <p:nvSpPr>
          <p:cNvPr id="74768" name="Text Box 13"/>
          <p:cNvSpPr txBox="1">
            <a:spLocks noChangeArrowheads="1"/>
          </p:cNvSpPr>
          <p:nvPr/>
        </p:nvSpPr>
        <p:spPr bwMode="auto">
          <a:xfrm>
            <a:off x="6933541" y="5480050"/>
            <a:ext cx="10118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2000" baseline="0" dirty="0">
                <a:solidFill>
                  <a:srgbClr val="333399"/>
                </a:solidFill>
              </a:rPr>
              <a:t>Device</a:t>
            </a:r>
            <a:endParaRPr lang="en-US" altLang="zh-CN" sz="2000" baseline="0" dirty="0">
              <a:solidFill>
                <a:srgbClr val="333399"/>
              </a:solidFill>
              <a:latin typeface="黑体" panose="02010609060101010101" pitchFamily="49" charset="-122"/>
            </a:endParaRPr>
          </a:p>
        </p:txBody>
      </p:sp>
      <p:sp>
        <p:nvSpPr>
          <p:cNvPr id="74769" name="Text Box 14"/>
          <p:cNvSpPr txBox="1">
            <a:spLocks noChangeArrowheads="1"/>
          </p:cNvSpPr>
          <p:nvPr/>
        </p:nvSpPr>
        <p:spPr bwMode="auto">
          <a:xfrm>
            <a:off x="7489825" y="57912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endParaRPr lang="zh-CN" altLang="zh-CN" sz="1400" baseline="0">
              <a:solidFill>
                <a:srgbClr val="333399"/>
              </a:solidFill>
              <a:latin typeface="Franklin Gothic Demi" pitchFamily="34" charset="0"/>
              <a:ea typeface="宋体" panose="02010600030101010101" pitchFamily="2" charset="-122"/>
            </a:endParaRPr>
          </a:p>
        </p:txBody>
      </p:sp>
      <p:sp>
        <p:nvSpPr>
          <p:cNvPr id="74770" name="Text Box 16"/>
          <p:cNvSpPr txBox="1">
            <a:spLocks noChangeArrowheads="1"/>
          </p:cNvSpPr>
          <p:nvPr/>
        </p:nvSpPr>
        <p:spPr bwMode="auto">
          <a:xfrm>
            <a:off x="5630298" y="1796324"/>
            <a:ext cx="36182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2000" baseline="0" dirty="0">
                <a:solidFill>
                  <a:srgbClr val="333399"/>
                </a:solidFill>
              </a:rPr>
              <a:t>Algorithm &amp; Data Structure</a:t>
            </a:r>
            <a:endParaRPr lang="en-US" altLang="zh-CN" sz="2000" baseline="0" dirty="0">
              <a:solidFill>
                <a:srgbClr val="333399"/>
              </a:solidFill>
              <a:latin typeface="黑体" panose="02010609060101010101" pitchFamily="49" charset="-122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B59DD392-465B-41C0-B167-6CC4400A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3512" y="6537326"/>
            <a:ext cx="2286000" cy="244475"/>
          </a:xfrm>
        </p:spPr>
        <p:txBody>
          <a:bodyPr/>
          <a:lstStyle/>
          <a:p>
            <a:pPr eaLnBrk="0" hangingPunct="0">
              <a:defRPr/>
            </a:pPr>
            <a:fld id="{FAF88401-22E9-4153-B0F5-3C3505E5B3D2}" type="datetime1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defRPr/>
              </a:pPr>
              <a:t>2023/11/16</a:t>
            </a:fld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灯片编号占位符 5">
            <a:extLst>
              <a:ext uri="{FF2B5EF4-FFF2-40B4-BE49-F238E27FC236}">
                <a16:creationId xmlns:a16="http://schemas.microsoft.com/office/drawing/2014/main" id="{B8A4F1D5-16A0-438E-A209-060EE77F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7296" y="6537326"/>
            <a:ext cx="2743200" cy="244475"/>
          </a:xfrm>
        </p:spPr>
        <p:txBody>
          <a:bodyPr/>
          <a:lstStyle/>
          <a:p>
            <a:pPr eaLnBrk="0" hangingPunct="0">
              <a:defRPr/>
            </a:pPr>
            <a:fld id="{283AA37B-31F2-46EE-90A4-68D9AA6A4383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838B1-0048-4859-9317-A42DFA778014}"/>
              </a:ext>
            </a:extLst>
          </p:cNvPr>
          <p:cNvSpPr/>
          <p:nvPr/>
        </p:nvSpPr>
        <p:spPr>
          <a:xfrm>
            <a:off x="3644900" y="6051239"/>
            <a:ext cx="6434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defRPr/>
            </a:pPr>
            <a:r>
              <a:rPr lang="en-US" altLang="zh-CN" sz="2400" b="1" baseline="0" dirty="0">
                <a:solidFill>
                  <a:srgbClr val="FF3300"/>
                </a:solidFill>
              </a:rPr>
              <a:t>Computer System: Layers of Abstraction</a:t>
            </a:r>
            <a:endParaRPr lang="zh-CN" altLang="en-US" sz="2400" b="1" baseline="0" dirty="0">
              <a:solidFill>
                <a:srgbClr val="FF3300"/>
              </a:solidFill>
            </a:endParaRPr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C3147276-3C33-4DEF-8DF4-0989CDB15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2726" y="1823316"/>
            <a:ext cx="1439863" cy="649287"/>
          </a:xfrm>
          <a:prstGeom prst="wedgeRoundRectCallout">
            <a:avLst>
              <a:gd name="adj1" fmla="val -133014"/>
              <a:gd name="adj2" fmla="val 7006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  <a:defRPr/>
            </a:pPr>
            <a:r>
              <a:rPr lang="en-US" altLang="zh-CN" sz="1600" baseline="0">
                <a:solidFill>
                  <a:srgbClr val="FF3300"/>
                </a:solidFill>
                <a:ea typeface="宋体" panose="02010600030101010101" pitchFamily="2" charset="-122"/>
              </a:rPr>
              <a:t>Now, You are Here.</a:t>
            </a:r>
          </a:p>
        </p:txBody>
      </p:sp>
    </p:spTree>
    <p:extLst>
      <p:ext uri="{BB962C8B-B14F-4D97-AF65-F5344CB8AC3E}">
        <p14:creationId xmlns:p14="http://schemas.microsoft.com/office/powerpoint/2010/main" val="205922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#3: Abstraction Helps Us Manage Complexity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2023/11/16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5776859" y="1212310"/>
            <a:ext cx="4692610" cy="5240338"/>
            <a:chOff x="814" y="624"/>
            <a:chExt cx="4364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825" y="624"/>
              <a:ext cx="209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200" baseline="0">
                  <a:solidFill>
                    <a:srgbClr val="000000"/>
                  </a:solidFill>
                  <a:ea typeface="宋体" panose="02010600030101010101" pitchFamily="2" charset="-122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814" y="1150"/>
              <a:ext cx="4364" cy="292"/>
              <a:chOff x="814" y="1115"/>
              <a:chExt cx="4364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231" y="1116"/>
                <a:ext cx="92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Gaussian </a:t>
                </a:r>
              </a:p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409" y="1115"/>
                <a:ext cx="73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Jacobi</a:t>
                </a:r>
              </a:p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814" y="1202"/>
                <a:ext cx="120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400" y="1202"/>
                <a:ext cx="77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353" y="1794"/>
              <a:ext cx="2830" cy="174"/>
              <a:chOff x="1209" y="1848"/>
              <a:chExt cx="2830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209" y="1848"/>
                <a:ext cx="87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303" y="1848"/>
                <a:ext cx="27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50" y="1848"/>
                <a:ext cx="4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51" y="1848"/>
                <a:ext cx="48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1067" y="2263"/>
              <a:ext cx="3466" cy="174"/>
              <a:chOff x="779" y="2472"/>
              <a:chExt cx="3466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69" y="2472"/>
                <a:ext cx="74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779" y="2472"/>
                <a:ext cx="97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143" y="2472"/>
                <a:ext cx="110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437" y="2733"/>
              <a:ext cx="2981" cy="232"/>
              <a:chOff x="1149" y="2928"/>
              <a:chExt cx="298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149" y="2986"/>
                <a:ext cx="85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974" y="2928"/>
                <a:ext cx="93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929" y="2986"/>
                <a:ext cx="120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382" y="3202"/>
              <a:ext cx="3206" cy="174"/>
              <a:chOff x="1142" y="3288"/>
              <a:chExt cx="3206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142" y="3288"/>
                <a:ext cx="143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620" y="3288"/>
                <a:ext cx="172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349" y="3696"/>
              <a:ext cx="3404" cy="229"/>
              <a:chOff x="1349" y="3696"/>
              <a:chExt cx="3404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349" y="3751"/>
                <a:ext cx="1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308" y="3751"/>
                <a:ext cx="12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445" y="3696"/>
                <a:ext cx="130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  <a:defRPr/>
                </a:pPr>
                <a:r>
                  <a:rPr lang="en-US" altLang="zh-CN" sz="1200" baseline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200">
                <a:solidFill>
                  <a:srgbClr val="000000"/>
                </a:solidFill>
              </a:endParaRPr>
            </a:p>
          </p:txBody>
        </p: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CC4F4D65-048A-4439-A1FD-6FE37628AE6A}"/>
              </a:ext>
            </a:extLst>
          </p:cNvPr>
          <p:cNvSpPr/>
          <p:nvPr/>
        </p:nvSpPr>
        <p:spPr bwMode="auto">
          <a:xfrm>
            <a:off x="5789966" y="2996952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749CE26-EB42-4EDD-9677-6BE1C30AA3A5}"/>
              </a:ext>
            </a:extLst>
          </p:cNvPr>
          <p:cNvSpPr/>
          <p:nvPr/>
        </p:nvSpPr>
        <p:spPr bwMode="auto">
          <a:xfrm>
            <a:off x="5789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08D5C12-FE93-4CC4-8771-EFE38D3D5B5D}"/>
              </a:ext>
            </a:extLst>
          </p:cNvPr>
          <p:cNvGrpSpPr/>
          <p:nvPr/>
        </p:nvGrpSpPr>
        <p:grpSpPr>
          <a:xfrm>
            <a:off x="1769197" y="1210268"/>
            <a:ext cx="3663217" cy="5115084"/>
            <a:chOff x="468313" y="1446213"/>
            <a:chExt cx="4225925" cy="4192587"/>
          </a:xfrm>
        </p:grpSpPr>
        <p:sp>
          <p:nvSpPr>
            <p:cNvPr id="92" name="AutoShape 3">
              <a:extLst>
                <a:ext uri="{FF2B5EF4-FFF2-40B4-BE49-F238E27FC236}">
                  <a16:creationId xmlns:a16="http://schemas.microsoft.com/office/drawing/2014/main" id="{2C10F0D1-C173-44D5-B515-5860AEC4E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849438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Algorithm and Data Structure</a:t>
              </a:r>
              <a:endParaRPr lang="zh-CN" altLang="en-US" sz="1800" b="0" baseline="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AutoShape 4">
              <a:extLst>
                <a:ext uri="{FF2B5EF4-FFF2-40B4-BE49-F238E27FC236}">
                  <a16:creationId xmlns:a16="http://schemas.microsoft.com/office/drawing/2014/main" id="{357ABF6D-49A8-46FE-B227-5FA30743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933825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Gates/Register-Transfer Level (RTL)</a:t>
              </a:r>
            </a:p>
          </p:txBody>
        </p:sp>
        <p:sp>
          <p:nvSpPr>
            <p:cNvPr id="94" name="AutoShape 5">
              <a:extLst>
                <a:ext uri="{FF2B5EF4-FFF2-40B4-BE49-F238E27FC236}">
                  <a16:creationId xmlns:a16="http://schemas.microsoft.com/office/drawing/2014/main" id="{E1C94568-5CA8-45C1-B629-827DDE2D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446213"/>
              <a:ext cx="4217987" cy="4032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aseline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Application</a:t>
              </a:r>
            </a:p>
          </p:txBody>
        </p:sp>
        <p:sp>
          <p:nvSpPr>
            <p:cNvPr id="95" name="AutoShape 6">
              <a:extLst>
                <a:ext uri="{FF2B5EF4-FFF2-40B4-BE49-F238E27FC236}">
                  <a16:creationId xmlns:a16="http://schemas.microsoft.com/office/drawing/2014/main" id="{078434B0-DF55-43D2-97AB-067635D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059113"/>
              <a:ext cx="4225925" cy="47148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aseline="0" dirty="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Instruction Set Architecture (ISA)</a:t>
              </a:r>
            </a:p>
          </p:txBody>
        </p:sp>
        <p:sp>
          <p:nvSpPr>
            <p:cNvPr id="96" name="AutoShape 7">
              <a:extLst>
                <a:ext uri="{FF2B5EF4-FFF2-40B4-BE49-F238E27FC236}">
                  <a16:creationId xmlns:a16="http://schemas.microsoft.com/office/drawing/2014/main" id="{04E43027-11E9-4BBA-8113-FD288165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655888"/>
              <a:ext cx="4214812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Operating System/Virtual Machines</a:t>
              </a:r>
            </a:p>
          </p:txBody>
        </p:sp>
        <p:sp>
          <p:nvSpPr>
            <p:cNvPr id="97" name="AutoShape 8">
              <a:extLst>
                <a:ext uri="{FF2B5EF4-FFF2-40B4-BE49-F238E27FC236}">
                  <a16:creationId xmlns:a16="http://schemas.microsoft.com/office/drawing/2014/main" id="{42130CB5-CC4E-4B36-8F60-19F83864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30600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Microarchitecture</a:t>
              </a:r>
            </a:p>
          </p:txBody>
        </p:sp>
        <p:sp>
          <p:nvSpPr>
            <p:cNvPr id="98" name="AutoShape 9">
              <a:extLst>
                <a:ext uri="{FF2B5EF4-FFF2-40B4-BE49-F238E27FC236}">
                  <a16:creationId xmlns:a16="http://schemas.microsoft.com/office/drawing/2014/main" id="{6E0F1BA5-89D3-4437-8856-FFB566E2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740275"/>
              <a:ext cx="4225925" cy="45878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Electronic Devices</a:t>
              </a:r>
            </a:p>
          </p:txBody>
        </p:sp>
        <p:sp>
          <p:nvSpPr>
            <p:cNvPr id="99" name="AutoShape 10">
              <a:extLst>
                <a:ext uri="{FF2B5EF4-FFF2-40B4-BE49-F238E27FC236}">
                  <a16:creationId xmlns:a16="http://schemas.microsoft.com/office/drawing/2014/main" id="{B6FFA4A0-4F30-490C-8A53-39941D9A0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252663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Programming Language/Compiler</a:t>
              </a:r>
            </a:p>
          </p:txBody>
        </p:sp>
        <p:sp>
          <p:nvSpPr>
            <p:cNvPr id="100" name="AutoShape 11">
              <a:extLst>
                <a:ext uri="{FF2B5EF4-FFF2-40B4-BE49-F238E27FC236}">
                  <a16:creationId xmlns:a16="http://schemas.microsoft.com/office/drawing/2014/main" id="{CD3CC031-1514-4719-B4DD-1F200F51F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337050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Analog/Digital Circuits</a:t>
              </a:r>
            </a:p>
          </p:txBody>
        </p:sp>
        <p:sp>
          <p:nvSpPr>
            <p:cNvPr id="101" name="AutoShape 12">
              <a:extLst>
                <a:ext uri="{FF2B5EF4-FFF2-40B4-BE49-F238E27FC236}">
                  <a16:creationId xmlns:a16="http://schemas.microsoft.com/office/drawing/2014/main" id="{148CCF79-0C97-491C-8247-1A032683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5180013"/>
              <a:ext cx="4225925" cy="4587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aseline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Physics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2D24A0-8BB8-437B-A5CB-8D54E162D91F}"/>
              </a:ext>
            </a:extLst>
          </p:cNvPr>
          <p:cNvCxnSpPr>
            <a:cxnSpLocks/>
            <a:stCxn id="89" idx="1"/>
            <a:endCxn id="99" idx="3"/>
          </p:cNvCxnSpPr>
          <p:nvPr/>
        </p:nvCxnSpPr>
        <p:spPr bwMode="auto">
          <a:xfrm flipH="1" flipV="1">
            <a:off x="5432414" y="2440136"/>
            <a:ext cx="357553" cy="778526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7879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FD3EA2EB-AFA8-42C3-90E4-2A063F5CC6F5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2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13C98F5B-4036-4560-BEC4-378222D05A46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15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An Assembly Language Program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42988"/>
            <a:ext cx="8686800" cy="5410200"/>
          </a:xfrm>
          <a:solidFill>
            <a:srgbClr val="CCECFF"/>
          </a:solidFill>
          <a:ln w="28575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 Program to multiply a number by the constant 6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.ORIG	x3050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LD	R1, SIX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LD	R2, NUMBER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AND	R3, R3, #0	; Clear R3.  It will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		; contain the product.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 The inner loop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solidFill>
                  <a:schemeClr val="accent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AGAIN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ADD	R3, R3, R2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ADD	R1, R1, #-1	; R1 keeps track of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</a:rPr>
              <a:t>BRp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000" dirty="0">
                <a:solidFill>
                  <a:schemeClr val="accent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AGAIN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; the iteration.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HALT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solidFill>
                  <a:schemeClr val="accent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NUMBER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.BLKW	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solidFill>
                  <a:schemeClr val="accent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SIX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.FILL	x0006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	.END</a:t>
            </a:r>
          </a:p>
        </p:txBody>
      </p:sp>
    </p:spTree>
    <p:extLst>
      <p:ext uri="{BB962C8B-B14F-4D97-AF65-F5344CB8AC3E}">
        <p14:creationId xmlns:p14="http://schemas.microsoft.com/office/powerpoint/2010/main" val="1294512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243CEBD6-52D8-4CE5-9C8D-E87315F173A6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31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D1E8BAF3-65BD-4155-9644-73012F24E266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Assembly Language Syntax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8" y="981075"/>
            <a:ext cx="8839200" cy="3683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Each line of a program is one of the following: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 instruction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 assembler directive (or pseudo-op)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 comment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Whitespace (between symbols) and case are ignored.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Comments (beginning with “;”) are also ignored.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 instruction has the following format: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2895601" y="4419600"/>
            <a:ext cx="566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zh-CN" baseline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LABEL OPCODE OPERANDS COMMENTS</a:t>
            </a:r>
            <a:endParaRPr lang="en-US" altLang="zh-CN" sz="2000" b="0" i="1" baseline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3319" name="Line 5"/>
          <p:cNvSpPr>
            <a:spLocks noChangeShapeType="1"/>
          </p:cNvSpPr>
          <p:nvPr/>
        </p:nvSpPr>
        <p:spPr bwMode="auto">
          <a:xfrm flipV="1">
            <a:off x="3352800" y="4800600"/>
            <a:ext cx="0" cy="9906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0" name="Line 6"/>
          <p:cNvSpPr>
            <a:spLocks noChangeShapeType="1"/>
          </p:cNvSpPr>
          <p:nvPr/>
        </p:nvSpPr>
        <p:spPr bwMode="auto">
          <a:xfrm>
            <a:off x="3352800" y="5257800"/>
            <a:ext cx="43434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1" name="Line 7"/>
          <p:cNvSpPr>
            <a:spLocks noChangeShapeType="1"/>
          </p:cNvSpPr>
          <p:nvPr/>
        </p:nvSpPr>
        <p:spPr bwMode="auto">
          <a:xfrm flipV="1">
            <a:off x="7696200" y="4800600"/>
            <a:ext cx="0" cy="4572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2" name="Text Box 8"/>
          <p:cNvSpPr txBox="1">
            <a:spLocks noChangeArrowheads="1"/>
          </p:cNvSpPr>
          <p:nvPr/>
        </p:nvSpPr>
        <p:spPr bwMode="auto">
          <a:xfrm>
            <a:off x="2728914" y="5715000"/>
            <a:ext cx="125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zh-CN" b="0" i="1" baseline="0">
                <a:solidFill>
                  <a:srgbClr val="009900"/>
                </a:solidFill>
                <a:ea typeface="宋体" panose="02010600030101010101" pitchFamily="2" charset="-122"/>
              </a:rPr>
              <a:t>optional</a:t>
            </a:r>
          </a:p>
        </p:txBody>
      </p:sp>
      <p:sp>
        <p:nvSpPr>
          <p:cNvPr id="13323" name="Line 9"/>
          <p:cNvSpPr>
            <a:spLocks noChangeShapeType="1"/>
          </p:cNvSpPr>
          <p:nvPr/>
        </p:nvSpPr>
        <p:spPr bwMode="auto">
          <a:xfrm flipV="1">
            <a:off x="6096000" y="4800600"/>
            <a:ext cx="0" cy="990600"/>
          </a:xfrm>
          <a:prstGeom prst="line">
            <a:avLst/>
          </a:prstGeom>
          <a:noFill/>
          <a:ln w="28575">
            <a:solidFill>
              <a:srgbClr val="CE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4" name="Line 10"/>
          <p:cNvSpPr>
            <a:spLocks noChangeShapeType="1"/>
          </p:cNvSpPr>
          <p:nvPr/>
        </p:nvSpPr>
        <p:spPr bwMode="auto">
          <a:xfrm flipV="1">
            <a:off x="4572000" y="4800600"/>
            <a:ext cx="0" cy="304800"/>
          </a:xfrm>
          <a:prstGeom prst="line">
            <a:avLst/>
          </a:prstGeom>
          <a:noFill/>
          <a:ln w="28575">
            <a:solidFill>
              <a:srgbClr val="CE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5" name="Line 11"/>
          <p:cNvSpPr>
            <a:spLocks noChangeShapeType="1"/>
          </p:cNvSpPr>
          <p:nvPr/>
        </p:nvSpPr>
        <p:spPr bwMode="auto">
          <a:xfrm>
            <a:off x="4572000" y="5105400"/>
            <a:ext cx="1524000" cy="0"/>
          </a:xfrm>
          <a:prstGeom prst="line">
            <a:avLst/>
          </a:prstGeom>
          <a:noFill/>
          <a:ln w="28575">
            <a:solidFill>
              <a:srgbClr val="CE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6" name="Text Box 12"/>
          <p:cNvSpPr txBox="1">
            <a:spLocks noChangeArrowheads="1"/>
          </p:cNvSpPr>
          <p:nvPr/>
        </p:nvSpPr>
        <p:spPr bwMode="auto">
          <a:xfrm>
            <a:off x="5310188" y="5715000"/>
            <a:ext cx="162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  <a:defRPr/>
            </a:pPr>
            <a:r>
              <a:rPr lang="en-US" altLang="zh-CN" b="0" i="1" baseline="0">
                <a:solidFill>
                  <a:srgbClr val="CE0000"/>
                </a:solidFill>
                <a:ea typeface="宋体" panose="02010600030101010101" pitchFamily="2" charset="-122"/>
              </a:rPr>
              <a:t>mandatory</a:t>
            </a:r>
          </a:p>
        </p:txBody>
      </p:sp>
    </p:spTree>
    <p:extLst>
      <p:ext uri="{BB962C8B-B14F-4D97-AF65-F5344CB8AC3E}">
        <p14:creationId xmlns:p14="http://schemas.microsoft.com/office/powerpoint/2010/main" val="2581684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87A44603-8A7B-428C-97EE-78A3EAC9BA4D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B2826B26-0749-46B5-8345-F96CD9867753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17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Opcodes and Operands</a:t>
            </a:r>
          </a:p>
        </p:txBody>
      </p:sp>
      <p:sp>
        <p:nvSpPr>
          <p:cNvPr id="1536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03388" y="981075"/>
            <a:ext cx="8964612" cy="5481638"/>
          </a:xfrm>
        </p:spPr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Opcodes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reserved symbols that correspond to LC-3 instructions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listed in Appendix A</a:t>
            </a:r>
          </a:p>
          <a:p>
            <a:pPr lvl="2"/>
            <a:r>
              <a:rPr lang="en-US" altLang="zh-CN" sz="1800" dirty="0"/>
              <a:t>ex: </a:t>
            </a:r>
            <a:r>
              <a:rPr lang="en-US" altLang="zh-CN" sz="1800" dirty="0">
                <a:latin typeface="Courier New" panose="02070309020205020404" pitchFamily="49" charset="0"/>
              </a:rPr>
              <a:t>ADD</a:t>
            </a:r>
            <a:r>
              <a:rPr lang="en-US" altLang="zh-CN" sz="1800" dirty="0"/>
              <a:t>,</a:t>
            </a:r>
            <a:r>
              <a:rPr lang="en-US" altLang="zh-CN" sz="1800" dirty="0">
                <a:latin typeface="Courier New" panose="02070309020205020404" pitchFamily="49" charset="0"/>
              </a:rPr>
              <a:t> AND</a:t>
            </a:r>
            <a:r>
              <a:rPr lang="en-US" altLang="zh-CN" sz="1800" dirty="0"/>
              <a:t>,</a:t>
            </a:r>
            <a:r>
              <a:rPr lang="en-US" altLang="zh-CN" sz="1800" dirty="0">
                <a:latin typeface="Courier New" panose="02070309020205020404" pitchFamily="49" charset="0"/>
              </a:rPr>
              <a:t> LD</a:t>
            </a:r>
            <a:r>
              <a:rPr lang="en-US" altLang="zh-CN" sz="1800" dirty="0"/>
              <a:t>,</a:t>
            </a:r>
            <a:r>
              <a:rPr lang="en-US" altLang="zh-CN" sz="1800" dirty="0">
                <a:latin typeface="Courier New" panose="02070309020205020404" pitchFamily="49" charset="0"/>
              </a:rPr>
              <a:t> LDR</a:t>
            </a:r>
            <a:r>
              <a:rPr lang="en-US" altLang="zh-CN" sz="1800" dirty="0"/>
              <a:t>, …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Operands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registers -- specified by Rn, where n is the register number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numbers -- indicated by # (decimal) or x (hex)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label -- symbolic name of memory location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separated by comma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number, order, and type correspond to instruction format</a:t>
            </a:r>
          </a:p>
          <a:p>
            <a:pPr lvl="2"/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ex:	</a:t>
            </a:r>
            <a:r>
              <a:rPr lang="en-US" altLang="zh-CN" sz="1800" dirty="0">
                <a:latin typeface="Courier New" panose="02070309020205020404" pitchFamily="49" charset="0"/>
              </a:rPr>
              <a:t>ADD	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</a:rPr>
              <a:t>R1,R1,R3</a:t>
            </a:r>
            <a:br>
              <a:rPr lang="en-US" altLang="zh-CN" sz="1800" dirty="0">
                <a:latin typeface="Courier New" panose="02070309020205020404" pitchFamily="49" charset="0"/>
              </a:rPr>
            </a:br>
            <a:r>
              <a:rPr lang="en-US" altLang="zh-CN" sz="1800" dirty="0">
                <a:latin typeface="Courier New" panose="02070309020205020404" pitchFamily="49" charset="0"/>
              </a:rPr>
              <a:t>	ADD	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</a:rPr>
              <a:t>R1,R1,#3</a:t>
            </a:r>
            <a:b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zh-CN" sz="1800" dirty="0">
                <a:latin typeface="Courier New" panose="02070309020205020404" pitchFamily="49" charset="0"/>
              </a:rPr>
              <a:t>	LD	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</a:rPr>
              <a:t>R6,NUMBER</a:t>
            </a:r>
            <a:br>
              <a:rPr lang="en-US" altLang="zh-CN" sz="1800" dirty="0">
                <a:latin typeface="Courier New" panose="02070309020205020404" pitchFamily="49" charset="0"/>
              </a:rPr>
            </a:br>
            <a:r>
              <a:rPr lang="en-US" altLang="zh-CN" sz="1800" dirty="0">
                <a:latin typeface="Courier New" panose="02070309020205020404" pitchFamily="49" charset="0"/>
              </a:rPr>
              <a:t>	</a:t>
            </a:r>
            <a:r>
              <a:rPr lang="en-US" altLang="zh-CN" sz="1800" dirty="0" err="1">
                <a:latin typeface="Courier New" panose="02070309020205020404" pitchFamily="49" charset="0"/>
              </a:rPr>
              <a:t>BRz</a:t>
            </a:r>
            <a:r>
              <a:rPr lang="en-US" altLang="zh-CN" sz="1800" dirty="0">
                <a:latin typeface="Courier New" panose="02070309020205020404" pitchFamily="49" charset="0"/>
              </a:rPr>
              <a:t>	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</a:rPr>
              <a:t>LOOP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416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42571B6B-0920-4BFA-B0C5-01C80538852A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7C1B9619-3113-4DB3-A147-28D69814EDCE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18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Labels and Comments</a:t>
            </a:r>
          </a:p>
        </p:txBody>
      </p:sp>
      <p:sp>
        <p:nvSpPr>
          <p:cNvPr id="1741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03388" y="981075"/>
            <a:ext cx="8964612" cy="548163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Label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placed at the beginning of the line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assigns a symbolic name to the address corresponding to line</a:t>
            </a:r>
          </a:p>
          <a:p>
            <a:pPr lvl="2">
              <a:spcBef>
                <a:spcPts val="0"/>
              </a:spcBef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ex:</a:t>
            </a:r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b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b="0" dirty="0">
                <a:latin typeface="CourierPS" pitchFamily="49" charset="0"/>
              </a:rPr>
              <a:t>	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</a:rPr>
              <a:t>LOOP</a:t>
            </a:r>
            <a:r>
              <a:rPr lang="en-US" altLang="zh-CN" sz="1800" dirty="0">
                <a:latin typeface="Courier New" panose="02070309020205020404" pitchFamily="49" charset="0"/>
              </a:rPr>
              <a:t>	ADD	R1,R1,#-1</a:t>
            </a:r>
            <a:br>
              <a:rPr lang="en-US" altLang="zh-CN" sz="1800" dirty="0">
                <a:latin typeface="Courier New" panose="02070309020205020404" pitchFamily="49" charset="0"/>
              </a:rPr>
            </a:br>
            <a:r>
              <a:rPr lang="en-US" altLang="zh-CN" sz="1800" dirty="0">
                <a:latin typeface="Courier New" panose="02070309020205020404" pitchFamily="49" charset="0"/>
              </a:rPr>
              <a:t>		</a:t>
            </a:r>
            <a:r>
              <a:rPr lang="en-US" altLang="zh-CN" sz="1800" dirty="0" err="1">
                <a:latin typeface="Courier New" panose="02070309020205020404" pitchFamily="49" charset="0"/>
              </a:rPr>
              <a:t>BRp</a:t>
            </a:r>
            <a:r>
              <a:rPr lang="en-US" altLang="zh-CN" sz="1800" dirty="0">
                <a:latin typeface="Courier New" panose="02070309020205020404" pitchFamily="49" charset="0"/>
              </a:rPr>
              <a:t>	LOOP</a:t>
            </a: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Comment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anything after a semicolon is a comment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ignored by assembler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used by humans to document/understand programs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tips for useful comments:</a:t>
            </a:r>
          </a:p>
          <a:p>
            <a:pPr lvl="2">
              <a:spcBef>
                <a:spcPts val="0"/>
              </a:spcBef>
            </a:pPr>
            <a:r>
              <a:rPr lang="en-US" altLang="zh-CN" sz="1800" dirty="0"/>
              <a:t>avoid restating the obvious, as “decrement R1”</a:t>
            </a:r>
          </a:p>
          <a:p>
            <a:pPr lvl="2">
              <a:spcBef>
                <a:spcPts val="0"/>
              </a:spcBef>
            </a:pPr>
            <a:r>
              <a:rPr lang="en-US" altLang="zh-CN" sz="1800" dirty="0"/>
              <a:t>provide additional insight, as in “accumulate product in R6”</a:t>
            </a:r>
          </a:p>
          <a:p>
            <a:pPr lvl="2">
              <a:spcBef>
                <a:spcPts val="0"/>
              </a:spcBef>
            </a:pPr>
            <a:r>
              <a:rPr lang="en-US" altLang="zh-CN" sz="1800" dirty="0"/>
              <a:t>use comments to separate pieces of program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132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47683393-5A60-40A0-A095-498B8C603609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4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DC528B86-D942-44DE-B765-13A9D28C1DCD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19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Assembler Directives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8" y="981075"/>
            <a:ext cx="8839200" cy="179863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Pseudo-operations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do not refer to operations executed by program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used by assembler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look like instruction, but “opcode” starts with dot</a:t>
            </a:r>
          </a:p>
        </p:txBody>
      </p:sp>
      <p:graphicFrame>
        <p:nvGraphicFramePr>
          <p:cNvPr id="34202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156999"/>
              </p:ext>
            </p:extLst>
          </p:nvPr>
        </p:nvGraphicFramePr>
        <p:xfrm>
          <a:off x="2057400" y="2780928"/>
          <a:ext cx="7711008" cy="3598222"/>
        </p:xfrm>
        <a:graphic>
          <a:graphicData uri="http://schemas.openxmlformats.org/drawingml/2006/table">
            <a:tbl>
              <a:tblPr/>
              <a:tblGrid>
                <a:gridCol w="1465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0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1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Opcode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Operand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Meaning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.ORIG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starting address of program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7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.END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end of program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.BLKW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allocate n words of storage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.FILL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allocate one word, initialize with value 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93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.STRINGZ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n-character </a:t>
                      </a:r>
                      <a:b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string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allocate n+1 locations, 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initialize w/characters and null terminator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481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CE3C7-C218-4EDA-8DEF-DF3B2F82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35771-24CA-4D85-B961-C6722809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29B69D-9D65-4132-933F-3991FE7A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930A66DA-0A1D-42F7-9CA5-347821237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1071062"/>
            <a:ext cx="5616748" cy="1079773"/>
          </a:xfrm>
          <a:solidFill>
            <a:srgbClr val="CCFFFF"/>
          </a:solidFill>
          <a:ln w="19050">
            <a:solidFill>
              <a:srgbClr val="008000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.ORIG   X3100</a:t>
            </a:r>
          </a:p>
          <a:p>
            <a:pPr marL="0" indent="0">
              <a:buNone/>
            </a:pP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HELLO  .STRINGZ </a:t>
            </a:r>
            <a:r>
              <a:rPr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‘’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Hello, World!</a:t>
            </a:r>
            <a:r>
              <a:rPr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‘’</a:t>
            </a:r>
            <a:endParaRPr lang="en-US" altLang="zh-CN" sz="1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2C234C-4DF4-48B8-80AA-44F47FAF211F}"/>
              </a:ext>
            </a:extLst>
          </p:cNvPr>
          <p:cNvSpPr/>
          <p:nvPr/>
        </p:nvSpPr>
        <p:spPr>
          <a:xfrm>
            <a:off x="7771093" y="1089194"/>
            <a:ext cx="2441014" cy="5262979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x3010: x0048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x3011: x0065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x3012: x006C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x3013: x006C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x3014: x006F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x3015: x002C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x3016: x0020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x3017: x0057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x3018: x006F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x3019: x0072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x301A: x006C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x301B: x0064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x301C: x0021</a:t>
            </a:r>
            <a:b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400" b="1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x301D: x0000 </a:t>
            </a:r>
            <a:endParaRPr lang="zh-CN" altLang="en-US" sz="2400" b="1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891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C118BC26-D1E1-4EEF-B907-2189B4E0E4A7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45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14FFB7D7-6A8A-4A62-89A6-53CFBD7C845F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21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Trap Codes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assembler provides “pseudo-instructions” for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each trap code, so you don’t have to remember them.</a:t>
            </a:r>
          </a:p>
        </p:txBody>
      </p:sp>
      <p:graphicFrame>
        <p:nvGraphicFramePr>
          <p:cNvPr id="343044" name="Group 4"/>
          <p:cNvGraphicFramePr>
            <a:graphicFrameLocks noGrp="1"/>
          </p:cNvGraphicFramePr>
          <p:nvPr/>
        </p:nvGraphicFramePr>
        <p:xfrm>
          <a:off x="2057400" y="2133601"/>
          <a:ext cx="8077200" cy="3976717"/>
        </p:xfrm>
        <a:graphic>
          <a:graphicData uri="http://schemas.openxmlformats.org/drawingml/2006/table">
            <a:tbl>
              <a:tblPr/>
              <a:tblGrid>
                <a:gridCol w="91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Code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Equivalent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Description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HALT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TRAP x25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Halt execution and print message to console.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7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TRAP x23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Print prompt on console,</a:t>
                      </a:r>
                      <a:b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read (and echo) one character from keybd.</a:t>
                      </a:r>
                      <a:b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Character stored in R0[7:0].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OUT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TRAP x21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Write one character (in R0[7:0]) to console.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9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GETC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TRAP x20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Read one character from keyboard.</a:t>
                      </a:r>
                      <a:b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Character stored in R0[7:0].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9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PUTS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TRAP x22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Write null-terminated string to console.</a:t>
                      </a:r>
                      <a:b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Address of string is in R0.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603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02BA0FC7-A9EC-41C0-9843-398002A28D70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4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FE317CB0-FF0C-4F22-B9EE-D01BFC5317A0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22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Style Guidelines</a:t>
            </a:r>
          </a:p>
        </p:txBody>
      </p:sp>
      <p:sp>
        <p:nvSpPr>
          <p:cNvPr id="2048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03388" y="981075"/>
            <a:ext cx="8839200" cy="548163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Use the following style guidelines to improve the readability and understandability of your programs:</a:t>
            </a:r>
          </a:p>
          <a:p>
            <a:pPr lvl="1">
              <a:spcBef>
                <a:spcPts val="0"/>
              </a:spcBef>
              <a:buFontTx/>
              <a:buAutoNum type="arabicPeriod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Provide a program header, with author’s name, date,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etc.,and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purpose of program. </a:t>
            </a:r>
          </a:p>
          <a:p>
            <a:pPr lvl="1">
              <a:spcBef>
                <a:spcPts val="0"/>
              </a:spcBef>
              <a:buFontTx/>
              <a:buAutoNum type="arabicPeriod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Start labels, opcode, operands, and comments in same column for each line.  </a:t>
            </a:r>
            <a:r>
              <a:rPr lang="en-US" altLang="zh-CN" b="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(Unless entire line is a comment.)</a:t>
            </a:r>
          </a:p>
          <a:p>
            <a:pPr lvl="1">
              <a:spcBef>
                <a:spcPts val="0"/>
              </a:spcBef>
              <a:buFontTx/>
              <a:buAutoNum type="arabicPeriod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Use comments to explain what each register does.</a:t>
            </a:r>
          </a:p>
          <a:p>
            <a:pPr lvl="1">
              <a:spcBef>
                <a:spcPts val="0"/>
              </a:spcBef>
              <a:buFontTx/>
              <a:buAutoNum type="arabicPeriod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Give explanatory comment for most instructions.</a:t>
            </a:r>
          </a:p>
          <a:p>
            <a:pPr lvl="1">
              <a:spcBef>
                <a:spcPts val="0"/>
              </a:spcBef>
              <a:buFontTx/>
              <a:buAutoNum type="arabicPeriod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Use meaningful symbolic names.</a:t>
            </a:r>
          </a:p>
          <a:p>
            <a:pPr lvl="2">
              <a:spcBef>
                <a:spcPts val="0"/>
              </a:spcBef>
              <a:buFontTx/>
              <a:buChar char="•"/>
            </a:pPr>
            <a:r>
              <a:rPr lang="en-US" altLang="zh-CN" sz="1800" dirty="0"/>
              <a:t>Mixed upper and lower case for readability.</a:t>
            </a:r>
          </a:p>
          <a:p>
            <a:pPr lvl="2">
              <a:spcBef>
                <a:spcPts val="0"/>
              </a:spcBef>
              <a:buFontTx/>
              <a:buChar char="•"/>
            </a:pPr>
            <a:r>
              <a:rPr lang="en-US" altLang="zh-CN" sz="1800" dirty="0" err="1"/>
              <a:t>ASCIItoBinary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InputRoutine</a:t>
            </a:r>
            <a:r>
              <a:rPr lang="en-US" altLang="zh-CN" sz="1800" dirty="0"/>
              <a:t>, SaveR1</a:t>
            </a:r>
          </a:p>
          <a:p>
            <a:pPr lvl="1">
              <a:spcBef>
                <a:spcPts val="0"/>
              </a:spcBef>
              <a:buFontTx/>
              <a:buAutoNum type="arabicPeriod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Provide comments between program sections.</a:t>
            </a:r>
          </a:p>
          <a:p>
            <a:pPr lvl="1">
              <a:spcBef>
                <a:spcPts val="0"/>
              </a:spcBef>
              <a:buFontTx/>
              <a:buAutoNum type="arabicPeriod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Each line must fit on the page -- no wraparound or truncations.</a:t>
            </a:r>
          </a:p>
          <a:p>
            <a:pPr lvl="2">
              <a:spcBef>
                <a:spcPts val="0"/>
              </a:spcBef>
              <a:buFontTx/>
              <a:buChar char="•"/>
            </a:pPr>
            <a:r>
              <a:rPr lang="en-US" altLang="zh-CN" sz="1800" dirty="0"/>
              <a:t>Long statements split in aesthetically pleasing manner.</a:t>
            </a:r>
          </a:p>
          <a:p>
            <a:pPr>
              <a:spcBef>
                <a:spcPts val="0"/>
              </a:spcBef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8530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AB4F11B2-B070-48FF-A805-6A6E998C21C8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5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CCC2D209-4025-4532-A2AD-355EF545D11B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23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Sample Program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Count the occurrences of a character in a file.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Remember this?</a:t>
            </a:r>
          </a:p>
        </p:txBody>
      </p:sp>
      <p:graphicFrame>
        <p:nvGraphicFramePr>
          <p:cNvPr id="21510" name="Object 4"/>
          <p:cNvGraphicFramePr>
            <a:graphicFrameLocks noChangeAspect="1"/>
          </p:cNvGraphicFramePr>
          <p:nvPr/>
        </p:nvGraphicFramePr>
        <p:xfrm>
          <a:off x="2133600" y="2057400"/>
          <a:ext cx="7888288" cy="455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7" name="VISIO" r:id="rId3" imgW="6548628" imgH="3791712" progId="Visio.Drawing.6">
                  <p:embed/>
                </p:oleObj>
              </mc:Choice>
              <mc:Fallback>
                <p:oleObj name="VISIO" r:id="rId3" imgW="6548628" imgH="3791712" progId="Visio.Drawing.6">
                  <p:embed/>
                  <p:pic>
                    <p:nvPicPr>
                      <p:cNvPr id="215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057400"/>
                        <a:ext cx="7888288" cy="455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9433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FDDEB79D-AFCB-4771-A78C-FE21E3CE1293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963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39F0AD74-A020-4C00-B7E9-065007C1E498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24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9636" name="Rectangle 2"/>
          <p:cNvSpPr>
            <a:spLocks noChangeArrowheads="1"/>
          </p:cNvSpPr>
          <p:nvPr/>
        </p:nvSpPr>
        <p:spPr bwMode="auto">
          <a:xfrm>
            <a:off x="3009900" y="1524000"/>
            <a:ext cx="1143000" cy="4572000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endParaRPr lang="zh-CN" altLang="en-US" sz="20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Program (1 of 2)</a:t>
            </a:r>
          </a:p>
        </p:txBody>
      </p:sp>
      <p:graphicFrame>
        <p:nvGraphicFramePr>
          <p:cNvPr id="169988" name="Group 4"/>
          <p:cNvGraphicFramePr>
            <a:graphicFrameLocks noGrp="1"/>
          </p:cNvGraphicFramePr>
          <p:nvPr/>
        </p:nvGraphicFramePr>
        <p:xfrm>
          <a:off x="1790700" y="1143000"/>
          <a:ext cx="8610600" cy="490220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</a:p>
                  </a:txBody>
                  <a:tcPr marR="0" marT="91440" marB="9144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0 1 0 1 0 1 0 0 1 0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R2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(counter)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 R2,R2, #0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0 0 1 0 0 1 1 0 0 0 0 1 0 0 0 0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R3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M[x3012]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ptr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 R3, x3012       (LD R3, PTR)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1 1 1 1 0 0 0 0 0 0 1 0 0 0 1 1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Input to R0 (TRAP x23)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TRAP x23            (GETC)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x3003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0 1 1 0 0 0 1 0 1 1 0 0 0 0 0 0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M[R3]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LDR R1, R3, #0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0 0 0 1 1 0 0 0 0 1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1 1 1 0 0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R4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– 4 (EOT)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R4,R1, #-4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x3005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0 0 0 0 0 1 0 0 0 0 0 0 1 0 0 0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If Z,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x300E       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9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OUTPUT)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x3006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1 0 0 1 0 0 1 0 0 1 1 1 1 1 1 1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NOT R1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NOT R1,R1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x3007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0 0 0 1 0 0 1 0 0 1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+ 1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R1,R1,#1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X3008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0 0 0 1 0 0 1 0 0 1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R1 + R0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R1,R1,R0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x3009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0 0 0 0 1 0 1 0 0 0 0 0 0 0 0 1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If N or P,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x300B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np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x300B  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np</a:t>
                      </a:r>
                      <a:r>
                        <a:rPr kumimoji="0" lang="en-US" altLang="zh-CN" sz="9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GETCHAR)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9683" name="Line 67"/>
          <p:cNvSpPr>
            <a:spLocks noChangeShapeType="1"/>
          </p:cNvSpPr>
          <p:nvPr/>
        </p:nvSpPr>
        <p:spPr bwMode="auto">
          <a:xfrm>
            <a:off x="4267200" y="593407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84" name="Line 68"/>
          <p:cNvSpPr>
            <a:spLocks noChangeShapeType="1"/>
          </p:cNvSpPr>
          <p:nvPr/>
        </p:nvSpPr>
        <p:spPr bwMode="auto">
          <a:xfrm>
            <a:off x="4267200" y="1914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85" name="Line 69"/>
          <p:cNvSpPr>
            <a:spLocks noChangeShapeType="1"/>
          </p:cNvSpPr>
          <p:nvPr/>
        </p:nvSpPr>
        <p:spPr bwMode="auto">
          <a:xfrm>
            <a:off x="4267200" y="2362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86" name="Line 70"/>
          <p:cNvSpPr>
            <a:spLocks noChangeShapeType="1"/>
          </p:cNvSpPr>
          <p:nvPr/>
        </p:nvSpPr>
        <p:spPr bwMode="auto">
          <a:xfrm>
            <a:off x="5486400" y="2819400"/>
            <a:ext cx="2286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87" name="Line 71"/>
          <p:cNvSpPr>
            <a:spLocks noChangeShapeType="1"/>
          </p:cNvSpPr>
          <p:nvPr/>
        </p:nvSpPr>
        <p:spPr bwMode="auto">
          <a:xfrm>
            <a:off x="42672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88" name="Line 72"/>
          <p:cNvSpPr>
            <a:spLocks noChangeShapeType="1"/>
          </p:cNvSpPr>
          <p:nvPr/>
        </p:nvSpPr>
        <p:spPr bwMode="auto">
          <a:xfrm>
            <a:off x="4267200" y="37147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89" name="Line 73"/>
          <p:cNvSpPr>
            <a:spLocks noChangeShapeType="1"/>
          </p:cNvSpPr>
          <p:nvPr/>
        </p:nvSpPr>
        <p:spPr bwMode="auto">
          <a:xfrm>
            <a:off x="4267200" y="41624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0" name="Line 74"/>
          <p:cNvSpPr>
            <a:spLocks noChangeShapeType="1"/>
          </p:cNvSpPr>
          <p:nvPr/>
        </p:nvSpPr>
        <p:spPr bwMode="auto">
          <a:xfrm>
            <a:off x="4267200" y="4591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1" name="Line 75"/>
          <p:cNvSpPr>
            <a:spLocks noChangeShapeType="1"/>
          </p:cNvSpPr>
          <p:nvPr/>
        </p:nvSpPr>
        <p:spPr bwMode="auto">
          <a:xfrm>
            <a:off x="4267200" y="5038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2" name="Line 76"/>
          <p:cNvSpPr>
            <a:spLocks noChangeShapeType="1"/>
          </p:cNvSpPr>
          <p:nvPr/>
        </p:nvSpPr>
        <p:spPr bwMode="auto">
          <a:xfrm>
            <a:off x="42672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3" name="Line 77"/>
          <p:cNvSpPr>
            <a:spLocks noChangeShapeType="1"/>
          </p:cNvSpPr>
          <p:nvPr/>
        </p:nvSpPr>
        <p:spPr bwMode="auto">
          <a:xfrm>
            <a:off x="5181600" y="19145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4" name="Line 78"/>
          <p:cNvSpPr>
            <a:spLocks noChangeShapeType="1"/>
          </p:cNvSpPr>
          <p:nvPr/>
        </p:nvSpPr>
        <p:spPr bwMode="auto">
          <a:xfrm>
            <a:off x="6400800" y="1914525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5" name="Line 79"/>
          <p:cNvSpPr>
            <a:spLocks noChangeShapeType="1"/>
          </p:cNvSpPr>
          <p:nvPr/>
        </p:nvSpPr>
        <p:spPr bwMode="auto">
          <a:xfrm>
            <a:off x="5181600" y="2362200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6" name="Line 80"/>
          <p:cNvSpPr>
            <a:spLocks noChangeShapeType="1"/>
          </p:cNvSpPr>
          <p:nvPr/>
        </p:nvSpPr>
        <p:spPr bwMode="auto">
          <a:xfrm>
            <a:off x="51816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7" name="Line 81"/>
          <p:cNvSpPr>
            <a:spLocks noChangeShapeType="1"/>
          </p:cNvSpPr>
          <p:nvPr/>
        </p:nvSpPr>
        <p:spPr bwMode="auto">
          <a:xfrm>
            <a:off x="6096000" y="325755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8" name="Line 82"/>
          <p:cNvSpPr>
            <a:spLocks noChangeShapeType="1"/>
          </p:cNvSpPr>
          <p:nvPr/>
        </p:nvSpPr>
        <p:spPr bwMode="auto">
          <a:xfrm>
            <a:off x="5181600" y="37147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699" name="Line 83"/>
          <p:cNvSpPr>
            <a:spLocks noChangeShapeType="1"/>
          </p:cNvSpPr>
          <p:nvPr/>
        </p:nvSpPr>
        <p:spPr bwMode="auto">
          <a:xfrm>
            <a:off x="6400800" y="371475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700" name="Line 84"/>
          <p:cNvSpPr>
            <a:spLocks noChangeShapeType="1"/>
          </p:cNvSpPr>
          <p:nvPr/>
        </p:nvSpPr>
        <p:spPr bwMode="auto">
          <a:xfrm>
            <a:off x="5181600" y="416242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701" name="Line 85"/>
          <p:cNvSpPr>
            <a:spLocks noChangeShapeType="1"/>
          </p:cNvSpPr>
          <p:nvPr/>
        </p:nvSpPr>
        <p:spPr bwMode="auto">
          <a:xfrm>
            <a:off x="5181600" y="4591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702" name="Line 86"/>
          <p:cNvSpPr>
            <a:spLocks noChangeShapeType="1"/>
          </p:cNvSpPr>
          <p:nvPr/>
        </p:nvSpPr>
        <p:spPr bwMode="auto">
          <a:xfrm>
            <a:off x="5181600" y="50387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703" name="Line 87"/>
          <p:cNvSpPr>
            <a:spLocks noChangeShapeType="1"/>
          </p:cNvSpPr>
          <p:nvPr/>
        </p:nvSpPr>
        <p:spPr bwMode="auto">
          <a:xfrm>
            <a:off x="6400800" y="5038725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704" name="Line 88"/>
          <p:cNvSpPr>
            <a:spLocks noChangeShapeType="1"/>
          </p:cNvSpPr>
          <p:nvPr/>
        </p:nvSpPr>
        <p:spPr bwMode="auto">
          <a:xfrm>
            <a:off x="51816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705" name="Line 89"/>
          <p:cNvSpPr>
            <a:spLocks noChangeShapeType="1"/>
          </p:cNvSpPr>
          <p:nvPr/>
        </p:nvSpPr>
        <p:spPr bwMode="auto">
          <a:xfrm>
            <a:off x="7010400" y="5486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9706" name="Line 90"/>
          <p:cNvSpPr>
            <a:spLocks noChangeShapeType="1"/>
          </p:cNvSpPr>
          <p:nvPr/>
        </p:nvSpPr>
        <p:spPr bwMode="auto">
          <a:xfrm>
            <a:off x="5181600" y="593407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79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FB5BC85B-44D9-4E66-A192-C5263B44C0D2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065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BA2B65CA-1D1D-4AC8-B9A9-75725A67C1CF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25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0660" name="Rectangle 2"/>
          <p:cNvSpPr>
            <a:spLocks noChangeArrowheads="1"/>
          </p:cNvSpPr>
          <p:nvPr/>
        </p:nvSpPr>
        <p:spPr bwMode="auto">
          <a:xfrm>
            <a:off x="3009900" y="1524000"/>
            <a:ext cx="1143000" cy="3657600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endParaRPr lang="zh-CN" altLang="en-US" sz="2000" b="0" baseline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Program (2 of 2)</a:t>
            </a:r>
          </a:p>
        </p:txBody>
      </p:sp>
      <p:graphicFrame>
        <p:nvGraphicFramePr>
          <p:cNvPr id="35915" name="Group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49604"/>
              </p:ext>
            </p:extLst>
          </p:nvPr>
        </p:nvGraphicFramePr>
        <p:xfrm>
          <a:off x="1790700" y="1196752"/>
          <a:ext cx="8610600" cy="494506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</a:t>
                      </a:r>
                    </a:p>
                  </a:txBody>
                  <a:tcPr marR="0" marT="91433" marB="9143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</a:t>
                      </a:r>
                    </a:p>
                  </a:txBody>
                  <a:tcPr marR="0" marT="91433" marB="9143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</a:p>
                  </a:txBody>
                  <a:tcPr marR="0" marT="91433" marB="9143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x300A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0 0 0 1 0 1 0 0 1 0 1 0 0 0 0 1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R2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R2 + 1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R2,R2,#1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x300B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0 0 0 1 0 1 1 0 1 1 1 0 0 0 0 1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R3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R3 + 1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R3,R3,#1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x300C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0 1 1 0 0 0 1 0 1 1 0 0 0 0 0 0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R1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M[R3]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LDR R1,R3,#0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x300D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0 0 0 0 1 1 1 1 1 1 1 1 0 1 1 0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Goto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nzp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x3004     (</a:t>
                      </a:r>
                      <a:r>
                        <a:rPr kumimoji="0" lang="en-US" altLang="zh-CN" sz="1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r>
                        <a:rPr kumimoji="0" lang="en-US" altLang="zh-CN" sz="9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nzp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TEST)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x300E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0 0 1 0 0 0 0 0 0 0 0 0 0 1 0 0          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R0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M[x3013]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 R0,x3013     (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LD R0, ASCII)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x300F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0 0 0 1 0 0 0 0 0 0 0 0 0 0 1 0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R0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R0 + R2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 R0,R0,R2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1 1 1 1 0 0 0 0 0 0 1 0 0 0 0 1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Print R0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TRAP x21      (OUT)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1 1 1 1 0 0 0 0 0 0 1 0 0 1 0 1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HALT</a:t>
                      </a:r>
                      <a:b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TRAP x25      (HALT)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X3012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1 0 0 1 0 0 0 0 0 0 0 0 0 0 0 0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Starting Address of File  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(X9000)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4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x3013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anose="02010600030101010101" pitchFamily="2" charset="-122"/>
                        </a:rPr>
                        <a:t>0 0 0 0 0 0 0 0 0 0 1 1 0 0 0 0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anose="02030600000101010101" pitchFamily="18" charset="-127"/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ASCII x30 (‘0’)</a:t>
                      </a:r>
                    </a:p>
                  </a:txBody>
                  <a:tcPr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0707" name="Line 67"/>
          <p:cNvSpPr>
            <a:spLocks noChangeShapeType="1"/>
          </p:cNvSpPr>
          <p:nvPr/>
        </p:nvSpPr>
        <p:spPr bwMode="auto">
          <a:xfrm>
            <a:off x="4267200" y="1924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08" name="Line 68"/>
          <p:cNvSpPr>
            <a:spLocks noChangeShapeType="1"/>
          </p:cNvSpPr>
          <p:nvPr/>
        </p:nvSpPr>
        <p:spPr bwMode="auto">
          <a:xfrm>
            <a:off x="4267200" y="2362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09" name="Line 69"/>
          <p:cNvSpPr>
            <a:spLocks noChangeShapeType="1"/>
          </p:cNvSpPr>
          <p:nvPr/>
        </p:nvSpPr>
        <p:spPr bwMode="auto">
          <a:xfrm>
            <a:off x="42672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0" name="Line 70"/>
          <p:cNvSpPr>
            <a:spLocks noChangeShapeType="1"/>
          </p:cNvSpPr>
          <p:nvPr/>
        </p:nvSpPr>
        <p:spPr bwMode="auto">
          <a:xfrm>
            <a:off x="4267200" y="32575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1" name="Line 71"/>
          <p:cNvSpPr>
            <a:spLocks noChangeShapeType="1"/>
          </p:cNvSpPr>
          <p:nvPr/>
        </p:nvSpPr>
        <p:spPr bwMode="auto">
          <a:xfrm>
            <a:off x="4267200" y="3705225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2" name="Line 72"/>
          <p:cNvSpPr>
            <a:spLocks noChangeShapeType="1"/>
          </p:cNvSpPr>
          <p:nvPr/>
        </p:nvSpPr>
        <p:spPr bwMode="auto">
          <a:xfrm>
            <a:off x="4267200" y="41529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3" name="Line 73"/>
          <p:cNvSpPr>
            <a:spLocks noChangeShapeType="1"/>
          </p:cNvSpPr>
          <p:nvPr/>
        </p:nvSpPr>
        <p:spPr bwMode="auto">
          <a:xfrm>
            <a:off x="5486400" y="4591050"/>
            <a:ext cx="2286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4" name="Line 74"/>
          <p:cNvSpPr>
            <a:spLocks noChangeShapeType="1"/>
          </p:cNvSpPr>
          <p:nvPr/>
        </p:nvSpPr>
        <p:spPr bwMode="auto">
          <a:xfrm>
            <a:off x="5486400" y="5048250"/>
            <a:ext cx="2286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5" name="Line 75"/>
          <p:cNvSpPr>
            <a:spLocks noChangeShapeType="1"/>
          </p:cNvSpPr>
          <p:nvPr/>
        </p:nvSpPr>
        <p:spPr bwMode="auto">
          <a:xfrm>
            <a:off x="5181600" y="19240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6" name="Line 76"/>
          <p:cNvSpPr>
            <a:spLocks noChangeShapeType="1"/>
          </p:cNvSpPr>
          <p:nvPr/>
        </p:nvSpPr>
        <p:spPr bwMode="auto">
          <a:xfrm>
            <a:off x="6400800" y="192405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7" name="Line 77"/>
          <p:cNvSpPr>
            <a:spLocks noChangeShapeType="1"/>
          </p:cNvSpPr>
          <p:nvPr/>
        </p:nvSpPr>
        <p:spPr bwMode="auto">
          <a:xfrm>
            <a:off x="5181600" y="23622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8" name="Line 78"/>
          <p:cNvSpPr>
            <a:spLocks noChangeShapeType="1"/>
          </p:cNvSpPr>
          <p:nvPr/>
        </p:nvSpPr>
        <p:spPr bwMode="auto">
          <a:xfrm>
            <a:off x="6400800" y="2362200"/>
            <a:ext cx="1371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19" name="Line 79"/>
          <p:cNvSpPr>
            <a:spLocks noChangeShapeType="1"/>
          </p:cNvSpPr>
          <p:nvPr/>
        </p:nvSpPr>
        <p:spPr bwMode="auto">
          <a:xfrm>
            <a:off x="5181600" y="28194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20" name="Line 80"/>
          <p:cNvSpPr>
            <a:spLocks noChangeShapeType="1"/>
          </p:cNvSpPr>
          <p:nvPr/>
        </p:nvSpPr>
        <p:spPr bwMode="auto">
          <a:xfrm flipV="1">
            <a:off x="6096000" y="2819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21" name="Line 81"/>
          <p:cNvSpPr>
            <a:spLocks noChangeShapeType="1"/>
          </p:cNvSpPr>
          <p:nvPr/>
        </p:nvSpPr>
        <p:spPr bwMode="auto">
          <a:xfrm>
            <a:off x="5181600" y="3257550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22" name="Line 82"/>
          <p:cNvSpPr>
            <a:spLocks noChangeShapeType="1"/>
          </p:cNvSpPr>
          <p:nvPr/>
        </p:nvSpPr>
        <p:spPr bwMode="auto">
          <a:xfrm>
            <a:off x="5181600" y="3705225"/>
            <a:ext cx="2590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23" name="Line 83"/>
          <p:cNvSpPr>
            <a:spLocks noChangeShapeType="1"/>
          </p:cNvSpPr>
          <p:nvPr/>
        </p:nvSpPr>
        <p:spPr bwMode="auto">
          <a:xfrm>
            <a:off x="5181600" y="41529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724" name="Line 84"/>
          <p:cNvSpPr>
            <a:spLocks noChangeShapeType="1"/>
          </p:cNvSpPr>
          <p:nvPr/>
        </p:nvSpPr>
        <p:spPr bwMode="auto">
          <a:xfrm>
            <a:off x="7010400" y="415290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702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5A9C2BE3-AD35-4981-9269-F9A52FC3FE88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53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F0E1B4B3-8136-4753-AE38-68E47A5DADB1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 Count in Assembly Language (1 of 3)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CCECFF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01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02 ; Program to count occurrences of a character in a file.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03 ; Character to be input from the keyboard.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04 ; Result to be displayed on the monitor.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05 ; Program only works if no more than 9 occurrences are          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06 ; found.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07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08 ; Initialization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09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0A	.ORIG	x3000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0B	AND	R2, R2, #0	; R2 is counter, initially 0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0C	LD	R3, PTR	; R3 is pointer to characters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0D	GETC		; TRAP x23 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0E			; R0 gets character input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0F	LDR	R1, R3, #0	; R1 gets first character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10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11 ; Test character for end of file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12 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AutoNum type="arabicPlain" startAt="13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TEST	ADD	R4, R1, #-4    	; Test for EOT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AutoNum type="arabicPlain" startAt="13"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                         	; (ASCII x04)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41751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15	</a:t>
            </a:r>
            <a:r>
              <a:rPr lang="en-US" altLang="zh-CN" sz="1800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BRz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OUTPUT	 	; If done, prepare the output</a:t>
            </a:r>
          </a:p>
        </p:txBody>
      </p:sp>
    </p:spTree>
    <p:extLst>
      <p:ext uri="{BB962C8B-B14F-4D97-AF65-F5344CB8AC3E}">
        <p14:creationId xmlns:p14="http://schemas.microsoft.com/office/powerpoint/2010/main" val="1553251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71274D72-CEC4-457E-9F13-BCC5E01AE014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55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4D642683-DEAF-457E-AB7A-0CAAF2FE1369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27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 Count in Assembly Language (2 of 3)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CCECFF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16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17 ; Test character for match.  If a match, increment count.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18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19	  NOT	R1, R1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1A	  ADD	R1, R1, R0	; If match, R1 =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xFFFF</a:t>
            </a: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1B	  NOT	R1, R1	; If match, R1 = x0000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1C	  </a:t>
            </a:r>
            <a:r>
              <a:rPr lang="en-US" altLang="zh-CN" sz="1800" dirty="0" err="1">
                <a:latin typeface="Courier New" panose="02070309020205020404" pitchFamily="49" charset="0"/>
                <a:ea typeface="宋体" panose="02010600030101010101" pitchFamily="2" charset="-122"/>
              </a:rPr>
              <a:t>BRnp</a:t>
            </a: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	GETCHAR	; If no match, do not increment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1D	  ADD	R2, R2, #1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1E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1F ; Get next character from file.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20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21 GETCHAR ADD	R3, R3, #1	; Point to next character.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22	  LDR	R1, R3, #0	; R1 gets next char to test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23	  </a:t>
            </a:r>
            <a:r>
              <a:rPr lang="en-US" altLang="zh-CN" sz="1800" dirty="0" err="1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BRnzp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TEST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24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25 ; Output the count.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26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27  OUTPUT LD	R0, ASCII	; Load the ASCII template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28	  ADD	R0, R0, R2	; Covert binary count to ASCII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29	  OUT		; TRAP x21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2A			; ASCII code in R0 is displayed.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2B	  HALT		; TRAP x25,Halt machine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endParaRPr lang="en-US" altLang="zh-CN" sz="18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6208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9E5D9FDF-44C2-4940-AEA9-D6BE953D032C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7BBF94C6-1F9C-4A53-8B5C-6F60EEA30B66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28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Char Count in Assembly Language (3 of 3)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CCECFF"/>
          </a:solidFill>
          <a:ln w="38100">
            <a:solidFill>
              <a:srgbClr val="33CC33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2C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2D ; Storage for pointer and ASCII template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2E ;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2F ASCII	.FILL	x0030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30 PTR	.FILL	x9000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  <a:tabLst>
                <a:tab pos="1147763" algn="l"/>
                <a:tab pos="2165350" algn="l"/>
                <a:tab pos="3717925" algn="l"/>
              </a:tabLst>
              <a:defRPr/>
            </a:pPr>
            <a:r>
              <a:rPr lang="en-US" altLang="zh-CN" sz="1800" dirty="0">
                <a:latin typeface="Courier New" panose="02070309020205020404" pitchFamily="49" charset="0"/>
                <a:ea typeface="宋体" panose="02010600030101010101" pitchFamily="2" charset="-122"/>
              </a:rPr>
              <a:t>31	.END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tabLst>
                <a:tab pos="1147763" algn="l"/>
                <a:tab pos="2165350" algn="l"/>
                <a:tab pos="3717925" algn="l"/>
              </a:tabLst>
              <a:defRPr/>
            </a:pPr>
            <a:endParaRPr lang="zh-CN" altLang="en-US" sz="18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414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91798" y="224844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176867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A Machine Structure</a:t>
            </a:r>
            <a:r>
              <a:rPr lang="zh-CN" altLang="en-US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von Neumann Model</a:t>
            </a:r>
            <a:r>
              <a:rPr lang="zh-CN" altLang="en-US" sz="2400" b="1" kern="0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 </a:t>
            </a:r>
            <a:endParaRPr lang="en-US" altLang="zh-CN" sz="2400" b="1" baseline="0" dirty="0">
              <a:solidFill>
                <a:srgbClr val="333399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52" y="17686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Assembly Process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Assembly Language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152A3">
                  <a:tint val="66000"/>
                  <a:satMod val="160000"/>
                </a:srgbClr>
              </a:gs>
              <a:gs pos="50000">
                <a:srgbClr val="0152A3">
                  <a:tint val="44500"/>
                  <a:satMod val="160000"/>
                </a:srgbClr>
              </a:gs>
              <a:gs pos="100000">
                <a:srgbClr val="0152A3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7189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85AA1033-7163-4AE7-9F4E-2DCFA9631DB1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B73A80E7-4C51-4CC3-A049-75DA08DBB22B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30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25604" name="Picture 2" descr="ch07-assembl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2133600"/>
            <a:ext cx="628491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Assembly Process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Convert assembly language file (.</a:t>
            </a:r>
            <a:r>
              <a:rPr lang="en-US" altLang="zh-CN" dirty="0" err="1">
                <a:ea typeface="宋体" panose="02010600030101010101" pitchFamily="2" charset="-122"/>
              </a:rPr>
              <a:t>asm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into an executable file (.</a:t>
            </a:r>
            <a:r>
              <a:rPr lang="en-US" altLang="zh-CN" dirty="0" err="1">
                <a:ea typeface="宋体" panose="02010600030101010101" pitchFamily="2" charset="-122"/>
              </a:rPr>
              <a:t>obj</a:t>
            </a:r>
            <a:r>
              <a:rPr lang="en-US" altLang="zh-CN" dirty="0">
                <a:ea typeface="宋体" panose="02010600030101010101" pitchFamily="2" charset="-122"/>
              </a:rPr>
              <a:t>) for the LC-3 simulator.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First Pass: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scan program file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find all labels and calculate the corresponding addresses;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this is called the </a:t>
            </a:r>
            <a:r>
              <a:rPr lang="en-US" altLang="zh-CN" i="1" u="sng" dirty="0">
                <a:ea typeface="宋体" panose="02010600030101010101" pitchFamily="2" charset="-122"/>
              </a:rPr>
              <a:t>symbol table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Second Pass: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convert instructions to machine language, using information from symbol table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2462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9EF81478-C9AA-4DED-BA3A-F418BC763ECB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3BA8CB9C-9F2F-46E4-8755-858DDBF57601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31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First Pass: Constructing the Symbol Table</a:t>
            </a:r>
          </a:p>
        </p:txBody>
      </p:sp>
      <p:sp>
        <p:nvSpPr>
          <p:cNvPr id="26629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Find the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.ORIG</a:t>
            </a:r>
            <a:r>
              <a:rPr lang="en-US" altLang="zh-CN">
                <a:ea typeface="宋体" panose="02010600030101010101" pitchFamily="2" charset="-122"/>
              </a:rPr>
              <a:t> statement,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which tells us the address of the first instruction.</a:t>
            </a:r>
          </a:p>
          <a:p>
            <a:pPr marL="838200" lvl="1" indent="-381000"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Initialize location counter (LC), which keeps track of the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current instruction.</a:t>
            </a:r>
          </a:p>
          <a:p>
            <a:pPr marL="457200" indent="-457200">
              <a:spcBef>
                <a:spcPct val="80000"/>
              </a:spcBef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For each non-empty line in the program:</a:t>
            </a:r>
          </a:p>
          <a:p>
            <a:pPr marL="838200" lvl="1" indent="-381000">
              <a:buFontTx/>
              <a:buAutoNum type="alphaLcParenR"/>
            </a:pPr>
            <a:r>
              <a:rPr lang="en-US" altLang="zh-CN">
                <a:ea typeface="宋体" panose="02010600030101010101" pitchFamily="2" charset="-122"/>
              </a:rPr>
              <a:t>If line contains a label, add label and LC to symbol table.</a:t>
            </a:r>
          </a:p>
          <a:p>
            <a:pPr marL="838200" lvl="1" indent="-381000">
              <a:buFontTx/>
              <a:buAutoNum type="alphaLcParenR"/>
            </a:pPr>
            <a:r>
              <a:rPr lang="en-US" altLang="zh-CN">
                <a:ea typeface="宋体" panose="02010600030101010101" pitchFamily="2" charset="-122"/>
              </a:rPr>
              <a:t>Increment LC.</a:t>
            </a:r>
          </a:p>
          <a:p>
            <a:pPr marL="1257300" lvl="2" indent="-342900">
              <a:buFontTx/>
              <a:buChar char="–"/>
            </a:pPr>
            <a:r>
              <a:rPr lang="en-US" altLang="zh-CN"/>
              <a:t>NOTE: If statement is </a:t>
            </a:r>
            <a:r>
              <a:rPr lang="en-US" altLang="zh-CN">
                <a:latin typeface="Courier New" panose="02070309020205020404" pitchFamily="49" charset="0"/>
              </a:rPr>
              <a:t>.BLKW</a:t>
            </a:r>
            <a:r>
              <a:rPr lang="en-US" altLang="zh-CN"/>
              <a:t> or </a:t>
            </a:r>
            <a:r>
              <a:rPr lang="en-US" altLang="zh-CN">
                <a:latin typeface="Courier New" panose="02070309020205020404" pitchFamily="49" charset="0"/>
              </a:rPr>
              <a:t>.STRINGZ</a:t>
            </a:r>
            <a:r>
              <a:rPr lang="en-US" altLang="zh-CN"/>
              <a:t>,</a:t>
            </a:r>
            <a:br>
              <a:rPr lang="en-US" altLang="zh-CN"/>
            </a:br>
            <a:r>
              <a:rPr lang="en-US" altLang="zh-CN"/>
              <a:t>increment LC by the number of words allocated.</a:t>
            </a:r>
          </a:p>
          <a:p>
            <a:pPr marL="457200" indent="-457200">
              <a:spcBef>
                <a:spcPct val="80000"/>
              </a:spcBef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Stop when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.END</a:t>
            </a:r>
            <a:r>
              <a:rPr lang="en-US" altLang="zh-CN">
                <a:ea typeface="宋体" panose="02010600030101010101" pitchFamily="2" charset="-122"/>
              </a:rPr>
              <a:t> statement is reached.</a:t>
            </a:r>
          </a:p>
          <a:p>
            <a:pPr marL="457200" indent="-457200">
              <a:spcBef>
                <a:spcPct val="80000"/>
              </a:spcBef>
            </a:pPr>
            <a:endParaRPr lang="en-US" altLang="zh-CN" sz="1800">
              <a:ea typeface="宋体" panose="02010600030101010101" pitchFamily="2" charset="-122"/>
            </a:endParaRPr>
          </a:p>
          <a:p>
            <a:pPr marL="457200" indent="-457200">
              <a:spcBef>
                <a:spcPct val="80000"/>
              </a:spcBef>
            </a:pPr>
            <a:r>
              <a:rPr lang="en-US" altLang="zh-CN" sz="1800">
                <a:ea typeface="宋体" panose="02010600030101010101" pitchFamily="2" charset="-122"/>
              </a:rPr>
              <a:t>NOTE: A line that contains only a comment is considered an empty line.</a:t>
            </a:r>
          </a:p>
          <a:p>
            <a:pPr marL="457200" indent="-45720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839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C77B2648-D8C0-4AB1-8E7C-8B6A89E4A02D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AA85A6AE-0382-4CE0-AE55-37B1690E0D3A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32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Practice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6088" y="958850"/>
            <a:ext cx="8839200" cy="548163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Construct the symbol table for the program in Figure 7.1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(Slides 7-26 through 7-28).</a:t>
            </a:r>
          </a:p>
        </p:txBody>
      </p:sp>
      <p:graphicFrame>
        <p:nvGraphicFramePr>
          <p:cNvPr id="351236" name="Group 4"/>
          <p:cNvGraphicFramePr>
            <a:graphicFrameLocks noGrp="1"/>
          </p:cNvGraphicFramePr>
          <p:nvPr/>
        </p:nvGraphicFramePr>
        <p:xfrm>
          <a:off x="3048000" y="2286000"/>
          <a:ext cx="6096000" cy="31750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Symbol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TEST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X3004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GETCHAR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X300B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OUTPUT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X300E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ASCII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X3012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PTR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X3013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013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CAC1D950-9A6A-4234-9BA9-00B1F74AD8B3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65754735-D2CD-4AEB-855D-BF694FC93111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33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Second Pass: Generating Machine Language</a:t>
            </a:r>
          </a:p>
        </p:txBody>
      </p:sp>
      <p:sp>
        <p:nvSpPr>
          <p:cNvPr id="2970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For each executable assembly language statement,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generate the corresponding machine language instruction.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If operand is a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label,look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up the address from the symbol table.</a:t>
            </a:r>
          </a:p>
          <a:p>
            <a:pPr>
              <a:spcBef>
                <a:spcPts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Potential problems: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Improper number or type of arguments</a:t>
            </a:r>
          </a:p>
          <a:p>
            <a:pPr lvl="2"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ex:	NOT	R1,#7</a:t>
            </a:r>
            <a:b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ADD	R1,R2</a:t>
            </a:r>
            <a:b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ADD	R3,R3,NUMBER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Immediate argument too large</a:t>
            </a:r>
          </a:p>
          <a:p>
            <a:pPr lvl="2">
              <a:spcBef>
                <a:spcPts val="0"/>
              </a:spcBef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ex:	ADD	R1,R2,#1023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Address (associated with label) not on the same page</a:t>
            </a:r>
          </a:p>
          <a:p>
            <a:pPr lvl="2">
              <a:spcBef>
                <a:spcPts val="0"/>
              </a:spcBef>
            </a:pPr>
            <a:r>
              <a:rPr lang="en-US" altLang="zh-CN" sz="1800" dirty="0"/>
              <a:t>can’t use direct addressing mode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36209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1081D896-5768-4CF5-B5F4-8BB7D6844147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1C2DB284-378F-4EC1-A254-DBA198AA68D0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34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Practice</a:t>
            </a:r>
          </a:p>
        </p:txBody>
      </p:sp>
      <p:graphicFrame>
        <p:nvGraphicFramePr>
          <p:cNvPr id="35328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698089"/>
              </p:ext>
            </p:extLst>
          </p:nvPr>
        </p:nvGraphicFramePr>
        <p:xfrm>
          <a:off x="2743200" y="2590800"/>
          <a:ext cx="7162800" cy="264795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Statement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Machine Language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LD   R3,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PTR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0010 011  000010001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ADD  R4,R1,#-4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0001 100 001 1 11100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LDR  R1,R3,#0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0110  001 011 000000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BRnp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+mn-cs"/>
                        </a:rPr>
                        <a:t>GETCHAR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0000 101   000000001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745" name="Rectangle 2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the symbol table constructed earlier,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translate these statements into LC-3 machine language.</a:t>
            </a:r>
          </a:p>
          <a:p>
            <a:r>
              <a:rPr lang="en-US" altLang="zh-CN" sz="1800" i="1">
                <a:ea typeface="宋体" panose="02010600030101010101" pitchFamily="2" charset="-122"/>
              </a:rPr>
              <a:t>(Assume all addresses are on the current page.)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33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2D365C44-32B3-4240-9169-EDAEBD916A69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38C3F516-951C-45DE-89D8-65E741EFE1A8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35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Assembler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“assemble” (Unix) or LC3 Edit (Windows),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generates several different output files.</a:t>
            </a:r>
          </a:p>
        </p:txBody>
      </p:sp>
      <p:pic>
        <p:nvPicPr>
          <p:cNvPr id="31750" name="Picture 4" descr="ch07-fi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2057400"/>
            <a:ext cx="71993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Text Box 5"/>
          <p:cNvSpPr txBox="1">
            <a:spLocks noChangeArrowheads="1"/>
          </p:cNvSpPr>
          <p:nvPr/>
        </p:nvSpPr>
        <p:spPr bwMode="auto">
          <a:xfrm>
            <a:off x="8763001" y="2133601"/>
            <a:ext cx="1692275" cy="925513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1800" b="0" i="1" baseline="0">
                <a:solidFill>
                  <a:srgbClr val="009900"/>
                </a:solidFill>
                <a:ea typeface="宋体" panose="02010600030101010101" pitchFamily="2" charset="-122"/>
              </a:rPr>
              <a:t>This one gets</a:t>
            </a:r>
            <a:br>
              <a:rPr lang="en-US" altLang="zh-CN" sz="1800" b="0" i="1" baseline="0">
                <a:solidFill>
                  <a:srgbClr val="009900"/>
                </a:solidFill>
                <a:ea typeface="宋体" panose="02010600030101010101" pitchFamily="2" charset="-122"/>
              </a:rPr>
            </a:br>
            <a:r>
              <a:rPr lang="en-US" altLang="zh-CN" sz="1800" b="0" i="1" baseline="0">
                <a:solidFill>
                  <a:srgbClr val="009900"/>
                </a:solidFill>
                <a:ea typeface="宋体" panose="02010600030101010101" pitchFamily="2" charset="-122"/>
              </a:rPr>
              <a:t>loaded into the</a:t>
            </a:r>
            <a:br>
              <a:rPr lang="en-US" altLang="zh-CN" sz="1800" b="0" i="1" baseline="0">
                <a:solidFill>
                  <a:srgbClr val="009900"/>
                </a:solidFill>
                <a:ea typeface="宋体" panose="02010600030101010101" pitchFamily="2" charset="-122"/>
              </a:rPr>
            </a:br>
            <a:r>
              <a:rPr lang="en-US" altLang="zh-CN" sz="1800" b="0" i="1" baseline="0">
                <a:solidFill>
                  <a:srgbClr val="009900"/>
                </a:solidFill>
                <a:ea typeface="宋体" panose="02010600030101010101" pitchFamily="2" charset="-122"/>
              </a:rPr>
              <a:t>simulator.</a:t>
            </a:r>
          </a:p>
        </p:txBody>
      </p:sp>
      <p:sp>
        <p:nvSpPr>
          <p:cNvPr id="31752" name="Line 6"/>
          <p:cNvSpPr>
            <a:spLocks noChangeShapeType="1"/>
          </p:cNvSpPr>
          <p:nvPr/>
        </p:nvSpPr>
        <p:spPr bwMode="auto">
          <a:xfrm flipH="1">
            <a:off x="9220200" y="3048000"/>
            <a:ext cx="76200" cy="60960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6827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EDF8117A-3D9D-4AD7-8869-6F01207F1B5D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EFA2F259-F6B2-4208-969B-7AECCF33294B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Object File Format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object file contains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Starting address (location where program must be loaded),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followed by…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Machine instructions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Example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Beginning of “count character” object file looks like this: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3810000" y="3962401"/>
            <a:ext cx="3429000" cy="2657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  <a:defRPr/>
            </a:pPr>
            <a: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0011000000000000</a:t>
            </a:r>
            <a:b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0101010010100000</a:t>
            </a:r>
            <a:b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0010011000010000</a:t>
            </a:r>
            <a:b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1111000000100011</a:t>
            </a:r>
            <a:b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</a:t>
            </a:r>
            <a:b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</a:t>
            </a:r>
            <a:b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baseline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3799" name="Text Box 5"/>
          <p:cNvSpPr txBox="1">
            <a:spLocks noChangeArrowheads="1"/>
          </p:cNvSpPr>
          <p:nvPr/>
        </p:nvSpPr>
        <p:spPr bwMode="auto">
          <a:xfrm>
            <a:off x="7696200" y="3962401"/>
            <a:ext cx="1860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2000" baseline="0">
                <a:solidFill>
                  <a:srgbClr val="333399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.ORIG x3000</a:t>
            </a:r>
          </a:p>
        </p:txBody>
      </p:sp>
      <p:sp>
        <p:nvSpPr>
          <p:cNvPr id="33800" name="Text Box 6"/>
          <p:cNvSpPr txBox="1">
            <a:spLocks noChangeArrowheads="1"/>
          </p:cNvSpPr>
          <p:nvPr/>
        </p:nvSpPr>
        <p:spPr bwMode="auto">
          <a:xfrm>
            <a:off x="7696200" y="4343401"/>
            <a:ext cx="2317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2000" baseline="0">
                <a:solidFill>
                  <a:srgbClr val="333399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AND R2, R2, #0</a:t>
            </a:r>
          </a:p>
        </p:txBody>
      </p:sp>
      <p:sp>
        <p:nvSpPr>
          <p:cNvPr id="33801" name="Text Box 7"/>
          <p:cNvSpPr txBox="1">
            <a:spLocks noChangeArrowheads="1"/>
          </p:cNvSpPr>
          <p:nvPr/>
        </p:nvSpPr>
        <p:spPr bwMode="auto">
          <a:xfrm>
            <a:off x="7696200" y="4724401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2000" baseline="0">
                <a:solidFill>
                  <a:srgbClr val="333399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LD R3, PTR</a:t>
            </a:r>
          </a:p>
        </p:txBody>
      </p:sp>
      <p:sp>
        <p:nvSpPr>
          <p:cNvPr id="33802" name="Text Box 8"/>
          <p:cNvSpPr txBox="1">
            <a:spLocks noChangeArrowheads="1"/>
          </p:cNvSpPr>
          <p:nvPr/>
        </p:nvSpPr>
        <p:spPr bwMode="auto">
          <a:xfrm>
            <a:off x="7696200" y="5105401"/>
            <a:ext cx="1403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2000" baseline="0">
                <a:solidFill>
                  <a:srgbClr val="333399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TRAP x23</a:t>
            </a:r>
          </a:p>
        </p:txBody>
      </p:sp>
      <p:sp>
        <p:nvSpPr>
          <p:cNvPr id="33803" name="Line 9"/>
          <p:cNvSpPr>
            <a:spLocks noChangeShapeType="1"/>
          </p:cNvSpPr>
          <p:nvPr/>
        </p:nvSpPr>
        <p:spPr bwMode="auto">
          <a:xfrm flipH="1">
            <a:off x="7086600" y="41910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3804" name="Line 10"/>
          <p:cNvSpPr>
            <a:spLocks noChangeShapeType="1"/>
          </p:cNvSpPr>
          <p:nvPr/>
        </p:nvSpPr>
        <p:spPr bwMode="auto">
          <a:xfrm flipH="1">
            <a:off x="7086600" y="45720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3805" name="Line 11"/>
          <p:cNvSpPr>
            <a:spLocks noChangeShapeType="1"/>
          </p:cNvSpPr>
          <p:nvPr/>
        </p:nvSpPr>
        <p:spPr bwMode="auto">
          <a:xfrm flipH="1">
            <a:off x="7086600" y="49530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3806" name="Line 12"/>
          <p:cNvSpPr>
            <a:spLocks noChangeShapeType="1"/>
          </p:cNvSpPr>
          <p:nvPr/>
        </p:nvSpPr>
        <p:spPr bwMode="auto">
          <a:xfrm flipH="1">
            <a:off x="7086600" y="53340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158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9347AE13-3A3A-4F89-ADC4-A4C8850A14CC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812821A7-2C02-4C26-BDAC-4126AB51124D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37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Multiple Object Files</a:t>
            </a:r>
          </a:p>
        </p:txBody>
      </p:sp>
      <p:sp>
        <p:nvSpPr>
          <p:cNvPr id="3482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39184" y="981075"/>
            <a:ext cx="9062936" cy="548163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An object file is not necessarily a complete program.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system-provided library routines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code blocks written by multiple developers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For LC-3, can load multiple object files into memory,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then start executing at a desired address.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system routines, such as keyboard input, are loaded automatically</a:t>
            </a:r>
          </a:p>
          <a:p>
            <a:pPr lvl="2"/>
            <a:r>
              <a:rPr lang="en-US" altLang="zh-CN" sz="1800" dirty="0"/>
              <a:t>loaded into “system memory,” below x1000</a:t>
            </a:r>
          </a:p>
          <a:p>
            <a:pPr lvl="2"/>
            <a:r>
              <a:rPr lang="en-US" altLang="zh-CN" sz="1800" dirty="0"/>
              <a:t>by convention, user code should be loaded between</a:t>
            </a:r>
            <a:br>
              <a:rPr lang="en-US" altLang="zh-CN" sz="1800" dirty="0"/>
            </a:br>
            <a:r>
              <a:rPr lang="en-US" altLang="zh-CN" sz="1800" dirty="0"/>
              <a:t>x3000 and </a:t>
            </a:r>
            <a:r>
              <a:rPr lang="en-US" altLang="zh-CN" sz="1800" dirty="0" err="1"/>
              <a:t>xCFFF</a:t>
            </a:r>
            <a:endParaRPr lang="en-US" altLang="zh-CN" sz="1800" dirty="0"/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each object file includes a starting address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be careful not to load overlapping object files</a:t>
            </a:r>
          </a:p>
          <a:p>
            <a:endParaRPr lang="zh-CN" altLang="en-US" dirty="0"/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1930308A-721D-469E-81A0-CBED093CD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8728" y="2912201"/>
            <a:ext cx="3898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PC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394F4AC3-A5D7-45FC-B0FE-888E90CD5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8729" y="3508010"/>
            <a:ext cx="15697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R4(Global pointer)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7A4CA0F1-D565-4A2F-8294-8B250C92D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2869" y="5504489"/>
            <a:ext cx="15377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R6 (stack pointer)</a:t>
            </a:r>
          </a:p>
        </p:txBody>
      </p:sp>
      <p:sp>
        <p:nvSpPr>
          <p:cNvPr id="9" name="Line 15">
            <a:extLst>
              <a:ext uri="{FF2B5EF4-FFF2-40B4-BE49-F238E27FC236}">
                <a16:creationId xmlns:a16="http://schemas.microsoft.com/office/drawing/2014/main" id="{62209D98-722F-472C-BD82-84DFD2B39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672" y="3652025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10" name="Line 16">
            <a:extLst>
              <a:ext uri="{FF2B5EF4-FFF2-40B4-BE49-F238E27FC236}">
                <a16:creationId xmlns:a16="http://schemas.microsoft.com/office/drawing/2014/main" id="{A1F5F6E6-7268-4F06-A799-F556637A7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672" y="3049277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11" name="Line 17">
            <a:extLst>
              <a:ext uri="{FF2B5EF4-FFF2-40B4-BE49-F238E27FC236}">
                <a16:creationId xmlns:a16="http://schemas.microsoft.com/office/drawing/2014/main" id="{79203BAE-1F91-40FA-AEEE-7830D89781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672" y="5668249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A29505AB-E7CB-4FE7-A136-23F35F972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4533727"/>
            <a:ext cx="2450678" cy="10625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zh-CN" sz="1200" b="1" baseline="0" dirty="0">
              <a:solidFill>
                <a:srgbClr val="000000"/>
              </a:solidFill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E6819212-B7E8-441D-8D8C-494724C0B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6059108"/>
            <a:ext cx="2450678" cy="41484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Device Register </a:t>
            </a:r>
          </a:p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Addresses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20058540-31CD-469A-9B0C-0FAD11C1E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9" y="900161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0x0000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A4A3D01A-D936-482B-9C42-5F02F5BA1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9" y="6289061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0xFFFF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F860B0F2-C62E-45A2-BA0D-1C82731F2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946548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Trap Vector Table</a:t>
            </a:r>
            <a:r>
              <a:rPr lang="zh-CN" altLang="en-US" sz="1200" b="1" baseline="0" dirty="0">
                <a:solidFill>
                  <a:srgbClr val="FFFF00"/>
                </a:solidFill>
              </a:rPr>
              <a:t> </a:t>
            </a:r>
            <a:endParaRPr lang="en-US" altLang="zh-CN" sz="1200" b="1" baseline="0" dirty="0">
              <a:solidFill>
                <a:srgbClr val="FFFF00"/>
              </a:solidFill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A7A05CEE-9260-4DAF-8450-3D115F65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1485671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Interrupt Vector Table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95F1199-5F73-46CC-B9AF-D805ED64D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2015432"/>
            <a:ext cx="2450678" cy="93800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FF"/>
                </a:solidFill>
              </a:rPr>
              <a:t>Operating System </a:t>
            </a:r>
          </a:p>
          <a:p>
            <a:pPr algn="ctr">
              <a:defRPr/>
            </a:pPr>
            <a:r>
              <a:rPr lang="en-US" altLang="zh-CN" sz="1200" b="1" baseline="0" dirty="0">
                <a:solidFill>
                  <a:srgbClr val="FFFFFF"/>
                </a:solidFill>
              </a:rPr>
              <a:t>and Supervisor Stack</a:t>
            </a: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C7CA2462-751F-4595-842C-197494F93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8" y="1245543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0x00FF</a:t>
            </a:r>
            <a:r>
              <a:rPr lang="zh-CN" altLang="en-US" sz="1200" b="1" baseline="0" dirty="0">
                <a:solidFill>
                  <a:srgbClr val="000000"/>
                </a:solidFill>
                <a:latin typeface="CourierPS" pitchFamily="49" charset="0"/>
              </a:rPr>
              <a:t> </a:t>
            </a:r>
            <a:endParaRPr lang="en-US" altLang="zh-CN" sz="1200" b="1" baseline="0" dirty="0">
              <a:solidFill>
                <a:srgbClr val="000000"/>
              </a:solidFill>
              <a:latin typeface="CourierPS" pitchFamily="49" charset="0"/>
            </a:endParaRP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2E7173F5-171C-4C23-8EA3-24BFC51DE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9" y="14615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0x0100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7BD318C5-4DDD-45A9-AC9A-49B54ABB7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8" y="1769344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0x01FF</a:t>
            </a:r>
            <a:r>
              <a:rPr lang="zh-CN" altLang="en-US" sz="1200" b="1" baseline="0" dirty="0">
                <a:solidFill>
                  <a:srgbClr val="000000"/>
                </a:solidFill>
                <a:latin typeface="CourierPS" pitchFamily="49" charset="0"/>
              </a:rPr>
              <a:t> </a:t>
            </a:r>
            <a:endParaRPr lang="en-US" altLang="zh-CN" sz="1200" b="1" baseline="0" dirty="0">
              <a:solidFill>
                <a:srgbClr val="000000"/>
              </a:solidFill>
              <a:latin typeface="CourierPS" pitchFamily="49" charset="0"/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FA8405D7-8FEF-462F-9119-F3DB37256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9" y="1985368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0x0200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EA807226-556F-4A0C-ABD4-4E73461EB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4765" y="271592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0x2FFF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C8911813-2262-4419-A78E-245CE826C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4765" y="2931946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0x3000</a:t>
            </a: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3233A776-0949-488B-ACF0-94E55CB20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9" y="5821736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0xFDFF</a:t>
            </a:r>
          </a:p>
        </p:txBody>
      </p:sp>
      <p:sp>
        <p:nvSpPr>
          <p:cNvPr id="26" name="Text Box 11">
            <a:extLst>
              <a:ext uri="{FF2B5EF4-FFF2-40B4-BE49-F238E27FC236}">
                <a16:creationId xmlns:a16="http://schemas.microsoft.com/office/drawing/2014/main" id="{AC02E080-94AD-43B8-9FBC-51D154B5F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409" y="6039323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0xFE00</a:t>
            </a: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0F18D01-ABCB-4EDF-B9CA-57BD7A30B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5596242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Run-time stack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9CECD67-B604-41A6-ACE5-5BEEFDA73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2931946"/>
            <a:ext cx="2450678" cy="66138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Program Text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BA67F975-F06A-4306-8EB8-4BC43EF88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3593331"/>
            <a:ext cx="2450678" cy="49074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Global data section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6889484-508C-401B-94E7-FD5180CB8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6400" y="4084074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Heap (for dynamically </a:t>
            </a:r>
          </a:p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allocated memory)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DC6D857-2694-44DE-8063-548F51CFBBD8}"/>
              </a:ext>
            </a:extLst>
          </p:cNvPr>
          <p:cNvCxnSpPr/>
          <p:nvPr/>
        </p:nvCxnSpPr>
        <p:spPr bwMode="auto">
          <a:xfrm>
            <a:off x="10921739" y="4588130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4E86112-B464-42C5-8D80-D2407697C6AB}"/>
              </a:ext>
            </a:extLst>
          </p:cNvPr>
          <p:cNvCxnSpPr/>
          <p:nvPr/>
        </p:nvCxnSpPr>
        <p:spPr bwMode="auto">
          <a:xfrm flipV="1">
            <a:off x="10920536" y="5181799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Line 15">
            <a:extLst>
              <a:ext uri="{FF2B5EF4-FFF2-40B4-BE49-F238E27FC236}">
                <a16:creationId xmlns:a16="http://schemas.microsoft.com/office/drawing/2014/main" id="{01538DDF-2835-48B3-A553-96D91AE8DC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44672" y="5884273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E9127EBE-60E5-4DAA-BBEE-CCEFD3CBB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2868" y="5740258"/>
            <a:ext cx="15778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R5 (frame pointer)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25F5526-611B-4FAE-BBB0-EF475EED3ECD}"/>
              </a:ext>
            </a:extLst>
          </p:cNvPr>
          <p:cNvGrpSpPr/>
          <p:nvPr/>
        </p:nvGrpSpPr>
        <p:grpSpPr>
          <a:xfrm>
            <a:off x="14520936" y="3684543"/>
            <a:ext cx="2592288" cy="2847802"/>
            <a:chOff x="5508104" y="3140968"/>
            <a:chExt cx="2592288" cy="2847802"/>
          </a:xfrm>
        </p:grpSpPr>
        <p:sp>
          <p:nvSpPr>
            <p:cNvPr id="36" name="Line 15">
              <a:extLst>
                <a:ext uri="{FF2B5EF4-FFF2-40B4-BE49-F238E27FC236}">
                  <a16:creationId xmlns:a16="http://schemas.microsoft.com/office/drawing/2014/main" id="{9A092F17-42FE-46A5-8952-256EAE1CB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280" y="458112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37" name="Text Box 14">
              <a:extLst>
                <a:ext uri="{FF2B5EF4-FFF2-40B4-BE49-F238E27FC236}">
                  <a16:creationId xmlns:a16="http://schemas.microsoft.com/office/drawing/2014/main" id="{06651BA4-B845-4489-9FB8-3538FC0F6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0476" y="443711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R5 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65033D8-1177-43ED-BB0B-68693290C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120" y="3933056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Function2</a:t>
              </a:r>
            </a:p>
          </p:txBody>
        </p:sp>
        <p:sp>
          <p:nvSpPr>
            <p:cNvPr id="39" name="Line 17">
              <a:extLst>
                <a:ext uri="{FF2B5EF4-FFF2-40B4-BE49-F238E27FC236}">
                  <a16:creationId xmlns:a16="http://schemas.microsoft.com/office/drawing/2014/main" id="{9F8496E4-596F-4200-8D0E-E272427E8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280" y="4077072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40" name="Text Box 14">
              <a:extLst>
                <a:ext uri="{FF2B5EF4-FFF2-40B4-BE49-F238E27FC236}">
                  <a16:creationId xmlns:a16="http://schemas.microsoft.com/office/drawing/2014/main" id="{7D729BEA-FDF6-4179-9E94-89B25F7FA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436" y="3913311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R6 </a:t>
              </a:r>
            </a:p>
          </p:txBody>
        </p:sp>
        <p:sp>
          <p:nvSpPr>
            <p:cNvPr id="41" name="Line 15">
              <a:extLst>
                <a:ext uri="{FF2B5EF4-FFF2-40B4-BE49-F238E27FC236}">
                  <a16:creationId xmlns:a16="http://schemas.microsoft.com/office/drawing/2014/main" id="{493865D1-51F1-46A9-B692-E13CD11D3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280" y="386104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42" name="Text Box 14">
              <a:extLst>
                <a:ext uri="{FF2B5EF4-FFF2-40B4-BE49-F238E27FC236}">
                  <a16:creationId xmlns:a16="http://schemas.microsoft.com/office/drawing/2014/main" id="{2210EF92-DFE8-4BDA-81AA-C4B5BB29C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0476" y="3645024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R5 </a:t>
              </a:r>
            </a:p>
          </p:txBody>
        </p:sp>
        <p:sp>
          <p:nvSpPr>
            <p:cNvPr id="43" name="Line 17">
              <a:extLst>
                <a:ext uri="{FF2B5EF4-FFF2-40B4-BE49-F238E27FC236}">
                  <a16:creationId xmlns:a16="http://schemas.microsoft.com/office/drawing/2014/main" id="{AE7F0A87-F3EA-403D-AC45-89074CF50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280" y="328498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44" name="Text Box 14">
              <a:extLst>
                <a:ext uri="{FF2B5EF4-FFF2-40B4-BE49-F238E27FC236}">
                  <a16:creationId xmlns:a16="http://schemas.microsoft.com/office/drawing/2014/main" id="{1F033B3E-5555-4B50-9B79-40E968484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436" y="3140968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R6 </a:t>
              </a:r>
            </a:p>
          </p:txBody>
        </p:sp>
        <p:sp>
          <p:nvSpPr>
            <p:cNvPr id="45" name="任意多边形 41">
              <a:extLst>
                <a:ext uri="{FF2B5EF4-FFF2-40B4-BE49-F238E27FC236}">
                  <a16:creationId xmlns:a16="http://schemas.microsoft.com/office/drawing/2014/main" id="{62F7FA9A-C426-474F-9BB2-9A05CF572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8104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6" name="任意多边形 41">
              <a:extLst>
                <a:ext uri="{FF2B5EF4-FFF2-40B4-BE49-F238E27FC236}">
                  <a16:creationId xmlns:a16="http://schemas.microsoft.com/office/drawing/2014/main" id="{644B57D7-875C-4BF1-9CC1-696D45966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3367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47" name="文本框 37">
              <a:extLst>
                <a:ext uri="{FF2B5EF4-FFF2-40B4-BE49-F238E27FC236}">
                  <a16:creationId xmlns:a16="http://schemas.microsoft.com/office/drawing/2014/main" id="{08EDA93E-23EA-4E79-B1DC-7A88D6BC8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120" y="5231175"/>
              <a:ext cx="1414462" cy="646097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Function3</a:t>
              </a:r>
            </a:p>
          </p:txBody>
        </p:sp>
        <p:sp>
          <p:nvSpPr>
            <p:cNvPr id="48" name="文本框 37">
              <a:extLst>
                <a:ext uri="{FF2B5EF4-FFF2-40B4-BE49-F238E27FC236}">
                  <a16:creationId xmlns:a16="http://schemas.microsoft.com/office/drawing/2014/main" id="{90153BDF-FF21-4218-A0EC-F2088294A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120" y="3224855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Function1</a:t>
              </a:r>
            </a:p>
          </p:txBody>
        </p:sp>
        <p:sp>
          <p:nvSpPr>
            <p:cNvPr id="49" name="Line 15">
              <a:extLst>
                <a:ext uri="{FF2B5EF4-FFF2-40B4-BE49-F238E27FC236}">
                  <a16:creationId xmlns:a16="http://schemas.microsoft.com/office/drawing/2014/main" id="{22BC8D40-C0CC-4D6C-A505-2E9A81C1E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280" y="5825009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50" name="Text Box 14">
              <a:extLst>
                <a:ext uri="{FF2B5EF4-FFF2-40B4-BE49-F238E27FC236}">
                  <a16:creationId xmlns:a16="http://schemas.microsoft.com/office/drawing/2014/main" id="{D1E1126D-D7E0-4D4D-AF42-F9EEC046A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0476" y="5680993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R5 </a:t>
              </a:r>
            </a:p>
          </p:txBody>
        </p:sp>
        <p:sp>
          <p:nvSpPr>
            <p:cNvPr id="51" name="Line 17">
              <a:extLst>
                <a:ext uri="{FF2B5EF4-FFF2-40B4-BE49-F238E27FC236}">
                  <a16:creationId xmlns:a16="http://schemas.microsoft.com/office/drawing/2014/main" id="{30EC1597-3F45-46C2-A8A5-72103DC91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280" y="5320953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52" name="Text Box 14">
              <a:extLst>
                <a:ext uri="{FF2B5EF4-FFF2-40B4-BE49-F238E27FC236}">
                  <a16:creationId xmlns:a16="http://schemas.microsoft.com/office/drawing/2014/main" id="{00400C1E-BC28-4E20-9C68-4FD7136A3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436" y="515719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R6 </a:t>
              </a:r>
            </a:p>
          </p:txBody>
        </p:sp>
      </p:grp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B389B0B2-EA04-4747-8DED-4B19EF331ACA}"/>
              </a:ext>
            </a:extLst>
          </p:cNvPr>
          <p:cNvCxnSpPr/>
          <p:nvPr/>
        </p:nvCxnSpPr>
        <p:spPr bwMode="auto">
          <a:xfrm flipV="1">
            <a:off x="12144672" y="3785629"/>
            <a:ext cx="2505484" cy="18106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FCA1FCE-B4CC-4D5C-930F-FE2F41D30384}"/>
              </a:ext>
            </a:extLst>
          </p:cNvPr>
          <p:cNvCxnSpPr/>
          <p:nvPr/>
        </p:nvCxnSpPr>
        <p:spPr bwMode="auto">
          <a:xfrm>
            <a:off x="12155475" y="6066323"/>
            <a:ext cx="2480017" cy="361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59447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FB88254C-810D-4027-9977-720B66F415C0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D25CB58E-F949-41C3-ABAB-D5C87F7D73E0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38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Linking and Loading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584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CE0000"/>
                </a:solidFill>
                <a:ea typeface="宋体" panose="02010600030101010101" pitchFamily="2" charset="-122"/>
              </a:rPr>
              <a:t>Linking</a:t>
            </a:r>
            <a:r>
              <a:rPr lang="en-US" altLang="zh-CN" dirty="0">
                <a:ea typeface="宋体" panose="02010600030101010101" pitchFamily="2" charset="-122"/>
              </a:rPr>
              <a:t> is the process of resolving symbols between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independent object files.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suppose we define a symbol in one module, and want to use it in another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some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notation,such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as .EXTERNAL, is used to tell assembler that a symbol is defined in another module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linker will search symbol tables of other modules to resolve symbols and complete code generation before loading</a:t>
            </a:r>
          </a:p>
          <a:p>
            <a:r>
              <a:rPr lang="en-US" altLang="zh-CN" i="1" dirty="0">
                <a:solidFill>
                  <a:srgbClr val="CE0000"/>
                </a:solidFill>
                <a:ea typeface="宋体" panose="02010600030101010101" pitchFamily="2" charset="-122"/>
              </a:rPr>
              <a:t>Loading</a:t>
            </a:r>
            <a:r>
              <a:rPr lang="en-US" altLang="zh-CN" dirty="0">
                <a:ea typeface="宋体" panose="02010600030101010101" pitchFamily="2" charset="-122"/>
              </a:rPr>
              <a:t> is the process of copying an executable image into memory.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more sophisticated loaders are able to </a:t>
            </a:r>
            <a:r>
              <a:rPr lang="en-US" altLang="zh-CN" i="1" u="sng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relocate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images to fit into available memory</a:t>
            </a:r>
          </a:p>
          <a:p>
            <a:pPr lvl="1"/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must readjust branch targets, load/store addresses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5821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2026E9-F49A-4AA1-958D-38C9A3DF2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Linking to construct an executable image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8E6CCAD-7681-4F35-A79F-92A74AC76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8360" y="980729"/>
            <a:ext cx="4630481" cy="5712431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8F1E02-F366-438D-BF28-18F7A5F1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2023/11/16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56761-BEDA-4793-A2C8-F6EF3D37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B097D7-59F7-457D-B768-0D7FD970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32001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91798" y="224844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17686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335145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A Machine Structure</a:t>
            </a:r>
            <a:r>
              <a:rPr lang="zh-CN" altLang="en-US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von Neumann Model</a:t>
            </a:r>
            <a:r>
              <a:rPr lang="zh-CN" altLang="en-US" sz="2400" b="1" kern="0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 </a:t>
            </a:r>
            <a:endParaRPr lang="en-US" altLang="zh-CN" sz="2400" b="1" baseline="0" dirty="0">
              <a:solidFill>
                <a:srgbClr val="333399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2554178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913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1998182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Assembly Process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1962670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Assembly Language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1962670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1998182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592" y="4143545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1962670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38040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EE2C0386-AB09-4D0E-A996-E2BD17D63788}" type="datetime1">
              <a:rPr lang="zh-CN" altLang="en-US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2023/11/16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t>Lecture 1</a:t>
            </a:r>
          </a:p>
        </p:txBody>
      </p:sp>
      <p:sp>
        <p:nvSpPr>
          <p:cNvPr id="3686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fld id="{A28D4007-D1E4-442F-BCF4-C31D02E6EF4E}" type="slidenum">
              <a:rPr lang="en-US" altLang="zh-CN" sz="1400" b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None/>
                <a:defRPr/>
              </a:pPr>
              <a:t>41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676" name="Rectangle 1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67438" y="1978026"/>
            <a:ext cx="4133850" cy="874713"/>
          </a:xfrm>
        </p:spPr>
        <p:txBody>
          <a:bodyPr>
            <a:normAutofit lnSpcReduction="10000"/>
          </a:bodyPr>
          <a:lstStyle/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None/>
              <a:tabLst>
                <a:tab pos="1066800" algn="l"/>
              </a:tabLst>
              <a:defRPr/>
            </a:pPr>
            <a:r>
              <a:rPr lang="en-US" altLang="zh-CN" sz="1600">
                <a:solidFill>
                  <a:srgbClr val="003399"/>
                </a:solidFill>
                <a:ea typeface="宋体" panose="02010600030101010101" pitchFamily="2" charset="-122"/>
              </a:rPr>
              <a:t>lw	  $t0, 0($2)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None/>
              <a:tabLst>
                <a:tab pos="1066800" algn="l"/>
              </a:tabLst>
              <a:defRPr/>
            </a:pPr>
            <a:r>
              <a:rPr lang="en-US" altLang="zh-CN" sz="1600">
                <a:solidFill>
                  <a:srgbClr val="003399"/>
                </a:solidFill>
                <a:ea typeface="宋体" panose="02010600030101010101" pitchFamily="2" charset="-122"/>
              </a:rPr>
              <a:t>lw	  $t1, 4($2)</a:t>
            </a:r>
          </a:p>
          <a:p>
            <a:pPr defTabSz="457200" eaLnBrk="1" hangingPunct="1">
              <a:lnSpc>
                <a:spcPct val="80000"/>
              </a:lnSpc>
              <a:spcBef>
                <a:spcPct val="0"/>
              </a:spcBef>
              <a:buNone/>
              <a:tabLst>
                <a:tab pos="1066800" algn="l"/>
              </a:tabLst>
              <a:defRPr/>
            </a:pPr>
            <a:r>
              <a:rPr lang="en-US" altLang="zh-CN" sz="1600">
                <a:solidFill>
                  <a:srgbClr val="003399"/>
                </a:solidFill>
                <a:ea typeface="宋体" panose="02010600030101010101" pitchFamily="2" charset="-122"/>
              </a:rPr>
              <a:t>sw	  $t1, 0($2)</a:t>
            </a:r>
          </a:p>
          <a:p>
            <a:pPr defTabSz="457200" eaLnBrk="1" hangingPunct="1">
              <a:lnSpc>
                <a:spcPct val="90000"/>
              </a:lnSpc>
              <a:spcBef>
                <a:spcPct val="0"/>
              </a:spcBef>
              <a:buNone/>
              <a:tabLst>
                <a:tab pos="1066800" algn="l"/>
              </a:tabLst>
              <a:defRPr/>
            </a:pPr>
            <a:r>
              <a:rPr lang="en-US" altLang="zh-CN" sz="1600">
                <a:solidFill>
                  <a:srgbClr val="003399"/>
                </a:solidFill>
                <a:ea typeface="宋体" panose="02010600030101010101" pitchFamily="2" charset="-122"/>
              </a:rPr>
              <a:t>sw	  $t0, 4($2)</a:t>
            </a:r>
          </a:p>
        </p:txBody>
      </p:sp>
      <p:graphicFrame>
        <p:nvGraphicFramePr>
          <p:cNvPr id="36870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211888" y="5516563"/>
          <a:ext cx="18288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1" name="Image" r:id="rId4" imgW="3492063" imgH="2400000" progId="">
                  <p:embed/>
                </p:oleObj>
              </mc:Choice>
              <mc:Fallback>
                <p:oleObj name="Image" r:id="rId4" imgW="3492063" imgH="2400000" progId="">
                  <p:embed/>
                  <p:pic>
                    <p:nvPicPr>
                      <p:cNvPr id="3687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5516563"/>
                        <a:ext cx="18288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2552700" y="1084263"/>
            <a:ext cx="2590800" cy="52424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None/>
              <a:defRPr/>
            </a:pPr>
            <a:r>
              <a:rPr lang="en-US" altLang="zh-CN" sz="180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High Level Language</a:t>
            </a:r>
            <a:br>
              <a:rPr lang="en-US" altLang="zh-CN" sz="180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Program (e.g., C)</a:t>
            </a:r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2552700" y="2165350"/>
            <a:ext cx="2592388" cy="52424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None/>
              <a:defRPr/>
            </a:pPr>
            <a:r>
              <a:rPr lang="en-US" altLang="zh-CN" sz="1800" baseline="0">
                <a:solidFill>
                  <a:srgbClr val="003399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Assembly  Language Program (e.g., MIPS)</a:t>
            </a: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2552700" y="3100389"/>
            <a:ext cx="2590800" cy="522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41000"/>
              </a:spcBef>
              <a:buNone/>
              <a:defRPr/>
            </a:pPr>
            <a:r>
              <a:rPr lang="en-US" altLang="zh-CN" sz="1800" baseline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Machine  Language Program (MIPS)</a:t>
            </a:r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1828800" y="4464051"/>
            <a:ext cx="4038600" cy="53886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spcBef>
                <a:spcPct val="43000"/>
              </a:spcBef>
              <a:buNone/>
              <a:defRPr/>
            </a:pPr>
            <a: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Hardware Architecture Description</a:t>
            </a:r>
            <a:b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(e.g., block diagrams)</a:t>
            </a:r>
            <a:r>
              <a:rPr lang="en-US" altLang="zh-CN" sz="1800" b="0" baseline="0">
                <a:solidFill>
                  <a:srgbClr val="3366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875" name="Rectangle 13"/>
          <p:cNvSpPr>
            <a:spLocks noChangeArrowheads="1"/>
          </p:cNvSpPr>
          <p:nvPr/>
        </p:nvSpPr>
        <p:spPr bwMode="auto">
          <a:xfrm>
            <a:off x="2098675" y="1773239"/>
            <a:ext cx="1308100" cy="28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None/>
              <a:defRPr/>
            </a:pPr>
            <a:r>
              <a:rPr lang="en-US" altLang="zh-CN" sz="1800" i="1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Compiler</a:t>
            </a:r>
          </a:p>
        </p:txBody>
      </p:sp>
      <p:sp>
        <p:nvSpPr>
          <p:cNvPr id="36876" name="Rectangle 14"/>
          <p:cNvSpPr>
            <a:spLocks noChangeArrowheads="1"/>
          </p:cNvSpPr>
          <p:nvPr/>
        </p:nvSpPr>
        <p:spPr bwMode="auto">
          <a:xfrm>
            <a:off x="2098675" y="2787651"/>
            <a:ext cx="1435100" cy="28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None/>
              <a:defRPr/>
            </a:pPr>
            <a:r>
              <a:rPr lang="en-US" altLang="zh-CN" sz="1800" i="1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Assembler</a:t>
            </a:r>
          </a:p>
        </p:txBody>
      </p:sp>
      <p:sp>
        <p:nvSpPr>
          <p:cNvPr id="36877" name="Rectangle 16"/>
          <p:cNvSpPr>
            <a:spLocks noChangeArrowheads="1"/>
          </p:cNvSpPr>
          <p:nvPr/>
        </p:nvSpPr>
        <p:spPr bwMode="auto">
          <a:xfrm>
            <a:off x="2135189" y="3860800"/>
            <a:ext cx="1584325" cy="524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None/>
              <a:defRPr/>
            </a:pPr>
            <a:r>
              <a:rPr lang="en-US" altLang="zh-CN" sz="1800" i="1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Machine Interpretation</a:t>
            </a:r>
          </a:p>
        </p:txBody>
      </p:sp>
      <p:sp>
        <p:nvSpPr>
          <p:cNvPr id="36878" name="Rectangle 17"/>
          <p:cNvSpPr>
            <a:spLocks noChangeArrowheads="1"/>
          </p:cNvSpPr>
          <p:nvPr/>
        </p:nvSpPr>
        <p:spPr bwMode="auto">
          <a:xfrm>
            <a:off x="6178550" y="981076"/>
            <a:ext cx="3086100" cy="7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8000"/>
              </a:lnSpc>
              <a:spcBef>
                <a:spcPct val="0"/>
              </a:spcBef>
              <a:buNone/>
              <a:defRPr/>
            </a:pPr>
            <a:r>
              <a:rPr lang="en-US" altLang="zh-CN" sz="180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temp = v[k];</a:t>
            </a:r>
          </a:p>
          <a:p>
            <a:pPr eaLnBrk="1" hangingPunct="1">
              <a:lnSpc>
                <a:spcPct val="78000"/>
              </a:lnSpc>
              <a:spcBef>
                <a:spcPct val="0"/>
              </a:spcBef>
              <a:buNone/>
              <a:defRPr/>
            </a:pPr>
            <a:r>
              <a:rPr lang="en-US" altLang="zh-CN" sz="180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v[k] = v[k+1];</a:t>
            </a:r>
          </a:p>
          <a:p>
            <a:pPr eaLnBrk="1" hangingPunct="1">
              <a:lnSpc>
                <a:spcPct val="78000"/>
              </a:lnSpc>
              <a:spcBef>
                <a:spcPct val="0"/>
              </a:spcBef>
              <a:buNone/>
              <a:defRPr/>
            </a:pPr>
            <a:r>
              <a:rPr lang="en-US" altLang="zh-CN" sz="180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v[k+1] = temp;</a:t>
            </a:r>
            <a:endParaRPr lang="en-US" altLang="zh-CN" sz="1200" b="0" baseline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6879" name="Rectangle 19"/>
          <p:cNvSpPr>
            <a:spLocks noChangeArrowheads="1"/>
          </p:cNvSpPr>
          <p:nvPr/>
        </p:nvSpPr>
        <p:spPr bwMode="auto">
          <a:xfrm>
            <a:off x="6148388" y="4298950"/>
            <a:ext cx="29845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endParaRPr lang="en-US" altLang="zh-CN" sz="1800" b="0" baseline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6880" name="Rectangle 20"/>
          <p:cNvSpPr>
            <a:spLocks noChangeArrowheads="1"/>
          </p:cNvSpPr>
          <p:nvPr/>
        </p:nvSpPr>
        <p:spPr bwMode="auto">
          <a:xfrm>
            <a:off x="6148389" y="2989263"/>
            <a:ext cx="4478337" cy="95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1400" baseline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0000 1001 1100 0110 1010 1111 0101 1000</a:t>
            </a:r>
          </a:p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1400" baseline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1010 1111 0101 1000 0000 1001 1100 0110 </a:t>
            </a:r>
          </a:p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1400" baseline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1100 0110 1010 1111 0101 1000 0000 1001 </a:t>
            </a:r>
          </a:p>
          <a:p>
            <a:pPr eaLnBrk="1" hangingPunct="1">
              <a:spcBef>
                <a:spcPct val="0"/>
              </a:spcBef>
              <a:buNone/>
              <a:defRPr/>
            </a:pPr>
            <a:r>
              <a:rPr lang="en-US" altLang="zh-CN" sz="1400" baseline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0101 1000 0000 1001 1100 0110 1010 1111</a:t>
            </a:r>
            <a:r>
              <a:rPr lang="en-US" altLang="zh-CN" sz="1400" b="0" baseline="0">
                <a:solidFill>
                  <a:srgbClr val="FF0000"/>
                </a:solidFill>
                <a:latin typeface="Courier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881" name="Rectangle 22"/>
          <p:cNvSpPr>
            <a:spLocks noChangeArrowheads="1"/>
          </p:cNvSpPr>
          <p:nvPr/>
        </p:nvSpPr>
        <p:spPr bwMode="auto">
          <a:xfrm>
            <a:off x="2482850" y="3644900"/>
            <a:ext cx="2730500" cy="139700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endParaRPr lang="en-US" altLang="zh-CN" sz="1800" b="0" baseline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6882" name="Rectangle 24"/>
          <p:cNvSpPr>
            <a:spLocks noChangeArrowheads="1"/>
          </p:cNvSpPr>
          <p:nvPr/>
        </p:nvSpPr>
        <p:spPr bwMode="auto">
          <a:xfrm>
            <a:off x="1993900" y="5867401"/>
            <a:ext cx="3708400" cy="538865"/>
          </a:xfrm>
          <a:prstGeom prst="rect">
            <a:avLst/>
          </a:prstGeom>
          <a:noFill/>
          <a:ln w="28575">
            <a:pattFill prst="pct70">
              <a:fgClr>
                <a:schemeClr val="tx1"/>
              </a:fgClr>
              <a:bgClr>
                <a:schemeClr val="bg1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8000"/>
              </a:lnSpc>
              <a:spcBef>
                <a:spcPct val="43000"/>
              </a:spcBef>
              <a:buNone/>
              <a:defRPr/>
            </a:pPr>
            <a: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Logic Circuit Description</a:t>
            </a:r>
            <a:b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800" baseline="0">
                <a:solidFill>
                  <a:srgbClr val="0054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(Circuit Schematic Diagrams)</a:t>
            </a:r>
          </a:p>
        </p:txBody>
      </p:sp>
      <p:sp>
        <p:nvSpPr>
          <p:cNvPr id="36883" name="Rectangle 27"/>
          <p:cNvSpPr>
            <a:spLocks noChangeArrowheads="1"/>
          </p:cNvSpPr>
          <p:nvPr/>
        </p:nvSpPr>
        <p:spPr bwMode="auto">
          <a:xfrm>
            <a:off x="2098675" y="5165725"/>
            <a:ext cx="1981200" cy="524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None/>
              <a:defRPr/>
            </a:pPr>
            <a:r>
              <a:rPr lang="en-US" altLang="zh-CN" sz="1800" i="1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Architecture Implementation</a:t>
            </a:r>
          </a:p>
        </p:txBody>
      </p:sp>
      <p:pic>
        <p:nvPicPr>
          <p:cNvPr id="36884" name="Picture 35" descr="Picture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4076700"/>
            <a:ext cx="16383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85" name="Rectangle 36"/>
          <p:cNvSpPr>
            <a:spLocks noChangeArrowheads="1"/>
          </p:cNvSpPr>
          <p:nvPr/>
        </p:nvSpPr>
        <p:spPr bwMode="auto">
          <a:xfrm>
            <a:off x="7480920" y="5143500"/>
            <a:ext cx="1017588" cy="515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  <a:defRPr/>
            </a:pPr>
            <a:endParaRPr lang="en-US" altLang="zh-CN" sz="1800" b="0" baseline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6886" name="TextBox 24"/>
          <p:cNvSpPr txBox="1">
            <a:spLocks noChangeArrowheads="1"/>
          </p:cNvSpPr>
          <p:nvPr/>
        </p:nvSpPr>
        <p:spPr bwMode="auto">
          <a:xfrm>
            <a:off x="7891463" y="2049463"/>
            <a:ext cx="25828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defTabSz="45720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72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None/>
              <a:defRPr/>
            </a:pPr>
            <a:r>
              <a:rPr lang="en-US" altLang="zh-CN" sz="1600" b="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Anything can be represented</a:t>
            </a:r>
            <a:br>
              <a:rPr lang="en-US" altLang="zh-CN" sz="1600" b="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600" b="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as a </a:t>
            </a:r>
            <a:r>
              <a:rPr lang="en-US" altLang="zh-CN" sz="1600" b="0" i="1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number</a:t>
            </a:r>
            <a:r>
              <a:rPr lang="en-US" altLang="zh-CN" sz="1600" b="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, </a:t>
            </a:r>
            <a:br>
              <a:rPr lang="en-US" altLang="zh-CN" sz="1600" b="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600" b="0" baseline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i.e., data or instructions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1774825" y="71439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2800" baseline="0">
                <a:solidFill>
                  <a:srgbClr val="333399"/>
                </a:solidFill>
              </a:rPr>
              <a:t>Summary: Assembly Language</a:t>
            </a:r>
            <a:r>
              <a:rPr lang="en-US" altLang="zh-CN" sz="2800">
                <a:solidFill>
                  <a:srgbClr val="000000"/>
                </a:solidFill>
              </a:rPr>
              <a:t> </a:t>
            </a:r>
            <a:endParaRPr lang="zh-CN" altLang="en-US" sz="2800" baseline="0">
              <a:solidFill>
                <a:srgbClr val="333399"/>
              </a:solidFill>
            </a:endParaRPr>
          </a:p>
        </p:txBody>
      </p:sp>
      <p:cxnSp>
        <p:nvCxnSpPr>
          <p:cNvPr id="36888" name="AutoShape 25"/>
          <p:cNvCxnSpPr>
            <a:cxnSpLocks noChangeShapeType="1"/>
            <a:stCxn id="36871" idx="2"/>
            <a:endCxn id="36872" idx="0"/>
          </p:cNvCxnSpPr>
          <p:nvPr/>
        </p:nvCxnSpPr>
        <p:spPr bwMode="auto">
          <a:xfrm>
            <a:off x="3848100" y="1608510"/>
            <a:ext cx="794" cy="55684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9" name="AutoShape 27"/>
          <p:cNvCxnSpPr>
            <a:cxnSpLocks noChangeShapeType="1"/>
            <a:stCxn id="36872" idx="2"/>
            <a:endCxn id="36873" idx="0"/>
          </p:cNvCxnSpPr>
          <p:nvPr/>
        </p:nvCxnSpPr>
        <p:spPr bwMode="auto">
          <a:xfrm flipH="1">
            <a:off x="3848100" y="2689596"/>
            <a:ext cx="794" cy="41079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90" name="AutoShape 28"/>
          <p:cNvCxnSpPr>
            <a:cxnSpLocks noChangeShapeType="1"/>
            <a:stCxn id="36881" idx="2"/>
            <a:endCxn id="36874" idx="0"/>
          </p:cNvCxnSpPr>
          <p:nvPr/>
        </p:nvCxnSpPr>
        <p:spPr bwMode="auto">
          <a:xfrm>
            <a:off x="3848100" y="3784600"/>
            <a:ext cx="0" cy="679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91" name="AutoShape 29"/>
          <p:cNvCxnSpPr>
            <a:cxnSpLocks noChangeShapeType="1"/>
            <a:stCxn id="36874" idx="2"/>
            <a:endCxn id="36882" idx="0"/>
          </p:cNvCxnSpPr>
          <p:nvPr/>
        </p:nvCxnSpPr>
        <p:spPr bwMode="auto">
          <a:xfrm>
            <a:off x="3848100" y="5002916"/>
            <a:ext cx="0" cy="86448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92" name="AutoShape 15"/>
          <p:cNvSpPr>
            <a:spLocks noChangeArrowheads="1"/>
          </p:cNvSpPr>
          <p:nvPr/>
        </p:nvSpPr>
        <p:spPr bwMode="auto">
          <a:xfrm>
            <a:off x="8688388" y="1052514"/>
            <a:ext cx="1439862" cy="649287"/>
          </a:xfrm>
          <a:prstGeom prst="wedgeRoundRectCallout">
            <a:avLst>
              <a:gd name="adj1" fmla="val -294579"/>
              <a:gd name="adj2" fmla="val 16119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  <a:defRPr/>
            </a:pPr>
            <a:r>
              <a:rPr lang="en-US" altLang="zh-CN" sz="1600" baseline="0">
                <a:solidFill>
                  <a:srgbClr val="FF3300"/>
                </a:solidFill>
                <a:ea typeface="宋体" panose="02010600030101010101" pitchFamily="2" charset="-122"/>
              </a:rPr>
              <a:t>Now, You are Here.</a:t>
            </a:r>
          </a:p>
        </p:txBody>
      </p:sp>
      <p:sp>
        <p:nvSpPr>
          <p:cNvPr id="36893" name="Rectangle 19"/>
          <p:cNvSpPr>
            <a:spLocks noChangeArrowheads="1"/>
          </p:cNvSpPr>
          <p:nvPr/>
        </p:nvSpPr>
        <p:spPr bwMode="auto">
          <a:xfrm>
            <a:off x="7440614" y="4724400"/>
            <a:ext cx="3227387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US" altLang="zh-CN" sz="1400" b="0" baseline="0">
                <a:solidFill>
                  <a:srgbClr val="0066CC"/>
                </a:solidFill>
                <a:ea typeface="宋体" panose="02010600030101010101" pitchFamily="2" charset="-122"/>
              </a:rPr>
              <a:t>ALUOP[0:3] &lt;= InstReg[9:11] &amp; MASK</a:t>
            </a:r>
          </a:p>
        </p:txBody>
      </p:sp>
    </p:spTree>
    <p:extLst>
      <p:ext uri="{BB962C8B-B14F-4D97-AF65-F5344CB8AC3E}">
        <p14:creationId xmlns:p14="http://schemas.microsoft.com/office/powerpoint/2010/main" val="198850563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map of the LC-3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56AFFD-C3BD-4EE6-B713-ECC62B3C1FD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2023/11/16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680176" y="6564120"/>
            <a:ext cx="2743200" cy="244475"/>
          </a:xfrm>
        </p:spPr>
        <p:txBody>
          <a:bodyPr/>
          <a:lstStyle/>
          <a:p>
            <a:pPr>
              <a:defRPr/>
            </a:pPr>
            <a:fld id="{9D51C7DF-C7BE-4EB5-A329-87F30D195B6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42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447928" y="2977208"/>
            <a:ext cx="3898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PC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447929" y="3573017"/>
            <a:ext cx="15697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R4(Global pointer)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5492069" y="5569496"/>
            <a:ext cx="15377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R6 (stack pointer)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4943872" y="371703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4943872" y="3114284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4943872" y="5733256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2495600" y="4598734"/>
            <a:ext cx="2450678" cy="10625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altLang="zh-CN" sz="1200" b="1" baseline="0" dirty="0">
              <a:solidFill>
                <a:srgbClr val="000000"/>
              </a:solidFill>
            </a:endParaRPr>
          </a:p>
        </p:txBody>
      </p:sp>
      <p:sp>
        <p:nvSpPr>
          <p:cNvPr id="69" name="Rectangle 7"/>
          <p:cNvSpPr>
            <a:spLocks noChangeArrowheads="1"/>
          </p:cNvSpPr>
          <p:nvPr/>
        </p:nvSpPr>
        <p:spPr bwMode="auto">
          <a:xfrm>
            <a:off x="2495600" y="6124115"/>
            <a:ext cx="2450678" cy="41484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Device Register </a:t>
            </a:r>
          </a:p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Addresses</a:t>
            </a:r>
          </a:p>
        </p:txBody>
      </p:sp>
      <p:sp>
        <p:nvSpPr>
          <p:cNvPr id="70" name="Text Box 10"/>
          <p:cNvSpPr txBox="1">
            <a:spLocks noChangeArrowheads="1"/>
          </p:cNvSpPr>
          <p:nvPr/>
        </p:nvSpPr>
        <p:spPr bwMode="auto">
          <a:xfrm>
            <a:off x="1739609" y="965168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0x0000</a:t>
            </a:r>
          </a:p>
        </p:txBody>
      </p:sp>
      <p:sp>
        <p:nvSpPr>
          <p:cNvPr id="71" name="Text Box 11"/>
          <p:cNvSpPr txBox="1">
            <a:spLocks noChangeArrowheads="1"/>
          </p:cNvSpPr>
          <p:nvPr/>
        </p:nvSpPr>
        <p:spPr bwMode="auto">
          <a:xfrm>
            <a:off x="1739609" y="6354068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0xFFFF</a:t>
            </a:r>
          </a:p>
        </p:txBody>
      </p:sp>
      <p:sp>
        <p:nvSpPr>
          <p:cNvPr id="72" name="Rectangle 6"/>
          <p:cNvSpPr>
            <a:spLocks noChangeArrowheads="1"/>
          </p:cNvSpPr>
          <p:nvPr/>
        </p:nvSpPr>
        <p:spPr bwMode="auto">
          <a:xfrm>
            <a:off x="2495600" y="1011555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Trap Vector Table</a:t>
            </a:r>
            <a:r>
              <a:rPr lang="zh-CN" altLang="en-US" sz="1200" b="1" baseline="0" dirty="0">
                <a:solidFill>
                  <a:srgbClr val="FFFF00"/>
                </a:solidFill>
              </a:rPr>
              <a:t> </a:t>
            </a:r>
            <a:endParaRPr lang="en-US" altLang="zh-CN" sz="1200" b="1" baseline="0" dirty="0">
              <a:solidFill>
                <a:srgbClr val="FFFF00"/>
              </a:solidFill>
            </a:endParaRPr>
          </a:p>
        </p:txBody>
      </p:sp>
      <p:sp>
        <p:nvSpPr>
          <p:cNvPr id="73" name="Rectangle 6"/>
          <p:cNvSpPr>
            <a:spLocks noChangeArrowheads="1"/>
          </p:cNvSpPr>
          <p:nvPr/>
        </p:nvSpPr>
        <p:spPr bwMode="auto">
          <a:xfrm>
            <a:off x="2495600" y="1550678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00"/>
                </a:solidFill>
              </a:rPr>
              <a:t>Interrupt Vector Table</a:t>
            </a:r>
          </a:p>
        </p:txBody>
      </p:sp>
      <p:sp>
        <p:nvSpPr>
          <p:cNvPr id="74" name="Rectangle 6"/>
          <p:cNvSpPr>
            <a:spLocks noChangeArrowheads="1"/>
          </p:cNvSpPr>
          <p:nvPr/>
        </p:nvSpPr>
        <p:spPr bwMode="auto">
          <a:xfrm>
            <a:off x="2495600" y="2080439"/>
            <a:ext cx="2450678" cy="93800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FF"/>
                </a:solidFill>
              </a:rPr>
              <a:t>Operating System </a:t>
            </a:r>
          </a:p>
          <a:p>
            <a:pPr algn="ctr">
              <a:defRPr/>
            </a:pPr>
            <a:r>
              <a:rPr lang="en-US" altLang="zh-CN" sz="1200" b="1" baseline="0" dirty="0">
                <a:solidFill>
                  <a:srgbClr val="FFFFFF"/>
                </a:solidFill>
              </a:rPr>
              <a:t>and Supervisor Stack</a:t>
            </a:r>
          </a:p>
        </p:txBody>
      </p:sp>
      <p:sp>
        <p:nvSpPr>
          <p:cNvPr id="75" name="Text Box 10"/>
          <p:cNvSpPr txBox="1">
            <a:spLocks noChangeArrowheads="1"/>
          </p:cNvSpPr>
          <p:nvPr/>
        </p:nvSpPr>
        <p:spPr bwMode="auto">
          <a:xfrm>
            <a:off x="1739608" y="1310550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0x00FF</a:t>
            </a:r>
            <a:r>
              <a:rPr lang="zh-CN" altLang="en-US" sz="1200" b="1" baseline="0" dirty="0">
                <a:solidFill>
                  <a:srgbClr val="000000"/>
                </a:solidFill>
                <a:latin typeface="CourierPS" pitchFamily="49" charset="0"/>
              </a:rPr>
              <a:t> </a:t>
            </a:r>
            <a:endParaRPr lang="en-US" altLang="zh-CN" sz="1200" b="1" baseline="0" dirty="0">
              <a:solidFill>
                <a:srgbClr val="000000"/>
              </a:solidFill>
              <a:latin typeface="CourierPS" pitchFamily="49" charset="0"/>
            </a:endParaRPr>
          </a:p>
        </p:txBody>
      </p:sp>
      <p:sp>
        <p:nvSpPr>
          <p:cNvPr id="76" name="Text Box 10"/>
          <p:cNvSpPr txBox="1">
            <a:spLocks noChangeArrowheads="1"/>
          </p:cNvSpPr>
          <p:nvPr/>
        </p:nvSpPr>
        <p:spPr bwMode="auto">
          <a:xfrm>
            <a:off x="1739609" y="1526574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0x0100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1739608" y="1834351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0x01FF</a:t>
            </a:r>
            <a:r>
              <a:rPr lang="zh-CN" altLang="en-US" sz="1200" b="1" baseline="0" dirty="0">
                <a:solidFill>
                  <a:srgbClr val="000000"/>
                </a:solidFill>
                <a:latin typeface="CourierPS" pitchFamily="49" charset="0"/>
              </a:rPr>
              <a:t> </a:t>
            </a:r>
            <a:endParaRPr lang="en-US" altLang="zh-CN" sz="1200" b="1" baseline="0" dirty="0">
              <a:solidFill>
                <a:srgbClr val="000000"/>
              </a:solidFill>
              <a:latin typeface="CourierPS" pitchFamily="49" charset="0"/>
            </a:endParaRPr>
          </a:p>
        </p:txBody>
      </p:sp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1739609" y="2050375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0x0200</a:t>
            </a: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1733965" y="2780929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0x2FFF</a:t>
            </a:r>
          </a:p>
        </p:txBody>
      </p:sp>
      <p:sp>
        <p:nvSpPr>
          <p:cNvPr id="80" name="Text Box 10"/>
          <p:cNvSpPr txBox="1">
            <a:spLocks noChangeArrowheads="1"/>
          </p:cNvSpPr>
          <p:nvPr/>
        </p:nvSpPr>
        <p:spPr bwMode="auto">
          <a:xfrm>
            <a:off x="1733965" y="2996953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0x3000</a:t>
            </a: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1739609" y="5886743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0xFDFF</a:t>
            </a:r>
          </a:p>
        </p:txBody>
      </p:sp>
      <p:sp>
        <p:nvSpPr>
          <p:cNvPr id="82" name="Text Box 11"/>
          <p:cNvSpPr txBox="1">
            <a:spLocks noChangeArrowheads="1"/>
          </p:cNvSpPr>
          <p:nvPr/>
        </p:nvSpPr>
        <p:spPr bwMode="auto">
          <a:xfrm>
            <a:off x="1739609" y="6104330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CourierPS" pitchFamily="49" charset="0"/>
              </a:rPr>
              <a:t>0xFE00</a:t>
            </a:r>
          </a:p>
        </p:txBody>
      </p:sp>
      <p:sp>
        <p:nvSpPr>
          <p:cNvPr id="84" name="Rectangle 6"/>
          <p:cNvSpPr>
            <a:spLocks noChangeArrowheads="1"/>
          </p:cNvSpPr>
          <p:nvPr/>
        </p:nvSpPr>
        <p:spPr bwMode="auto">
          <a:xfrm>
            <a:off x="2495600" y="5661249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Run-time stack</a:t>
            </a:r>
          </a:p>
        </p:txBody>
      </p:sp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2495600" y="2996953"/>
            <a:ext cx="2450678" cy="66138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Program Text</a:t>
            </a:r>
          </a:p>
        </p:txBody>
      </p:sp>
      <p:sp>
        <p:nvSpPr>
          <p:cNvPr id="86" name="Rectangle 6"/>
          <p:cNvSpPr>
            <a:spLocks noChangeArrowheads="1"/>
          </p:cNvSpPr>
          <p:nvPr/>
        </p:nvSpPr>
        <p:spPr bwMode="auto">
          <a:xfrm>
            <a:off x="2495600" y="3658338"/>
            <a:ext cx="2450678" cy="49074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Global data section</a:t>
            </a: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2495600" y="4149081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Heap (for dynamically </a:t>
            </a:r>
          </a:p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allocated memory)</a:t>
            </a:r>
          </a:p>
        </p:txBody>
      </p:sp>
      <p:cxnSp>
        <p:nvCxnSpPr>
          <p:cNvPr id="89" name="直接箭头连接符 88"/>
          <p:cNvCxnSpPr/>
          <p:nvPr/>
        </p:nvCxnSpPr>
        <p:spPr bwMode="auto">
          <a:xfrm>
            <a:off x="3720939" y="4653137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直接箭头连接符 90"/>
          <p:cNvCxnSpPr/>
          <p:nvPr/>
        </p:nvCxnSpPr>
        <p:spPr bwMode="auto">
          <a:xfrm flipV="1">
            <a:off x="3719736" y="5246806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Line 15"/>
          <p:cNvSpPr>
            <a:spLocks noChangeShapeType="1"/>
          </p:cNvSpPr>
          <p:nvPr/>
        </p:nvSpPr>
        <p:spPr bwMode="auto">
          <a:xfrm>
            <a:off x="4943872" y="594928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400" b="1" baseline="0">
              <a:solidFill>
                <a:srgbClr val="000000"/>
              </a:solidFill>
            </a:endParaRPr>
          </a:p>
        </p:txBody>
      </p: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5492068" y="5805265"/>
            <a:ext cx="15778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baseline="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R5 (frame pointer)</a:t>
            </a:r>
          </a:p>
        </p:txBody>
      </p:sp>
      <p:grpSp>
        <p:nvGrpSpPr>
          <p:cNvPr id="117" name="组合 116"/>
          <p:cNvGrpSpPr/>
          <p:nvPr/>
        </p:nvGrpSpPr>
        <p:grpSpPr>
          <a:xfrm>
            <a:off x="7320136" y="3749550"/>
            <a:ext cx="2592288" cy="2847802"/>
            <a:chOff x="5508104" y="3140968"/>
            <a:chExt cx="2592288" cy="2847802"/>
          </a:xfrm>
        </p:grpSpPr>
        <p:sp>
          <p:nvSpPr>
            <p:cNvPr id="99" name="Line 15"/>
            <p:cNvSpPr>
              <a:spLocks noChangeShapeType="1"/>
            </p:cNvSpPr>
            <p:nvPr/>
          </p:nvSpPr>
          <p:spPr bwMode="auto">
            <a:xfrm>
              <a:off x="7092280" y="458112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100" name="Text Box 14"/>
            <p:cNvSpPr txBox="1">
              <a:spLocks noChangeArrowheads="1"/>
            </p:cNvSpPr>
            <p:nvPr/>
          </p:nvSpPr>
          <p:spPr bwMode="auto">
            <a:xfrm>
              <a:off x="7640476" y="443711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R5 </a:t>
              </a:r>
            </a:p>
          </p:txBody>
        </p:sp>
        <p:sp>
          <p:nvSpPr>
            <p:cNvPr id="101" name="文本框 37"/>
            <p:cNvSpPr txBox="1">
              <a:spLocks noChangeArrowheads="1"/>
            </p:cNvSpPr>
            <p:nvPr/>
          </p:nvSpPr>
          <p:spPr bwMode="auto">
            <a:xfrm>
              <a:off x="5652120" y="3933056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Function2</a:t>
              </a:r>
            </a:p>
          </p:txBody>
        </p:sp>
        <p:sp>
          <p:nvSpPr>
            <p:cNvPr id="102" name="Line 17"/>
            <p:cNvSpPr>
              <a:spLocks noChangeShapeType="1"/>
            </p:cNvSpPr>
            <p:nvPr/>
          </p:nvSpPr>
          <p:spPr bwMode="auto">
            <a:xfrm>
              <a:off x="7092280" y="4077072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103" name="Text Box 14"/>
            <p:cNvSpPr txBox="1">
              <a:spLocks noChangeArrowheads="1"/>
            </p:cNvSpPr>
            <p:nvPr/>
          </p:nvSpPr>
          <p:spPr bwMode="auto">
            <a:xfrm>
              <a:off x="7654436" y="3913311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R6 </a:t>
              </a:r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7092280" y="386104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105" name="Text Box 14"/>
            <p:cNvSpPr txBox="1">
              <a:spLocks noChangeArrowheads="1"/>
            </p:cNvSpPr>
            <p:nvPr/>
          </p:nvSpPr>
          <p:spPr bwMode="auto">
            <a:xfrm>
              <a:off x="7640476" y="3645024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R5 </a:t>
              </a:r>
            </a:p>
          </p:txBody>
        </p:sp>
        <p:sp>
          <p:nvSpPr>
            <p:cNvPr id="106" name="Line 17"/>
            <p:cNvSpPr>
              <a:spLocks noChangeShapeType="1"/>
            </p:cNvSpPr>
            <p:nvPr/>
          </p:nvSpPr>
          <p:spPr bwMode="auto">
            <a:xfrm>
              <a:off x="7092280" y="328498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107" name="Text Box 14"/>
            <p:cNvSpPr txBox="1">
              <a:spLocks noChangeArrowheads="1"/>
            </p:cNvSpPr>
            <p:nvPr/>
          </p:nvSpPr>
          <p:spPr bwMode="auto">
            <a:xfrm>
              <a:off x="7654436" y="3140968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R6 </a:t>
              </a:r>
            </a:p>
          </p:txBody>
        </p:sp>
        <p:sp>
          <p:nvSpPr>
            <p:cNvPr id="109" name="任意多边形 41"/>
            <p:cNvSpPr>
              <a:spLocks/>
            </p:cNvSpPr>
            <p:nvPr/>
          </p:nvSpPr>
          <p:spPr bwMode="auto">
            <a:xfrm>
              <a:off x="5508104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0" name="任意多边形 41"/>
            <p:cNvSpPr>
              <a:spLocks/>
            </p:cNvSpPr>
            <p:nvPr/>
          </p:nvSpPr>
          <p:spPr bwMode="auto">
            <a:xfrm>
              <a:off x="6903367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1" name="文本框 37"/>
            <p:cNvSpPr txBox="1">
              <a:spLocks noChangeArrowheads="1"/>
            </p:cNvSpPr>
            <p:nvPr/>
          </p:nvSpPr>
          <p:spPr bwMode="auto">
            <a:xfrm>
              <a:off x="5652120" y="5231175"/>
              <a:ext cx="1414462" cy="646097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Function3</a:t>
              </a:r>
            </a:p>
          </p:txBody>
        </p:sp>
        <p:sp>
          <p:nvSpPr>
            <p:cNvPr id="112" name="文本框 37"/>
            <p:cNvSpPr txBox="1">
              <a:spLocks noChangeArrowheads="1"/>
            </p:cNvSpPr>
            <p:nvPr/>
          </p:nvSpPr>
          <p:spPr bwMode="auto">
            <a:xfrm>
              <a:off x="5652120" y="3224855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None/>
                <a:defRPr/>
              </a:pPr>
              <a:r>
                <a:rPr lang="en-US" altLang="zh-CN" sz="1800" b="0" baseline="0" dirty="0">
                  <a:solidFill>
                    <a:srgbClr val="000000"/>
                  </a:solidFill>
                  <a:ea typeface="宋体" panose="02010600030101010101" pitchFamily="2" charset="-122"/>
                </a:rPr>
                <a:t>Function1</a:t>
              </a:r>
            </a:p>
          </p:txBody>
        </p:sp>
        <p:sp>
          <p:nvSpPr>
            <p:cNvPr id="113" name="Line 15"/>
            <p:cNvSpPr>
              <a:spLocks noChangeShapeType="1"/>
            </p:cNvSpPr>
            <p:nvPr/>
          </p:nvSpPr>
          <p:spPr bwMode="auto">
            <a:xfrm>
              <a:off x="7092280" y="5825009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114" name="Text Box 14"/>
            <p:cNvSpPr txBox="1">
              <a:spLocks noChangeArrowheads="1"/>
            </p:cNvSpPr>
            <p:nvPr/>
          </p:nvSpPr>
          <p:spPr bwMode="auto">
            <a:xfrm>
              <a:off x="7640476" y="5680993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R5 </a:t>
              </a:r>
            </a:p>
          </p:txBody>
        </p:sp>
        <p:sp>
          <p:nvSpPr>
            <p:cNvPr id="115" name="Line 17"/>
            <p:cNvSpPr>
              <a:spLocks noChangeShapeType="1"/>
            </p:cNvSpPr>
            <p:nvPr/>
          </p:nvSpPr>
          <p:spPr bwMode="auto">
            <a:xfrm>
              <a:off x="7092280" y="5320953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400" b="1" baseline="0">
                <a:solidFill>
                  <a:srgbClr val="000000"/>
                </a:solidFill>
              </a:endParaRPr>
            </a:p>
          </p:txBody>
        </p:sp>
        <p:sp>
          <p:nvSpPr>
            <p:cNvPr id="116" name="Text Box 14"/>
            <p:cNvSpPr txBox="1">
              <a:spLocks noChangeArrowheads="1"/>
            </p:cNvSpPr>
            <p:nvPr/>
          </p:nvSpPr>
          <p:spPr bwMode="auto">
            <a:xfrm>
              <a:off x="7654436" y="515719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b="1" baseline="0" dirty="0">
                  <a:solidFill>
                    <a:srgbClr val="000000"/>
                  </a:solidFill>
                  <a:latin typeface="Franklin Gothic Book" panose="020B0503020102020204" pitchFamily="34" charset="0"/>
                </a:rPr>
                <a:t>R6 </a:t>
              </a:r>
            </a:p>
          </p:txBody>
        </p:sp>
      </p:grpSp>
      <p:cxnSp>
        <p:nvCxnSpPr>
          <p:cNvPr id="119" name="直接连接符 118"/>
          <p:cNvCxnSpPr/>
          <p:nvPr/>
        </p:nvCxnSpPr>
        <p:spPr bwMode="auto">
          <a:xfrm flipV="1">
            <a:off x="4943872" y="3850636"/>
            <a:ext cx="2505484" cy="18106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直接连接符 119"/>
          <p:cNvCxnSpPr/>
          <p:nvPr/>
        </p:nvCxnSpPr>
        <p:spPr bwMode="auto">
          <a:xfrm>
            <a:off x="4954675" y="6131330"/>
            <a:ext cx="2480017" cy="361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434132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4.xml><?xml version="1.0" encoding="utf-8"?>
<a:theme xmlns:a="http://schemas.openxmlformats.org/drawingml/2006/main" name="1_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4886</TotalTime>
  <Pages>0</Pages>
  <Words>4111</Words>
  <Characters>0</Characters>
  <Application>Microsoft Office PowerPoint</Application>
  <DocSecurity>0</DocSecurity>
  <PresentationFormat>宽屏</PresentationFormat>
  <Lines>0</Lines>
  <Paragraphs>790</Paragraphs>
  <Slides>42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68" baseType="lpstr">
      <vt:lpstr>Courier</vt:lpstr>
      <vt:lpstr>CourierPS</vt:lpstr>
      <vt:lpstr>Gungsuh</vt:lpstr>
      <vt:lpstr>仿宋</vt:lpstr>
      <vt:lpstr>黑体</vt:lpstr>
      <vt:lpstr>华文新魏</vt:lpstr>
      <vt:lpstr>KaiTi</vt:lpstr>
      <vt:lpstr>KaiTi</vt:lpstr>
      <vt:lpstr>微软雅黑</vt:lpstr>
      <vt:lpstr>Arial</vt:lpstr>
      <vt:lpstr>Calibri</vt:lpstr>
      <vt:lpstr>Corbel</vt:lpstr>
      <vt:lpstr>Courier New</vt:lpstr>
      <vt:lpstr>Franklin Gothic Book</vt:lpstr>
      <vt:lpstr>Franklin Gothic Demi</vt:lpstr>
      <vt:lpstr>Tahoma</vt:lpstr>
      <vt:lpstr>Times New Roman</vt:lpstr>
      <vt:lpstr>Wingdings</vt:lpstr>
      <vt:lpstr>Wingdings 3</vt:lpstr>
      <vt:lpstr>1_Office 主题​​</vt:lpstr>
      <vt:lpstr>学术交流模板3-中文</vt:lpstr>
      <vt:lpstr>2_Office 主题​​</vt:lpstr>
      <vt:lpstr>1_学术交流模板3-中文</vt:lpstr>
      <vt:lpstr>CorelDRAW</vt:lpstr>
      <vt:lpstr>VISIO</vt:lpstr>
      <vt:lpstr>Image</vt:lpstr>
      <vt:lpstr>Chapter 7   Assembly Language Program</vt:lpstr>
      <vt:lpstr>PowerPoint 演示文稿</vt:lpstr>
      <vt:lpstr>PowerPoint 演示文稿</vt:lpstr>
      <vt:lpstr>Review: The Transistor &amp; Basic Logical Structure</vt:lpstr>
      <vt:lpstr>Review: Von Neumann Model</vt:lpstr>
      <vt:lpstr>Review: Von Neumann Model</vt:lpstr>
      <vt:lpstr>Review: The ISA</vt:lpstr>
      <vt:lpstr>Review: The State Machine(Turing Machine equivalent)</vt:lpstr>
      <vt:lpstr>Review: The Data Path(von Neumann Model)</vt:lpstr>
      <vt:lpstr>PowerPoint 演示文稿</vt:lpstr>
      <vt:lpstr>A LC-3 Program</vt:lpstr>
      <vt:lpstr>Human-Readable Machine Language</vt:lpstr>
      <vt:lpstr>Great Idea #4: Software and Hardware Co-design </vt:lpstr>
      <vt:lpstr>Great Idea #3: Abstraction Helps Us Manage Complexity</vt:lpstr>
      <vt:lpstr>An Assembly Language Program</vt:lpstr>
      <vt:lpstr>LC-3 Assembly Language Syntax</vt:lpstr>
      <vt:lpstr>Opcodes and Operands</vt:lpstr>
      <vt:lpstr>Labels and Comments</vt:lpstr>
      <vt:lpstr>Assembler Directives</vt:lpstr>
      <vt:lpstr>Example</vt:lpstr>
      <vt:lpstr>Trap Codes</vt:lpstr>
      <vt:lpstr>Style Guidelines</vt:lpstr>
      <vt:lpstr>Sample Program</vt:lpstr>
      <vt:lpstr>Program (1 of 2)</vt:lpstr>
      <vt:lpstr>Program (2 of 2)</vt:lpstr>
      <vt:lpstr>Char Count in Assembly Language (1 of 3)</vt:lpstr>
      <vt:lpstr>Char Count in Assembly Language (2 of 3)</vt:lpstr>
      <vt:lpstr>Char Count in Assembly Language (3 of 3)</vt:lpstr>
      <vt:lpstr>PowerPoint 演示文稿</vt:lpstr>
      <vt:lpstr>Assembly Process</vt:lpstr>
      <vt:lpstr>First Pass: Constructing the Symbol Table</vt:lpstr>
      <vt:lpstr>Practice</vt:lpstr>
      <vt:lpstr>Second Pass: Generating Machine Language</vt:lpstr>
      <vt:lpstr>Practice</vt:lpstr>
      <vt:lpstr>LC-3 Assembler</vt:lpstr>
      <vt:lpstr>Object File Format</vt:lpstr>
      <vt:lpstr>Multiple Object Files</vt:lpstr>
      <vt:lpstr>Linking and Loading</vt:lpstr>
      <vt:lpstr>Linking to construct an executable image</vt:lpstr>
      <vt:lpstr>PowerPoint 演示文稿</vt:lpstr>
      <vt:lpstr>PowerPoint 演示文稿</vt:lpstr>
      <vt:lpstr>Memory map of the LC-3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650</cp:revision>
  <cp:lastPrinted>1601-01-01T00:00:00Z</cp:lastPrinted>
  <dcterms:created xsi:type="dcterms:W3CDTF">2012-09-03T16:09:03Z</dcterms:created>
  <dcterms:modified xsi:type="dcterms:W3CDTF">2023-11-16T13:22:03Z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