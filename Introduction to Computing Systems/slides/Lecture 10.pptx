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6" r:id="rId1"/>
    <p:sldMasterId id="2147483840" r:id="rId2"/>
    <p:sldMasterId id="2147483853" r:id="rId3"/>
    <p:sldMasterId id="2147483865" r:id="rId4"/>
  </p:sldMasterIdLst>
  <p:notesMasterIdLst>
    <p:notesMasterId r:id="rId39"/>
  </p:notesMasterIdLst>
  <p:sldIdLst>
    <p:sldId id="1541" r:id="rId5"/>
    <p:sldId id="1608" r:id="rId6"/>
    <p:sldId id="1605" r:id="rId7"/>
    <p:sldId id="1611" r:id="rId8"/>
    <p:sldId id="1612" r:id="rId9"/>
    <p:sldId id="1613" r:id="rId10"/>
    <p:sldId id="1606" r:id="rId11"/>
    <p:sldId id="1607" r:id="rId12"/>
    <p:sldId id="1609" r:id="rId13"/>
    <p:sldId id="1610" r:id="rId14"/>
    <p:sldId id="595" r:id="rId15"/>
    <p:sldId id="596" r:id="rId16"/>
    <p:sldId id="1604" r:id="rId17"/>
    <p:sldId id="617" r:id="rId18"/>
    <p:sldId id="618" r:id="rId19"/>
    <p:sldId id="619" r:id="rId20"/>
    <p:sldId id="620" r:id="rId21"/>
    <p:sldId id="621" r:id="rId22"/>
    <p:sldId id="622" r:id="rId23"/>
    <p:sldId id="623" r:id="rId24"/>
    <p:sldId id="624" r:id="rId25"/>
    <p:sldId id="1677" r:id="rId26"/>
    <p:sldId id="1619" r:id="rId27"/>
    <p:sldId id="1625" r:id="rId28"/>
    <p:sldId id="1626" r:id="rId29"/>
    <p:sldId id="1627" r:id="rId30"/>
    <p:sldId id="1628" r:id="rId31"/>
    <p:sldId id="1678" r:id="rId32"/>
    <p:sldId id="1679" r:id="rId33"/>
    <p:sldId id="1681" r:id="rId34"/>
    <p:sldId id="1682" r:id="rId35"/>
    <p:sldId id="1683" r:id="rId36"/>
    <p:sldId id="1684" r:id="rId37"/>
    <p:sldId id="1685" r:id="rId3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 hwt" initials="hh" lastIdx="1" clrIdx="0">
    <p:extLst>
      <p:ext uri="{19B8F6BF-5375-455C-9EA6-DF929625EA0E}">
        <p15:presenceInfo xmlns:p15="http://schemas.microsoft.com/office/powerpoint/2012/main" userId="31ad2c1f73f72afa" providerId="Windows Live"/>
      </p:ext>
    </p:extLst>
  </p:cmAuthor>
  <p:cmAuthor id="2" name="HAN" initials="H" lastIdx="3" clrIdx="1">
    <p:extLst>
      <p:ext uri="{19B8F6BF-5375-455C-9EA6-DF929625EA0E}">
        <p15:presenceInfo xmlns:p15="http://schemas.microsoft.com/office/powerpoint/2012/main" userId="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3300"/>
    <a:srgbClr val="0152A3"/>
    <a:srgbClr val="333399"/>
    <a:srgbClr val="003399"/>
    <a:srgbClr val="0000FF"/>
    <a:srgbClr val="CCFFFF"/>
    <a:srgbClr val="FFCCFF"/>
    <a:srgbClr val="0074BF"/>
    <a:srgbClr val="A6E0E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21" autoAdjust="0"/>
    <p:restoredTop sz="96990" autoAdjust="0"/>
  </p:normalViewPr>
  <p:slideViewPr>
    <p:cSldViewPr>
      <p:cViewPr varScale="1">
        <p:scale>
          <a:sx n="107" d="100"/>
          <a:sy n="107" d="100"/>
        </p:scale>
        <p:origin x="630" y="39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22627"/>
    </p:cViewPr>
  </p:sorterViewPr>
  <p:notesViewPr>
    <p:cSldViewPr>
      <p:cViewPr varScale="1">
        <p:scale>
          <a:sx n="65" d="100"/>
          <a:sy n="65" d="100"/>
        </p:scale>
        <p:origin x="12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7B49EF33-1BF8-49F7-918D-11EE9F04FB28}" type="datetimeFigureOut">
              <a:rPr lang="zh-CN" altLang="en-US"/>
              <a:pPr>
                <a:defRPr/>
              </a:pPr>
              <a:t>2025/12/9</a:t>
            </a:fld>
            <a:endParaRPr lang="en-US" altLang="zh-CN"/>
          </a:p>
        </p:txBody>
      </p:sp>
      <p:sp>
        <p:nvSpPr>
          <p:cNvPr id="3076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616E1B-D57C-4DD9-8C78-E9F14A888E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0490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BD6B8-9E6D-49A1-BE7C-D7662EE87E6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7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C530858-BF76-453D-8D3B-E94317EF6EAB}" type="slidenum">
              <a:rPr lang="zh-CN" altLang="en-US" smtClean="0">
                <a:solidFill>
                  <a:srgbClr val="000000"/>
                </a:solidFill>
                <a:latin typeface="Calibri" panose="020F0502020204030204" pitchFamily="34" charset="0"/>
              </a:rPr>
              <a:pPr>
                <a:defRPr/>
              </a:pPr>
              <a:t>2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188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6463"/>
            <a:ext cx="4984750" cy="4467225"/>
          </a:xfrm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750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056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504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C530858-BF76-453D-8D3B-E94317EF6EAB}" type="slidenum">
              <a:rPr lang="zh-CN" altLang="en-US" smtClean="0">
                <a:solidFill>
                  <a:srgbClr val="000000"/>
                </a:solidFill>
                <a:latin typeface="Calibri" panose="020F0502020204030204" pitchFamily="34" charset="0"/>
              </a:rPr>
              <a:pPr>
                <a:defRPr/>
              </a:pPr>
              <a:t>9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499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62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7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29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23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08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36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2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48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96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3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269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01013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FBBF7-0857-4E0C-8BA6-6E15C623885C}" type="datetime1">
              <a:rPr lang="zh-CN" altLang="en-US"/>
              <a:pPr>
                <a:defRPr/>
              </a:pPr>
              <a:t>2025/12/9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A3BD-B17F-41BC-AD2B-B1F4D871CD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61894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8401-22E9-4153-B0F5-3C3505E5B3D2}" type="datetime1">
              <a:rPr lang="zh-CN" altLang="en-US"/>
              <a:pPr>
                <a:defRPr/>
              </a:pPr>
              <a:t>2025/12/9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0222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CAC6C-B0AD-4F0E-9446-33370F30D5FC}" type="datetime1">
              <a:rPr lang="zh-CN" altLang="en-US"/>
              <a:pPr>
                <a:defRPr/>
              </a:pPr>
              <a:t>2025/12/9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A47DD-4F3B-4B0E-A7D4-817BFF4C4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3883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2025/12/9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73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9AC0E-F239-4395-A14B-CA68D9010451}" type="datetime1">
              <a:rPr lang="zh-CN" altLang="en-US"/>
              <a:pPr>
                <a:defRPr/>
              </a:pPr>
              <a:t>2025/12/9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E5A60-ACBF-4E9D-8250-BA2475CAEA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94809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7D333-2B55-4460-872C-65971AEBE282}" type="datetime1">
              <a:rPr lang="zh-CN" altLang="en-US"/>
              <a:pPr>
                <a:defRPr/>
              </a:pPr>
              <a:t>2025/12/9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55E1-15C7-4BC0-8F47-E13BA6600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398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2025/12/9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13974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CA26-EDE1-4762-BE66-94A7EAAFB3D1}" type="datetime1">
              <a:rPr lang="zh-CN" altLang="en-US"/>
              <a:pPr>
                <a:defRPr/>
              </a:pPr>
              <a:t>2025/12/9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461BE-3140-4BB3-A330-A3E92F9AD8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85399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1047-FBFB-4E30-BFC4-5930808DCF04}" type="datetime1">
              <a:rPr lang="zh-CN" altLang="en-US"/>
              <a:pPr>
                <a:defRPr/>
              </a:pPr>
              <a:t>2025/12/9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CEF3C-935F-45BB-9C47-4C73976C4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84985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3EDD8-01BB-47F8-8E6D-2645728DF3F1}" type="datetime1">
              <a:rPr lang="zh-CN" altLang="en-US"/>
              <a:pPr>
                <a:defRPr/>
              </a:pPr>
              <a:t>2025/12/9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F2E81-A0D5-41DE-88A7-2A2FFF4DBF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20990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38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38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B442F-28AC-43F0-93B7-FE355784DBDB}" type="datetime1">
              <a:rPr lang="zh-CN" altLang="en-US"/>
              <a:pPr>
                <a:defRPr/>
              </a:pPr>
              <a:t>2025/12/9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5D7-0ECB-4EE2-86E4-B3A13F216C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39366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7A132-778D-41EB-A2E6-EEFB736A1018}" type="datetime1">
              <a:rPr lang="zh-CN" altLang="en-US"/>
              <a:pPr>
                <a:defRPr/>
              </a:pPr>
              <a:t>2025/12/9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858A-8586-41E6-A722-1234A2DFF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5604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318EC-F4E5-415D-8AB8-7A2FA76C28D5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2030B0-9293-4F0D-82ED-74F0C6335FA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0369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19C3C-C5B4-461C-AA2E-E537409AB5D5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42061-D800-47C3-AE7A-73681109E7C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6401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F66FF6-BC31-458D-B337-8AF8E7C91792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AD8A4C-00A1-4605-8504-DDED97D9383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4378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1FF0F-7912-4D74-A461-24EC544E2526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89363F-A959-4A12-B6A7-45AE6D967CD7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2835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1A7FFC-4CE2-475A-A786-8955FCBC7D30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6E45E6-A75F-4D3A-8936-8CF45F7E2FA4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3403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707074-B03B-4439-8FF7-3DD393E92B2F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B7A60E-B2F0-4E41-9582-06856E61446D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0310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B49220-AA52-475D-92EF-D1BEEC664705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1E4F5-3281-42B7-9083-A44882BA9EE8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9961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1F4E2C-9229-4EB3-B0B8-F50355712DF3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252AFC-A3A9-4791-A8BD-9497763A62D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4648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969A8-212E-49A4-BF09-D9233341BAEF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9139B3-D87C-4ACB-8AF1-AF5146CAC2B8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119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98226-4AA4-43DC-A798-AD8696FDE1AC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ACCC4F-3B21-4FD9-A588-E801DD52B1B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940341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38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38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CAEF9B-3944-45EF-AA65-5FC150746733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9524BF-C6D9-4FD0-BB25-AED0825765E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18956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3568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4979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6164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0991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2672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8020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3374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4337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03556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05279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2025/12/9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9224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5808812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>
                <a:solidFill>
                  <a:srgbClr val="000000"/>
                </a:solidFill>
              </a:rPr>
              <a:pPr/>
              <a:t>2025/12/9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22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2025/12/9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244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Arial" charset="0"/>
              </a:defRPr>
            </a:lvl1pPr>
          </a:lstStyle>
          <a:p>
            <a:pPr>
              <a:defRPr/>
            </a:pPr>
            <a:fld id="{618C75BF-420F-46A9-BC7D-C03727AB3FB9}" type="datetime1">
              <a:rPr lang="zh-CN" altLang="en-US"/>
              <a:pPr>
                <a:defRPr/>
              </a:pPr>
              <a:t>2025/12/9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/>
            </a:lvl1pPr>
          </a:lstStyle>
          <a:p>
            <a:pPr>
              <a:defRPr/>
            </a:pPr>
            <a:fld id="{959C821A-6763-4EB6-8588-90DEC9026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8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263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anose="02030600000101010101" pitchFamily="18" charset="-127"/>
        <a:buChar char="-"/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 smtClean="0"/>
            </a:lvl1pPr>
          </a:lstStyle>
          <a:p>
            <a:pPr>
              <a:defRPr/>
            </a:pPr>
            <a:fld id="{68A3BBE9-3DFA-4135-A616-61A59E4C08C1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2025/12/9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553200"/>
            <a:ext cx="3200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 smtClean="0"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 smtClean="0"/>
            </a:lvl1pPr>
          </a:lstStyle>
          <a:p>
            <a:pPr>
              <a:defRPr/>
            </a:pPr>
            <a:fld id="{605FD81E-F043-472B-89E0-0A80D04B5A40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8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110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 kern="1200">
          <a:solidFill>
            <a:schemeClr val="tx1"/>
          </a:solidFill>
          <a:latin typeface="+mn-lt"/>
          <a:ea typeface="楷体_GB2312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itchFamily="18" charset="-127"/>
        <a:buChar char="-"/>
        <a:defRPr b="1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2025/12/9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7932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  <p:sldLayoutId id="2147483877" r:id="rId12"/>
    <p:sldLayoutId id="2147483878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8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8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35496" y="2204864"/>
            <a:ext cx="9108504" cy="2160240"/>
          </a:xfrm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 10</a:t>
            </a:r>
            <a:b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Interrupt-Driven I/O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32039" y="404664"/>
            <a:ext cx="41376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计算机系统概论</a:t>
            </a:r>
            <a:endParaRPr lang="en-US" altLang="zh-CN" sz="2800" b="1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Computing Systems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CS1002A.01</a:t>
            </a:r>
            <a:r>
              <a:rPr lang="zh-CN" altLang="en-US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657747-06C0-41CB-8492-8F06ADAF1AB8}"/>
              </a:ext>
            </a:extLst>
          </p:cNvPr>
          <p:cNvSpPr txBox="1"/>
          <p:nvPr/>
        </p:nvSpPr>
        <p:spPr>
          <a:xfrm>
            <a:off x="2640971" y="5114173"/>
            <a:ext cx="3857594" cy="15806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baseline="0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pitchFamily="49" charset="-122"/>
                <a:ea typeface="KaiTi" panose="02010609060101010101" pitchFamily="49" charset="-122"/>
                <a:cs typeface="Tahoma" panose="020B0604030504040204" pitchFamily="34" charset="0"/>
              </a:rPr>
              <a:t>苗付友</a:t>
            </a:r>
            <a:endParaRPr lang="en-US" altLang="zh-CN" sz="2800" b="1" baseline="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iTi" panose="02010609060101010101" pitchFamily="49" charset="-122"/>
              <a:ea typeface="KaiTi" panose="02010609060101010101" pitchFamily="49" charset="-122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mfy@ustc.edu.cn</a:t>
            </a:r>
            <a:br>
              <a:rPr lang="en-US" altLang="zh-CN" sz="14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CN" sz="1400" b="1" baseline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2025 </a:t>
            </a:r>
            <a:r>
              <a:rPr lang="en-US" altLang="zh-CN" sz="14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Fall</a:t>
            </a: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b="1" baseline="0" dirty="0">
              <a:solidFill>
                <a:schemeClr val="bg2">
                  <a:lumMod val="1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baseline="0" dirty="0">
                <a:solidFill>
                  <a:srgbClr val="1F497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计算机科学与技术学院</a:t>
            </a:r>
            <a:endParaRPr lang="en-US" altLang="zh-CN" sz="2800" b="1" baseline="0" dirty="0">
              <a:solidFill>
                <a:srgbClr val="1F497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aseline="0" dirty="0">
                <a:solidFill>
                  <a:srgbClr val="1F497D"/>
                </a:solidFill>
                <a:latin typeface="Calibri"/>
                <a:ea typeface="华文新魏" panose="02010800040101010101" pitchFamily="2" charset="-122"/>
              </a:rPr>
              <a:t>School of Computer Science and Technology</a:t>
            </a:r>
            <a:endParaRPr lang="zh-CN" altLang="en-US" sz="1600" baseline="0" dirty="0">
              <a:solidFill>
                <a:srgbClr val="1F497D"/>
              </a:solidFill>
              <a:latin typeface="Calibri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17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altLang="zh-CN" sz="3200" b="1" baseline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Outline</a:t>
            </a:r>
            <a:endParaRPr lang="zh-CN" altLang="en-US" sz="3200" b="1" baseline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b="1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48478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484784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7">
            <a:extLst>
              <a:ext uri="{FF2B5EF4-FFF2-40B4-BE49-F238E27FC236}">
                <a16:creationId xmlns:a16="http://schemas.microsoft.com/office/drawing/2014/main" id="{606DEDEA-7C9B-477F-993D-E2F343435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2370889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b="1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sp>
        <p:nvSpPr>
          <p:cNvPr id="41" name="Text Box 17">
            <a:extLst>
              <a:ext uri="{FF2B5EF4-FFF2-40B4-BE49-F238E27FC236}">
                <a16:creationId xmlns:a16="http://schemas.microsoft.com/office/drawing/2014/main" id="{C143FE60-2D61-4605-A70B-4032E4F23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277923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0307206-0A2C-488D-BF34-19FFD54CC44C}"/>
              </a:ext>
            </a:extLst>
          </p:cNvPr>
          <p:cNvCxnSpPr/>
          <p:nvPr/>
        </p:nvCxnSpPr>
        <p:spPr>
          <a:xfrm>
            <a:off x="474181" y="292494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7">
            <a:extLst>
              <a:ext uri="{FF2B5EF4-FFF2-40B4-BE49-F238E27FC236}">
                <a16:creationId xmlns:a16="http://schemas.microsoft.com/office/drawing/2014/main" id="{E2F25E77-9020-44EF-9AF9-31A2CE86A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2370889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Interrupt-Driven I/O</a:t>
            </a:r>
          </a:p>
        </p:txBody>
      </p:sp>
      <p:sp>
        <p:nvSpPr>
          <p:cNvPr id="55" name="Text Box 17">
            <a:extLst>
              <a:ext uri="{FF2B5EF4-FFF2-40B4-BE49-F238E27FC236}">
                <a16:creationId xmlns:a16="http://schemas.microsoft.com/office/drawing/2014/main" id="{B8745904-E097-49DB-A277-EA67834E0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277923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7DFADD7D-5732-4590-B749-38C68B2744B6}"/>
              </a:ext>
            </a:extLst>
          </p:cNvPr>
          <p:cNvCxnSpPr/>
          <p:nvPr/>
        </p:nvCxnSpPr>
        <p:spPr>
          <a:xfrm>
            <a:off x="474181" y="292494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0023787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BFC4EF60-1B3C-4756-ADAC-AC2EDAD6562D}" type="datetime1">
              <a:rPr lang="zh-CN" altLang="en-US" sz="1400" b="0" smtClean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2025/12/9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65EF408B-58E8-4F79-B5B5-343485345E55}" type="slidenum">
              <a:rPr lang="en-US" altLang="zh-CN" sz="1400" b="0" smtClean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3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/>
              <a:t>Review: I/O CONTROL in </a:t>
            </a:r>
            <a:r>
              <a:rPr lang="en-US" altLang="zh-CN" dirty="0">
                <a:ea typeface="宋体" panose="02010600030101010101" pitchFamily="2" charset="-122"/>
              </a:rPr>
              <a:t>Von Neumann Model</a:t>
            </a:r>
            <a:endParaRPr lang="en-US" altLang="zh-CN" sz="1800" dirty="0">
              <a:ea typeface="宋体" panose="02010600030101010101" pitchFamily="2" charset="-122"/>
            </a:endParaRPr>
          </a:p>
        </p:txBody>
      </p:sp>
      <p:graphicFrame>
        <p:nvGraphicFramePr>
          <p:cNvPr id="25605" name="Object 14"/>
          <p:cNvGraphicFramePr>
            <a:graphicFrameLocks noChangeAspect="1"/>
          </p:cNvGraphicFramePr>
          <p:nvPr/>
        </p:nvGraphicFramePr>
        <p:xfrm>
          <a:off x="1219200" y="1382944"/>
          <a:ext cx="6759575" cy="474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CorelDRAW" r:id="rId3" imgW="5743575" imgH="4029075" progId="CorelDRAW.Graphic.9">
                  <p:embed/>
                </p:oleObj>
              </mc:Choice>
              <mc:Fallback>
                <p:oleObj name="CorelDRAW" r:id="rId3" imgW="5743575" imgH="4029075" progId="CorelDRAW.Graphic.9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382944"/>
                        <a:ext cx="6759575" cy="474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 bwMode="auto">
          <a:xfrm>
            <a:off x="2339752" y="4869160"/>
            <a:ext cx="4536504" cy="1201688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A920EE-7C48-4D19-94F4-9009AE5405DF}"/>
              </a:ext>
            </a:extLst>
          </p:cNvPr>
          <p:cNvSpPr/>
          <p:nvPr/>
        </p:nvSpPr>
        <p:spPr bwMode="auto">
          <a:xfrm>
            <a:off x="1259632" y="2485280"/>
            <a:ext cx="1440160" cy="1735807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514E7C-8E9D-4A90-8623-B6D9A19AA6EF}"/>
              </a:ext>
            </a:extLst>
          </p:cNvPr>
          <p:cNvSpPr/>
          <p:nvPr/>
        </p:nvSpPr>
        <p:spPr bwMode="auto">
          <a:xfrm>
            <a:off x="6534016" y="2485280"/>
            <a:ext cx="1440160" cy="1735807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zh-CN" altLang="en-US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016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BB09802A-4941-452B-8098-093F5923AA9C}" type="datetime1">
              <a:rPr lang="zh-CN" altLang="en-US" sz="1400" b="0" smtClean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2025/12/9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638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ED0AC3D8-E52F-4F5D-9500-31F04A2A52D7}" type="slidenum">
              <a:rPr lang="en-US" altLang="zh-CN" sz="1400" b="0" smtClean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4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Transfer Control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375" y="981075"/>
            <a:ext cx="8686800" cy="54102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Who determines when the next data transfer occurs?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CPU vs. I/O device</a:t>
            </a: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Polling</a:t>
            </a:r>
            <a:r>
              <a:rPr lang="en-US" altLang="zh-CN" dirty="0"/>
              <a:t> is explicitly looking/examining</a:t>
            </a:r>
            <a:endParaRPr lang="en-US" altLang="zh-CN" b="0" u="sng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CPU keeps checking status register until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i="1" u="sng" dirty="0">
                <a:ea typeface="宋体" panose="02010600030101010101" pitchFamily="2" charset="-122"/>
              </a:rPr>
              <a:t>new data</a:t>
            </a:r>
            <a:r>
              <a:rPr lang="en-US" altLang="zh-CN" dirty="0">
                <a:ea typeface="宋体" panose="02010600030101010101" pitchFamily="2" charset="-122"/>
              </a:rPr>
              <a:t> arrives OR </a:t>
            </a:r>
            <a:r>
              <a:rPr lang="en-US" altLang="zh-CN" i="1" u="sng" dirty="0">
                <a:ea typeface="宋体" panose="02010600030101010101" pitchFamily="2" charset="-122"/>
              </a:rPr>
              <a:t>device ready</a:t>
            </a:r>
            <a:r>
              <a:rPr lang="en-US" altLang="zh-CN" dirty="0">
                <a:ea typeface="宋体" panose="02010600030101010101" pitchFamily="2" charset="-122"/>
              </a:rPr>
              <a:t> for next data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“Are you there yet?  Are you there yet?  Are you there yet?”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Interrupts </a:t>
            </a:r>
            <a:r>
              <a:rPr lang="en-US" altLang="zh-CN" dirty="0"/>
              <a:t>is a nudge, knock on the door, loud noise, which forces you to pay attention</a:t>
            </a:r>
            <a:endParaRPr lang="en-US" altLang="zh-CN" b="0" u="sng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Device sends a special signal to CPU when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i="1" u="sng" dirty="0">
                <a:ea typeface="宋体" panose="02010600030101010101" pitchFamily="2" charset="-122"/>
              </a:rPr>
              <a:t>new data</a:t>
            </a:r>
            <a:r>
              <a:rPr lang="en-US" altLang="zh-CN" dirty="0">
                <a:ea typeface="宋体" panose="02010600030101010101" pitchFamily="2" charset="-122"/>
              </a:rPr>
              <a:t> arrives OR </a:t>
            </a:r>
            <a:r>
              <a:rPr lang="en-US" altLang="zh-CN" i="1" u="sng" dirty="0">
                <a:ea typeface="宋体" panose="02010600030101010101" pitchFamily="2" charset="-122"/>
              </a:rPr>
              <a:t>device ready</a:t>
            </a:r>
            <a:r>
              <a:rPr lang="en-US" altLang="zh-CN" dirty="0">
                <a:ea typeface="宋体" panose="02010600030101010101" pitchFamily="2" charset="-122"/>
              </a:rPr>
              <a:t> for next data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CPU can be performing other tasks instead of polling device.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“Wake me when you get there.”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0470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9DFF1F5C-8EB4-48DB-9F7D-7DAA0C244FEA}" type="datetime1">
              <a:rPr lang="zh-CN" altLang="en-US" sz="1400" b="0" smtClean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2025/12/9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12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662C944A-B9C2-47EE-AE97-FE36A23DA719}" type="slidenum">
              <a:rPr lang="en-US" altLang="zh-CN" sz="1400" b="0" smtClean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5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LC-3 TRAP Mechanism</a:t>
            </a:r>
            <a:endParaRPr lang="zh-CN" altLang="en-US" b="0"/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i="1" dirty="0"/>
              <a:t>Provides </a:t>
            </a:r>
            <a:r>
              <a:rPr lang="en-US" altLang="zh-CN" i="1" dirty="0">
                <a:solidFill>
                  <a:srgbClr val="FF3300"/>
                </a:solidFill>
              </a:rPr>
              <a:t>set of service routines</a:t>
            </a:r>
          </a:p>
          <a:p>
            <a:pPr lvl="1"/>
            <a:r>
              <a:rPr lang="en-US" altLang="zh-CN" dirty="0"/>
              <a:t>Part of operating system -- routines start at arbitrary addresses</a:t>
            </a:r>
            <a:endParaRPr lang="en-US" altLang="zh-CN" b="0" dirty="0"/>
          </a:p>
          <a:p>
            <a:pPr lvl="1"/>
            <a:r>
              <a:rPr lang="en-US" altLang="zh-CN" dirty="0"/>
              <a:t>Up to 256 routines</a:t>
            </a:r>
          </a:p>
          <a:p>
            <a:r>
              <a:rPr lang="en-US" altLang="zh-CN" i="1" dirty="0"/>
              <a:t>Requires </a:t>
            </a:r>
            <a:r>
              <a:rPr lang="en-US" altLang="zh-CN" i="1" dirty="0">
                <a:solidFill>
                  <a:srgbClr val="FF3300"/>
                </a:solidFill>
              </a:rPr>
              <a:t>table of starting addresses</a:t>
            </a:r>
          </a:p>
          <a:p>
            <a:pPr lvl="1"/>
            <a:r>
              <a:rPr lang="en-US" altLang="zh-CN" dirty="0"/>
              <a:t>Stored in memory (x0000 through x00FF)</a:t>
            </a:r>
          </a:p>
          <a:p>
            <a:pPr lvl="1"/>
            <a:r>
              <a:rPr lang="en-US" altLang="zh-CN" dirty="0"/>
              <a:t>Used to associate code with trap number</a:t>
            </a:r>
          </a:p>
          <a:p>
            <a:pPr lvl="1"/>
            <a:r>
              <a:rPr lang="en-US" altLang="zh-CN" dirty="0"/>
              <a:t>Called </a:t>
            </a:r>
            <a:r>
              <a:rPr lang="en-US" altLang="zh-CN" dirty="0">
                <a:solidFill>
                  <a:srgbClr val="FF3300"/>
                </a:solidFill>
              </a:rPr>
              <a:t>System Control Block</a:t>
            </a:r>
            <a:r>
              <a:rPr lang="en-US" altLang="zh-CN" dirty="0"/>
              <a:t> (or Trap Vector Table)</a:t>
            </a:r>
          </a:p>
          <a:p>
            <a:r>
              <a:rPr lang="en-US" altLang="zh-CN" i="1" dirty="0"/>
              <a:t>Uses </a:t>
            </a:r>
            <a:r>
              <a:rPr lang="en-US" altLang="zh-CN" i="1" dirty="0">
                <a:solidFill>
                  <a:srgbClr val="FF3300"/>
                </a:solidFill>
              </a:rPr>
              <a:t>TRAP instruction</a:t>
            </a:r>
          </a:p>
          <a:p>
            <a:pPr lvl="1"/>
            <a:r>
              <a:rPr lang="en-US" altLang="zh-CN" dirty="0"/>
              <a:t>Used by program to transfer control to operating system (w/ privileges)</a:t>
            </a:r>
          </a:p>
          <a:p>
            <a:pPr lvl="1"/>
            <a:r>
              <a:rPr lang="en-US" altLang="zh-CN" b="0" dirty="0"/>
              <a:t> </a:t>
            </a:r>
            <a:r>
              <a:rPr lang="en-US" altLang="zh-CN" dirty="0"/>
              <a:t>8-bit trap vector points to one of the 256 service routines</a:t>
            </a:r>
          </a:p>
          <a:p>
            <a:r>
              <a:rPr lang="en-US" altLang="zh-CN" i="1" dirty="0"/>
              <a:t>Uses </a:t>
            </a:r>
            <a:r>
              <a:rPr lang="en-US" altLang="zh-CN" i="1" dirty="0">
                <a:solidFill>
                  <a:srgbClr val="FF3300"/>
                </a:solidFill>
              </a:rPr>
              <a:t>“RTI” instruction</a:t>
            </a:r>
          </a:p>
          <a:p>
            <a:pPr lvl="1"/>
            <a:r>
              <a:rPr lang="en-US" altLang="zh-CN" dirty="0"/>
              <a:t>Returns control to caller</a:t>
            </a:r>
          </a:p>
          <a:p>
            <a:pPr lvl="1"/>
            <a:r>
              <a:rPr lang="en-US" altLang="zh-CN" dirty="0"/>
              <a:t>Execution resumes immediately after the TRAP instruction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5398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0479AF8-F0CE-4072-ACB5-D54B0C100D84}" type="datetime1">
              <a:rPr lang="zh-CN" altLang="en-US" sz="1400" b="0" smtClean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2025/12/9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14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6ABAE85D-D355-4EAA-A1DE-EDA6952692A9}" type="slidenum">
              <a:rPr lang="en-US" altLang="zh-CN" sz="1400" b="0" smtClean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6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LC-3 TRAP Routines(</a:t>
            </a:r>
            <a:r>
              <a:rPr lang="en-US" altLang="zh-CN" i="1">
                <a:solidFill>
                  <a:srgbClr val="FF3300"/>
                </a:solidFill>
              </a:rPr>
              <a:t>service routines</a:t>
            </a:r>
            <a:r>
              <a:rPr lang="en-US" altLang="zh-CN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76613" y="1035050"/>
            <a:ext cx="5641975" cy="5562600"/>
          </a:xfrm>
        </p:spPr>
        <p:txBody>
          <a:bodyPr/>
          <a:lstStyle/>
          <a:p>
            <a:pPr marL="342900" lvl="1" indent="-228600">
              <a:spcBef>
                <a:spcPts val="0"/>
              </a:spcBef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GETC (TRAP x20)</a:t>
            </a:r>
          </a:p>
          <a:p>
            <a:pPr marL="635000" lvl="2" indent="-177800">
              <a:spcBef>
                <a:spcPts val="0"/>
              </a:spcBef>
            </a:pPr>
            <a:r>
              <a:rPr lang="en-US" altLang="zh-CN" sz="2000" dirty="0"/>
              <a:t>Read a single character from KBD. </a:t>
            </a:r>
          </a:p>
          <a:p>
            <a:pPr marL="635000" lvl="2" indent="-177800">
              <a:spcBef>
                <a:spcPts val="0"/>
              </a:spcBef>
            </a:pPr>
            <a:r>
              <a:rPr lang="en-US" altLang="zh-CN" sz="2000" dirty="0"/>
              <a:t>ASCII copied in R0, R0[15:8] cleared.</a:t>
            </a:r>
          </a:p>
          <a:p>
            <a:pPr marL="635000" lvl="2" indent="-177800">
              <a:spcBef>
                <a:spcPts val="0"/>
              </a:spcBef>
            </a:pPr>
            <a:endParaRPr lang="en-US" altLang="zh-CN" sz="1000" dirty="0"/>
          </a:p>
          <a:p>
            <a:pPr marL="342900" lvl="1" indent="-228600">
              <a:spcBef>
                <a:spcPts val="0"/>
              </a:spcBef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OUT (TRAP x21)</a:t>
            </a:r>
          </a:p>
          <a:p>
            <a:pPr marL="635000" lvl="2" indent="-177800">
              <a:spcBef>
                <a:spcPts val="0"/>
              </a:spcBef>
            </a:pPr>
            <a:r>
              <a:rPr lang="en-US" altLang="zh-CN" sz="2000" dirty="0"/>
              <a:t>Write R0[7:0] to CRT.</a:t>
            </a:r>
          </a:p>
          <a:p>
            <a:pPr marL="635000" lvl="2" indent="-177800">
              <a:spcBef>
                <a:spcPts val="0"/>
              </a:spcBef>
            </a:pPr>
            <a:endParaRPr lang="en-US" altLang="zh-CN" sz="1000" dirty="0"/>
          </a:p>
          <a:p>
            <a:pPr marL="342900" lvl="1" indent="-228600">
              <a:spcBef>
                <a:spcPts val="0"/>
              </a:spcBef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PUTS (TRAP x22)</a:t>
            </a:r>
          </a:p>
          <a:p>
            <a:pPr marL="635000" lvl="2" indent="-177800">
              <a:spcBef>
                <a:spcPts val="0"/>
              </a:spcBef>
            </a:pPr>
            <a:r>
              <a:rPr lang="en-US" altLang="zh-CN" sz="2000" dirty="0"/>
              <a:t>Write a string to CRT. String address in R0.</a:t>
            </a:r>
          </a:p>
          <a:p>
            <a:pPr marL="635000" lvl="2" indent="-177800">
              <a:spcBef>
                <a:spcPts val="0"/>
              </a:spcBef>
            </a:pPr>
            <a:endParaRPr lang="en-US" altLang="zh-CN" sz="1000" dirty="0"/>
          </a:p>
          <a:p>
            <a:pPr marL="342900" lvl="1" indent="-228600">
              <a:spcBef>
                <a:spcPts val="0"/>
              </a:spcBef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IN (TRAP x23)</a:t>
            </a:r>
          </a:p>
          <a:p>
            <a:pPr marL="635000" lvl="2" indent="-177800">
              <a:spcBef>
                <a:spcPts val="0"/>
              </a:spcBef>
            </a:pPr>
            <a:r>
              <a:rPr lang="en-US" altLang="zh-CN" sz="2000" dirty="0"/>
              <a:t>Print a prompt on the screen and read a single character from KBD.</a:t>
            </a:r>
          </a:p>
          <a:p>
            <a:pPr marL="635000" lvl="2" indent="-177800">
              <a:spcBef>
                <a:spcPts val="0"/>
              </a:spcBef>
            </a:pPr>
            <a:r>
              <a:rPr lang="en-US" altLang="zh-CN" sz="2000" dirty="0"/>
              <a:t>Character is echoed to Display. ASCII copied to R0[7:0] and R0[15:8] cleared.</a:t>
            </a:r>
          </a:p>
          <a:p>
            <a:pPr marL="635000" lvl="2" indent="-177800">
              <a:spcBef>
                <a:spcPts val="0"/>
              </a:spcBef>
            </a:pPr>
            <a:endParaRPr lang="en-US" altLang="zh-CN" sz="1000" dirty="0"/>
          </a:p>
          <a:p>
            <a:pPr marL="342900" lvl="1" indent="-228600">
              <a:spcBef>
                <a:spcPts val="0"/>
              </a:spcBef>
            </a:pP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HALT (TRAP x25)</a:t>
            </a:r>
          </a:p>
          <a:p>
            <a:pPr marL="635000" lvl="2" indent="-177800">
              <a:spcBef>
                <a:spcPts val="0"/>
              </a:spcBef>
            </a:pPr>
            <a:r>
              <a:rPr lang="en-US" altLang="zh-CN" sz="2000" dirty="0"/>
              <a:t>Prints message on CRT &amp; halts execution.</a:t>
            </a:r>
          </a:p>
        </p:txBody>
      </p:sp>
      <p:grpSp>
        <p:nvGrpSpPr>
          <p:cNvPr id="6150" name="Group 4"/>
          <p:cNvGrpSpPr>
            <a:grpSpLocks/>
          </p:cNvGrpSpPr>
          <p:nvPr/>
        </p:nvGrpSpPr>
        <p:grpSpPr bwMode="auto">
          <a:xfrm>
            <a:off x="233363" y="1268413"/>
            <a:ext cx="1817687" cy="5141912"/>
            <a:chOff x="176" y="720"/>
            <a:chExt cx="1692" cy="3239"/>
          </a:xfrm>
        </p:grpSpPr>
        <p:sp>
          <p:nvSpPr>
            <p:cNvPr id="6162" name="Rectangle 5"/>
            <p:cNvSpPr>
              <a:spLocks noChangeArrowheads="1"/>
            </p:cNvSpPr>
            <p:nvPr/>
          </p:nvSpPr>
          <p:spPr bwMode="auto">
            <a:xfrm>
              <a:off x="800" y="720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63" name="Rectangle 6"/>
            <p:cNvSpPr>
              <a:spLocks noChangeArrowheads="1"/>
            </p:cNvSpPr>
            <p:nvPr/>
          </p:nvSpPr>
          <p:spPr bwMode="auto">
            <a:xfrm>
              <a:off x="800" y="1001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>
                  <a:solidFill>
                    <a:srgbClr val="000000"/>
                  </a:solidFill>
                  <a:ea typeface="宋体" panose="02010600030101010101" pitchFamily="2" charset="-122"/>
                </a:rPr>
                <a:t>:</a:t>
              </a:r>
            </a:p>
          </p:txBody>
        </p:sp>
        <p:sp>
          <p:nvSpPr>
            <p:cNvPr id="6164" name="Rectangle 7"/>
            <p:cNvSpPr>
              <a:spLocks noChangeArrowheads="1"/>
            </p:cNvSpPr>
            <p:nvPr/>
          </p:nvSpPr>
          <p:spPr bwMode="auto">
            <a:xfrm>
              <a:off x="800" y="1282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>
                  <a:solidFill>
                    <a:srgbClr val="000000"/>
                  </a:solidFill>
                  <a:ea typeface="宋体" panose="02010600030101010101" pitchFamily="2" charset="-122"/>
                </a:rPr>
                <a:t>x0400</a:t>
              </a:r>
            </a:p>
          </p:txBody>
        </p:sp>
        <p:sp>
          <p:nvSpPr>
            <p:cNvPr id="6165" name="Rectangle 8"/>
            <p:cNvSpPr>
              <a:spLocks noChangeArrowheads="1"/>
            </p:cNvSpPr>
            <p:nvPr/>
          </p:nvSpPr>
          <p:spPr bwMode="auto">
            <a:xfrm>
              <a:off x="800" y="1563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>
                  <a:solidFill>
                    <a:srgbClr val="000000"/>
                  </a:solidFill>
                  <a:ea typeface="宋体" panose="02010600030101010101" pitchFamily="2" charset="-122"/>
                </a:rPr>
                <a:t>x0430</a:t>
              </a:r>
            </a:p>
          </p:txBody>
        </p:sp>
        <p:sp>
          <p:nvSpPr>
            <p:cNvPr id="6166" name="Rectangle 9"/>
            <p:cNvSpPr>
              <a:spLocks noChangeArrowheads="1"/>
            </p:cNvSpPr>
            <p:nvPr/>
          </p:nvSpPr>
          <p:spPr bwMode="auto">
            <a:xfrm>
              <a:off x="800" y="1844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>
                  <a:solidFill>
                    <a:srgbClr val="000000"/>
                  </a:solidFill>
                  <a:ea typeface="宋体" panose="02010600030101010101" pitchFamily="2" charset="-122"/>
                </a:rPr>
                <a:t>x0450</a:t>
              </a:r>
            </a:p>
          </p:txBody>
        </p:sp>
        <p:sp>
          <p:nvSpPr>
            <p:cNvPr id="6167" name="Rectangle 10"/>
            <p:cNvSpPr>
              <a:spLocks noChangeArrowheads="1"/>
            </p:cNvSpPr>
            <p:nvPr/>
          </p:nvSpPr>
          <p:spPr bwMode="auto">
            <a:xfrm>
              <a:off x="800" y="2125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>
                  <a:solidFill>
                    <a:srgbClr val="000000"/>
                  </a:solidFill>
                  <a:ea typeface="宋体" panose="02010600030101010101" pitchFamily="2" charset="-122"/>
                </a:rPr>
                <a:t>x04A0</a:t>
              </a:r>
            </a:p>
          </p:txBody>
        </p:sp>
        <p:sp>
          <p:nvSpPr>
            <p:cNvPr id="6168" name="Rectangle 11"/>
            <p:cNvSpPr>
              <a:spLocks noChangeArrowheads="1"/>
            </p:cNvSpPr>
            <p:nvPr/>
          </p:nvSpPr>
          <p:spPr bwMode="auto">
            <a:xfrm>
              <a:off x="800" y="2406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>
                  <a:solidFill>
                    <a:srgbClr val="000000"/>
                  </a:solidFill>
                  <a:ea typeface="宋体" panose="02010600030101010101" pitchFamily="2" charset="-122"/>
                </a:rPr>
                <a:t>x04E0</a:t>
              </a:r>
            </a:p>
          </p:txBody>
        </p:sp>
        <p:sp>
          <p:nvSpPr>
            <p:cNvPr id="6169" name="Rectangle 12"/>
            <p:cNvSpPr>
              <a:spLocks noChangeArrowheads="1"/>
            </p:cNvSpPr>
            <p:nvPr/>
          </p:nvSpPr>
          <p:spPr bwMode="auto">
            <a:xfrm>
              <a:off x="800" y="2688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>
                  <a:solidFill>
                    <a:srgbClr val="000000"/>
                  </a:solidFill>
                  <a:ea typeface="宋体" panose="02010600030101010101" pitchFamily="2" charset="-122"/>
                </a:rPr>
                <a:t>xFD70</a:t>
              </a:r>
            </a:p>
          </p:txBody>
        </p:sp>
        <p:sp>
          <p:nvSpPr>
            <p:cNvPr id="6170" name="Rectangle 13"/>
            <p:cNvSpPr>
              <a:spLocks noChangeArrowheads="1"/>
            </p:cNvSpPr>
            <p:nvPr/>
          </p:nvSpPr>
          <p:spPr bwMode="auto">
            <a:xfrm>
              <a:off x="176" y="720"/>
              <a:ext cx="62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>
                  <a:solidFill>
                    <a:srgbClr val="000000"/>
                  </a:solidFill>
                  <a:ea typeface="宋体" panose="02010600030101010101" pitchFamily="2" charset="-122"/>
                </a:rPr>
                <a:t>x0000</a:t>
              </a:r>
            </a:p>
          </p:txBody>
        </p:sp>
        <p:sp>
          <p:nvSpPr>
            <p:cNvPr id="6171" name="Rectangle 14"/>
            <p:cNvSpPr>
              <a:spLocks noChangeArrowheads="1"/>
            </p:cNvSpPr>
            <p:nvPr/>
          </p:nvSpPr>
          <p:spPr bwMode="auto">
            <a:xfrm>
              <a:off x="176" y="1001"/>
              <a:ext cx="62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>
                  <a:solidFill>
                    <a:srgbClr val="000000"/>
                  </a:solidFill>
                  <a:ea typeface="宋体" panose="02010600030101010101" pitchFamily="2" charset="-122"/>
                </a:rPr>
                <a:t>:</a:t>
              </a:r>
            </a:p>
          </p:txBody>
        </p:sp>
        <p:sp>
          <p:nvSpPr>
            <p:cNvPr id="6172" name="Rectangle 15"/>
            <p:cNvSpPr>
              <a:spLocks noChangeArrowheads="1"/>
            </p:cNvSpPr>
            <p:nvPr/>
          </p:nvSpPr>
          <p:spPr bwMode="auto">
            <a:xfrm>
              <a:off x="176" y="1282"/>
              <a:ext cx="62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>
                  <a:solidFill>
                    <a:srgbClr val="000000"/>
                  </a:solidFill>
                  <a:ea typeface="宋体" panose="02010600030101010101" pitchFamily="2" charset="-122"/>
                </a:rPr>
                <a:t>x0020</a:t>
              </a:r>
            </a:p>
          </p:txBody>
        </p:sp>
        <p:sp>
          <p:nvSpPr>
            <p:cNvPr id="6173" name="Rectangle 16"/>
            <p:cNvSpPr>
              <a:spLocks noChangeArrowheads="1"/>
            </p:cNvSpPr>
            <p:nvPr/>
          </p:nvSpPr>
          <p:spPr bwMode="auto">
            <a:xfrm>
              <a:off x="176" y="1563"/>
              <a:ext cx="62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>
                  <a:solidFill>
                    <a:srgbClr val="000000"/>
                  </a:solidFill>
                  <a:ea typeface="宋体" panose="02010600030101010101" pitchFamily="2" charset="-122"/>
                </a:rPr>
                <a:t>x0021</a:t>
              </a:r>
            </a:p>
          </p:txBody>
        </p:sp>
        <p:sp>
          <p:nvSpPr>
            <p:cNvPr id="6174" name="Rectangle 17"/>
            <p:cNvSpPr>
              <a:spLocks noChangeArrowheads="1"/>
            </p:cNvSpPr>
            <p:nvPr/>
          </p:nvSpPr>
          <p:spPr bwMode="auto">
            <a:xfrm>
              <a:off x="176" y="1844"/>
              <a:ext cx="62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>
                  <a:solidFill>
                    <a:srgbClr val="000000"/>
                  </a:solidFill>
                  <a:ea typeface="宋体" panose="02010600030101010101" pitchFamily="2" charset="-122"/>
                </a:rPr>
                <a:t>x0022</a:t>
              </a:r>
            </a:p>
          </p:txBody>
        </p:sp>
        <p:sp>
          <p:nvSpPr>
            <p:cNvPr id="6175" name="Rectangle 18"/>
            <p:cNvSpPr>
              <a:spLocks noChangeArrowheads="1"/>
            </p:cNvSpPr>
            <p:nvPr/>
          </p:nvSpPr>
          <p:spPr bwMode="auto">
            <a:xfrm>
              <a:off x="176" y="2125"/>
              <a:ext cx="62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>
                  <a:solidFill>
                    <a:srgbClr val="000000"/>
                  </a:solidFill>
                  <a:ea typeface="宋体" panose="02010600030101010101" pitchFamily="2" charset="-122"/>
                </a:rPr>
                <a:t>x0023</a:t>
              </a:r>
            </a:p>
          </p:txBody>
        </p:sp>
        <p:sp>
          <p:nvSpPr>
            <p:cNvPr id="6176" name="Rectangle 19"/>
            <p:cNvSpPr>
              <a:spLocks noChangeArrowheads="1"/>
            </p:cNvSpPr>
            <p:nvPr/>
          </p:nvSpPr>
          <p:spPr bwMode="auto">
            <a:xfrm>
              <a:off x="176" y="2406"/>
              <a:ext cx="62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>
                  <a:solidFill>
                    <a:srgbClr val="000000"/>
                  </a:solidFill>
                  <a:ea typeface="宋体" panose="02010600030101010101" pitchFamily="2" charset="-122"/>
                </a:rPr>
                <a:t>x0024</a:t>
              </a:r>
            </a:p>
          </p:txBody>
        </p:sp>
        <p:sp>
          <p:nvSpPr>
            <p:cNvPr id="6177" name="Rectangle 20"/>
            <p:cNvSpPr>
              <a:spLocks noChangeArrowheads="1"/>
            </p:cNvSpPr>
            <p:nvPr/>
          </p:nvSpPr>
          <p:spPr bwMode="auto">
            <a:xfrm>
              <a:off x="176" y="2688"/>
              <a:ext cx="62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>
                  <a:solidFill>
                    <a:srgbClr val="000000"/>
                  </a:solidFill>
                  <a:ea typeface="宋体" panose="02010600030101010101" pitchFamily="2" charset="-122"/>
                </a:rPr>
                <a:t>x0025</a:t>
              </a:r>
            </a:p>
          </p:txBody>
        </p:sp>
        <p:sp>
          <p:nvSpPr>
            <p:cNvPr id="6178" name="Rectangle 21"/>
            <p:cNvSpPr>
              <a:spLocks noChangeArrowheads="1"/>
            </p:cNvSpPr>
            <p:nvPr/>
          </p:nvSpPr>
          <p:spPr bwMode="auto">
            <a:xfrm>
              <a:off x="800" y="2976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>
                  <a:solidFill>
                    <a:srgbClr val="000000"/>
                  </a:solidFill>
                  <a:ea typeface="宋体" panose="02010600030101010101" pitchFamily="2" charset="-122"/>
                </a:rPr>
                <a:t>:</a:t>
              </a:r>
            </a:p>
          </p:txBody>
        </p:sp>
        <p:sp>
          <p:nvSpPr>
            <p:cNvPr id="6179" name="Rectangle 22"/>
            <p:cNvSpPr>
              <a:spLocks noChangeArrowheads="1"/>
            </p:cNvSpPr>
            <p:nvPr/>
          </p:nvSpPr>
          <p:spPr bwMode="auto">
            <a:xfrm>
              <a:off x="176" y="2976"/>
              <a:ext cx="62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>
                  <a:solidFill>
                    <a:srgbClr val="000000"/>
                  </a:solidFill>
                  <a:ea typeface="宋体" panose="02010600030101010101" pitchFamily="2" charset="-122"/>
                </a:rPr>
                <a:t>:</a:t>
              </a:r>
            </a:p>
          </p:txBody>
        </p:sp>
        <p:sp>
          <p:nvSpPr>
            <p:cNvPr id="6180" name="Rectangle 23"/>
            <p:cNvSpPr>
              <a:spLocks noChangeArrowheads="1"/>
            </p:cNvSpPr>
            <p:nvPr/>
          </p:nvSpPr>
          <p:spPr bwMode="auto">
            <a:xfrm>
              <a:off x="800" y="3264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81" name="Rectangle 24"/>
            <p:cNvSpPr>
              <a:spLocks noChangeArrowheads="1"/>
            </p:cNvSpPr>
            <p:nvPr/>
          </p:nvSpPr>
          <p:spPr bwMode="auto">
            <a:xfrm>
              <a:off x="176" y="3264"/>
              <a:ext cx="62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>
                  <a:solidFill>
                    <a:srgbClr val="000000"/>
                  </a:solidFill>
                  <a:ea typeface="宋体" panose="02010600030101010101" pitchFamily="2" charset="-122"/>
                </a:rPr>
                <a:t>x00FF</a:t>
              </a:r>
            </a:p>
          </p:txBody>
        </p:sp>
        <p:sp>
          <p:nvSpPr>
            <p:cNvPr id="6182" name="Text Box 25"/>
            <p:cNvSpPr txBox="1">
              <a:spLocks noChangeArrowheads="1"/>
            </p:cNvSpPr>
            <p:nvPr/>
          </p:nvSpPr>
          <p:spPr bwMode="auto">
            <a:xfrm>
              <a:off x="272" y="3552"/>
              <a:ext cx="1596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aseline="0">
                  <a:solidFill>
                    <a:srgbClr val="0000FF"/>
                  </a:solidFill>
                  <a:ea typeface="宋体" panose="02010600030101010101" pitchFamily="2" charset="-122"/>
                </a:rPr>
                <a:t>The LC-3 System </a:t>
              </a:r>
            </a:p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aseline="0">
                  <a:solidFill>
                    <a:srgbClr val="0000FF"/>
                  </a:solidFill>
                  <a:ea typeface="宋体" panose="02010600030101010101" pitchFamily="2" charset="-122"/>
                </a:rPr>
                <a:t>Control Block</a:t>
              </a:r>
            </a:p>
          </p:txBody>
        </p:sp>
      </p:grpSp>
      <p:grpSp>
        <p:nvGrpSpPr>
          <p:cNvPr id="6151" name="Group 4"/>
          <p:cNvGrpSpPr>
            <a:grpSpLocks/>
          </p:cNvGrpSpPr>
          <p:nvPr/>
        </p:nvGrpSpPr>
        <p:grpSpPr bwMode="auto">
          <a:xfrm>
            <a:off x="2051050" y="1268413"/>
            <a:ext cx="1208088" cy="4495800"/>
            <a:chOff x="800" y="720"/>
            <a:chExt cx="960" cy="2832"/>
          </a:xfrm>
        </p:grpSpPr>
        <p:sp>
          <p:nvSpPr>
            <p:cNvPr id="6152" name="Rectangle 5"/>
            <p:cNvSpPr>
              <a:spLocks noChangeArrowheads="1"/>
            </p:cNvSpPr>
            <p:nvPr/>
          </p:nvSpPr>
          <p:spPr bwMode="auto">
            <a:xfrm>
              <a:off x="800" y="720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CN" altLang="en-US" sz="1800" b="0">
                  <a:solidFill>
                    <a:srgbClr val="000000"/>
                  </a:solidFill>
                  <a:ea typeface="宋体" panose="02010600030101010101" pitchFamily="2" charset="-122"/>
                </a:rPr>
                <a:t>预留代码空间</a:t>
              </a:r>
              <a:endParaRPr lang="en-US" altLang="zh-CN" sz="1800" b="0">
                <a:solidFill>
                  <a:srgbClr val="000000"/>
                </a:solidFill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zh-CN" altLang="en-US" sz="1800" b="0">
                  <a:solidFill>
                    <a:srgbClr val="000000"/>
                  </a:solidFill>
                  <a:ea typeface="宋体" panose="02010600030101010101" pitchFamily="2" charset="-122"/>
                </a:rPr>
                <a:t>实用代码空间</a:t>
              </a:r>
              <a:r>
                <a:rPr lang="en-US" altLang="zh-CN" sz="1800" b="0">
                  <a:solidFill>
                    <a:srgbClr val="000000"/>
                  </a:solidFill>
                  <a:ea typeface="宋体" panose="02010600030101010101" pitchFamily="2" charset="-122"/>
                </a:rPr>
                <a:t>)</a:t>
              </a:r>
              <a:endParaRPr lang="zh-CN" altLang="en-US" sz="18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53" name="Rectangle 6"/>
            <p:cNvSpPr>
              <a:spLocks noChangeArrowheads="1"/>
            </p:cNvSpPr>
            <p:nvPr/>
          </p:nvSpPr>
          <p:spPr bwMode="auto">
            <a:xfrm>
              <a:off x="800" y="1001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>
                  <a:solidFill>
                    <a:srgbClr val="000000"/>
                  </a:solidFill>
                  <a:ea typeface="宋体" panose="02010600030101010101" pitchFamily="2" charset="-122"/>
                </a:rPr>
                <a:t>:</a:t>
              </a:r>
            </a:p>
          </p:txBody>
        </p:sp>
        <p:sp>
          <p:nvSpPr>
            <p:cNvPr id="6154" name="Rectangle 7"/>
            <p:cNvSpPr>
              <a:spLocks noChangeArrowheads="1"/>
            </p:cNvSpPr>
            <p:nvPr/>
          </p:nvSpPr>
          <p:spPr bwMode="auto">
            <a:xfrm>
              <a:off x="800" y="1282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 dirty="0">
                  <a:solidFill>
                    <a:srgbClr val="FF0000"/>
                  </a:solidFill>
                  <a:ea typeface="宋体" panose="02010600030101010101" pitchFamily="2" charset="-122"/>
                </a:rPr>
                <a:t>48</a:t>
              </a:r>
            </a:p>
          </p:txBody>
        </p:sp>
        <p:sp>
          <p:nvSpPr>
            <p:cNvPr id="6155" name="Rectangle 8"/>
            <p:cNvSpPr>
              <a:spLocks noChangeArrowheads="1"/>
            </p:cNvSpPr>
            <p:nvPr/>
          </p:nvSpPr>
          <p:spPr bwMode="auto">
            <a:xfrm>
              <a:off x="800" y="1563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 dirty="0">
                  <a:solidFill>
                    <a:srgbClr val="FF0000"/>
                  </a:solidFill>
                  <a:ea typeface="宋体" panose="02010600030101010101" pitchFamily="2" charset="-122"/>
                </a:rPr>
                <a:t>32(14)</a:t>
              </a:r>
            </a:p>
          </p:txBody>
        </p:sp>
        <p:sp>
          <p:nvSpPr>
            <p:cNvPr id="6156" name="Rectangle 9"/>
            <p:cNvSpPr>
              <a:spLocks noChangeArrowheads="1"/>
            </p:cNvSpPr>
            <p:nvPr/>
          </p:nvSpPr>
          <p:spPr bwMode="auto">
            <a:xfrm>
              <a:off x="800" y="1844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 dirty="0">
                  <a:solidFill>
                    <a:srgbClr val="FF0000"/>
                  </a:solidFill>
                  <a:ea typeface="宋体" panose="02010600030101010101" pitchFamily="2" charset="-122"/>
                </a:rPr>
                <a:t>96</a:t>
              </a:r>
            </a:p>
          </p:txBody>
        </p:sp>
        <p:sp>
          <p:nvSpPr>
            <p:cNvPr id="6157" name="Rectangle 10"/>
            <p:cNvSpPr>
              <a:spLocks noChangeArrowheads="1"/>
            </p:cNvSpPr>
            <p:nvPr/>
          </p:nvSpPr>
          <p:spPr bwMode="auto">
            <a:xfrm>
              <a:off x="800" y="2125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 dirty="0">
                  <a:solidFill>
                    <a:srgbClr val="FF0000"/>
                  </a:solidFill>
                  <a:ea typeface="宋体" panose="02010600030101010101" pitchFamily="2" charset="-122"/>
                </a:rPr>
                <a:t>64(42)</a:t>
              </a:r>
            </a:p>
          </p:txBody>
        </p:sp>
        <p:sp>
          <p:nvSpPr>
            <p:cNvPr id="6158" name="Rectangle 11"/>
            <p:cNvSpPr>
              <a:spLocks noChangeArrowheads="1"/>
            </p:cNvSpPr>
            <p:nvPr/>
          </p:nvSpPr>
          <p:spPr bwMode="auto">
            <a:xfrm>
              <a:off x="800" y="2406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en-US" altLang="zh-CN" sz="2000" b="0" baseline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59" name="Rectangle 12"/>
            <p:cNvSpPr>
              <a:spLocks noChangeArrowheads="1"/>
            </p:cNvSpPr>
            <p:nvPr/>
          </p:nvSpPr>
          <p:spPr bwMode="auto">
            <a:xfrm>
              <a:off x="800" y="2688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en-US" altLang="zh-CN" sz="2000" b="0" baseline="0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60" name="Rectangle 21"/>
            <p:cNvSpPr>
              <a:spLocks noChangeArrowheads="1"/>
            </p:cNvSpPr>
            <p:nvPr/>
          </p:nvSpPr>
          <p:spPr bwMode="auto">
            <a:xfrm>
              <a:off x="800" y="2976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="0" baseline="0">
                  <a:solidFill>
                    <a:srgbClr val="000000"/>
                  </a:solidFill>
                  <a:ea typeface="宋体" panose="02010600030101010101" pitchFamily="2" charset="-122"/>
                </a:rPr>
                <a:t>:</a:t>
              </a:r>
            </a:p>
          </p:txBody>
        </p:sp>
        <p:sp>
          <p:nvSpPr>
            <p:cNvPr id="6161" name="Rectangle 23"/>
            <p:cNvSpPr>
              <a:spLocks noChangeArrowheads="1"/>
            </p:cNvSpPr>
            <p:nvPr/>
          </p:nvSpPr>
          <p:spPr bwMode="auto">
            <a:xfrm>
              <a:off x="800" y="3264"/>
              <a:ext cx="96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657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Control Instructions for System Calls</a:t>
            </a:r>
            <a:endParaRPr lang="zh-CN" altLang="en-US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1CBB7B-8F77-4532-AF3B-692F6833BD27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2025/12/9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441A33-B750-4E2E-A7AE-D936BE1FEF48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4" name="矩形 103"/>
          <p:cNvSpPr/>
          <p:nvPr/>
        </p:nvSpPr>
        <p:spPr bwMode="auto">
          <a:xfrm>
            <a:off x="232668" y="1124744"/>
            <a:ext cx="8659812" cy="4968552"/>
          </a:xfrm>
          <a:prstGeom prst="rect">
            <a:avLst/>
          </a:prstGeom>
          <a:solidFill>
            <a:srgbClr val="FF99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zh-CN" altLang="en-US" sz="2000" baseline="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244144" y="5450550"/>
            <a:ext cx="6450116" cy="541667"/>
            <a:chOff x="381000" y="3212976"/>
            <a:chExt cx="2868712" cy="288000"/>
          </a:xfrm>
        </p:grpSpPr>
        <p:sp>
          <p:nvSpPr>
            <p:cNvPr id="212" name="矩形 211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FFFFFF"/>
                  </a:solidFill>
                  <a:latin typeface="Arial" charset="0"/>
                </a:rPr>
                <a:t>1</a:t>
              </a:r>
              <a:endParaRPr lang="zh-CN" altLang="en-US" sz="2000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213" name="矩形 212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FFFFFF"/>
                  </a:solidFill>
                  <a:latin typeface="Arial" charset="0"/>
                </a:rPr>
                <a:t>1</a:t>
              </a:r>
              <a:endParaRPr lang="zh-CN" altLang="en-US" sz="2000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214" name="矩形 213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="1" baseline="0" dirty="0">
                  <a:solidFill>
                    <a:srgbClr val="FFFFFF"/>
                  </a:solidFill>
                  <a:latin typeface="Arial" charset="0"/>
                </a:rPr>
                <a:t>1</a:t>
              </a:r>
              <a:endParaRPr lang="zh-CN" altLang="en-US" sz="2000" b="1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215" name="矩形 214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="1" baseline="0" dirty="0">
                  <a:solidFill>
                    <a:srgbClr val="FFFFFF"/>
                  </a:solidFill>
                  <a:latin typeface="Arial" charset="0"/>
                </a:rPr>
                <a:t>1</a:t>
              </a:r>
              <a:endParaRPr lang="zh-CN" altLang="en-US" sz="2000" b="1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216" name="矩形 215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7" name="矩形 216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8" name="矩形 217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19" name="矩形 218"/>
            <p:cNvSpPr/>
            <p:nvPr/>
          </p:nvSpPr>
          <p:spPr bwMode="auto">
            <a:xfrm>
              <a:off x="1631123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220" name="矩形 219"/>
            <p:cNvSpPr/>
            <p:nvPr/>
          </p:nvSpPr>
          <p:spPr bwMode="auto">
            <a:xfrm>
              <a:off x="1809712" y="3212976"/>
              <a:ext cx="144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TrapVector8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</p:grpSp>
      <p:sp>
        <p:nvSpPr>
          <p:cNvPr id="106" name="矩形 105"/>
          <p:cNvSpPr/>
          <p:nvPr/>
        </p:nvSpPr>
        <p:spPr bwMode="auto">
          <a:xfrm>
            <a:off x="664114" y="5448477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0" tIns="0" rIns="0" bIns="0" numCol="1" rtlCol="0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altLang="zh-CN" sz="2000" b="1" baseline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TRAP</a:t>
            </a:r>
            <a:endParaRPr lang="zh-CN" altLang="en-US" sz="2000" b="1" baseline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2244144" y="1252106"/>
            <a:ext cx="6453289" cy="947962"/>
            <a:chOff x="345016" y="2996952"/>
            <a:chExt cx="2870123" cy="504024"/>
          </a:xfrm>
        </p:grpSpPr>
        <p:grpSp>
          <p:nvGrpSpPr>
            <p:cNvPr id="186" name="组合 185"/>
            <p:cNvGrpSpPr/>
            <p:nvPr/>
          </p:nvGrpSpPr>
          <p:grpSpPr>
            <a:xfrm>
              <a:off x="345016" y="3212976"/>
              <a:ext cx="2870123" cy="288000"/>
              <a:chOff x="381000" y="3212976"/>
              <a:chExt cx="2870123" cy="288000"/>
            </a:xfrm>
          </p:grpSpPr>
          <p:sp>
            <p:nvSpPr>
              <p:cNvPr id="204" name="矩形 203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aseline="0" dirty="0">
                    <a:solidFill>
                      <a:srgbClr val="FFFFFF"/>
                    </a:solidFill>
                    <a:latin typeface="Arial" charset="0"/>
                  </a:rPr>
                  <a:t>0</a:t>
                </a:r>
                <a:endParaRPr lang="zh-CN" altLang="en-US" sz="2000" baseline="0" dirty="0">
                  <a:solidFill>
                    <a:srgbClr val="FFFFFF"/>
                  </a:solidFill>
                  <a:latin typeface="Arial" charset="0"/>
                </a:endParaRPr>
              </a:p>
            </p:txBody>
          </p:sp>
          <p:sp>
            <p:nvSpPr>
              <p:cNvPr id="205" name="矩形 204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aseline="0" dirty="0">
                    <a:solidFill>
                      <a:srgbClr val="FFFFFF"/>
                    </a:solidFill>
                    <a:latin typeface="Arial" charset="0"/>
                  </a:rPr>
                  <a:t>0</a:t>
                </a:r>
                <a:endParaRPr lang="zh-CN" altLang="en-US" sz="2000" baseline="0" dirty="0">
                  <a:solidFill>
                    <a:srgbClr val="FFFFFF"/>
                  </a:solidFill>
                  <a:latin typeface="Arial" charset="0"/>
                </a:endParaRPr>
              </a:p>
            </p:txBody>
          </p:sp>
          <p:sp>
            <p:nvSpPr>
              <p:cNvPr id="206" name="矩形 205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="1" baseline="0" dirty="0">
                    <a:solidFill>
                      <a:srgbClr val="FFFFFF"/>
                    </a:solidFill>
                    <a:latin typeface="Arial" charset="0"/>
                  </a:rPr>
                  <a:t>0</a:t>
                </a:r>
                <a:endParaRPr lang="zh-CN" altLang="en-US" sz="2000" b="1" baseline="0" dirty="0">
                  <a:solidFill>
                    <a:srgbClr val="FFFFFF"/>
                  </a:solidFill>
                  <a:latin typeface="Arial" charset="0"/>
                </a:endParaRPr>
              </a:p>
            </p:txBody>
          </p:sp>
          <p:sp>
            <p:nvSpPr>
              <p:cNvPr id="207" name="矩形 206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="1" baseline="0" dirty="0">
                    <a:solidFill>
                      <a:srgbClr val="FFFFFF"/>
                    </a:solidFill>
                    <a:latin typeface="Arial" charset="0"/>
                  </a:rPr>
                  <a:t>0</a:t>
                </a:r>
                <a:endParaRPr lang="zh-CN" altLang="en-US" sz="2000" b="1" baseline="0" dirty="0">
                  <a:solidFill>
                    <a:srgbClr val="FFFFFF"/>
                  </a:solidFill>
                  <a:latin typeface="Arial" charset="0"/>
                </a:endParaRPr>
              </a:p>
            </p:txBody>
          </p:sp>
          <p:sp>
            <p:nvSpPr>
              <p:cNvPr id="208" name="矩形 207"/>
              <p:cNvSpPr/>
              <p:nvPr/>
            </p:nvSpPr>
            <p:spPr bwMode="auto">
              <a:xfrm>
                <a:off x="1095356" y="3212976"/>
                <a:ext cx="18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aseline="0" dirty="0">
                    <a:solidFill>
                      <a:srgbClr val="000000"/>
                    </a:solidFill>
                    <a:latin typeface="Arial" charset="0"/>
                  </a:rPr>
                  <a:t>n</a:t>
                </a:r>
                <a:endParaRPr lang="zh-CN" altLang="en-US" sz="2000" baseline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09" name="矩形 208"/>
              <p:cNvSpPr/>
              <p:nvPr/>
            </p:nvSpPr>
            <p:spPr bwMode="auto">
              <a:xfrm>
                <a:off x="1273945" y="3212976"/>
                <a:ext cx="18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aseline="0" dirty="0">
                    <a:solidFill>
                      <a:srgbClr val="000000"/>
                    </a:solidFill>
                    <a:latin typeface="Arial" charset="0"/>
                  </a:rPr>
                  <a:t>z</a:t>
                </a:r>
                <a:endParaRPr lang="zh-CN" altLang="en-US" sz="2000" baseline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10" name="矩形 209"/>
              <p:cNvSpPr/>
              <p:nvPr/>
            </p:nvSpPr>
            <p:spPr bwMode="auto">
              <a:xfrm>
                <a:off x="1452534" y="3212976"/>
                <a:ext cx="18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aseline="0" dirty="0">
                    <a:solidFill>
                      <a:srgbClr val="000000"/>
                    </a:solidFill>
                    <a:latin typeface="Arial" charset="0"/>
                  </a:rPr>
                  <a:t>p</a:t>
                </a:r>
                <a:endParaRPr lang="zh-CN" altLang="en-US" sz="2000" baseline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11" name="矩形 210"/>
              <p:cNvSpPr/>
              <p:nvPr/>
            </p:nvSpPr>
            <p:spPr bwMode="auto">
              <a:xfrm>
                <a:off x="1631123" y="3212976"/>
                <a:ext cx="162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aseline="0" dirty="0">
                    <a:solidFill>
                      <a:srgbClr val="000000"/>
                    </a:solidFill>
                    <a:latin typeface="Arial" charset="0"/>
                  </a:rPr>
                  <a:t>PCoffset9</a:t>
                </a:r>
                <a:endParaRPr lang="zh-CN" altLang="en-US" sz="2000" baseline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grpSp>
          <p:nvGrpSpPr>
            <p:cNvPr id="187" name="组合 186"/>
            <p:cNvGrpSpPr/>
            <p:nvPr/>
          </p:nvGrpSpPr>
          <p:grpSpPr>
            <a:xfrm>
              <a:off x="345016" y="2996952"/>
              <a:ext cx="2858832" cy="201861"/>
              <a:chOff x="395536" y="2924976"/>
              <a:chExt cx="2858832" cy="288000"/>
            </a:xfrm>
          </p:grpSpPr>
          <p:sp>
            <p:nvSpPr>
              <p:cNvPr id="188" name="矩形 187"/>
              <p:cNvSpPr/>
              <p:nvPr/>
            </p:nvSpPr>
            <p:spPr bwMode="auto">
              <a:xfrm>
                <a:off x="395536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aseline="0" dirty="0">
                    <a:solidFill>
                      <a:srgbClr val="000000"/>
                    </a:solidFill>
                    <a:latin typeface="Arial" charset="0"/>
                  </a:rPr>
                  <a:t>15</a:t>
                </a:r>
                <a:endParaRPr lang="zh-CN" altLang="en-US" sz="2000" baseline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89" name="矩形 188"/>
              <p:cNvSpPr/>
              <p:nvPr/>
            </p:nvSpPr>
            <p:spPr bwMode="auto">
              <a:xfrm>
                <a:off x="574125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aseline="0" dirty="0">
                    <a:solidFill>
                      <a:srgbClr val="000000"/>
                    </a:solidFill>
                    <a:latin typeface="Arial" charset="0"/>
                  </a:rPr>
                  <a:t>14</a:t>
                </a:r>
                <a:endParaRPr lang="zh-CN" altLang="en-US" sz="2000" baseline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90" name="矩形 189"/>
              <p:cNvSpPr/>
              <p:nvPr/>
            </p:nvSpPr>
            <p:spPr bwMode="auto">
              <a:xfrm>
                <a:off x="752714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aseline="0" dirty="0">
                    <a:solidFill>
                      <a:srgbClr val="000000"/>
                    </a:solidFill>
                    <a:latin typeface="Arial" charset="0"/>
                  </a:rPr>
                  <a:t>13</a:t>
                </a:r>
                <a:endParaRPr lang="zh-CN" altLang="en-US" sz="2000" baseline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91" name="矩形 190"/>
              <p:cNvSpPr/>
              <p:nvPr/>
            </p:nvSpPr>
            <p:spPr bwMode="auto">
              <a:xfrm>
                <a:off x="931303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aseline="0" dirty="0">
                    <a:solidFill>
                      <a:srgbClr val="000000"/>
                    </a:solidFill>
                    <a:latin typeface="Arial" charset="0"/>
                  </a:rPr>
                  <a:t>12</a:t>
                </a:r>
                <a:endParaRPr lang="zh-CN" altLang="en-US" sz="2000" baseline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92" name="矩形 191"/>
              <p:cNvSpPr/>
              <p:nvPr/>
            </p:nvSpPr>
            <p:spPr bwMode="auto">
              <a:xfrm>
                <a:off x="1109892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aseline="0" dirty="0">
                    <a:solidFill>
                      <a:srgbClr val="000000"/>
                    </a:solidFill>
                    <a:latin typeface="Arial" charset="0"/>
                  </a:rPr>
                  <a:t>11</a:t>
                </a:r>
                <a:endParaRPr lang="zh-CN" altLang="en-US" sz="2000" baseline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93" name="矩形 192"/>
              <p:cNvSpPr/>
              <p:nvPr/>
            </p:nvSpPr>
            <p:spPr bwMode="auto">
              <a:xfrm>
                <a:off x="1288481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aseline="0" dirty="0">
                    <a:solidFill>
                      <a:srgbClr val="000000"/>
                    </a:solidFill>
                    <a:latin typeface="Arial" charset="0"/>
                  </a:rPr>
                  <a:t>10</a:t>
                </a:r>
                <a:endParaRPr lang="zh-CN" altLang="en-US" sz="2000" baseline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94" name="矩形 193"/>
              <p:cNvSpPr/>
              <p:nvPr/>
            </p:nvSpPr>
            <p:spPr bwMode="auto">
              <a:xfrm>
                <a:off x="1467070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aseline="0" dirty="0">
                    <a:solidFill>
                      <a:srgbClr val="000000"/>
                    </a:solidFill>
                    <a:latin typeface="Arial" charset="0"/>
                  </a:rPr>
                  <a:t>9</a:t>
                </a:r>
                <a:endParaRPr lang="zh-CN" altLang="en-US" sz="2000" baseline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95" name="矩形 194"/>
              <p:cNvSpPr/>
              <p:nvPr/>
            </p:nvSpPr>
            <p:spPr bwMode="auto">
              <a:xfrm>
                <a:off x="1645659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aseline="0" dirty="0">
                    <a:solidFill>
                      <a:srgbClr val="000000"/>
                    </a:solidFill>
                    <a:latin typeface="Arial" charset="0"/>
                  </a:rPr>
                  <a:t>8</a:t>
                </a:r>
                <a:endParaRPr lang="zh-CN" altLang="en-US" sz="2000" baseline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96" name="矩形 195"/>
              <p:cNvSpPr/>
              <p:nvPr/>
            </p:nvSpPr>
            <p:spPr bwMode="auto">
              <a:xfrm>
                <a:off x="1824248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aseline="0" dirty="0">
                    <a:solidFill>
                      <a:srgbClr val="000000"/>
                    </a:solidFill>
                    <a:latin typeface="Arial" charset="0"/>
                  </a:rPr>
                  <a:t>7</a:t>
                </a:r>
                <a:endParaRPr lang="zh-CN" altLang="en-US" sz="2000" baseline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97" name="矩形 196"/>
              <p:cNvSpPr/>
              <p:nvPr/>
            </p:nvSpPr>
            <p:spPr bwMode="auto">
              <a:xfrm>
                <a:off x="2002837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aseline="0" dirty="0">
                    <a:solidFill>
                      <a:srgbClr val="000000"/>
                    </a:solidFill>
                    <a:latin typeface="Arial" charset="0"/>
                  </a:rPr>
                  <a:t>6</a:t>
                </a:r>
                <a:endParaRPr lang="zh-CN" altLang="en-US" sz="2000" baseline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98" name="矩形 197"/>
              <p:cNvSpPr/>
              <p:nvPr/>
            </p:nvSpPr>
            <p:spPr bwMode="auto">
              <a:xfrm>
                <a:off x="2181426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aseline="0" dirty="0">
                    <a:solidFill>
                      <a:srgbClr val="000000"/>
                    </a:solidFill>
                    <a:latin typeface="Arial" charset="0"/>
                  </a:rPr>
                  <a:t>5</a:t>
                </a:r>
                <a:endParaRPr lang="zh-CN" altLang="en-US" sz="2000" baseline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199" name="矩形 198"/>
              <p:cNvSpPr/>
              <p:nvPr/>
            </p:nvSpPr>
            <p:spPr bwMode="auto">
              <a:xfrm>
                <a:off x="2360015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aseline="0" dirty="0">
                    <a:solidFill>
                      <a:srgbClr val="000000"/>
                    </a:solidFill>
                    <a:latin typeface="Arial" charset="0"/>
                  </a:rPr>
                  <a:t>4</a:t>
                </a:r>
                <a:endParaRPr lang="zh-CN" altLang="en-US" sz="2000" baseline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00" name="矩形 199"/>
              <p:cNvSpPr/>
              <p:nvPr/>
            </p:nvSpPr>
            <p:spPr bwMode="auto">
              <a:xfrm>
                <a:off x="2538604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aseline="0" dirty="0">
                    <a:solidFill>
                      <a:srgbClr val="000000"/>
                    </a:solidFill>
                    <a:latin typeface="Arial" charset="0"/>
                  </a:rPr>
                  <a:t>3</a:t>
                </a:r>
                <a:endParaRPr lang="zh-CN" altLang="en-US" sz="2000" baseline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01" name="矩形 200"/>
              <p:cNvSpPr/>
              <p:nvPr/>
            </p:nvSpPr>
            <p:spPr bwMode="auto">
              <a:xfrm>
                <a:off x="2717193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aseline="0" dirty="0">
                    <a:solidFill>
                      <a:srgbClr val="000000"/>
                    </a:solidFill>
                    <a:latin typeface="Arial" charset="0"/>
                  </a:rPr>
                  <a:t>2</a:t>
                </a:r>
                <a:endParaRPr lang="zh-CN" altLang="en-US" sz="2000" baseline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02" name="矩形 201"/>
              <p:cNvSpPr/>
              <p:nvPr/>
            </p:nvSpPr>
            <p:spPr bwMode="auto">
              <a:xfrm>
                <a:off x="2895782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aseline="0" dirty="0">
                    <a:solidFill>
                      <a:srgbClr val="000000"/>
                    </a:solidFill>
                    <a:latin typeface="Arial" charset="0"/>
                  </a:rPr>
                  <a:t>1</a:t>
                </a:r>
                <a:endParaRPr lang="zh-CN" altLang="en-US" sz="2000" baseline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sp>
            <p:nvSpPr>
              <p:cNvPr id="203" name="矩形 202"/>
              <p:cNvSpPr/>
              <p:nvPr/>
            </p:nvSpPr>
            <p:spPr bwMode="auto">
              <a:xfrm>
                <a:off x="3074368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1" hangingPunct="1">
                  <a:defRPr/>
                </a:pPr>
                <a:r>
                  <a:rPr lang="en-US" altLang="zh-CN" sz="2000" baseline="0" dirty="0">
                    <a:solidFill>
                      <a:srgbClr val="000000"/>
                    </a:solidFill>
                    <a:latin typeface="Arial" charset="0"/>
                  </a:rPr>
                  <a:t>0</a:t>
                </a:r>
                <a:endParaRPr lang="zh-CN" altLang="en-US" sz="2000" baseline="0" dirty="0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</p:grpSp>
      <p:grpSp>
        <p:nvGrpSpPr>
          <p:cNvPr id="109" name="组合 108"/>
          <p:cNvGrpSpPr/>
          <p:nvPr/>
        </p:nvGrpSpPr>
        <p:grpSpPr>
          <a:xfrm>
            <a:off x="2244144" y="2251160"/>
            <a:ext cx="6459634" cy="541667"/>
            <a:chOff x="381000" y="3212976"/>
            <a:chExt cx="2872945" cy="288000"/>
          </a:xfrm>
        </p:grpSpPr>
        <p:sp>
          <p:nvSpPr>
            <p:cNvPr id="180" name="矩形 179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FFFFFF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81" name="矩形 180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FFFFFF"/>
                  </a:solidFill>
                  <a:latin typeface="Arial" charset="0"/>
                </a:rPr>
                <a:t>1</a:t>
              </a:r>
              <a:endParaRPr lang="zh-CN" altLang="en-US" sz="2000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82" name="矩形 181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="1" baseline="0" dirty="0">
                  <a:solidFill>
                    <a:srgbClr val="FFFFFF"/>
                  </a:solidFill>
                  <a:latin typeface="Arial" charset="0"/>
                </a:rPr>
                <a:t>0</a:t>
              </a:r>
              <a:endParaRPr lang="zh-CN" altLang="en-US" sz="2000" b="1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83" name="矩形 182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="1" baseline="0" dirty="0">
                  <a:solidFill>
                    <a:srgbClr val="FFFFFF"/>
                  </a:solidFill>
                  <a:latin typeface="Arial" charset="0"/>
                </a:rPr>
                <a:t>0</a:t>
              </a:r>
              <a:endParaRPr lang="zh-CN" altLang="en-US" sz="2000" b="1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84" name="矩形 183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="1" baseline="0" dirty="0">
                  <a:solidFill>
                    <a:srgbClr val="FFFFFF"/>
                  </a:solidFill>
                  <a:latin typeface="Arial" charset="0"/>
                </a:rPr>
                <a:t>1</a:t>
              </a:r>
              <a:endParaRPr lang="zh-CN" altLang="en-US" sz="2000" b="1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85" name="矩形 184"/>
            <p:cNvSpPr/>
            <p:nvPr/>
          </p:nvSpPr>
          <p:spPr bwMode="auto">
            <a:xfrm>
              <a:off x="1273945" y="3212976"/>
              <a:ext cx="19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PCoffset11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2244144" y="2843918"/>
            <a:ext cx="6427902" cy="541667"/>
            <a:chOff x="381000" y="3212976"/>
            <a:chExt cx="2858832" cy="288000"/>
          </a:xfrm>
        </p:grpSpPr>
        <p:sp>
          <p:nvSpPr>
            <p:cNvPr id="166" name="矩形 165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FFFFFF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67" name="矩形 166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FFFFFF"/>
                  </a:solidFill>
                  <a:latin typeface="Arial" charset="0"/>
                </a:rPr>
                <a:t>1</a:t>
              </a:r>
              <a:endParaRPr lang="zh-CN" altLang="en-US" sz="2000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68" name="矩形 167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="1" baseline="0" dirty="0">
                  <a:solidFill>
                    <a:srgbClr val="FFFFFF"/>
                  </a:solidFill>
                  <a:latin typeface="Arial" charset="0"/>
                </a:rPr>
                <a:t>0</a:t>
              </a:r>
              <a:endParaRPr lang="zh-CN" altLang="en-US" sz="2000" b="1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69" name="矩形 168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="1" baseline="0" dirty="0">
                  <a:solidFill>
                    <a:srgbClr val="FFFFFF"/>
                  </a:solidFill>
                  <a:latin typeface="Arial" charset="0"/>
                </a:rPr>
                <a:t>0</a:t>
              </a:r>
              <a:endParaRPr lang="zh-CN" altLang="en-US" sz="2000" b="1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70" name="矩形 169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="1" baseline="0" dirty="0">
                  <a:solidFill>
                    <a:srgbClr val="FFFFFF"/>
                  </a:solidFill>
                  <a:latin typeface="Arial" charset="0"/>
                </a:rPr>
                <a:t>0</a:t>
              </a:r>
              <a:endParaRPr lang="zh-CN" altLang="en-US" sz="2000" b="1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71" name="矩形 170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72" name="矩形 171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73" name="矩形 172"/>
            <p:cNvSpPr/>
            <p:nvPr/>
          </p:nvSpPr>
          <p:spPr bwMode="auto">
            <a:xfrm>
              <a:off x="1631123" y="3212976"/>
              <a:ext cx="54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 err="1">
                  <a:solidFill>
                    <a:srgbClr val="000000"/>
                  </a:solidFill>
                  <a:latin typeface="Arial" charset="0"/>
                </a:rPr>
                <a:t>BaseR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74" name="矩形 173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75" name="矩形 174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76" name="矩形 175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77" name="矩形 176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78" name="矩形 177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79" name="矩形 178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2244144" y="3436676"/>
            <a:ext cx="6427902" cy="541667"/>
            <a:chOff x="381000" y="3212976"/>
            <a:chExt cx="2858832" cy="288000"/>
          </a:xfrm>
        </p:grpSpPr>
        <p:sp>
          <p:nvSpPr>
            <p:cNvPr id="150" name="矩形 149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FFFFFF"/>
                  </a:solidFill>
                  <a:latin typeface="Arial" charset="0"/>
                </a:rPr>
                <a:t>1</a:t>
              </a:r>
              <a:endParaRPr lang="zh-CN" altLang="en-US" sz="2000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51" name="矩形 150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FFFFFF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52" name="矩形 151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="1" baseline="0" dirty="0">
                  <a:solidFill>
                    <a:srgbClr val="FFFFFF"/>
                  </a:solidFill>
                  <a:latin typeface="Arial" charset="0"/>
                </a:rPr>
                <a:t>0</a:t>
              </a:r>
              <a:endParaRPr lang="zh-CN" altLang="en-US" sz="2000" b="1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53" name="矩形 152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="1" baseline="0" dirty="0">
                  <a:solidFill>
                    <a:srgbClr val="FFFFFF"/>
                  </a:solidFill>
                  <a:latin typeface="Arial" charset="0"/>
                </a:rPr>
                <a:t>0</a:t>
              </a:r>
              <a:endParaRPr lang="zh-CN" altLang="en-US" sz="2000" b="1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54" name="矩形 153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55" name="矩形 154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56" name="矩形 155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57" name="矩形 156"/>
            <p:cNvSpPr/>
            <p:nvPr/>
          </p:nvSpPr>
          <p:spPr bwMode="auto">
            <a:xfrm>
              <a:off x="1631123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58" name="矩形 157"/>
            <p:cNvSpPr/>
            <p:nvPr/>
          </p:nvSpPr>
          <p:spPr bwMode="auto">
            <a:xfrm>
              <a:off x="180971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59" name="矩形 158"/>
            <p:cNvSpPr/>
            <p:nvPr/>
          </p:nvSpPr>
          <p:spPr bwMode="auto">
            <a:xfrm>
              <a:off x="1988301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60" name="矩形 159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61" name="矩形 160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62" name="矩形 161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63" name="矩形 162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64" name="矩形 163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65" name="矩形 164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664114" y="1653225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altLang="zh-CN" sz="2000" b="1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</a:t>
            </a:r>
            <a:endParaRPr lang="zh-CN" altLang="en-US" sz="2000" b="1" baseline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矩形 112"/>
          <p:cNvSpPr/>
          <p:nvPr/>
        </p:nvSpPr>
        <p:spPr bwMode="auto">
          <a:xfrm>
            <a:off x="664114" y="2840811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altLang="zh-CN" sz="2000" b="1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JSRR</a:t>
            </a:r>
            <a:endParaRPr lang="zh-CN" altLang="en-US" sz="2000" b="1" baseline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矩形 113"/>
          <p:cNvSpPr/>
          <p:nvPr/>
        </p:nvSpPr>
        <p:spPr bwMode="auto">
          <a:xfrm>
            <a:off x="664114" y="3434604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altLang="zh-CN" sz="2000" b="1" baseline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RTI</a:t>
            </a:r>
            <a:endParaRPr lang="zh-CN" altLang="en-US" sz="2000" b="1" baseline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矩形 114"/>
          <p:cNvSpPr/>
          <p:nvPr/>
        </p:nvSpPr>
        <p:spPr bwMode="auto">
          <a:xfrm>
            <a:off x="664114" y="2255830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altLang="zh-CN" sz="2000" b="1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JSR</a:t>
            </a:r>
            <a:endParaRPr lang="zh-CN" altLang="en-US" sz="2000" b="1" baseline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2244144" y="4031385"/>
            <a:ext cx="6427902" cy="541667"/>
            <a:chOff x="381000" y="3212976"/>
            <a:chExt cx="2858832" cy="288000"/>
          </a:xfrm>
        </p:grpSpPr>
        <p:sp>
          <p:nvSpPr>
            <p:cNvPr id="136" name="矩形 135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FFFFFF"/>
                  </a:solidFill>
                  <a:latin typeface="Arial" charset="0"/>
                </a:rPr>
                <a:t>1</a:t>
              </a:r>
              <a:endParaRPr lang="zh-CN" altLang="en-US" sz="2000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37" name="矩形 136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FFFFFF"/>
                  </a:solidFill>
                  <a:latin typeface="Arial" charset="0"/>
                </a:rPr>
                <a:t>1</a:t>
              </a:r>
              <a:endParaRPr lang="zh-CN" altLang="en-US" sz="2000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38" name="矩形 137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="1" baseline="0" dirty="0">
                  <a:solidFill>
                    <a:srgbClr val="FFFFFF"/>
                  </a:solidFill>
                  <a:latin typeface="Arial" charset="0"/>
                </a:rPr>
                <a:t>0</a:t>
              </a:r>
              <a:endParaRPr lang="zh-CN" altLang="en-US" sz="2000" b="1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39" name="矩形 138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="1" baseline="0" dirty="0">
                  <a:solidFill>
                    <a:srgbClr val="FFFFFF"/>
                  </a:solidFill>
                  <a:latin typeface="Arial" charset="0"/>
                </a:rPr>
                <a:t>0</a:t>
              </a:r>
              <a:endParaRPr lang="zh-CN" altLang="en-US" sz="2000" b="1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40" name="矩形 139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41" name="矩形 140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42" name="矩形 141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43" name="矩形 142"/>
            <p:cNvSpPr/>
            <p:nvPr/>
          </p:nvSpPr>
          <p:spPr bwMode="auto">
            <a:xfrm>
              <a:off x="1631123" y="3212976"/>
              <a:ext cx="54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 err="1">
                  <a:solidFill>
                    <a:srgbClr val="000000"/>
                  </a:solidFill>
                  <a:latin typeface="Arial" charset="0"/>
                </a:rPr>
                <a:t>BaseR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44" name="矩形 143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45" name="矩形 144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46" name="矩形 145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47" name="矩形 146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48" name="矩形 147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49" name="矩形 148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</p:grpSp>
      <p:sp>
        <p:nvSpPr>
          <p:cNvPr id="117" name="矩形 116"/>
          <p:cNvSpPr/>
          <p:nvPr/>
        </p:nvSpPr>
        <p:spPr bwMode="auto">
          <a:xfrm>
            <a:off x="664114" y="4029312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altLang="zh-CN" sz="2000" b="1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JMP</a:t>
            </a:r>
            <a:endParaRPr lang="zh-CN" altLang="en-US" sz="2000" b="1" baseline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2244144" y="4624020"/>
            <a:ext cx="6427902" cy="541667"/>
            <a:chOff x="381000" y="3212976"/>
            <a:chExt cx="2858832" cy="288000"/>
          </a:xfrm>
        </p:grpSpPr>
        <p:sp>
          <p:nvSpPr>
            <p:cNvPr id="120" name="矩形 119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FFFFFF"/>
                  </a:solidFill>
                  <a:latin typeface="Arial" charset="0"/>
                </a:rPr>
                <a:t>1</a:t>
              </a:r>
              <a:endParaRPr lang="zh-CN" altLang="en-US" sz="2000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21" name="矩形 120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FFFFFF"/>
                  </a:solidFill>
                  <a:latin typeface="Arial" charset="0"/>
                </a:rPr>
                <a:t>1</a:t>
              </a:r>
              <a:endParaRPr lang="zh-CN" altLang="en-US" sz="2000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22" name="矩形 121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="1" baseline="0" dirty="0">
                  <a:solidFill>
                    <a:srgbClr val="FFFFFF"/>
                  </a:solidFill>
                  <a:latin typeface="Arial" charset="0"/>
                </a:rPr>
                <a:t>0</a:t>
              </a:r>
              <a:endParaRPr lang="zh-CN" altLang="en-US" sz="2000" b="1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23" name="矩形 122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="1" baseline="0" dirty="0">
                  <a:solidFill>
                    <a:srgbClr val="FFFFFF"/>
                  </a:solidFill>
                  <a:latin typeface="Arial" charset="0"/>
                </a:rPr>
                <a:t>0</a:t>
              </a:r>
              <a:endParaRPr lang="zh-CN" altLang="en-US" sz="2000" b="1" baseline="0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124" name="矩形 123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25" name="矩形 124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26" name="矩形 125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27" name="矩形 126"/>
            <p:cNvSpPr/>
            <p:nvPr/>
          </p:nvSpPr>
          <p:spPr bwMode="auto">
            <a:xfrm>
              <a:off x="1631123" y="3212976"/>
              <a:ext cx="18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28" name="矩形 127"/>
            <p:cNvSpPr/>
            <p:nvPr/>
          </p:nvSpPr>
          <p:spPr bwMode="auto">
            <a:xfrm>
              <a:off x="1809712" y="3212976"/>
              <a:ext cx="18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29" name="矩形 128"/>
            <p:cNvSpPr/>
            <p:nvPr/>
          </p:nvSpPr>
          <p:spPr bwMode="auto">
            <a:xfrm>
              <a:off x="1988301" y="3212976"/>
              <a:ext cx="18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30" name="矩形 129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31" name="矩形 130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32" name="矩形 131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33" name="矩形 132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34" name="矩形 133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35" name="矩形 134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aseline="0" dirty="0">
                  <a:solidFill>
                    <a:srgbClr val="000000"/>
                  </a:solidFill>
                  <a:latin typeface="Arial" charset="0"/>
                </a:rPr>
                <a:t>0</a:t>
              </a:r>
              <a:endParaRPr lang="zh-CN" altLang="en-US" sz="2000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</p:grpSp>
      <p:sp>
        <p:nvSpPr>
          <p:cNvPr id="119" name="矩形 118"/>
          <p:cNvSpPr/>
          <p:nvPr/>
        </p:nvSpPr>
        <p:spPr bwMode="auto">
          <a:xfrm>
            <a:off x="664114" y="4621948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altLang="zh-CN" sz="2000" b="1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RET</a:t>
            </a:r>
            <a:endParaRPr lang="zh-CN" altLang="en-US" sz="2000" b="1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3914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000" baseline="0" dirty="0">
                <a:solidFill>
                  <a:srgbClr val="000000"/>
                </a:solidFill>
              </a:rPr>
              <a:t>SR2</a:t>
            </a:r>
            <a:endParaRPr lang="zh-CN" altLang="en-US" sz="1000" baseline="0" dirty="0">
              <a:solidFill>
                <a:srgbClr val="000000"/>
              </a:solidFill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3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altLang="zh-CN" sz="1000" b="1" baseline="0" dirty="0">
                <a:solidFill>
                  <a:srgbClr val="FFFFFF"/>
                </a:solidFill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lang="zh-CN" altLang="en-US" sz="1000" b="1" baseline="0" dirty="0">
              <a:solidFill>
                <a:srgbClr val="FFFFFF"/>
              </a:solidFill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</a:rPr>
              <a:t>[10:0]</a:t>
            </a:r>
            <a:endParaRPr lang="zh-CN" altLang="en-US" sz="1200" b="1" baseline="0" dirty="0">
              <a:solidFill>
                <a:srgbClr val="000000"/>
              </a:solidFill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Arial" charset="0"/>
              </a:rPr>
              <a:t>SEXT</a:t>
            </a:r>
            <a:endParaRPr lang="zh-CN" altLang="en-US" sz="1200" b="1" baseline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Arial" charset="0"/>
              </a:rPr>
              <a:t>SEXT</a:t>
            </a:r>
            <a:endParaRPr lang="zh-CN" altLang="en-US" sz="1200" b="1" baseline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Arial" charset="0"/>
              </a:rPr>
              <a:t>SEXT</a:t>
            </a:r>
            <a:endParaRPr lang="zh-CN" altLang="en-US" sz="1200" b="1" baseline="0" dirty="0">
              <a:solidFill>
                <a:srgbClr val="000000"/>
              </a:solidFill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</a:rPr>
              <a:t>[8:0]</a:t>
            </a:r>
            <a:endParaRPr lang="zh-CN" altLang="en-US" sz="1200" b="1" baseline="0" dirty="0">
              <a:solidFill>
                <a:srgbClr val="000000"/>
              </a:solidFill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</a:rPr>
              <a:t>[5:0]</a:t>
            </a:r>
            <a:endParaRPr lang="zh-CN" altLang="en-US" sz="1200" b="1" baseline="0" dirty="0">
              <a:solidFill>
                <a:srgbClr val="000000"/>
              </a:solidFill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</a:rPr>
              <a:t>[4:0]</a:t>
            </a:r>
            <a:endParaRPr lang="zh-CN" altLang="en-US" sz="1200" b="1" baseline="0" dirty="0">
              <a:solidFill>
                <a:srgbClr val="000000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1200" b="1" baseline="0" dirty="0">
                  <a:solidFill>
                    <a:srgbClr val="000000"/>
                  </a:solidFill>
                  <a:latin typeface="Arial" charset="0"/>
                </a:rPr>
                <a:t>SEXT</a:t>
              </a:r>
              <a:endParaRPr lang="zh-CN" altLang="en-US" sz="1200" b="1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zh-CN" sz="1200" b="1" baseline="0" dirty="0">
                <a:solidFill>
                  <a:srgbClr val="000000"/>
                </a:solidFill>
              </a:rPr>
              <a:t>INPUT</a:t>
            </a:r>
            <a:endParaRPr lang="zh-CN" altLang="en-US" sz="1200" b="1" baseline="0" dirty="0">
              <a:solidFill>
                <a:srgbClr val="000000"/>
              </a:solidFill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000" baseline="0" dirty="0">
                <a:solidFill>
                  <a:srgbClr val="000000"/>
                </a:solidFill>
              </a:rPr>
              <a:t>MEM.EN,R,W</a:t>
            </a:r>
            <a:endParaRPr lang="zh-CN" altLang="en-US" sz="1000" baseline="0" dirty="0">
              <a:solidFill>
                <a:srgbClr val="000000"/>
              </a:solidFill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Arial" charset="0"/>
              </a:rPr>
              <a:t>MAR</a:t>
            </a:r>
            <a:endParaRPr lang="zh-CN" altLang="en-US" sz="1200" b="1" baseline="0" dirty="0">
              <a:solidFill>
                <a:srgbClr val="000000"/>
              </a:solidFill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000" baseline="0" dirty="0">
                <a:solidFill>
                  <a:srgbClr val="000000"/>
                </a:solidFill>
              </a:rPr>
              <a:t>LD.MAR</a:t>
            </a:r>
            <a:endParaRPr lang="zh-CN" altLang="en-US" sz="1000" baseline="0" dirty="0">
              <a:solidFill>
                <a:srgbClr val="000000"/>
              </a:solidFill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altLang="zh-CN" sz="1000" b="1" baseline="0" dirty="0">
                <a:solidFill>
                  <a:srgbClr val="000000"/>
                </a:solidFill>
                <a:latin typeface="Arial" charset="0"/>
              </a:rPr>
              <a:t>PC</a:t>
            </a:r>
            <a:endParaRPr lang="zh-CN" altLang="en-US" sz="1000" b="1" baseline="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altLang="zh-CN" sz="1000" baseline="0" dirty="0" err="1">
                <a:solidFill>
                  <a:srgbClr val="000000"/>
                </a:solidFill>
              </a:rPr>
              <a:t>GatePC</a:t>
            </a:r>
            <a:endParaRPr lang="zh-CN" altLang="en-US" sz="1000" baseline="0" dirty="0">
              <a:solidFill>
                <a:srgbClr val="00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zh-CN" sz="1200" b="1" baseline="0" dirty="0">
                <a:solidFill>
                  <a:srgbClr val="000000"/>
                </a:solidFill>
              </a:rPr>
              <a:t>OUTPUT</a:t>
            </a:r>
            <a:endParaRPr lang="zh-CN" altLang="en-US" sz="1200" b="1" baseline="0" dirty="0">
              <a:solidFill>
                <a:srgbClr val="000000"/>
              </a:solidFill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zh-CN" sz="1200" b="1" baseline="0" dirty="0">
                <a:solidFill>
                  <a:srgbClr val="000000"/>
                </a:solidFill>
              </a:rPr>
              <a:t>MEMORY</a:t>
            </a:r>
            <a:endParaRPr lang="zh-CN" altLang="en-US" sz="1200" b="1" baseline="0" dirty="0">
              <a:solidFill>
                <a:srgbClr val="000000"/>
              </a:solidFill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altLang="zh-CN" sz="1000" b="1" baseline="0" dirty="0">
                <a:solidFill>
                  <a:srgbClr val="FFFFFF"/>
                </a:solidFill>
                <a:latin typeface="Arial" charset="0"/>
              </a:rPr>
              <a:t>MUX</a:t>
            </a:r>
            <a:endParaRPr lang="zh-CN" altLang="en-US" sz="1000" b="1" baseline="0" dirty="0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altLang="zh-CN" sz="1000" b="1" baseline="0" dirty="0">
                <a:solidFill>
                  <a:srgbClr val="FFFFFF"/>
                </a:solidFill>
                <a:latin typeface="Arial" charset="0"/>
              </a:rPr>
              <a:t>MUX</a:t>
            </a:r>
            <a:endParaRPr lang="zh-CN" altLang="en-US" sz="1000" b="1" baseline="0" dirty="0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Arial" charset="0"/>
              </a:rPr>
              <a:t>MDR</a:t>
            </a:r>
            <a:endParaRPr lang="zh-CN" altLang="en-US" sz="1200" b="1" baseline="0" dirty="0">
              <a:solidFill>
                <a:srgbClr val="000000"/>
              </a:solidFill>
              <a:latin typeface="Arial" charset="0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Arial" charset="0"/>
              </a:rPr>
              <a:t>…</a:t>
            </a:r>
            <a:endParaRPr lang="zh-CN" altLang="en-US" sz="2400" b="1" dirty="0">
              <a:solidFill>
                <a:srgbClr val="000000"/>
              </a:solidFill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2000" b="1" dirty="0">
                  <a:solidFill>
                    <a:srgbClr val="FFFFFF"/>
                  </a:solidFill>
                  <a:latin typeface="Arial" charset="0"/>
                </a:rPr>
                <a:t>+</a:t>
              </a:r>
              <a:endParaRPr lang="zh-CN" altLang="en-US" sz="2000" b="1" dirty="0">
                <a:solidFill>
                  <a:srgbClr val="FFFFFF"/>
                </a:solidFill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000" baseline="0" dirty="0">
                <a:solidFill>
                  <a:srgbClr val="000000"/>
                </a:solidFill>
              </a:rPr>
              <a:t>ADDR1MUX</a:t>
            </a:r>
            <a:endParaRPr lang="zh-CN" altLang="en-US" sz="1000" baseline="0" dirty="0">
              <a:solidFill>
                <a:srgbClr val="000000"/>
              </a:solidFill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2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altLang="zh-CN" sz="1000" b="1" baseline="0" dirty="0">
                <a:solidFill>
                  <a:srgbClr val="FFFFFF"/>
                </a:solidFill>
                <a:latin typeface="Arial" charset="0"/>
              </a:rPr>
              <a:t>PCMUX</a:t>
            </a:r>
            <a:endParaRPr lang="zh-CN" altLang="en-US" sz="1000" b="1" baseline="0" dirty="0">
              <a:solidFill>
                <a:srgbClr val="FFFFFF"/>
              </a:solidFill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altLang="zh-CN" sz="1000" b="1" baseline="0" dirty="0">
                <a:solidFill>
                  <a:srgbClr val="FFFFFF"/>
                </a:solidFill>
                <a:latin typeface="Arial" charset="0"/>
              </a:rPr>
              <a:t>+1</a:t>
            </a:r>
            <a:endParaRPr lang="zh-CN" altLang="en-US" sz="1000" b="1" baseline="0" dirty="0">
              <a:solidFill>
                <a:srgbClr val="FFFFFF"/>
              </a:solidFill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altLang="zh-CN" sz="1000" b="1" baseline="0" dirty="0">
                <a:solidFill>
                  <a:srgbClr val="FFFFFF"/>
                </a:solidFill>
                <a:latin typeface="Arial" charset="0"/>
              </a:rPr>
              <a:t>MARMUX</a:t>
            </a:r>
            <a:endParaRPr lang="zh-CN" altLang="en-US" sz="1000" b="1" baseline="0" dirty="0">
              <a:solidFill>
                <a:srgbClr val="FFFFFF"/>
              </a:solidFill>
              <a:latin typeface="Arial" charset="0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Arial" charset="0"/>
              </a:rPr>
              <a:t>SEXT</a:t>
            </a:r>
            <a:endParaRPr lang="zh-CN" altLang="en-US" sz="1200" b="1" baseline="0" dirty="0">
              <a:solidFill>
                <a:srgbClr val="000000"/>
              </a:solidFill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200" b="1" baseline="0" dirty="0">
                <a:solidFill>
                  <a:srgbClr val="000000"/>
                </a:solidFill>
              </a:rPr>
              <a:t>[7:0]</a:t>
            </a:r>
            <a:endParaRPr lang="zh-CN" altLang="en-US" sz="1200" b="1" baseline="0" dirty="0">
              <a:solidFill>
                <a:srgbClr val="000000"/>
              </a:solidFill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altLang="zh-CN" sz="1000" baseline="0" dirty="0" err="1">
                <a:solidFill>
                  <a:srgbClr val="000000"/>
                </a:solidFill>
              </a:rPr>
              <a:t>GateMARMUX</a:t>
            </a:r>
            <a:endParaRPr lang="zh-CN" altLang="en-US" sz="1000" baseline="0" dirty="0">
              <a:solidFill>
                <a:srgbClr val="000000"/>
              </a:solidFill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altLang="zh-CN" sz="1000" baseline="0" dirty="0">
                <a:solidFill>
                  <a:srgbClr val="000000"/>
                </a:solidFill>
              </a:rPr>
              <a:t>LD.PC</a:t>
            </a:r>
            <a:endParaRPr lang="zh-CN" altLang="en-US" sz="1000" baseline="0" dirty="0">
              <a:solidFill>
                <a:srgbClr val="000000"/>
              </a:solidFill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altLang="zh-CN" sz="1000" baseline="0" dirty="0">
                <a:solidFill>
                  <a:srgbClr val="000000"/>
                </a:solidFill>
              </a:rPr>
              <a:t>ADDR2MUX</a:t>
            </a:r>
            <a:endParaRPr lang="zh-CN" altLang="en-US" sz="1000" baseline="0" dirty="0">
              <a:solidFill>
                <a:srgbClr val="000000"/>
              </a:solidFill>
            </a:endParaRPr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000" baseline="0" dirty="0">
                <a:solidFill>
                  <a:srgbClr val="000000"/>
                </a:solidFill>
              </a:rPr>
              <a:t>LD.MDR</a:t>
            </a:r>
            <a:endParaRPr lang="zh-CN" altLang="en-US" sz="1000" baseline="0" dirty="0">
              <a:solidFill>
                <a:srgbClr val="000000"/>
              </a:solidFill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altLang="zh-CN" sz="1000" b="1" baseline="0" dirty="0">
                <a:solidFill>
                  <a:srgbClr val="FFFFFF"/>
                </a:solidFill>
                <a:latin typeface="Arial" charset="0"/>
              </a:rPr>
              <a:t>MUX</a:t>
            </a:r>
            <a:endParaRPr lang="zh-CN" altLang="en-US" sz="1000" b="1" baseline="0" dirty="0">
              <a:solidFill>
                <a:srgbClr val="FFFFFF"/>
              </a:solidFill>
              <a:latin typeface="Arial" charset="0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000" baseline="0" dirty="0">
                <a:solidFill>
                  <a:srgbClr val="000000"/>
                </a:solidFill>
              </a:rPr>
              <a:t>MIO.EN</a:t>
            </a:r>
            <a:endParaRPr lang="zh-CN" altLang="en-US" sz="1000" baseline="0" dirty="0">
              <a:solidFill>
                <a:srgbClr val="000000"/>
              </a:solidFill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altLang="zh-CN" sz="1000" baseline="0" dirty="0" err="1">
                <a:solidFill>
                  <a:srgbClr val="000000"/>
                </a:solidFill>
              </a:rPr>
              <a:t>GateMDR</a:t>
            </a:r>
            <a:endParaRPr lang="zh-CN" altLang="en-US" sz="1000" baseline="0" dirty="0">
              <a:solidFill>
                <a:srgbClr val="000000"/>
              </a:solidFill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altLang="zh-CN" sz="1400" b="1" baseline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lang="zh-CN" altLang="en-US" sz="1400" b="1" baseline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zh-CN" altLang="en-US" sz="14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defRPr/>
            </a:pPr>
            <a:r>
              <a:rPr lang="en-US" altLang="zh-CN" sz="1200" b="1" dirty="0">
                <a:solidFill>
                  <a:srgbClr val="FFFFFF"/>
                </a:solidFill>
              </a:rPr>
              <a:t>A</a:t>
            </a:r>
            <a:endParaRPr lang="zh-CN" altLang="en-US" sz="1200" b="1" dirty="0">
              <a:solidFill>
                <a:srgbClr val="FFFFFF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defRPr/>
            </a:pPr>
            <a:r>
              <a:rPr lang="en-US" altLang="zh-CN" sz="1200" b="1" dirty="0">
                <a:solidFill>
                  <a:srgbClr val="FFFFFF"/>
                </a:solidFill>
              </a:rPr>
              <a:t>B</a:t>
            </a:r>
            <a:endParaRPr lang="zh-CN" altLang="en-US" sz="1200" b="1" dirty="0">
              <a:solidFill>
                <a:srgbClr val="FFFFFF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000" baseline="0" dirty="0">
                <a:solidFill>
                  <a:srgbClr val="000000"/>
                </a:solidFill>
              </a:rPr>
              <a:t>ALUK</a:t>
            </a:r>
            <a:endParaRPr lang="zh-CN" altLang="en-US" sz="1000" baseline="0" dirty="0">
              <a:solidFill>
                <a:srgbClr val="000000"/>
              </a:solidFill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2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altLang="zh-CN" sz="1200" b="1" baseline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1000" b="1" baseline="0" dirty="0">
                  <a:solidFill>
                    <a:srgbClr val="000000"/>
                  </a:solidFill>
                  <a:latin typeface="Arial" charset="0"/>
                </a:rPr>
                <a:t>N</a:t>
              </a:r>
              <a:endParaRPr lang="zh-CN" altLang="en-US" sz="1000" b="1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1000" b="1" baseline="0" dirty="0">
                  <a:solidFill>
                    <a:srgbClr val="000000"/>
                  </a:solidFill>
                  <a:latin typeface="Arial" charset="0"/>
                </a:rPr>
                <a:t>Z</a:t>
              </a:r>
              <a:endParaRPr lang="zh-CN" altLang="en-US" sz="1000" b="1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1000" b="1" baseline="0" dirty="0">
                  <a:solidFill>
                    <a:srgbClr val="000000"/>
                  </a:solidFill>
                  <a:latin typeface="Arial" charset="0"/>
                </a:rPr>
                <a:t>P</a:t>
              </a:r>
              <a:endParaRPr lang="zh-CN" altLang="en-US" sz="1000" b="1" baseline="0" dirty="0">
                <a:solidFill>
                  <a:srgbClr val="000000"/>
                </a:solidFill>
                <a:latin typeface="Arial" charset="0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eaLnBrk="1" hangingPunct="1">
                  <a:defRPr/>
                </a:pPr>
                <a:endParaRPr lang="zh-CN" altLang="en-US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altLang="zh-CN" sz="1000" baseline="0" dirty="0">
                  <a:solidFill>
                    <a:srgbClr val="000000"/>
                  </a:solidFill>
                </a:rPr>
                <a:t>RUN</a:t>
              </a:r>
              <a:endParaRPr lang="zh-CN" altLang="en-US" sz="1000" baseline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eaLnBrk="1" hangingPunct="1">
                  <a:defRPr/>
                </a:pPr>
                <a:endParaRPr lang="zh-CN" altLang="en-US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altLang="zh-CN" sz="1000" baseline="0" dirty="0">
                  <a:solidFill>
                    <a:srgbClr val="000000"/>
                  </a:solidFill>
                </a:rPr>
                <a:t>LD.IR</a:t>
              </a:r>
              <a:endParaRPr lang="zh-CN" altLang="en-US" sz="1000" baseline="0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altLang="zh-CN" sz="1200" b="1" baseline="0" dirty="0">
                <a:solidFill>
                  <a:srgbClr val="000000"/>
                </a:solidFill>
                <a:latin typeface="Arial" charset="0"/>
              </a:rPr>
              <a:t>IR</a:t>
            </a:r>
            <a:endParaRPr lang="zh-CN" altLang="en-US" sz="1200" b="1" baseline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000" baseline="0" dirty="0">
                <a:solidFill>
                  <a:srgbClr val="000000"/>
                </a:solidFill>
              </a:rPr>
              <a:t>DR</a:t>
            </a:r>
            <a:endParaRPr lang="zh-CN" altLang="en-US" sz="1000" baseline="0" dirty="0">
              <a:solidFill>
                <a:srgbClr val="000000"/>
              </a:solidFill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000" baseline="0" dirty="0">
                <a:solidFill>
                  <a:srgbClr val="000000"/>
                </a:solidFill>
              </a:rPr>
              <a:t>LD.REG</a:t>
            </a:r>
            <a:endParaRPr lang="zh-CN" altLang="en-US" sz="1000" baseline="0" dirty="0">
              <a:solidFill>
                <a:srgbClr val="000000"/>
              </a:solidFill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1200" b="1" baseline="0" dirty="0">
                <a:solidFill>
                  <a:srgbClr val="000000"/>
                </a:solidFill>
              </a:rPr>
              <a:t>REG FILE</a:t>
            </a:r>
            <a:endParaRPr lang="zh-CN" altLang="en-US" sz="1200" b="1" baseline="0" dirty="0">
              <a:solidFill>
                <a:srgbClr val="000000"/>
              </a:solidFill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000" baseline="0" dirty="0">
                <a:solidFill>
                  <a:srgbClr val="000000"/>
                </a:solidFill>
              </a:rPr>
              <a:t>SR1</a:t>
            </a:r>
          </a:p>
          <a:p>
            <a:pPr>
              <a:defRPr/>
            </a:pPr>
            <a:r>
              <a:rPr lang="en-US" altLang="zh-CN" sz="1000" baseline="0" dirty="0">
                <a:solidFill>
                  <a:srgbClr val="000000"/>
                </a:solidFill>
              </a:rPr>
              <a:t>OUT</a:t>
            </a:r>
            <a:endParaRPr lang="zh-CN" altLang="en-US" sz="1000" baseline="0" dirty="0">
              <a:solidFill>
                <a:srgbClr val="000000"/>
              </a:solidFill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000" baseline="0" dirty="0">
                <a:solidFill>
                  <a:srgbClr val="000000"/>
                </a:solidFill>
              </a:rPr>
              <a:t>SR2</a:t>
            </a:r>
          </a:p>
          <a:p>
            <a:pPr>
              <a:defRPr/>
            </a:pPr>
            <a:r>
              <a:rPr lang="en-US" altLang="zh-CN" sz="1000" baseline="0" dirty="0">
                <a:solidFill>
                  <a:srgbClr val="000000"/>
                </a:solidFill>
              </a:rPr>
              <a:t>OUT</a:t>
            </a:r>
            <a:endParaRPr lang="zh-CN" altLang="en-US" sz="1000" baseline="0" dirty="0">
              <a:solidFill>
                <a:srgbClr val="000000"/>
              </a:solidFill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3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3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000" baseline="0" dirty="0" err="1">
                <a:solidFill>
                  <a:srgbClr val="000000"/>
                </a:solidFill>
              </a:rPr>
              <a:t>GateALU</a:t>
            </a:r>
            <a:endParaRPr lang="zh-CN" altLang="en-US" sz="1000" baseline="0" dirty="0">
              <a:solidFill>
                <a:srgbClr val="000000"/>
              </a:solidFill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000" baseline="0" dirty="0">
                <a:solidFill>
                  <a:srgbClr val="000000"/>
                </a:solidFill>
              </a:rPr>
              <a:t>SR1</a:t>
            </a:r>
            <a:endParaRPr lang="zh-CN" altLang="en-US" sz="1000" baseline="0" dirty="0">
              <a:solidFill>
                <a:srgbClr val="000000"/>
              </a:solidFill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altLang="zh-CN" sz="1100" b="1" baseline="0" dirty="0">
                <a:solidFill>
                  <a:srgbClr val="000000"/>
                </a:solidFill>
                <a:latin typeface="Arial" charset="0"/>
              </a:rPr>
              <a:t>LOGIC</a:t>
            </a:r>
            <a:endParaRPr lang="zh-CN" altLang="en-US" sz="1100" b="1" baseline="0" dirty="0">
              <a:solidFill>
                <a:srgbClr val="000000"/>
              </a:solidFill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1200" dirty="0">
                  <a:solidFill>
                    <a:srgbClr val="000000"/>
                  </a:solidFill>
                </a:rPr>
                <a:t>16</a:t>
              </a:r>
              <a:endParaRPr lang="zh-CN" altLang="en-US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eaLnBrk="1" hangingPunct="1">
                  <a:defRPr/>
                </a:pPr>
                <a:endParaRPr lang="zh-CN" altLang="en-US">
                  <a:solidFill>
                    <a:srgbClr val="000000"/>
                  </a:solidFill>
                  <a:latin typeface="Arial" charset="0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altLang="zh-CN" sz="1000" baseline="0" dirty="0">
                  <a:solidFill>
                    <a:srgbClr val="000000"/>
                  </a:solidFill>
                </a:rPr>
                <a:t>LD.CC</a:t>
              </a:r>
              <a:endParaRPr lang="zh-CN" altLang="en-US" sz="1000" baseline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380" name="标题 1"/>
          <p:cNvSpPr txBox="1">
            <a:spLocks/>
          </p:cNvSpPr>
          <p:nvPr/>
        </p:nvSpPr>
        <p:spPr>
          <a:xfrm>
            <a:off x="179388" y="71438"/>
            <a:ext cx="8839200" cy="765175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>
              <a:defRPr/>
            </a:pPr>
            <a:r>
              <a:rPr lang="en-US" altLang="zh-CN" baseline="0" dirty="0">
                <a:solidFill>
                  <a:srgbClr val="333399"/>
                </a:solidFill>
                <a:ea typeface="宋体" panose="02010600030101010101" pitchFamily="2" charset="-122"/>
              </a:rPr>
              <a:t>Review: CONTROL in</a:t>
            </a:r>
            <a:r>
              <a:rPr lang="en-US" altLang="zh-CN" dirty="0">
                <a:solidFill>
                  <a:srgbClr val="333399"/>
                </a:solidFill>
              </a:rPr>
              <a:t> </a:t>
            </a:r>
            <a:r>
              <a:rPr lang="en-US" altLang="zh-CN" kern="0" baseline="0" dirty="0">
                <a:solidFill>
                  <a:srgbClr val="333399"/>
                </a:solidFill>
              </a:rPr>
              <a:t>LC-3</a:t>
            </a:r>
            <a:r>
              <a:rPr lang="zh-CN" altLang="en-US" kern="0" baseline="0" dirty="0">
                <a:solidFill>
                  <a:srgbClr val="333399"/>
                </a:solidFill>
              </a:rPr>
              <a:t> </a:t>
            </a:r>
            <a:r>
              <a:rPr lang="en-US" altLang="zh-CN" kern="0" baseline="0" dirty="0">
                <a:solidFill>
                  <a:srgbClr val="333399"/>
                </a:solidFill>
              </a:rPr>
              <a:t>Data Path</a:t>
            </a:r>
            <a:endParaRPr lang="zh-CN" altLang="en-US" kern="0" baseline="0" dirty="0">
              <a:solidFill>
                <a:srgbClr val="333399"/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30105" y="1097936"/>
            <a:ext cx="5889529" cy="4131264"/>
            <a:chOff x="130105" y="1097936"/>
            <a:chExt cx="5889529" cy="4131264"/>
          </a:xfrm>
        </p:grpSpPr>
        <p:sp>
          <p:nvSpPr>
            <p:cNvPr id="375" name="矩形 374"/>
            <p:cNvSpPr/>
            <p:nvPr/>
          </p:nvSpPr>
          <p:spPr bwMode="auto">
            <a:xfrm>
              <a:off x="130105" y="1097936"/>
              <a:ext cx="5889529" cy="4131264"/>
            </a:xfrm>
            <a:prstGeom prst="rect">
              <a:avLst/>
            </a:prstGeom>
            <a:noFill/>
            <a:ln w="635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1430292" y="2314348"/>
              <a:ext cx="3506015" cy="1205811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152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>
                <a:defRPr/>
              </a:pPr>
              <a:r>
                <a:rPr lang="en-US" altLang="zh-CN" sz="4000" b="1" baseline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Control Unit</a:t>
              </a:r>
              <a:endParaRPr lang="zh-CN" altLang="en-US" sz="4000" b="1" baseline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874458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altLang="zh-CN" sz="3200" b="1" baseline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Outline</a:t>
            </a:r>
            <a:endParaRPr lang="zh-CN" altLang="en-US" sz="3200" b="1" baseline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b="1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48478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7">
            <a:extLst>
              <a:ext uri="{FF2B5EF4-FFF2-40B4-BE49-F238E27FC236}">
                <a16:creationId xmlns:a16="http://schemas.microsoft.com/office/drawing/2014/main" id="{FBC5D026-1A95-49A5-960C-DCF5C36D0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577750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19249016-BB4C-4466-85A1-E71F90CFE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484784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F581FE-618E-4C31-A7E2-28D3B17E6AAC}"/>
              </a:ext>
            </a:extLst>
          </p:cNvPr>
          <p:cNvCxnSpPr/>
          <p:nvPr/>
        </p:nvCxnSpPr>
        <p:spPr>
          <a:xfrm>
            <a:off x="474181" y="2131805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7">
            <a:extLst>
              <a:ext uri="{FF2B5EF4-FFF2-40B4-BE49-F238E27FC236}">
                <a16:creationId xmlns:a16="http://schemas.microsoft.com/office/drawing/2014/main" id="{606DEDEA-7C9B-477F-993D-E2F343435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2370889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b="1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sp>
        <p:nvSpPr>
          <p:cNvPr id="41" name="Text Box 17">
            <a:extLst>
              <a:ext uri="{FF2B5EF4-FFF2-40B4-BE49-F238E27FC236}">
                <a16:creationId xmlns:a16="http://schemas.microsoft.com/office/drawing/2014/main" id="{C143FE60-2D61-4605-A70B-4032E4F23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277923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0307206-0A2C-488D-BF34-19FFD54CC44C}"/>
              </a:ext>
            </a:extLst>
          </p:cNvPr>
          <p:cNvCxnSpPr/>
          <p:nvPr/>
        </p:nvCxnSpPr>
        <p:spPr>
          <a:xfrm>
            <a:off x="474181" y="292494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7">
            <a:extLst>
              <a:ext uri="{FF2B5EF4-FFF2-40B4-BE49-F238E27FC236}">
                <a16:creationId xmlns:a16="http://schemas.microsoft.com/office/drawing/2014/main" id="{E2F25E77-9020-44EF-9AF9-31A2CE86A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2370889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rgbClr val="4F81BD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b="1" baseline="0" dirty="0">
                <a:solidFill>
                  <a:srgbClr val="0152A3"/>
                </a:solidFill>
                <a:latin typeface="微软雅黑" panose="020B0503020204020204" pitchFamily="34" charset="-122"/>
              </a:rPr>
              <a:t>Interrupt-Driven I/O</a:t>
            </a:r>
          </a:p>
        </p:txBody>
      </p:sp>
      <p:sp>
        <p:nvSpPr>
          <p:cNvPr id="55" name="Text Box 17">
            <a:extLst>
              <a:ext uri="{FF2B5EF4-FFF2-40B4-BE49-F238E27FC236}">
                <a16:creationId xmlns:a16="http://schemas.microsoft.com/office/drawing/2014/main" id="{B8745904-E097-49DB-A277-EA67834E0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277923"/>
            <a:ext cx="611764" cy="624357"/>
          </a:xfrm>
          <a:prstGeom prst="rect">
            <a:avLst/>
          </a:prstGeom>
          <a:solidFill>
            <a:srgbClr val="0152A3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7DFADD7D-5732-4590-B749-38C68B2744B6}"/>
              </a:ext>
            </a:extLst>
          </p:cNvPr>
          <p:cNvCxnSpPr/>
          <p:nvPr/>
        </p:nvCxnSpPr>
        <p:spPr>
          <a:xfrm>
            <a:off x="474181" y="292494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830181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C4EF60-1B3C-4756-ADAC-AC2EDAD6562D}" type="datetime1">
              <a:rPr lang="zh-CN" altLang="en-US" sz="1400" b="0" smtClean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2025/12/9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EF408B-58E8-4F79-B5B5-343485345E55}" type="slidenum">
              <a:rPr lang="en-US" altLang="zh-CN" sz="1400" b="0" smtClean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/>
              <a:t>Today: I/O in </a:t>
            </a:r>
            <a:r>
              <a:rPr lang="en-US" altLang="zh-CN" dirty="0">
                <a:ea typeface="宋体" panose="02010600030101010101" pitchFamily="2" charset="-122"/>
              </a:rPr>
              <a:t>Von Neumann Model</a:t>
            </a:r>
            <a:endParaRPr lang="en-US" altLang="zh-CN" sz="1800" dirty="0">
              <a:ea typeface="宋体" panose="02010600030101010101" pitchFamily="2" charset="-122"/>
            </a:endParaRPr>
          </a:p>
        </p:txBody>
      </p:sp>
      <p:graphicFrame>
        <p:nvGraphicFramePr>
          <p:cNvPr id="25605" name="Object 14"/>
          <p:cNvGraphicFramePr>
            <a:graphicFrameLocks noChangeAspect="1"/>
          </p:cNvGraphicFramePr>
          <p:nvPr/>
        </p:nvGraphicFramePr>
        <p:xfrm>
          <a:off x="1192213" y="1219200"/>
          <a:ext cx="6759575" cy="474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CorelDRAW" r:id="rId3" imgW="5743575" imgH="4029075" progId="CorelDRAW.Graphic.9">
                  <p:embed/>
                </p:oleObj>
              </mc:Choice>
              <mc:Fallback>
                <p:oleObj name="CorelDRAW" r:id="rId3" imgW="5743575" imgH="4029075" progId="CorelDRAW.Graphic.9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213" y="1219200"/>
                        <a:ext cx="6759575" cy="474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 bwMode="auto">
          <a:xfrm>
            <a:off x="1192212" y="2332232"/>
            <a:ext cx="1474788" cy="1744839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A99FE5-F59D-4DDF-B80C-61A1253C1DBD}"/>
              </a:ext>
            </a:extLst>
          </p:cNvPr>
          <p:cNvSpPr/>
          <p:nvPr/>
        </p:nvSpPr>
        <p:spPr bwMode="auto">
          <a:xfrm>
            <a:off x="6464736" y="2332231"/>
            <a:ext cx="1474788" cy="1744839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238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394F20-1EA9-4C7F-B826-9A59C2B429E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1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A6549D-23FF-4ECC-B2F7-DA153ED8288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Interrupt-Driven I/O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To implement an interrupt mechanism, we need: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 way for the I/O device to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signal</a:t>
            </a:r>
            <a:r>
              <a:rPr lang="en-US" altLang="zh-CN" dirty="0">
                <a:ea typeface="宋体" panose="02010600030101010101" pitchFamily="2" charset="-122"/>
              </a:rPr>
              <a:t> the CPU that an interesting event has occurred.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 way for the CPU to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test</a:t>
            </a:r>
            <a:r>
              <a:rPr lang="en-US" altLang="zh-CN" dirty="0">
                <a:ea typeface="宋体" panose="02010600030101010101" pitchFamily="2" charset="-122"/>
              </a:rPr>
              <a:t> whether the interrupt signal is set.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Generating Signal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Software sets "interrupt enable(IE)" bit in device register.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When ready bit is set and IE bit is set, interrupt is signaled.</a:t>
            </a:r>
            <a:endParaRPr lang="en-US" altLang="zh-CN" dirty="0">
              <a:solidFill>
                <a:srgbClr val="CE0000"/>
              </a:solidFill>
              <a:ea typeface="宋体" panose="02010600030101010101" pitchFamily="2" charset="-122"/>
            </a:endParaRPr>
          </a:p>
        </p:txBody>
      </p:sp>
      <p:sp>
        <p:nvSpPr>
          <p:cNvPr id="34822" name="Rectangle 4"/>
          <p:cNvSpPr>
            <a:spLocks noChangeArrowheads="1"/>
          </p:cNvSpPr>
          <p:nvPr/>
        </p:nvSpPr>
        <p:spPr bwMode="auto">
          <a:xfrm>
            <a:off x="3962400" y="4953000"/>
            <a:ext cx="152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3" name="Rectangle 5"/>
          <p:cNvSpPr>
            <a:spLocks noChangeArrowheads="1"/>
          </p:cNvSpPr>
          <p:nvPr/>
        </p:nvSpPr>
        <p:spPr bwMode="auto">
          <a:xfrm>
            <a:off x="4267200" y="4953000"/>
            <a:ext cx="2133600" cy="304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4" name="Text Box 6"/>
          <p:cNvSpPr txBox="1">
            <a:spLocks noChangeArrowheads="1"/>
          </p:cNvSpPr>
          <p:nvPr/>
        </p:nvSpPr>
        <p:spPr bwMode="auto">
          <a:xfrm>
            <a:off x="6403975" y="4883150"/>
            <a:ext cx="1049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KBSR</a:t>
            </a:r>
          </a:p>
        </p:txBody>
      </p:sp>
      <p:sp>
        <p:nvSpPr>
          <p:cNvPr id="34825" name="Text Box 7"/>
          <p:cNvSpPr txBox="1">
            <a:spLocks noChangeArrowheads="1"/>
          </p:cNvSpPr>
          <p:nvPr/>
        </p:nvSpPr>
        <p:spPr bwMode="auto">
          <a:xfrm>
            <a:off x="3886200" y="4725988"/>
            <a:ext cx="3238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15</a:t>
            </a:r>
          </a:p>
        </p:txBody>
      </p:sp>
      <p:sp>
        <p:nvSpPr>
          <p:cNvPr id="34826" name="Text Box 8"/>
          <p:cNvSpPr txBox="1">
            <a:spLocks noChangeArrowheads="1"/>
          </p:cNvSpPr>
          <p:nvPr/>
        </p:nvSpPr>
        <p:spPr bwMode="auto">
          <a:xfrm>
            <a:off x="4038600" y="4725988"/>
            <a:ext cx="3238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14</a:t>
            </a:r>
          </a:p>
        </p:txBody>
      </p:sp>
      <p:sp>
        <p:nvSpPr>
          <p:cNvPr id="34827" name="Text Box 9"/>
          <p:cNvSpPr txBox="1">
            <a:spLocks noChangeArrowheads="1"/>
          </p:cNvSpPr>
          <p:nvPr/>
        </p:nvSpPr>
        <p:spPr bwMode="auto">
          <a:xfrm>
            <a:off x="6207125" y="4724400"/>
            <a:ext cx="25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34828" name="Text Box 10"/>
          <p:cNvSpPr txBox="1">
            <a:spLocks noChangeArrowheads="1"/>
          </p:cNvSpPr>
          <p:nvPr/>
        </p:nvSpPr>
        <p:spPr bwMode="auto">
          <a:xfrm>
            <a:off x="1527175" y="4876800"/>
            <a:ext cx="145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ready bit</a:t>
            </a:r>
          </a:p>
        </p:txBody>
      </p:sp>
      <p:sp>
        <p:nvSpPr>
          <p:cNvPr id="34829" name="Line 11"/>
          <p:cNvSpPr>
            <a:spLocks noChangeShapeType="1"/>
          </p:cNvSpPr>
          <p:nvPr/>
        </p:nvSpPr>
        <p:spPr bwMode="auto">
          <a:xfrm>
            <a:off x="2895600" y="5105400"/>
            <a:ext cx="1143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30" name="Text Box 12"/>
          <p:cNvSpPr txBox="1">
            <a:spLocks noChangeArrowheads="1"/>
          </p:cNvSpPr>
          <p:nvPr/>
        </p:nvSpPr>
        <p:spPr bwMode="auto">
          <a:xfrm>
            <a:off x="4191000" y="4725988"/>
            <a:ext cx="3238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13</a:t>
            </a:r>
          </a:p>
        </p:txBody>
      </p:sp>
      <p:sp>
        <p:nvSpPr>
          <p:cNvPr id="34831" name="Rectangle 13"/>
          <p:cNvSpPr>
            <a:spLocks noChangeArrowheads="1"/>
          </p:cNvSpPr>
          <p:nvPr/>
        </p:nvSpPr>
        <p:spPr bwMode="auto">
          <a:xfrm>
            <a:off x="4114800" y="4953000"/>
            <a:ext cx="152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32" name="Text Box 14"/>
          <p:cNvSpPr txBox="1">
            <a:spLocks noChangeArrowheads="1"/>
          </p:cNvSpPr>
          <p:nvPr/>
        </p:nvSpPr>
        <p:spPr bwMode="auto">
          <a:xfrm>
            <a:off x="715963" y="4419600"/>
            <a:ext cx="2941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interrupt enable bit</a:t>
            </a:r>
          </a:p>
        </p:txBody>
      </p:sp>
      <p:sp>
        <p:nvSpPr>
          <p:cNvPr id="34833" name="Line 15"/>
          <p:cNvSpPr>
            <a:spLocks noChangeShapeType="1"/>
          </p:cNvSpPr>
          <p:nvPr/>
        </p:nvSpPr>
        <p:spPr bwMode="auto">
          <a:xfrm>
            <a:off x="3581400" y="4724400"/>
            <a:ext cx="609600" cy="381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34" name="AutoShape 16"/>
          <p:cNvSpPr>
            <a:spLocks noChangeArrowheads="1"/>
          </p:cNvSpPr>
          <p:nvPr/>
        </p:nvSpPr>
        <p:spPr bwMode="auto">
          <a:xfrm>
            <a:off x="4800600" y="5486400"/>
            <a:ext cx="457200" cy="457200"/>
          </a:xfrm>
          <a:prstGeom prst="flowChartDelay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35" name="Line 17"/>
          <p:cNvSpPr>
            <a:spLocks noChangeShapeType="1"/>
          </p:cNvSpPr>
          <p:nvPr/>
        </p:nvSpPr>
        <p:spPr bwMode="auto">
          <a:xfrm>
            <a:off x="4191000" y="5181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36" name="Line 18"/>
          <p:cNvSpPr>
            <a:spLocks noChangeShapeType="1"/>
          </p:cNvSpPr>
          <p:nvPr/>
        </p:nvSpPr>
        <p:spPr bwMode="auto">
          <a:xfrm>
            <a:off x="4191000" y="5638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37" name="Line 19"/>
          <p:cNvSpPr>
            <a:spLocks noChangeShapeType="1"/>
          </p:cNvSpPr>
          <p:nvPr/>
        </p:nvSpPr>
        <p:spPr bwMode="auto">
          <a:xfrm>
            <a:off x="4038600" y="5181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38" name="Line 20"/>
          <p:cNvSpPr>
            <a:spLocks noChangeShapeType="1"/>
          </p:cNvSpPr>
          <p:nvPr/>
        </p:nvSpPr>
        <p:spPr bwMode="auto">
          <a:xfrm>
            <a:off x="4038600" y="5867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39" name="Line 21"/>
          <p:cNvSpPr>
            <a:spLocks noChangeShapeType="1"/>
          </p:cNvSpPr>
          <p:nvPr/>
        </p:nvSpPr>
        <p:spPr bwMode="auto">
          <a:xfrm>
            <a:off x="5257800" y="5715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40" name="Text Box 22"/>
          <p:cNvSpPr txBox="1">
            <a:spLocks noChangeArrowheads="1"/>
          </p:cNvSpPr>
          <p:nvPr/>
        </p:nvSpPr>
        <p:spPr bwMode="auto">
          <a:xfrm>
            <a:off x="5867400" y="5486400"/>
            <a:ext cx="21002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interrupt signal </a:t>
            </a:r>
            <a:b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to processor</a:t>
            </a:r>
          </a:p>
        </p:txBody>
      </p:sp>
    </p:spTree>
    <p:extLst>
      <p:ext uri="{BB962C8B-B14F-4D97-AF65-F5344CB8AC3E}">
        <p14:creationId xmlns:p14="http://schemas.microsoft.com/office/powerpoint/2010/main" val="4248893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5484B9-7178-4E90-BA9B-3ED672CB02C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0EB884-8A93-404E-A6A6-6D5DFFCED16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Interrupt-Driven I/O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Testing for Interrupt Signal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CPU looks at signal between STORE and FETCH phases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If not set, continues with next instruction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If set, transfers control to Interrupt Service Routine(ISR)</a:t>
            </a:r>
          </a:p>
        </p:txBody>
      </p:sp>
      <p:sp>
        <p:nvSpPr>
          <p:cNvPr id="35846" name="Line 4"/>
          <p:cNvSpPr>
            <a:spLocks noChangeShapeType="1"/>
          </p:cNvSpPr>
          <p:nvPr/>
        </p:nvSpPr>
        <p:spPr bwMode="auto">
          <a:xfrm>
            <a:off x="5943600" y="3352800"/>
            <a:ext cx="0" cy="228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7" name="Text Box 5"/>
          <p:cNvSpPr txBox="1">
            <a:spLocks noChangeArrowheads="1"/>
          </p:cNvSpPr>
          <p:nvPr/>
        </p:nvSpPr>
        <p:spPr bwMode="auto">
          <a:xfrm>
            <a:off x="5600700" y="4191000"/>
            <a:ext cx="685800" cy="3460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EA</a:t>
            </a:r>
          </a:p>
        </p:txBody>
      </p:sp>
      <p:sp>
        <p:nvSpPr>
          <p:cNvPr id="35848" name="Text Box 6"/>
          <p:cNvSpPr txBox="1">
            <a:spLocks noChangeArrowheads="1"/>
          </p:cNvSpPr>
          <p:nvPr/>
        </p:nvSpPr>
        <p:spPr bwMode="auto">
          <a:xfrm>
            <a:off x="5600700" y="4800600"/>
            <a:ext cx="685800" cy="3460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OP</a:t>
            </a:r>
          </a:p>
        </p:txBody>
      </p:sp>
      <p:sp>
        <p:nvSpPr>
          <p:cNvPr id="35849" name="Text Box 7"/>
          <p:cNvSpPr txBox="1">
            <a:spLocks noChangeArrowheads="1"/>
          </p:cNvSpPr>
          <p:nvPr/>
        </p:nvSpPr>
        <p:spPr bwMode="auto">
          <a:xfrm>
            <a:off x="5600700" y="5410200"/>
            <a:ext cx="685800" cy="3460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EX</a:t>
            </a:r>
          </a:p>
        </p:txBody>
      </p:sp>
      <p:sp>
        <p:nvSpPr>
          <p:cNvPr id="35850" name="Text Box 8"/>
          <p:cNvSpPr txBox="1">
            <a:spLocks noChangeArrowheads="1"/>
          </p:cNvSpPr>
          <p:nvPr/>
        </p:nvSpPr>
        <p:spPr bwMode="auto">
          <a:xfrm>
            <a:off x="5600700" y="6019800"/>
            <a:ext cx="685800" cy="3460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</a:t>
            </a:r>
          </a:p>
        </p:txBody>
      </p:sp>
      <p:sp>
        <p:nvSpPr>
          <p:cNvPr id="35851" name="Text Box 9"/>
          <p:cNvSpPr txBox="1">
            <a:spLocks noChangeArrowheads="1"/>
          </p:cNvSpPr>
          <p:nvPr/>
        </p:nvSpPr>
        <p:spPr bwMode="auto">
          <a:xfrm>
            <a:off x="5600700" y="2971800"/>
            <a:ext cx="685800" cy="3460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</a:t>
            </a:r>
          </a:p>
        </p:txBody>
      </p:sp>
      <p:sp>
        <p:nvSpPr>
          <p:cNvPr id="35852" name="Text Box 10"/>
          <p:cNvSpPr txBox="1">
            <a:spLocks noChangeArrowheads="1"/>
          </p:cNvSpPr>
          <p:nvPr/>
        </p:nvSpPr>
        <p:spPr bwMode="auto">
          <a:xfrm>
            <a:off x="5600700" y="3581400"/>
            <a:ext cx="685800" cy="3460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</a:t>
            </a:r>
          </a:p>
        </p:txBody>
      </p:sp>
      <p:sp>
        <p:nvSpPr>
          <p:cNvPr id="35853" name="Line 11"/>
          <p:cNvSpPr>
            <a:spLocks noChangeShapeType="1"/>
          </p:cNvSpPr>
          <p:nvPr/>
        </p:nvSpPr>
        <p:spPr bwMode="auto">
          <a:xfrm>
            <a:off x="5943600" y="3962400"/>
            <a:ext cx="0" cy="228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54" name="Line 12"/>
          <p:cNvSpPr>
            <a:spLocks noChangeShapeType="1"/>
          </p:cNvSpPr>
          <p:nvPr/>
        </p:nvSpPr>
        <p:spPr bwMode="auto">
          <a:xfrm>
            <a:off x="5943600" y="4572000"/>
            <a:ext cx="0" cy="228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55" name="Line 13"/>
          <p:cNvSpPr>
            <a:spLocks noChangeShapeType="1"/>
          </p:cNvSpPr>
          <p:nvPr/>
        </p:nvSpPr>
        <p:spPr bwMode="auto">
          <a:xfrm>
            <a:off x="5943600" y="5181600"/>
            <a:ext cx="0" cy="228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56" name="Line 14"/>
          <p:cNvSpPr>
            <a:spLocks noChangeShapeType="1"/>
          </p:cNvSpPr>
          <p:nvPr/>
        </p:nvSpPr>
        <p:spPr bwMode="auto">
          <a:xfrm>
            <a:off x="5943600" y="5791200"/>
            <a:ext cx="0" cy="228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57" name="AutoShape 15"/>
          <p:cNvSpPr>
            <a:spLocks noChangeArrowheads="1"/>
          </p:cNvSpPr>
          <p:nvPr/>
        </p:nvSpPr>
        <p:spPr bwMode="auto">
          <a:xfrm>
            <a:off x="3513138" y="3733800"/>
            <a:ext cx="1516062" cy="1524000"/>
          </a:xfrm>
          <a:prstGeom prst="diamond">
            <a:avLst/>
          </a:prstGeom>
          <a:solidFill>
            <a:schemeClr val="bg1"/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63500" dir="3187806" algn="ctr" rotWithShape="0">
                    <a:srgbClr val="336699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interrupt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signal?</a:t>
            </a:r>
          </a:p>
        </p:txBody>
      </p:sp>
      <p:cxnSp>
        <p:nvCxnSpPr>
          <p:cNvPr id="35858" name="AutoShape 16"/>
          <p:cNvCxnSpPr>
            <a:cxnSpLocks noChangeShapeType="1"/>
            <a:stCxn id="35850" idx="1"/>
            <a:endCxn id="35857" idx="2"/>
          </p:cNvCxnSpPr>
          <p:nvPr/>
        </p:nvCxnSpPr>
        <p:spPr bwMode="auto">
          <a:xfrm rot="10800000">
            <a:off x="4271963" y="5272088"/>
            <a:ext cx="1328737" cy="920750"/>
          </a:xfrm>
          <a:prstGeom prst="bentConnector2">
            <a:avLst/>
          </a:prstGeom>
          <a:noFill/>
          <a:ln w="28575">
            <a:solidFill>
              <a:schemeClr val="accent2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59" name="AutoShape 17"/>
          <p:cNvCxnSpPr>
            <a:cxnSpLocks noChangeShapeType="1"/>
            <a:stCxn id="35857" idx="0"/>
            <a:endCxn id="35851" idx="1"/>
          </p:cNvCxnSpPr>
          <p:nvPr/>
        </p:nvCxnSpPr>
        <p:spPr bwMode="auto">
          <a:xfrm rot="-5400000">
            <a:off x="4648994" y="2767807"/>
            <a:ext cx="574675" cy="1328737"/>
          </a:xfrm>
          <a:prstGeom prst="bentConnector2">
            <a:avLst/>
          </a:prstGeom>
          <a:noFill/>
          <a:ln w="28575">
            <a:solidFill>
              <a:schemeClr val="accent2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860" name="Text Box 18"/>
          <p:cNvSpPr txBox="1">
            <a:spLocks noChangeArrowheads="1"/>
          </p:cNvSpPr>
          <p:nvPr/>
        </p:nvSpPr>
        <p:spPr bwMode="auto">
          <a:xfrm>
            <a:off x="1447800" y="4200525"/>
            <a:ext cx="1600200" cy="59055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Transfer to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ISR</a:t>
            </a:r>
          </a:p>
        </p:txBody>
      </p:sp>
      <p:cxnSp>
        <p:nvCxnSpPr>
          <p:cNvPr id="35861" name="AutoShape 19"/>
          <p:cNvCxnSpPr>
            <a:cxnSpLocks noChangeShapeType="1"/>
            <a:stCxn id="35857" idx="1"/>
            <a:endCxn id="35860" idx="3"/>
          </p:cNvCxnSpPr>
          <p:nvPr/>
        </p:nvCxnSpPr>
        <p:spPr bwMode="auto">
          <a:xfrm flipH="1">
            <a:off x="3048000" y="4495800"/>
            <a:ext cx="450850" cy="0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62" name="AutoShape 20"/>
          <p:cNvCxnSpPr>
            <a:cxnSpLocks noChangeShapeType="1"/>
            <a:stCxn id="35860" idx="0"/>
            <a:endCxn id="35851" idx="1"/>
          </p:cNvCxnSpPr>
          <p:nvPr/>
        </p:nvCxnSpPr>
        <p:spPr bwMode="auto">
          <a:xfrm rot="-5400000">
            <a:off x="3396456" y="1996282"/>
            <a:ext cx="1055687" cy="3352800"/>
          </a:xfrm>
          <a:prstGeom prst="bentConnector2">
            <a:avLst/>
          </a:prstGeom>
          <a:noFill/>
          <a:ln w="28575">
            <a:solidFill>
              <a:schemeClr val="accent2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863" name="Text Box 21"/>
          <p:cNvSpPr txBox="1">
            <a:spLocks noChangeArrowheads="1"/>
          </p:cNvSpPr>
          <p:nvPr/>
        </p:nvSpPr>
        <p:spPr bwMode="auto">
          <a:xfrm>
            <a:off x="4267200" y="3429000"/>
            <a:ext cx="4286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NO</a:t>
            </a:r>
          </a:p>
        </p:txBody>
      </p:sp>
      <p:sp>
        <p:nvSpPr>
          <p:cNvPr id="35864" name="Text Box 22"/>
          <p:cNvSpPr txBox="1">
            <a:spLocks noChangeArrowheads="1"/>
          </p:cNvSpPr>
          <p:nvPr/>
        </p:nvSpPr>
        <p:spPr bwMode="auto">
          <a:xfrm>
            <a:off x="3124200" y="4191000"/>
            <a:ext cx="4857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YES</a:t>
            </a:r>
          </a:p>
        </p:txBody>
      </p:sp>
      <p:sp>
        <p:nvSpPr>
          <p:cNvPr id="35865" name="Text Box 23"/>
          <p:cNvSpPr txBox="1">
            <a:spLocks noChangeArrowheads="1"/>
          </p:cNvSpPr>
          <p:nvPr/>
        </p:nvSpPr>
        <p:spPr bwMode="auto">
          <a:xfrm>
            <a:off x="304800" y="5867400"/>
            <a:ext cx="29368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More details in Chapter 10.</a:t>
            </a:r>
          </a:p>
        </p:txBody>
      </p:sp>
    </p:spTree>
    <p:extLst>
      <p:ext uri="{BB962C8B-B14F-4D97-AF65-F5344CB8AC3E}">
        <p14:creationId xmlns:p14="http://schemas.microsoft.com/office/powerpoint/2010/main" val="1925766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C484C10-BD3F-4291-9685-C6875DF64B6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4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785DCD-FB4D-4E76-B533-B1F208A8DA4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Interrupt-Driven I/O</a:t>
            </a:r>
            <a:endParaRPr lang="zh-CN" altLang="en-US" b="0"/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839200" cy="52562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/>
              <a:t>Timing of I/O controlled by </a:t>
            </a:r>
            <a:r>
              <a:rPr lang="en-US" altLang="zh-CN" i="1" dirty="0"/>
              <a:t>device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1. Report: Tells processor when something interesting happens</a:t>
            </a:r>
          </a:p>
          <a:p>
            <a:pPr lvl="2">
              <a:lnSpc>
                <a:spcPct val="90000"/>
              </a:lnSpc>
            </a:pPr>
            <a:r>
              <a:rPr lang="en-US" altLang="zh-CN" dirty="0"/>
              <a:t>Example: when character is entered on keyboard</a:t>
            </a:r>
          </a:p>
          <a:p>
            <a:pPr lvl="2">
              <a:lnSpc>
                <a:spcPct val="90000"/>
              </a:lnSpc>
            </a:pPr>
            <a:r>
              <a:rPr lang="en-US" altLang="zh-CN" dirty="0"/>
              <a:t>Example: when monitor is ready for next character</a:t>
            </a:r>
          </a:p>
          <a:p>
            <a:pPr lvl="2">
              <a:lnSpc>
                <a:spcPct val="90000"/>
              </a:lnSpc>
            </a:pPr>
            <a:r>
              <a:rPr lang="en-US" altLang="zh-CN" dirty="0"/>
              <a:t>Example: when block has been transferred from disk to memory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2. Processing: Processor </a:t>
            </a:r>
            <a:r>
              <a:rPr lang="en-US" altLang="zh-CN" i="1" dirty="0">
                <a:solidFill>
                  <a:srgbClr val="FF3300"/>
                </a:solidFill>
              </a:rPr>
              <a:t>interrupts</a:t>
            </a:r>
            <a:r>
              <a:rPr lang="en-US" altLang="zh-CN" i="1" dirty="0"/>
              <a:t> </a:t>
            </a:r>
            <a:r>
              <a:rPr lang="en-US" altLang="zh-CN" dirty="0"/>
              <a:t>its normal instruction processing and executes a </a:t>
            </a:r>
            <a:r>
              <a:rPr lang="en-US" altLang="zh-CN" dirty="0">
                <a:solidFill>
                  <a:srgbClr val="FF0000"/>
                </a:solidFill>
              </a:rPr>
              <a:t>Interrupt Service Routine(ISR) </a:t>
            </a:r>
            <a:r>
              <a:rPr lang="en-US" altLang="zh-CN" dirty="0"/>
              <a:t>(like a TRAP)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1. Figure out what device </a:t>
            </a:r>
            <a:r>
              <a:rPr lang="en-US" altLang="zh-CN" dirty="0"/>
              <a:t>is causing the interrupt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2. Execute routine </a:t>
            </a:r>
            <a:r>
              <a:rPr lang="en-US" altLang="zh-CN" dirty="0"/>
              <a:t>to deal with event</a:t>
            </a:r>
          </a:p>
          <a:p>
            <a:pPr lvl="2"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3. Resume execution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No need for processor to poll device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Can perform other useful work</a:t>
            </a:r>
            <a:endParaRPr lang="en-US" altLang="zh-CN" sz="1200" dirty="0"/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100" b="0" i="1" dirty="0">
              <a:solidFill>
                <a:srgbClr val="FF3300"/>
              </a:solidFill>
            </a:endParaRP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 b="0" i="1" dirty="0">
                <a:solidFill>
                  <a:srgbClr val="FF3300"/>
                </a:solidFill>
              </a:rPr>
              <a:t>Interrupt is an </a:t>
            </a:r>
            <a:r>
              <a:rPr lang="en-US" altLang="zh-CN" sz="1600" i="1" dirty="0">
                <a:solidFill>
                  <a:srgbClr val="FF3300"/>
                </a:solidFill>
              </a:rPr>
              <a:t>unscripted subroutine call</a:t>
            </a:r>
            <a:r>
              <a:rPr lang="en-US" altLang="zh-CN" sz="1600" b="0" i="1" dirty="0">
                <a:solidFill>
                  <a:srgbClr val="FF3300"/>
                </a:solidFill>
              </a:rPr>
              <a:t>, triggered by an external event</a:t>
            </a:r>
            <a:endParaRPr lang="en-US" altLang="zh-CN" sz="1600" b="0" dirty="0">
              <a:solidFill>
                <a:srgbClr val="FF3300"/>
              </a:solidFill>
            </a:endParaRPr>
          </a:p>
          <a:p>
            <a:pPr>
              <a:lnSpc>
                <a:spcPct val="90000"/>
              </a:lnSpc>
            </a:pPr>
            <a:endParaRPr lang="zh-CN" altLang="en-US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951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5D65300-1C72-4121-A891-C04EF4ACC03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25D00B-54FE-4014-9AD1-275676A1A6FF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Interrupt-Driven I/O</a:t>
            </a:r>
            <a:endParaRPr lang="zh-CN" altLang="en-US" b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79388" y="981075"/>
            <a:ext cx="5400724" cy="5481638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Program A is executing instruction 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Program A is executing instruction n+1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Program A is executing instruction n+2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Program A is executing instruction n+3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Program A is executing instruction n+4</a:t>
            </a: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rPr>
              <a:t>……</a:t>
            </a: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rPr>
              <a:t>……</a:t>
            </a: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rPr>
              <a:t>……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70D76459-DF4A-4FC5-84F8-317425ACFE29}"/>
              </a:ext>
            </a:extLst>
          </p:cNvPr>
          <p:cNvCxnSpPr/>
          <p:nvPr/>
        </p:nvCxnSpPr>
        <p:spPr bwMode="auto">
          <a:xfrm>
            <a:off x="6732240" y="1959806"/>
            <a:ext cx="0" cy="693514"/>
          </a:xfrm>
          <a:prstGeom prst="straightConnector1">
            <a:avLst/>
          </a:prstGeom>
          <a:solidFill>
            <a:schemeClr val="accent1"/>
          </a:solidFill>
          <a:ln w="476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0310E3B-AAF4-4B94-94CE-C2CF8C2C5EAC}"/>
              </a:ext>
            </a:extLst>
          </p:cNvPr>
          <p:cNvCxnSpPr/>
          <p:nvPr/>
        </p:nvCxnSpPr>
        <p:spPr bwMode="auto">
          <a:xfrm>
            <a:off x="6156176" y="2607878"/>
            <a:ext cx="50405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546F788-A21D-40B4-971F-F87520335557}"/>
              </a:ext>
            </a:extLst>
          </p:cNvPr>
          <p:cNvCxnSpPr/>
          <p:nvPr/>
        </p:nvCxnSpPr>
        <p:spPr bwMode="auto">
          <a:xfrm flipV="1">
            <a:off x="6732240" y="2391854"/>
            <a:ext cx="648072" cy="2614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Dot"/>
            <a:round/>
            <a:headEnd type="none" w="med" len="med"/>
            <a:tailEnd type="triangle"/>
          </a:ln>
          <a:effectLst/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DDFB854-9925-4597-8A67-3BCD9AF6FA7C}"/>
              </a:ext>
            </a:extLst>
          </p:cNvPr>
          <p:cNvCxnSpPr/>
          <p:nvPr/>
        </p:nvCxnSpPr>
        <p:spPr bwMode="auto">
          <a:xfrm>
            <a:off x="7393571" y="2391854"/>
            <a:ext cx="0" cy="86409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DEACAD9-4F6A-4FEE-B11B-4919F8B38A2F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732240" y="2679886"/>
            <a:ext cx="648072" cy="5760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Dot"/>
            <a:round/>
            <a:headEnd type="none" w="med" len="med"/>
            <a:tailEnd type="triangle"/>
          </a:ln>
          <a:effectLst/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EC01A61F-1E58-4604-A13F-2F505E2A2E01}"/>
              </a:ext>
            </a:extLst>
          </p:cNvPr>
          <p:cNvCxnSpPr/>
          <p:nvPr/>
        </p:nvCxnSpPr>
        <p:spPr bwMode="auto">
          <a:xfrm>
            <a:off x="6732240" y="2751894"/>
            <a:ext cx="0" cy="693514"/>
          </a:xfrm>
          <a:prstGeom prst="straightConnector1">
            <a:avLst/>
          </a:prstGeom>
          <a:solidFill>
            <a:schemeClr val="accent1"/>
          </a:solidFill>
          <a:ln w="476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DA89A25B-27A7-4539-B753-77C9D0BF6BA2}"/>
              </a:ext>
            </a:extLst>
          </p:cNvPr>
          <p:cNvSpPr txBox="1"/>
          <p:nvPr/>
        </p:nvSpPr>
        <p:spPr>
          <a:xfrm>
            <a:off x="6012160" y="149839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Program A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当前运行程序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EF4122C-0516-4ED8-B72A-078A67797DDC}"/>
              </a:ext>
            </a:extLst>
          </p:cNvPr>
          <p:cNvSpPr txBox="1"/>
          <p:nvPr/>
        </p:nvSpPr>
        <p:spPr>
          <a:xfrm>
            <a:off x="7423307" y="2529507"/>
            <a:ext cx="19012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aseline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Program B </a:t>
            </a:r>
          </a:p>
          <a:p>
            <a:r>
              <a:rPr lang="en-US" altLang="zh-CN" sz="1200" baseline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(ISR:</a:t>
            </a:r>
            <a:r>
              <a:rPr lang="zh-CN" altLang="en-US" sz="1200" baseline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中断服务程序</a:t>
            </a:r>
            <a:r>
              <a:rPr lang="en-US" altLang="zh-CN" sz="1200" baseline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)</a:t>
            </a:r>
            <a:endParaRPr lang="zh-CN" altLang="en-US" sz="1200" baseline="0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5FB3FD6-364E-49B6-8747-581997757E03}"/>
              </a:ext>
            </a:extLst>
          </p:cNvPr>
          <p:cNvSpPr txBox="1"/>
          <p:nvPr/>
        </p:nvSpPr>
        <p:spPr>
          <a:xfrm>
            <a:off x="5603375" y="2244566"/>
            <a:ext cx="6044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IR: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中断请求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561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578269-411E-43F0-84ED-AB8AC3F21CB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79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637F256-A1AA-4781-BE71-2B130D4F418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Interrupt-Driven I/O</a:t>
            </a:r>
            <a:endParaRPr lang="zh-CN" altLang="en-US" b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79388" y="981075"/>
            <a:ext cx="8839200" cy="5481638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Program A is executing instruction 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Program A is executing instruction n+1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Program A is executing instruction n+2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Interrupt!!!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Program A is executing instruction n+3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Program A is executing instruction n+4</a:t>
            </a: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rPr>
              <a:t>……</a:t>
            </a: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rPr>
              <a:t>……</a:t>
            </a: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rPr>
              <a:t>……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624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C035DD-1658-45C3-9256-9465EACA19F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1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3EE373-1A43-4403-BD3E-7BE9B0372D5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Interrupt-Driven I/O</a:t>
            </a:r>
            <a:endParaRPr lang="zh-CN" altLang="en-US" b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79388" y="981075"/>
            <a:ext cx="8839200" cy="5481638"/>
          </a:xfrm>
          <a:prstGeom prst="rect">
            <a:avLst/>
          </a:prstGeom>
          <a:solidFill>
            <a:srgbClr val="CCFFFF"/>
          </a:solidFill>
          <a:ln w="28575">
            <a:solidFill>
              <a:srgbClr val="003399"/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Program A is executing instruction 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Program A is executing instruction n+1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Program A is executing instruction n+2</a:t>
            </a:r>
          </a:p>
          <a:p>
            <a:pPr marL="0" indent="0">
              <a:buNone/>
            </a:pPr>
            <a:r>
              <a:rPr lang="en-US" altLang="zh-CN" sz="1600" b="0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1: Interrupt signal is detected</a:t>
            </a:r>
          </a:p>
          <a:p>
            <a:pPr marL="0" indent="0">
              <a:buNone/>
            </a:pPr>
            <a:r>
              <a:rPr lang="en-US" altLang="zh-CN" sz="1600" b="0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1: Program A is put into suspended animation</a:t>
            </a:r>
          </a:p>
          <a:p>
            <a:pPr marL="0" indent="0">
              <a:buNone/>
            </a:pPr>
            <a:r>
              <a:rPr lang="en-US" altLang="zh-CN" sz="1600" b="0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1: PC is loaded with the starting address of Program B</a:t>
            </a:r>
          </a:p>
          <a:p>
            <a:pPr marL="0" indent="0">
              <a:buNone/>
            </a:pPr>
            <a:r>
              <a:rPr lang="en-US" altLang="zh-CN" sz="1600" b="0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2: Program B starts </a:t>
            </a:r>
            <a:r>
              <a:rPr lang="en-US" altLang="zh-CN" sz="1600" b="0" baseline="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satisying</a:t>
            </a:r>
            <a:r>
              <a:rPr lang="en-US" altLang="zh-CN" sz="1600" b="0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I/O device’s needs</a:t>
            </a:r>
          </a:p>
          <a:p>
            <a:pPr marL="0" indent="0">
              <a:buNone/>
            </a:pPr>
            <a:r>
              <a:rPr lang="en-US" altLang="zh-CN" sz="1600" b="0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2: Program B continues satisfying I/O device’s needs</a:t>
            </a:r>
          </a:p>
          <a:p>
            <a:pPr marL="0" indent="0">
              <a:buNone/>
            </a:pPr>
            <a:r>
              <a:rPr lang="en-US" altLang="zh-CN" sz="1600" b="0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2: Program B continues satisfying I/O device’s needs</a:t>
            </a:r>
          </a:p>
          <a:p>
            <a:pPr marL="0" indent="0">
              <a:buNone/>
            </a:pPr>
            <a:r>
              <a:rPr lang="en-US" altLang="zh-CN" sz="1600" b="0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2: Program B finishes satisfying I/O device’s needs</a:t>
            </a:r>
          </a:p>
          <a:p>
            <a:pPr marL="0" indent="0">
              <a:buNone/>
            </a:pPr>
            <a:r>
              <a:rPr lang="en-US" altLang="zh-CN" sz="1600" b="0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3: Program A is brought back to life </a:t>
            </a:r>
          </a:p>
          <a:p>
            <a:pPr marL="0" indent="0">
              <a:buNone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Program A is executing instruction n+3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Program A is executing instruction n+4</a:t>
            </a: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rPr>
              <a:t>……</a:t>
            </a: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rPr>
              <a:t>……</a:t>
            </a: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+mn-cs"/>
              </a:rPr>
              <a:t>……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5973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EDFB05-2E04-459E-BD64-DAB3BA4620B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1291F77-AFA4-4EF5-A0BC-5E2B7FF3297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When to Use Interrupts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213" y="981075"/>
            <a:ext cx="8839200" cy="5481638"/>
          </a:xfrm>
        </p:spPr>
        <p:txBody>
          <a:bodyPr/>
          <a:lstStyle/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When timing of external event is uncertain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Example: incoming packet from network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TRAP vs. </a:t>
            </a:r>
            <a:r>
              <a:rPr lang="en-US" altLang="zh-CN" dirty="0"/>
              <a:t>Interrupt, 12.5s vs. 0.00001s @ 100 char read from KB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When device operation takes a long time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Example: start a disk transfer,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disk interrupts when transfer is finished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processor can do something else in the meantime</a:t>
            </a:r>
          </a:p>
          <a:p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When event is rare but critical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Example: building on fire -- save and shut down!</a:t>
            </a:r>
          </a:p>
        </p:txBody>
      </p:sp>
    </p:spTree>
    <p:extLst>
      <p:ext uri="{BB962C8B-B14F-4D97-AF65-F5344CB8AC3E}">
        <p14:creationId xmlns:p14="http://schemas.microsoft.com/office/powerpoint/2010/main" val="3904575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897A6B9-787F-47DD-974D-A18E8575F5C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BFFE4C-29E0-4061-87F9-6B059E8FB5C2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How is Interrupt Signaled?</a:t>
            </a:r>
            <a:endParaRPr lang="zh-CN" altLang="en-US" b="0"/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839200" cy="4103688"/>
          </a:xfrm>
        </p:spPr>
        <p:txBody>
          <a:bodyPr/>
          <a:lstStyle/>
          <a:p>
            <a:r>
              <a:rPr lang="en-US" altLang="zh-CN" dirty="0"/>
              <a:t>External interrupt signal by Devices: </a:t>
            </a:r>
            <a:r>
              <a:rPr lang="en-US" altLang="zh-CN" dirty="0">
                <a:solidFill>
                  <a:srgbClr val="FF3300"/>
                </a:solidFill>
              </a:rPr>
              <a:t>INT</a:t>
            </a:r>
          </a:p>
          <a:p>
            <a:pPr lvl="1"/>
            <a:r>
              <a:rPr lang="en-US" altLang="zh-CN" dirty="0"/>
              <a:t>Device sets INT=1 when it wants to cause an interrupt</a:t>
            </a:r>
          </a:p>
          <a:p>
            <a:r>
              <a:rPr lang="en-US" altLang="zh-CN" dirty="0"/>
              <a:t>Interrupt vector: </a:t>
            </a:r>
            <a:r>
              <a:rPr lang="en-US" altLang="zh-CN" dirty="0">
                <a:solidFill>
                  <a:srgbClr val="FF0000"/>
                </a:solidFill>
              </a:rPr>
              <a:t>INTV</a:t>
            </a:r>
          </a:p>
          <a:p>
            <a:pPr lvl="1"/>
            <a:r>
              <a:rPr lang="en-US" altLang="zh-CN" dirty="0"/>
              <a:t>8-bit signal for device to identify itself</a:t>
            </a:r>
          </a:p>
          <a:p>
            <a:pPr lvl="1"/>
            <a:r>
              <a:rPr lang="en-US" altLang="zh-CN" dirty="0"/>
              <a:t>Also used as </a:t>
            </a:r>
            <a:r>
              <a:rPr lang="en-US" altLang="zh-CN"/>
              <a:t>entry of </a:t>
            </a:r>
            <a:r>
              <a:rPr lang="en-US" altLang="zh-CN" dirty="0"/>
              <a:t>Interrupt Vector Table, which gives starting address of </a:t>
            </a:r>
            <a:r>
              <a:rPr lang="en-US" altLang="zh-CN" i="1" dirty="0">
                <a:solidFill>
                  <a:srgbClr val="003399"/>
                </a:solidFill>
              </a:rPr>
              <a:t>Interrupt Service Routine (ISR)</a:t>
            </a:r>
          </a:p>
          <a:p>
            <a:pPr lvl="2"/>
            <a:r>
              <a:rPr lang="en-US" altLang="zh-CN" dirty="0"/>
              <a:t>Just like Trap Vector Table and Trap Service Routine</a:t>
            </a:r>
          </a:p>
          <a:p>
            <a:pPr lvl="2"/>
            <a:r>
              <a:rPr lang="en-US" altLang="zh-CN" dirty="0"/>
              <a:t>TVT: x0000 to x00FF</a:t>
            </a:r>
          </a:p>
          <a:p>
            <a:pPr lvl="2"/>
            <a:r>
              <a:rPr lang="en-US" altLang="zh-CN" dirty="0"/>
              <a:t>IVT:  x0100 to x01FF</a:t>
            </a:r>
          </a:p>
        </p:txBody>
      </p:sp>
    </p:spTree>
    <p:extLst>
      <p:ext uri="{BB962C8B-B14F-4D97-AF65-F5344CB8AC3E}">
        <p14:creationId xmlns:p14="http://schemas.microsoft.com/office/powerpoint/2010/main" val="30745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Interrupt Signal to CPU: Conditions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Several things must be true for an I/O device to actually interrupt the processor (ALL the three elements are present)</a:t>
            </a:r>
          </a:p>
          <a:p>
            <a:pPr lvl="1">
              <a:defRPr/>
            </a:pPr>
            <a:r>
              <a:rPr lang="en-US" altLang="zh-CN" dirty="0"/>
              <a:t>The I/O device must want service(</a:t>
            </a:r>
            <a:r>
              <a:rPr lang="en-US" altLang="zh-CN" i="1" dirty="0">
                <a:solidFill>
                  <a:schemeClr val="accent2"/>
                </a:solidFill>
                <a:ea typeface="宋体" panose="02010600030101010101" pitchFamily="2" charset="-122"/>
              </a:rPr>
              <a:t>ready bit = 1</a:t>
            </a:r>
            <a:r>
              <a:rPr lang="en-US" altLang="zh-CN" dirty="0"/>
              <a:t>)</a:t>
            </a:r>
          </a:p>
          <a:p>
            <a:pPr lvl="1">
              <a:defRPr/>
            </a:pPr>
            <a:r>
              <a:rPr lang="en-US" altLang="zh-CN" dirty="0"/>
              <a:t>The device must have the right to request the service(</a:t>
            </a:r>
            <a:r>
              <a:rPr lang="en-US" altLang="zh-CN" i="1" dirty="0">
                <a:solidFill>
                  <a:schemeClr val="accent2"/>
                </a:solidFill>
                <a:ea typeface="宋体" panose="02010600030101010101" pitchFamily="2" charset="-122"/>
              </a:rPr>
              <a:t>interrupt enable bit = 1</a:t>
            </a:r>
            <a:r>
              <a:rPr lang="en-US" altLang="zh-CN" dirty="0"/>
              <a:t>).</a:t>
            </a:r>
          </a:p>
          <a:p>
            <a:pPr lvl="1">
              <a:defRPr/>
            </a:pPr>
            <a:r>
              <a:rPr lang="en-US" altLang="zh-CN" dirty="0"/>
              <a:t>The device request must be more urgent than what the processor is currently doing. </a:t>
            </a:r>
          </a:p>
          <a:p>
            <a:pPr lvl="1">
              <a:lnSpc>
                <a:spcPct val="90000"/>
              </a:lnSpc>
              <a:defRPr/>
            </a:pPr>
            <a:endParaRPr lang="en-US" altLang="zh-CN" dirty="0"/>
          </a:p>
          <a:p>
            <a:pPr marL="457200" lvl="1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3891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AB2B8D-1972-4E0F-96AF-D40C11F1E5C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17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447133F-8665-4313-BC8A-3BDE76FFF83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7416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7367E2-6728-458D-A9A5-7F28E8D5540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3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20D971D-092E-447A-96A2-EFC5AA37EDE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Interrupt Signal to CPU: Conditions</a:t>
            </a:r>
            <a:endParaRPr lang="zh-CN" altLang="en-US" b="0" dirty="0"/>
          </a:p>
        </p:txBody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CC0000"/>
                </a:solidFill>
              </a:rPr>
              <a:t>At the device side(</a:t>
            </a:r>
            <a:r>
              <a:rPr lang="en-US" altLang="zh-CN" i="1" dirty="0">
                <a:solidFill>
                  <a:schemeClr val="accent2"/>
                </a:solidFill>
                <a:ea typeface="宋体" panose="02010600030101010101" pitchFamily="2" charset="-122"/>
              </a:rPr>
              <a:t>I/O device set</a:t>
            </a:r>
            <a:r>
              <a:rPr lang="en-US" altLang="zh-CN" dirty="0">
                <a:solidFill>
                  <a:srgbClr val="CC0000"/>
                </a:solidFill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Control register has “</a:t>
            </a:r>
            <a:r>
              <a:rPr lang="en-US" altLang="zh-CN" dirty="0">
                <a:solidFill>
                  <a:srgbClr val="00B050"/>
                </a:solidFill>
              </a:rPr>
              <a:t>Interrupt Enable</a:t>
            </a:r>
            <a:r>
              <a:rPr lang="en-US" altLang="zh-CN" dirty="0"/>
              <a:t>” bit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Must be set for interrupt to be generated</a:t>
            </a:r>
            <a:endParaRPr lang="zh-CN" altLang="en-US" dirty="0"/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CC0000"/>
                </a:solidFill>
              </a:rPr>
              <a:t>At the processor(</a:t>
            </a:r>
            <a:r>
              <a:rPr lang="en-US" altLang="zh-CN" i="1" dirty="0">
                <a:solidFill>
                  <a:schemeClr val="accent2"/>
                </a:solidFill>
                <a:ea typeface="宋体" panose="02010600030101010101" pitchFamily="2" charset="-122"/>
              </a:rPr>
              <a:t>CPU set</a:t>
            </a:r>
            <a:r>
              <a:rPr lang="en-US" altLang="zh-CN" dirty="0">
                <a:solidFill>
                  <a:srgbClr val="CC0000"/>
                </a:solidFill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Sometimes have “</a:t>
            </a:r>
            <a:r>
              <a:rPr lang="en-US" altLang="zh-CN" dirty="0">
                <a:solidFill>
                  <a:srgbClr val="00B050"/>
                </a:solidFill>
              </a:rPr>
              <a:t>Interrupt Mask</a:t>
            </a:r>
            <a:r>
              <a:rPr lang="en-US" altLang="zh-CN" dirty="0"/>
              <a:t>” register (LC-3 does not)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When set, processor ignores INT signal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Why? - Example: may not want to be interrupted while in ISR</a:t>
            </a:r>
          </a:p>
        </p:txBody>
      </p:sp>
      <p:sp>
        <p:nvSpPr>
          <p:cNvPr id="39942" name="Rectangle 4"/>
          <p:cNvSpPr>
            <a:spLocks noChangeArrowheads="1"/>
          </p:cNvSpPr>
          <p:nvPr/>
        </p:nvSpPr>
        <p:spPr bwMode="auto">
          <a:xfrm>
            <a:off x="4826000" y="4568825"/>
            <a:ext cx="152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3" name="Rectangle 5"/>
          <p:cNvSpPr>
            <a:spLocks noChangeArrowheads="1"/>
          </p:cNvSpPr>
          <p:nvPr/>
        </p:nvSpPr>
        <p:spPr bwMode="auto">
          <a:xfrm>
            <a:off x="5130800" y="4568825"/>
            <a:ext cx="2133600" cy="304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44" name="Text Box 6"/>
          <p:cNvSpPr txBox="1">
            <a:spLocks noChangeArrowheads="1"/>
          </p:cNvSpPr>
          <p:nvPr/>
        </p:nvSpPr>
        <p:spPr bwMode="auto">
          <a:xfrm>
            <a:off x="7267575" y="4498975"/>
            <a:ext cx="1049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KBSR</a:t>
            </a:r>
          </a:p>
        </p:txBody>
      </p:sp>
      <p:sp>
        <p:nvSpPr>
          <p:cNvPr id="39945" name="Text Box 7"/>
          <p:cNvSpPr txBox="1">
            <a:spLocks noChangeArrowheads="1"/>
          </p:cNvSpPr>
          <p:nvPr/>
        </p:nvSpPr>
        <p:spPr bwMode="auto">
          <a:xfrm>
            <a:off x="4749800" y="4341813"/>
            <a:ext cx="3238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15</a:t>
            </a:r>
          </a:p>
        </p:txBody>
      </p:sp>
      <p:sp>
        <p:nvSpPr>
          <p:cNvPr id="39946" name="Text Box 8"/>
          <p:cNvSpPr txBox="1">
            <a:spLocks noChangeArrowheads="1"/>
          </p:cNvSpPr>
          <p:nvPr/>
        </p:nvSpPr>
        <p:spPr bwMode="auto">
          <a:xfrm>
            <a:off x="4902200" y="4341813"/>
            <a:ext cx="3238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14</a:t>
            </a:r>
          </a:p>
        </p:txBody>
      </p:sp>
      <p:sp>
        <p:nvSpPr>
          <p:cNvPr id="39947" name="Text Box 9"/>
          <p:cNvSpPr txBox="1">
            <a:spLocks noChangeArrowheads="1"/>
          </p:cNvSpPr>
          <p:nvPr/>
        </p:nvSpPr>
        <p:spPr bwMode="auto">
          <a:xfrm>
            <a:off x="7070725" y="4340225"/>
            <a:ext cx="25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39948" name="Text Box 10"/>
          <p:cNvSpPr txBox="1">
            <a:spLocks noChangeArrowheads="1"/>
          </p:cNvSpPr>
          <p:nvPr/>
        </p:nvSpPr>
        <p:spPr bwMode="auto">
          <a:xfrm>
            <a:off x="214313" y="4492625"/>
            <a:ext cx="363696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I/O device set: ready bit</a:t>
            </a:r>
          </a:p>
        </p:txBody>
      </p:sp>
      <p:sp>
        <p:nvSpPr>
          <p:cNvPr id="39949" name="Line 11"/>
          <p:cNvSpPr>
            <a:spLocks noChangeShapeType="1"/>
          </p:cNvSpPr>
          <p:nvPr/>
        </p:nvSpPr>
        <p:spPr bwMode="auto">
          <a:xfrm>
            <a:off x="3759200" y="4721225"/>
            <a:ext cx="1143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50" name="Text Box 12"/>
          <p:cNvSpPr txBox="1">
            <a:spLocks noChangeArrowheads="1"/>
          </p:cNvSpPr>
          <p:nvPr/>
        </p:nvSpPr>
        <p:spPr bwMode="auto">
          <a:xfrm>
            <a:off x="5054600" y="4341813"/>
            <a:ext cx="3238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13</a:t>
            </a:r>
          </a:p>
        </p:txBody>
      </p:sp>
      <p:sp>
        <p:nvSpPr>
          <p:cNvPr id="39951" name="Rectangle 13"/>
          <p:cNvSpPr>
            <a:spLocks noChangeArrowheads="1"/>
          </p:cNvSpPr>
          <p:nvPr/>
        </p:nvSpPr>
        <p:spPr bwMode="auto">
          <a:xfrm>
            <a:off x="4978400" y="4568825"/>
            <a:ext cx="152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52" name="Text Box 14"/>
          <p:cNvSpPr txBox="1">
            <a:spLocks noChangeArrowheads="1"/>
          </p:cNvSpPr>
          <p:nvPr/>
        </p:nvSpPr>
        <p:spPr bwMode="auto">
          <a:xfrm>
            <a:off x="539750" y="3860800"/>
            <a:ext cx="433863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CPU set: interrupt enable bit</a:t>
            </a:r>
          </a:p>
        </p:txBody>
      </p:sp>
      <p:sp>
        <p:nvSpPr>
          <p:cNvPr id="39953" name="Line 15"/>
          <p:cNvSpPr>
            <a:spLocks noChangeShapeType="1"/>
          </p:cNvSpPr>
          <p:nvPr/>
        </p:nvSpPr>
        <p:spPr bwMode="auto">
          <a:xfrm>
            <a:off x="4445000" y="4340225"/>
            <a:ext cx="609600" cy="381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54" name="AutoShape 16"/>
          <p:cNvSpPr>
            <a:spLocks noChangeArrowheads="1"/>
          </p:cNvSpPr>
          <p:nvPr/>
        </p:nvSpPr>
        <p:spPr bwMode="auto">
          <a:xfrm>
            <a:off x="5664200" y="5102225"/>
            <a:ext cx="457200" cy="457200"/>
          </a:xfrm>
          <a:prstGeom prst="flowChartDelay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55" name="Line 17"/>
          <p:cNvSpPr>
            <a:spLocks noChangeShapeType="1"/>
          </p:cNvSpPr>
          <p:nvPr/>
        </p:nvSpPr>
        <p:spPr bwMode="auto">
          <a:xfrm>
            <a:off x="5054600" y="47974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56" name="Line 18"/>
          <p:cNvSpPr>
            <a:spLocks noChangeShapeType="1"/>
          </p:cNvSpPr>
          <p:nvPr/>
        </p:nvSpPr>
        <p:spPr bwMode="auto">
          <a:xfrm>
            <a:off x="5054600" y="525462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57" name="Line 19"/>
          <p:cNvSpPr>
            <a:spLocks noChangeShapeType="1"/>
          </p:cNvSpPr>
          <p:nvPr/>
        </p:nvSpPr>
        <p:spPr bwMode="auto">
          <a:xfrm>
            <a:off x="4902200" y="47974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58" name="Line 20"/>
          <p:cNvSpPr>
            <a:spLocks noChangeShapeType="1"/>
          </p:cNvSpPr>
          <p:nvPr/>
        </p:nvSpPr>
        <p:spPr bwMode="auto">
          <a:xfrm>
            <a:off x="4902200" y="5483225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59" name="Line 21"/>
          <p:cNvSpPr>
            <a:spLocks noChangeShapeType="1"/>
          </p:cNvSpPr>
          <p:nvPr/>
        </p:nvSpPr>
        <p:spPr bwMode="auto">
          <a:xfrm>
            <a:off x="6121400" y="533082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60" name="Text Box 22"/>
          <p:cNvSpPr txBox="1">
            <a:spLocks noChangeArrowheads="1"/>
          </p:cNvSpPr>
          <p:nvPr/>
        </p:nvSpPr>
        <p:spPr bwMode="auto">
          <a:xfrm>
            <a:off x="6654800" y="5102225"/>
            <a:ext cx="2398713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interrupt signal </a:t>
            </a:r>
            <a:b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to processor(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3618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State of a Program</a:t>
            </a:r>
            <a:endParaRPr lang="zh-CN" altLang="en-US"/>
          </a:p>
        </p:txBody>
      </p:sp>
      <p:sp>
        <p:nvSpPr>
          <p:cNvPr id="40963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D2CD31-96EA-47A6-866A-F02734D3D87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64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77CD7F-6A9B-48C7-90A0-B965B458B8C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965" name="组合 37"/>
          <p:cNvGrpSpPr>
            <a:grpSpLocks/>
          </p:cNvGrpSpPr>
          <p:nvPr/>
        </p:nvGrpSpPr>
        <p:grpSpPr bwMode="auto">
          <a:xfrm>
            <a:off x="468313" y="1773238"/>
            <a:ext cx="6911975" cy="360362"/>
            <a:chOff x="467544" y="2852936"/>
            <a:chExt cx="6912768" cy="360040"/>
          </a:xfrm>
        </p:grpSpPr>
        <p:sp>
          <p:nvSpPr>
            <p:cNvPr id="40979" name="矩形 21"/>
            <p:cNvSpPr>
              <a:spLocks noChangeArrowheads="1"/>
            </p:cNvSpPr>
            <p:nvPr/>
          </p:nvSpPr>
          <p:spPr bwMode="auto">
            <a:xfrm>
              <a:off x="467544" y="2852936"/>
              <a:ext cx="432048" cy="36004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15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80" name="矩形 22"/>
            <p:cNvSpPr>
              <a:spLocks noChangeArrowheads="1"/>
            </p:cNvSpPr>
            <p:nvPr/>
          </p:nvSpPr>
          <p:spPr bwMode="auto">
            <a:xfrm>
              <a:off x="899592" y="2852936"/>
              <a:ext cx="432048" cy="36004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14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81" name="矩形 23"/>
            <p:cNvSpPr>
              <a:spLocks noChangeArrowheads="1"/>
            </p:cNvSpPr>
            <p:nvPr/>
          </p:nvSpPr>
          <p:spPr bwMode="auto">
            <a:xfrm>
              <a:off x="1331640" y="2852936"/>
              <a:ext cx="432048" cy="36004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13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82" name="矩形 24"/>
            <p:cNvSpPr>
              <a:spLocks noChangeArrowheads="1"/>
            </p:cNvSpPr>
            <p:nvPr/>
          </p:nvSpPr>
          <p:spPr bwMode="auto">
            <a:xfrm>
              <a:off x="1763688" y="2852936"/>
              <a:ext cx="432048" cy="36004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12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83" name="矩形 25"/>
            <p:cNvSpPr>
              <a:spLocks noChangeArrowheads="1"/>
            </p:cNvSpPr>
            <p:nvPr/>
          </p:nvSpPr>
          <p:spPr bwMode="auto">
            <a:xfrm>
              <a:off x="2195736" y="2852936"/>
              <a:ext cx="432048" cy="36004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11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84" name="矩形 26"/>
            <p:cNvSpPr>
              <a:spLocks noChangeArrowheads="1"/>
            </p:cNvSpPr>
            <p:nvPr/>
          </p:nvSpPr>
          <p:spPr bwMode="auto">
            <a:xfrm>
              <a:off x="2627784" y="2852936"/>
              <a:ext cx="432048" cy="36004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10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85" name="矩形 27"/>
            <p:cNvSpPr>
              <a:spLocks noChangeArrowheads="1"/>
            </p:cNvSpPr>
            <p:nvPr/>
          </p:nvSpPr>
          <p:spPr bwMode="auto">
            <a:xfrm>
              <a:off x="3059832" y="2852936"/>
              <a:ext cx="432048" cy="36004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9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86" name="矩形 28"/>
            <p:cNvSpPr>
              <a:spLocks noChangeArrowheads="1"/>
            </p:cNvSpPr>
            <p:nvPr/>
          </p:nvSpPr>
          <p:spPr bwMode="auto">
            <a:xfrm>
              <a:off x="3491880" y="2852936"/>
              <a:ext cx="432048" cy="36004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8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87" name="矩形 29"/>
            <p:cNvSpPr>
              <a:spLocks noChangeArrowheads="1"/>
            </p:cNvSpPr>
            <p:nvPr/>
          </p:nvSpPr>
          <p:spPr bwMode="auto">
            <a:xfrm>
              <a:off x="3923928" y="2852936"/>
              <a:ext cx="432048" cy="36004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7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88" name="矩形 30"/>
            <p:cNvSpPr>
              <a:spLocks noChangeArrowheads="1"/>
            </p:cNvSpPr>
            <p:nvPr/>
          </p:nvSpPr>
          <p:spPr bwMode="auto">
            <a:xfrm>
              <a:off x="4355976" y="2852936"/>
              <a:ext cx="432048" cy="36004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6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89" name="矩形 31"/>
            <p:cNvSpPr>
              <a:spLocks noChangeArrowheads="1"/>
            </p:cNvSpPr>
            <p:nvPr/>
          </p:nvSpPr>
          <p:spPr bwMode="auto">
            <a:xfrm>
              <a:off x="4788024" y="2852936"/>
              <a:ext cx="432048" cy="36004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5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90" name="矩形 32"/>
            <p:cNvSpPr>
              <a:spLocks noChangeArrowheads="1"/>
            </p:cNvSpPr>
            <p:nvPr/>
          </p:nvSpPr>
          <p:spPr bwMode="auto">
            <a:xfrm>
              <a:off x="5220072" y="2852936"/>
              <a:ext cx="432048" cy="36004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91" name="矩形 33"/>
            <p:cNvSpPr>
              <a:spLocks noChangeArrowheads="1"/>
            </p:cNvSpPr>
            <p:nvPr/>
          </p:nvSpPr>
          <p:spPr bwMode="auto">
            <a:xfrm>
              <a:off x="5652120" y="2852936"/>
              <a:ext cx="432048" cy="36004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92" name="矩形 34"/>
            <p:cNvSpPr>
              <a:spLocks noChangeArrowheads="1"/>
            </p:cNvSpPr>
            <p:nvPr/>
          </p:nvSpPr>
          <p:spPr bwMode="auto">
            <a:xfrm>
              <a:off x="6084168" y="2852936"/>
              <a:ext cx="432048" cy="36004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93" name="矩形 35"/>
            <p:cNvSpPr>
              <a:spLocks noChangeArrowheads="1"/>
            </p:cNvSpPr>
            <p:nvPr/>
          </p:nvSpPr>
          <p:spPr bwMode="auto">
            <a:xfrm>
              <a:off x="6516216" y="2852936"/>
              <a:ext cx="432048" cy="36004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94" name="矩形 36"/>
            <p:cNvSpPr>
              <a:spLocks noChangeArrowheads="1"/>
            </p:cNvSpPr>
            <p:nvPr/>
          </p:nvSpPr>
          <p:spPr bwMode="auto">
            <a:xfrm>
              <a:off x="6948264" y="2852936"/>
              <a:ext cx="432048" cy="36004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0966" name="矩形 5"/>
          <p:cNvSpPr>
            <a:spLocks noChangeArrowheads="1"/>
          </p:cNvSpPr>
          <p:nvPr/>
        </p:nvSpPr>
        <p:spPr bwMode="auto">
          <a:xfrm>
            <a:off x="468313" y="2133600"/>
            <a:ext cx="431800" cy="3603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67" name="矩形 6"/>
          <p:cNvSpPr>
            <a:spLocks noChangeArrowheads="1"/>
          </p:cNvSpPr>
          <p:nvPr/>
        </p:nvSpPr>
        <p:spPr bwMode="auto">
          <a:xfrm>
            <a:off x="900113" y="2133600"/>
            <a:ext cx="1766887" cy="3603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68" name="矩形 10"/>
          <p:cNvSpPr>
            <a:spLocks noChangeArrowheads="1"/>
          </p:cNvSpPr>
          <p:nvPr/>
        </p:nvSpPr>
        <p:spPr bwMode="auto">
          <a:xfrm>
            <a:off x="2627313" y="2133600"/>
            <a:ext cx="1295400" cy="3603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PL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69" name="矩形 13"/>
          <p:cNvSpPr>
            <a:spLocks noChangeArrowheads="1"/>
          </p:cNvSpPr>
          <p:nvPr/>
        </p:nvSpPr>
        <p:spPr bwMode="auto">
          <a:xfrm>
            <a:off x="3924300" y="2133600"/>
            <a:ext cx="2159000" cy="3603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70" name="矩形 18"/>
          <p:cNvSpPr>
            <a:spLocks noChangeArrowheads="1"/>
          </p:cNvSpPr>
          <p:nvPr/>
        </p:nvSpPr>
        <p:spPr bwMode="auto">
          <a:xfrm>
            <a:off x="6084888" y="2133600"/>
            <a:ext cx="431800" cy="3603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71" name="矩形 19"/>
          <p:cNvSpPr>
            <a:spLocks noChangeArrowheads="1"/>
          </p:cNvSpPr>
          <p:nvPr/>
        </p:nvSpPr>
        <p:spPr bwMode="auto">
          <a:xfrm>
            <a:off x="6516688" y="2133600"/>
            <a:ext cx="431800" cy="3603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Z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72" name="矩形 20"/>
          <p:cNvSpPr>
            <a:spLocks noChangeArrowheads="1"/>
          </p:cNvSpPr>
          <p:nvPr/>
        </p:nvSpPr>
        <p:spPr bwMode="auto">
          <a:xfrm>
            <a:off x="6948488" y="2133600"/>
            <a:ext cx="431800" cy="3603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73" name="矩形 20"/>
          <p:cNvSpPr>
            <a:spLocks noChangeArrowheads="1"/>
          </p:cNvSpPr>
          <p:nvPr/>
        </p:nvSpPr>
        <p:spPr bwMode="auto">
          <a:xfrm>
            <a:off x="7467600" y="2133600"/>
            <a:ext cx="633413" cy="3603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PSR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74" name="矩形 18"/>
          <p:cNvSpPr>
            <a:spLocks noChangeArrowheads="1"/>
          </p:cNvSpPr>
          <p:nvPr/>
        </p:nvSpPr>
        <p:spPr bwMode="auto">
          <a:xfrm>
            <a:off x="6057900" y="2600325"/>
            <a:ext cx="1512888" cy="3603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Cond Codes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75" name="矩形 18"/>
          <p:cNvSpPr>
            <a:spLocks noChangeArrowheads="1"/>
          </p:cNvSpPr>
          <p:nvPr/>
        </p:nvSpPr>
        <p:spPr bwMode="auto">
          <a:xfrm>
            <a:off x="2413000" y="2652713"/>
            <a:ext cx="1801813" cy="3603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Priority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Level 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76" name="矩形 18"/>
          <p:cNvSpPr>
            <a:spLocks noChangeArrowheads="1"/>
          </p:cNvSpPr>
          <p:nvPr/>
        </p:nvSpPr>
        <p:spPr bwMode="auto">
          <a:xfrm>
            <a:off x="2393950" y="1125538"/>
            <a:ext cx="3475038" cy="36036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The Processor Status  Register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77" name="内容占位符 2"/>
          <p:cNvSpPr>
            <a:spLocks noGrp="1"/>
          </p:cNvSpPr>
          <p:nvPr>
            <p:ph idx="1"/>
          </p:nvPr>
        </p:nvSpPr>
        <p:spPr>
          <a:xfrm>
            <a:off x="179388" y="3321050"/>
            <a:ext cx="8659812" cy="3141663"/>
          </a:xfrm>
        </p:spPr>
        <p:txBody>
          <a:bodyPr/>
          <a:lstStyle/>
          <a:p>
            <a:r>
              <a:rPr lang="en-US" altLang="zh-CN" dirty="0"/>
              <a:t>PSR[15]</a:t>
            </a:r>
          </a:p>
          <a:p>
            <a:pPr lvl="1"/>
            <a:r>
              <a:rPr lang="en-US" altLang="zh-CN" dirty="0"/>
              <a:t>0, privileged (supervisor) mode</a:t>
            </a:r>
          </a:p>
          <a:p>
            <a:pPr lvl="1"/>
            <a:r>
              <a:rPr lang="en-US" altLang="zh-CN" dirty="0"/>
              <a:t>1, unprivileged(user)mode</a:t>
            </a:r>
          </a:p>
          <a:p>
            <a:r>
              <a:rPr lang="en-US" altLang="zh-CN" dirty="0"/>
              <a:t>The Priority Level of a program being executed  </a:t>
            </a:r>
          </a:p>
          <a:p>
            <a:pPr lvl="1"/>
            <a:r>
              <a:rPr lang="en-US" altLang="zh-CN" dirty="0"/>
              <a:t>PL[10:8]</a:t>
            </a:r>
          </a:p>
          <a:p>
            <a:pPr lvl="1"/>
            <a:r>
              <a:rPr lang="en-US" altLang="zh-CN" dirty="0"/>
              <a:t>0(</a:t>
            </a:r>
            <a:r>
              <a:rPr lang="zh-CN" altLang="en-US" dirty="0"/>
              <a:t>最低</a:t>
            </a:r>
            <a:r>
              <a:rPr lang="en-US" altLang="zh-CN" dirty="0"/>
              <a:t>)~7(</a:t>
            </a:r>
            <a:r>
              <a:rPr lang="zh-CN" altLang="en-US" dirty="0"/>
              <a:t>最高</a:t>
            </a:r>
            <a:r>
              <a:rPr lang="en-US" altLang="zh-CN" dirty="0"/>
              <a:t>)</a:t>
            </a:r>
          </a:p>
          <a:p>
            <a:r>
              <a:rPr lang="en-US" altLang="zh-CN" dirty="0" err="1"/>
              <a:t>Orthorgnal</a:t>
            </a:r>
            <a:r>
              <a:rPr lang="en-US" altLang="zh-CN" dirty="0"/>
              <a:t>: Privilege(</a:t>
            </a:r>
            <a:r>
              <a:rPr lang="zh-CN" altLang="en-US" dirty="0"/>
              <a:t>特权模式</a:t>
            </a:r>
            <a:r>
              <a:rPr lang="en-US" altLang="zh-CN" dirty="0"/>
              <a:t>)/ Priority(</a:t>
            </a:r>
            <a:r>
              <a:rPr lang="zh-CN" altLang="en-US" dirty="0"/>
              <a:t>优先级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0978" name="矩形 18"/>
          <p:cNvSpPr>
            <a:spLocks noChangeArrowheads="1"/>
          </p:cNvSpPr>
          <p:nvPr/>
        </p:nvSpPr>
        <p:spPr bwMode="auto">
          <a:xfrm>
            <a:off x="179388" y="2673350"/>
            <a:ext cx="1368425" cy="3603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Priv Mode 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6AF1509-D081-4DAF-8342-D0FC6B1564F5}"/>
              </a:ext>
            </a:extLst>
          </p:cNvPr>
          <p:cNvCxnSpPr/>
          <p:nvPr/>
        </p:nvCxnSpPr>
        <p:spPr bwMode="auto">
          <a:xfrm>
            <a:off x="1332309" y="2133600"/>
            <a:ext cx="0" cy="3603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EFCBC84A-5D90-4EC0-BC73-6FCA9C128C9C}"/>
              </a:ext>
            </a:extLst>
          </p:cNvPr>
          <p:cNvSpPr txBox="1"/>
          <p:nvPr/>
        </p:nvSpPr>
        <p:spPr>
          <a:xfrm>
            <a:off x="926423" y="2064921"/>
            <a:ext cx="395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IE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032978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8F1D53-B2E2-49B6-B175-09810F7CB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Regions for Privilege Mode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5E7A76AA-D5A3-42A7-92F8-3931A2C62B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62" y="836613"/>
            <a:ext cx="5948938" cy="5481638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47DFFD-D399-4850-8A94-DC4B0E739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2025/12/9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3EF5A0-5343-419E-A895-56D10F554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BD4074-9AB4-4E31-AEFB-D348F9716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44D57D-72E4-4477-BB08-1737F7AAB091}"/>
              </a:ext>
            </a:extLst>
          </p:cNvPr>
          <p:cNvSpPr/>
          <p:nvPr/>
        </p:nvSpPr>
        <p:spPr>
          <a:xfrm>
            <a:off x="4716016" y="2348880"/>
            <a:ext cx="367240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baseline="0" dirty="0">
                <a:latin typeface="STIXGeneral-Regular"/>
              </a:rPr>
              <a:t>S</a:t>
            </a:r>
            <a:r>
              <a:rPr lang="en-US" altLang="zh-CN" b="1" i="1" baseline="0" dirty="0">
                <a:latin typeface="STIXGeneral-Italic"/>
              </a:rPr>
              <a:t>upervisor stack</a:t>
            </a:r>
          </a:p>
          <a:p>
            <a:pPr lvl="1"/>
            <a:r>
              <a:rPr lang="en-US" altLang="zh-CN" baseline="0" dirty="0">
                <a:latin typeface="STIXGeneral-Regular"/>
              </a:rPr>
              <a:t>in system space </a:t>
            </a:r>
          </a:p>
          <a:p>
            <a:pPr lvl="1"/>
            <a:r>
              <a:rPr lang="en-US" altLang="zh-CN" baseline="0" dirty="0">
                <a:latin typeface="STIXGeneral-Regular"/>
              </a:rPr>
              <a:t> by operating system</a:t>
            </a:r>
          </a:p>
          <a:p>
            <a:pPr lvl="1"/>
            <a:r>
              <a:rPr lang="en-US" altLang="zh-CN" baseline="0" dirty="0">
                <a:latin typeface="STIXGeneral-Regular"/>
              </a:rPr>
              <a:t> supervisor privilege required</a:t>
            </a:r>
          </a:p>
          <a:p>
            <a:endParaRPr lang="en-US" altLang="zh-CN" baseline="0" dirty="0">
              <a:latin typeface="STIXGeneral-Regular"/>
            </a:endParaRPr>
          </a:p>
          <a:p>
            <a:r>
              <a:rPr lang="en-US" altLang="zh-CN" b="1" i="1" baseline="0" dirty="0">
                <a:latin typeface="STIXGeneral-Italic"/>
              </a:rPr>
              <a:t>User stack</a:t>
            </a:r>
            <a:endParaRPr lang="en-US" altLang="zh-CN" b="1" baseline="0" dirty="0">
              <a:latin typeface="STIXGeneral-Regular"/>
            </a:endParaRPr>
          </a:p>
          <a:p>
            <a:pPr lvl="1"/>
            <a:r>
              <a:rPr lang="en-US" altLang="zh-CN" baseline="0" dirty="0">
                <a:latin typeface="STIXGeneral-Regular"/>
              </a:rPr>
              <a:t>in user space </a:t>
            </a:r>
          </a:p>
          <a:p>
            <a:pPr lvl="1"/>
            <a:r>
              <a:rPr lang="en-US" altLang="zh-CN" baseline="0" dirty="0">
                <a:latin typeface="STIXGeneral-Regular"/>
              </a:rPr>
              <a:t> by user program</a:t>
            </a:r>
          </a:p>
          <a:p>
            <a:pPr lvl="1"/>
            <a:r>
              <a:rPr lang="en-US" altLang="zh-CN" baseline="0" dirty="0">
                <a:latin typeface="STIXGeneral-Regular"/>
              </a:rPr>
              <a:t> no supervisor privilege required</a:t>
            </a:r>
          </a:p>
          <a:p>
            <a:endParaRPr lang="en-US" altLang="zh-CN" baseline="0" dirty="0">
              <a:latin typeface="STIXGeneral-Regular"/>
            </a:endParaRPr>
          </a:p>
          <a:p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ED45A6E-1D63-41BF-959B-CD9DC5E9EE86}"/>
              </a:ext>
            </a:extLst>
          </p:cNvPr>
          <p:cNvSpPr/>
          <p:nvPr/>
        </p:nvSpPr>
        <p:spPr>
          <a:xfrm>
            <a:off x="3995936" y="5085184"/>
            <a:ext cx="48432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baseline="0" dirty="0">
                <a:latin typeface="STIXGeneral-Regular"/>
              </a:rPr>
              <a:t>R6</a:t>
            </a:r>
            <a:r>
              <a:rPr lang="en-US" altLang="zh-CN" baseline="0" dirty="0">
                <a:latin typeface="STIXGeneral-Regular"/>
              </a:rPr>
              <a:t>: </a:t>
            </a:r>
            <a:r>
              <a:rPr lang="en-US" altLang="zh-CN" baseline="0" dirty="0"/>
              <a:t>stack pointer (SP) for the active stack</a:t>
            </a:r>
          </a:p>
          <a:p>
            <a:r>
              <a:rPr lang="en-US" altLang="zh-CN" baseline="0" dirty="0" err="1"/>
              <a:t>Saved_SSP</a:t>
            </a:r>
            <a:r>
              <a:rPr lang="en-US" altLang="zh-CN" baseline="0" dirty="0"/>
              <a:t> / </a:t>
            </a:r>
            <a:r>
              <a:rPr lang="en-US" altLang="zh-CN" baseline="0" dirty="0" err="1"/>
              <a:t>Saved_USP</a:t>
            </a:r>
            <a:r>
              <a:rPr lang="en-US" altLang="zh-CN" baseline="0" dirty="0"/>
              <a:t>: save the SP not in use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3446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18C6537-F030-404F-A529-C35054480D1E}" type="datetime1">
              <a:rPr lang="zh-CN" altLang="en-US" sz="1400" b="0" smtClean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2025/12/9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19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9D6FF53B-8A79-4744-BBC6-1F68249DE811}" type="slidenum">
              <a:rPr lang="en-US" altLang="zh-CN" sz="1400" b="0" smtClean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23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RTI instruction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RTI – return instruction</a:t>
            </a:r>
          </a:p>
          <a:p>
            <a:pPr lvl="1"/>
            <a:r>
              <a:rPr lang="en-US" altLang="zh-CN" dirty="0"/>
              <a:t>How to return</a:t>
            </a:r>
          </a:p>
          <a:p>
            <a:pPr marL="800100" lvl="2" indent="0">
              <a:buNone/>
            </a:pPr>
            <a:r>
              <a:rPr lang="en-US" altLang="zh-CN" dirty="0"/>
              <a:t>if (PSR[15] == 1)           % if user mode</a:t>
            </a:r>
          </a:p>
          <a:p>
            <a:pPr marL="800100" lvl="2" indent="0">
              <a:buNone/>
            </a:pPr>
            <a:r>
              <a:rPr lang="en-US" altLang="zh-CN" dirty="0"/>
              <a:t>     </a:t>
            </a:r>
            <a:r>
              <a:rPr lang="en-US" altLang="zh-CN" b="0" dirty="0"/>
              <a:t>Initiate a privilege mode exception;</a:t>
            </a:r>
          </a:p>
          <a:p>
            <a:pPr marL="800100" lvl="2" indent="0">
              <a:buNone/>
            </a:pPr>
            <a:r>
              <a:rPr lang="en-US" altLang="zh-CN" dirty="0"/>
              <a:t>Else                       % if supervisor mode, pop PC, PSR on system stack</a:t>
            </a:r>
          </a:p>
          <a:p>
            <a:pPr marL="800100" lvl="2" indent="0">
              <a:buNone/>
            </a:pPr>
            <a:r>
              <a:rPr lang="en-US" altLang="zh-CN" dirty="0"/>
              <a:t>     </a:t>
            </a:r>
            <a:r>
              <a:rPr lang="en-US" altLang="zh-CN" sz="1600" b="0" dirty="0"/>
              <a:t>PC = mem[R6]; R6 is the SSP, PC is restored</a:t>
            </a:r>
          </a:p>
          <a:p>
            <a:pPr marL="800100" lvl="2" indent="0">
              <a:buNone/>
            </a:pPr>
            <a:r>
              <a:rPr lang="en-US" altLang="zh-CN" sz="1600" b="0" dirty="0"/>
              <a:t>     R6 = R6+1;</a:t>
            </a:r>
          </a:p>
          <a:p>
            <a:pPr marL="800100" lvl="2" indent="0">
              <a:buNone/>
            </a:pPr>
            <a:r>
              <a:rPr lang="en-US" altLang="zh-CN" sz="1600" b="0" dirty="0"/>
              <a:t>     TEMP = mem[R6];</a:t>
            </a:r>
          </a:p>
          <a:p>
            <a:pPr marL="800100" lvl="2" indent="0">
              <a:buNone/>
            </a:pPr>
            <a:r>
              <a:rPr lang="en-US" altLang="zh-CN" sz="1600" b="0" dirty="0"/>
              <a:t>      R6 = R6+1; system stack completes POP before saved PSR is restored</a:t>
            </a:r>
          </a:p>
          <a:p>
            <a:pPr marL="800100" lvl="2" indent="0">
              <a:buNone/>
            </a:pPr>
            <a:r>
              <a:rPr lang="en-US" altLang="zh-CN" sz="1600" b="0" dirty="0"/>
              <a:t>       PSR = TEMP; PSR is restored</a:t>
            </a:r>
          </a:p>
          <a:p>
            <a:pPr marL="800100" lvl="2" indent="0">
              <a:buNone/>
            </a:pPr>
            <a:r>
              <a:rPr lang="en-US" altLang="zh-CN" dirty="0"/>
              <a:t>if (PSR[15] == 1)                          %  come to user mode</a:t>
            </a:r>
          </a:p>
          <a:p>
            <a:pPr marL="800100" lvl="2" indent="0">
              <a:buNone/>
            </a:pPr>
            <a:r>
              <a:rPr lang="en-US" altLang="zh-CN" dirty="0"/>
              <a:t>       </a:t>
            </a:r>
            <a:r>
              <a:rPr lang="en-US" altLang="zh-CN" b="0" dirty="0"/>
              <a:t>Saved SSP=R6 and R6=Saved USP;</a:t>
            </a:r>
            <a:endParaRPr lang="zh-CN" altLang="en-US" b="0" dirty="0"/>
          </a:p>
        </p:txBody>
      </p:sp>
      <p:grpSp>
        <p:nvGrpSpPr>
          <p:cNvPr id="8198" name="Group 19"/>
          <p:cNvGrpSpPr>
            <a:grpSpLocks/>
          </p:cNvGrpSpPr>
          <p:nvPr/>
        </p:nvGrpSpPr>
        <p:grpSpPr bwMode="auto">
          <a:xfrm>
            <a:off x="3053916" y="71437"/>
            <a:ext cx="6084168" cy="765175"/>
            <a:chOff x="716" y="1570"/>
            <a:chExt cx="3793" cy="543"/>
          </a:xfrm>
        </p:grpSpPr>
        <p:sp>
          <p:nvSpPr>
            <p:cNvPr id="8199" name="Rectangle 5"/>
            <p:cNvSpPr>
              <a:spLocks noChangeArrowheads="1"/>
            </p:cNvSpPr>
            <p:nvPr/>
          </p:nvSpPr>
          <p:spPr bwMode="auto">
            <a:xfrm>
              <a:off x="1436" y="1831"/>
              <a:ext cx="2982" cy="274"/>
            </a:xfrm>
            <a:prstGeom prst="rect">
              <a:avLst/>
            </a:prstGeom>
            <a:noFill/>
            <a:ln w="254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 b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00" name="Text Box 6"/>
            <p:cNvSpPr txBox="1">
              <a:spLocks noChangeArrowheads="1"/>
            </p:cNvSpPr>
            <p:nvPr/>
          </p:nvSpPr>
          <p:spPr bwMode="auto">
            <a:xfrm>
              <a:off x="1379" y="1831"/>
              <a:ext cx="8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zh-CN" altLang="en-US" sz="2000" baseline="0" dirty="0">
                  <a:solidFill>
                    <a:srgbClr val="0000CC"/>
                  </a:solidFill>
                  <a:ea typeface="宋体" panose="02010600030101010101" pitchFamily="2" charset="-122"/>
                </a:rPr>
                <a:t>  </a:t>
              </a:r>
              <a:r>
                <a:rPr lang="en-US" altLang="zh-CN" sz="2000" baseline="0" dirty="0">
                  <a:solidFill>
                    <a:srgbClr val="0000CC"/>
                  </a:solidFill>
                  <a:ea typeface="宋体" panose="02010600030101010101" pitchFamily="2" charset="-122"/>
                </a:rPr>
                <a:t>1  0  0  0</a:t>
              </a:r>
            </a:p>
          </p:txBody>
        </p:sp>
        <p:sp>
          <p:nvSpPr>
            <p:cNvPr id="8201" name="Line 7"/>
            <p:cNvSpPr>
              <a:spLocks noChangeShapeType="1"/>
            </p:cNvSpPr>
            <p:nvPr/>
          </p:nvSpPr>
          <p:spPr bwMode="auto">
            <a:xfrm flipV="1">
              <a:off x="2234" y="1831"/>
              <a:ext cx="0" cy="277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8202" name="Text Box 8"/>
            <p:cNvSpPr txBox="1">
              <a:spLocks noChangeArrowheads="1"/>
            </p:cNvSpPr>
            <p:nvPr/>
          </p:nvSpPr>
          <p:spPr bwMode="auto">
            <a:xfrm>
              <a:off x="1427" y="1570"/>
              <a:ext cx="8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600" baseline="0">
                  <a:solidFill>
                    <a:srgbClr val="0000CC"/>
                  </a:solidFill>
                  <a:ea typeface="宋体" panose="02010600030101010101" pitchFamily="2" charset="-122"/>
                </a:rPr>
                <a:t>15 14 13 12</a:t>
              </a:r>
            </a:p>
          </p:txBody>
        </p:sp>
        <p:sp>
          <p:nvSpPr>
            <p:cNvPr id="8203" name="Text Box 9"/>
            <p:cNvSpPr txBox="1">
              <a:spLocks noChangeArrowheads="1"/>
            </p:cNvSpPr>
            <p:nvPr/>
          </p:nvSpPr>
          <p:spPr bwMode="auto">
            <a:xfrm>
              <a:off x="2195" y="1570"/>
              <a:ext cx="113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dist"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600" baseline="0">
                  <a:solidFill>
                    <a:srgbClr val="0000CC"/>
                  </a:solidFill>
                  <a:ea typeface="宋体" panose="02010600030101010101" pitchFamily="2" charset="-122"/>
                </a:rPr>
                <a:t>11  10  9  8  7  6</a:t>
              </a:r>
            </a:p>
          </p:txBody>
        </p:sp>
        <p:sp>
          <p:nvSpPr>
            <p:cNvPr id="8204" name="Text Box 10"/>
            <p:cNvSpPr txBox="1">
              <a:spLocks noChangeArrowheads="1"/>
            </p:cNvSpPr>
            <p:nvPr/>
          </p:nvSpPr>
          <p:spPr bwMode="auto">
            <a:xfrm>
              <a:off x="3284" y="1570"/>
              <a:ext cx="113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dist">
                <a:spcBef>
                  <a:spcPct val="0"/>
                </a:spcBef>
                <a:buFontTx/>
                <a:buNone/>
                <a:defRPr/>
              </a:pPr>
              <a:r>
                <a:rPr lang="zh-CN" altLang="en-US" sz="1600" baseline="0">
                  <a:solidFill>
                    <a:srgbClr val="0000CC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1600" baseline="0">
                  <a:solidFill>
                    <a:srgbClr val="0000CC"/>
                  </a:solidFill>
                  <a:ea typeface="宋体" panose="02010600030101010101" pitchFamily="2" charset="-122"/>
                </a:rPr>
                <a:t>5  4   3  2  1  0</a:t>
              </a:r>
            </a:p>
          </p:txBody>
        </p:sp>
        <p:sp>
          <p:nvSpPr>
            <p:cNvPr id="8205" name="Text Box 11"/>
            <p:cNvSpPr txBox="1">
              <a:spLocks noChangeArrowheads="1"/>
            </p:cNvSpPr>
            <p:nvPr/>
          </p:nvSpPr>
          <p:spPr bwMode="auto">
            <a:xfrm>
              <a:off x="2243" y="1831"/>
              <a:ext cx="7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aseline="0" dirty="0">
                  <a:solidFill>
                    <a:srgbClr val="0000CC"/>
                  </a:solidFill>
                  <a:ea typeface="宋体" panose="02010600030101010101" pitchFamily="2" charset="-122"/>
                </a:rPr>
                <a:t>0  0  0  </a:t>
              </a:r>
            </a:p>
          </p:txBody>
        </p:sp>
        <p:sp>
          <p:nvSpPr>
            <p:cNvPr id="8207" name="Text Box 14"/>
            <p:cNvSpPr txBox="1">
              <a:spLocks noChangeArrowheads="1"/>
            </p:cNvSpPr>
            <p:nvPr/>
          </p:nvSpPr>
          <p:spPr bwMode="auto">
            <a:xfrm>
              <a:off x="716" y="1822"/>
              <a:ext cx="4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zh-CN" baseline="0" dirty="0">
                  <a:solidFill>
                    <a:srgbClr val="FF3300"/>
                  </a:solidFill>
                  <a:ea typeface="宋体" panose="02010600030101010101" pitchFamily="2" charset="-122"/>
                </a:rPr>
                <a:t>RTI</a:t>
              </a:r>
            </a:p>
          </p:txBody>
        </p:sp>
        <p:sp>
          <p:nvSpPr>
            <p:cNvPr id="8208" name="Text Box 15"/>
            <p:cNvSpPr txBox="1">
              <a:spLocks noChangeArrowheads="1"/>
            </p:cNvSpPr>
            <p:nvPr/>
          </p:nvSpPr>
          <p:spPr bwMode="auto">
            <a:xfrm>
              <a:off x="2785" y="1831"/>
              <a:ext cx="7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aseline="0" dirty="0">
                  <a:solidFill>
                    <a:srgbClr val="0000CC"/>
                  </a:solidFill>
                  <a:ea typeface="宋体" panose="02010600030101010101" pitchFamily="2" charset="-122"/>
                </a:rPr>
                <a:t>0  0  0  </a:t>
              </a:r>
            </a:p>
          </p:txBody>
        </p:sp>
        <p:sp>
          <p:nvSpPr>
            <p:cNvPr id="8209" name="Text Box 16"/>
            <p:cNvSpPr txBox="1">
              <a:spLocks noChangeArrowheads="1"/>
            </p:cNvSpPr>
            <p:nvPr/>
          </p:nvSpPr>
          <p:spPr bwMode="auto">
            <a:xfrm>
              <a:off x="3319" y="1831"/>
              <a:ext cx="119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2000" baseline="0">
                  <a:solidFill>
                    <a:srgbClr val="0000CC"/>
                  </a:solidFill>
                  <a:ea typeface="宋体" panose="02010600030101010101" pitchFamily="2" charset="-122"/>
                </a:rPr>
                <a:t>0  0  0  0  0  0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26179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Interrupt Signal to CPU</a:t>
            </a:r>
            <a:endParaRPr lang="zh-CN" altLang="en-US"/>
          </a:p>
        </p:txBody>
      </p:sp>
      <p:sp>
        <p:nvSpPr>
          <p:cNvPr id="41987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95FC04-B6B9-4569-9F4C-F4EBD193E42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B578C5-0734-405A-BB95-731FEB34055F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989" name="组合 31"/>
          <p:cNvGrpSpPr>
            <a:grpSpLocks/>
          </p:cNvGrpSpPr>
          <p:nvPr/>
        </p:nvGrpSpPr>
        <p:grpSpPr bwMode="auto">
          <a:xfrm>
            <a:off x="323850" y="2641600"/>
            <a:ext cx="3416300" cy="1219200"/>
            <a:chOff x="306760" y="1544216"/>
            <a:chExt cx="3417913" cy="1219200"/>
          </a:xfrm>
        </p:grpSpPr>
        <p:sp>
          <p:nvSpPr>
            <p:cNvPr id="42035" name="Rectangle 4"/>
            <p:cNvSpPr>
              <a:spLocks noChangeArrowheads="1"/>
            </p:cNvSpPr>
            <p:nvPr/>
          </p:nvSpPr>
          <p:spPr bwMode="auto">
            <a:xfrm>
              <a:off x="306760" y="1772816"/>
              <a:ext cx="15240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36" name="Rectangle 5"/>
            <p:cNvSpPr>
              <a:spLocks noChangeArrowheads="1"/>
            </p:cNvSpPr>
            <p:nvPr/>
          </p:nvSpPr>
          <p:spPr bwMode="auto">
            <a:xfrm>
              <a:off x="611560" y="1772816"/>
              <a:ext cx="2133600" cy="30480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37" name="Text Box 6"/>
            <p:cNvSpPr txBox="1">
              <a:spLocks noChangeArrowheads="1"/>
            </p:cNvSpPr>
            <p:nvPr/>
          </p:nvSpPr>
          <p:spPr bwMode="auto">
            <a:xfrm>
              <a:off x="2821336" y="1702966"/>
              <a:ext cx="903337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PL1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Device</a:t>
              </a:r>
            </a:p>
          </p:txBody>
        </p:sp>
        <p:sp>
          <p:nvSpPr>
            <p:cNvPr id="42038" name="Text Box 8"/>
            <p:cNvSpPr txBox="1">
              <a:spLocks noChangeArrowheads="1"/>
            </p:cNvSpPr>
            <p:nvPr/>
          </p:nvSpPr>
          <p:spPr bwMode="auto">
            <a:xfrm>
              <a:off x="382960" y="1545804"/>
              <a:ext cx="32385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14</a:t>
              </a:r>
            </a:p>
          </p:txBody>
        </p:sp>
        <p:sp>
          <p:nvSpPr>
            <p:cNvPr id="42039" name="Text Box 9"/>
            <p:cNvSpPr txBox="1">
              <a:spLocks noChangeArrowheads="1"/>
            </p:cNvSpPr>
            <p:nvPr/>
          </p:nvSpPr>
          <p:spPr bwMode="auto">
            <a:xfrm>
              <a:off x="2551485" y="1544216"/>
              <a:ext cx="2540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2040" name="Text Box 12"/>
            <p:cNvSpPr txBox="1">
              <a:spLocks noChangeArrowheads="1"/>
            </p:cNvSpPr>
            <p:nvPr/>
          </p:nvSpPr>
          <p:spPr bwMode="auto">
            <a:xfrm>
              <a:off x="535360" y="1545804"/>
              <a:ext cx="32385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13</a:t>
              </a:r>
            </a:p>
          </p:txBody>
        </p:sp>
        <p:sp>
          <p:nvSpPr>
            <p:cNvPr id="42041" name="Rectangle 13"/>
            <p:cNvSpPr>
              <a:spLocks noChangeArrowheads="1"/>
            </p:cNvSpPr>
            <p:nvPr/>
          </p:nvSpPr>
          <p:spPr bwMode="auto">
            <a:xfrm>
              <a:off x="459160" y="1772816"/>
              <a:ext cx="15240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42" name="AutoShape 16"/>
            <p:cNvSpPr>
              <a:spLocks noChangeArrowheads="1"/>
            </p:cNvSpPr>
            <p:nvPr/>
          </p:nvSpPr>
          <p:spPr bwMode="auto">
            <a:xfrm>
              <a:off x="1144960" y="2306216"/>
              <a:ext cx="457200" cy="457200"/>
            </a:xfrm>
            <a:prstGeom prst="flowChartDelay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43" name="Line 17"/>
            <p:cNvSpPr>
              <a:spLocks noChangeShapeType="1"/>
            </p:cNvSpPr>
            <p:nvPr/>
          </p:nvSpPr>
          <p:spPr bwMode="auto">
            <a:xfrm>
              <a:off x="535360" y="2001416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44" name="Line 18"/>
            <p:cNvSpPr>
              <a:spLocks noChangeShapeType="1"/>
            </p:cNvSpPr>
            <p:nvPr/>
          </p:nvSpPr>
          <p:spPr bwMode="auto">
            <a:xfrm>
              <a:off x="535360" y="2458616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45" name="Line 19"/>
            <p:cNvSpPr>
              <a:spLocks noChangeShapeType="1"/>
            </p:cNvSpPr>
            <p:nvPr/>
          </p:nvSpPr>
          <p:spPr bwMode="auto">
            <a:xfrm>
              <a:off x="382960" y="2001416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46" name="Line 20"/>
            <p:cNvSpPr>
              <a:spLocks noChangeShapeType="1"/>
            </p:cNvSpPr>
            <p:nvPr/>
          </p:nvSpPr>
          <p:spPr bwMode="auto">
            <a:xfrm>
              <a:off x="382960" y="2687216"/>
              <a:ext cx="76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47" name="Line 21"/>
            <p:cNvSpPr>
              <a:spLocks noChangeShapeType="1"/>
            </p:cNvSpPr>
            <p:nvPr/>
          </p:nvSpPr>
          <p:spPr bwMode="auto">
            <a:xfrm>
              <a:off x="1602160" y="253481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990" name="组合 60"/>
          <p:cNvGrpSpPr>
            <a:grpSpLocks/>
          </p:cNvGrpSpPr>
          <p:nvPr/>
        </p:nvGrpSpPr>
        <p:grpSpPr bwMode="auto">
          <a:xfrm>
            <a:off x="323850" y="3794125"/>
            <a:ext cx="3416300" cy="1219200"/>
            <a:chOff x="306760" y="1544216"/>
            <a:chExt cx="3417913" cy="1219200"/>
          </a:xfrm>
        </p:grpSpPr>
        <p:sp>
          <p:nvSpPr>
            <p:cNvPr id="42022" name="Rectangle 4"/>
            <p:cNvSpPr>
              <a:spLocks noChangeArrowheads="1"/>
            </p:cNvSpPr>
            <p:nvPr/>
          </p:nvSpPr>
          <p:spPr bwMode="auto">
            <a:xfrm>
              <a:off x="306760" y="1772816"/>
              <a:ext cx="15240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23" name="Rectangle 5"/>
            <p:cNvSpPr>
              <a:spLocks noChangeArrowheads="1"/>
            </p:cNvSpPr>
            <p:nvPr/>
          </p:nvSpPr>
          <p:spPr bwMode="auto">
            <a:xfrm>
              <a:off x="611560" y="1772816"/>
              <a:ext cx="2133600" cy="30480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24" name="Text Box 6"/>
            <p:cNvSpPr txBox="1">
              <a:spLocks noChangeArrowheads="1"/>
            </p:cNvSpPr>
            <p:nvPr/>
          </p:nvSpPr>
          <p:spPr bwMode="auto">
            <a:xfrm>
              <a:off x="2821336" y="1702966"/>
              <a:ext cx="903337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PL2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Device</a:t>
              </a:r>
            </a:p>
          </p:txBody>
        </p:sp>
        <p:sp>
          <p:nvSpPr>
            <p:cNvPr id="42025" name="Text Box 8"/>
            <p:cNvSpPr txBox="1">
              <a:spLocks noChangeArrowheads="1"/>
            </p:cNvSpPr>
            <p:nvPr/>
          </p:nvSpPr>
          <p:spPr bwMode="auto">
            <a:xfrm>
              <a:off x="382960" y="1545804"/>
              <a:ext cx="32385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14</a:t>
              </a:r>
            </a:p>
          </p:txBody>
        </p:sp>
        <p:sp>
          <p:nvSpPr>
            <p:cNvPr id="42026" name="Text Box 9"/>
            <p:cNvSpPr txBox="1">
              <a:spLocks noChangeArrowheads="1"/>
            </p:cNvSpPr>
            <p:nvPr/>
          </p:nvSpPr>
          <p:spPr bwMode="auto">
            <a:xfrm>
              <a:off x="2551485" y="1544216"/>
              <a:ext cx="2540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2027" name="Text Box 12"/>
            <p:cNvSpPr txBox="1">
              <a:spLocks noChangeArrowheads="1"/>
            </p:cNvSpPr>
            <p:nvPr/>
          </p:nvSpPr>
          <p:spPr bwMode="auto">
            <a:xfrm>
              <a:off x="535360" y="1545804"/>
              <a:ext cx="32385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13</a:t>
              </a:r>
            </a:p>
          </p:txBody>
        </p:sp>
        <p:sp>
          <p:nvSpPr>
            <p:cNvPr id="42028" name="Rectangle 13"/>
            <p:cNvSpPr>
              <a:spLocks noChangeArrowheads="1"/>
            </p:cNvSpPr>
            <p:nvPr/>
          </p:nvSpPr>
          <p:spPr bwMode="auto">
            <a:xfrm>
              <a:off x="459160" y="1772816"/>
              <a:ext cx="15240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29" name="AutoShape 16"/>
            <p:cNvSpPr>
              <a:spLocks noChangeArrowheads="1"/>
            </p:cNvSpPr>
            <p:nvPr/>
          </p:nvSpPr>
          <p:spPr bwMode="auto">
            <a:xfrm>
              <a:off x="1144960" y="2306216"/>
              <a:ext cx="457200" cy="457200"/>
            </a:xfrm>
            <a:prstGeom prst="flowChartDelay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30" name="Line 17"/>
            <p:cNvSpPr>
              <a:spLocks noChangeShapeType="1"/>
            </p:cNvSpPr>
            <p:nvPr/>
          </p:nvSpPr>
          <p:spPr bwMode="auto">
            <a:xfrm>
              <a:off x="535360" y="2001416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31" name="Line 18"/>
            <p:cNvSpPr>
              <a:spLocks noChangeShapeType="1"/>
            </p:cNvSpPr>
            <p:nvPr/>
          </p:nvSpPr>
          <p:spPr bwMode="auto">
            <a:xfrm>
              <a:off x="535360" y="2458616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32" name="Line 19"/>
            <p:cNvSpPr>
              <a:spLocks noChangeShapeType="1"/>
            </p:cNvSpPr>
            <p:nvPr/>
          </p:nvSpPr>
          <p:spPr bwMode="auto">
            <a:xfrm>
              <a:off x="382960" y="2001416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33" name="Line 20"/>
            <p:cNvSpPr>
              <a:spLocks noChangeShapeType="1"/>
            </p:cNvSpPr>
            <p:nvPr/>
          </p:nvSpPr>
          <p:spPr bwMode="auto">
            <a:xfrm>
              <a:off x="382960" y="2687216"/>
              <a:ext cx="76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34" name="Line 21"/>
            <p:cNvSpPr>
              <a:spLocks noChangeShapeType="1"/>
            </p:cNvSpPr>
            <p:nvPr/>
          </p:nvSpPr>
          <p:spPr bwMode="auto">
            <a:xfrm>
              <a:off x="1602160" y="253481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991" name="组合 74"/>
          <p:cNvGrpSpPr>
            <a:grpSpLocks/>
          </p:cNvGrpSpPr>
          <p:nvPr/>
        </p:nvGrpSpPr>
        <p:grpSpPr bwMode="auto">
          <a:xfrm>
            <a:off x="323850" y="5378450"/>
            <a:ext cx="3416300" cy="1219200"/>
            <a:chOff x="306760" y="1544216"/>
            <a:chExt cx="3417913" cy="1219200"/>
          </a:xfrm>
        </p:grpSpPr>
        <p:sp>
          <p:nvSpPr>
            <p:cNvPr id="42009" name="Rectangle 4"/>
            <p:cNvSpPr>
              <a:spLocks noChangeArrowheads="1"/>
            </p:cNvSpPr>
            <p:nvPr/>
          </p:nvSpPr>
          <p:spPr bwMode="auto">
            <a:xfrm>
              <a:off x="306760" y="1772816"/>
              <a:ext cx="15240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10" name="Rectangle 5"/>
            <p:cNvSpPr>
              <a:spLocks noChangeArrowheads="1"/>
            </p:cNvSpPr>
            <p:nvPr/>
          </p:nvSpPr>
          <p:spPr bwMode="auto">
            <a:xfrm>
              <a:off x="611560" y="1772816"/>
              <a:ext cx="2133600" cy="30480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11" name="Text Box 6"/>
            <p:cNvSpPr txBox="1">
              <a:spLocks noChangeArrowheads="1"/>
            </p:cNvSpPr>
            <p:nvPr/>
          </p:nvSpPr>
          <p:spPr bwMode="auto">
            <a:xfrm>
              <a:off x="2821336" y="1702966"/>
              <a:ext cx="903337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PL7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Device</a:t>
              </a:r>
            </a:p>
          </p:txBody>
        </p:sp>
        <p:sp>
          <p:nvSpPr>
            <p:cNvPr id="42012" name="Text Box 8"/>
            <p:cNvSpPr txBox="1">
              <a:spLocks noChangeArrowheads="1"/>
            </p:cNvSpPr>
            <p:nvPr/>
          </p:nvSpPr>
          <p:spPr bwMode="auto">
            <a:xfrm>
              <a:off x="382960" y="1545804"/>
              <a:ext cx="32385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14</a:t>
              </a:r>
            </a:p>
          </p:txBody>
        </p:sp>
        <p:sp>
          <p:nvSpPr>
            <p:cNvPr id="42013" name="Text Box 9"/>
            <p:cNvSpPr txBox="1">
              <a:spLocks noChangeArrowheads="1"/>
            </p:cNvSpPr>
            <p:nvPr/>
          </p:nvSpPr>
          <p:spPr bwMode="auto">
            <a:xfrm>
              <a:off x="2551485" y="1544216"/>
              <a:ext cx="2540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42014" name="Text Box 12"/>
            <p:cNvSpPr txBox="1">
              <a:spLocks noChangeArrowheads="1"/>
            </p:cNvSpPr>
            <p:nvPr/>
          </p:nvSpPr>
          <p:spPr bwMode="auto">
            <a:xfrm>
              <a:off x="535360" y="1545804"/>
              <a:ext cx="32385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13</a:t>
              </a:r>
            </a:p>
          </p:txBody>
        </p:sp>
        <p:sp>
          <p:nvSpPr>
            <p:cNvPr id="42015" name="Rectangle 13"/>
            <p:cNvSpPr>
              <a:spLocks noChangeArrowheads="1"/>
            </p:cNvSpPr>
            <p:nvPr/>
          </p:nvSpPr>
          <p:spPr bwMode="auto">
            <a:xfrm>
              <a:off x="459160" y="1772816"/>
              <a:ext cx="15240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16" name="AutoShape 16"/>
            <p:cNvSpPr>
              <a:spLocks noChangeArrowheads="1"/>
            </p:cNvSpPr>
            <p:nvPr/>
          </p:nvSpPr>
          <p:spPr bwMode="auto">
            <a:xfrm>
              <a:off x="1144960" y="2306216"/>
              <a:ext cx="457200" cy="457200"/>
            </a:xfrm>
            <a:prstGeom prst="flowChartDelay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17" name="Line 17"/>
            <p:cNvSpPr>
              <a:spLocks noChangeShapeType="1"/>
            </p:cNvSpPr>
            <p:nvPr/>
          </p:nvSpPr>
          <p:spPr bwMode="auto">
            <a:xfrm>
              <a:off x="535360" y="2001416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18" name="Line 18"/>
            <p:cNvSpPr>
              <a:spLocks noChangeShapeType="1"/>
            </p:cNvSpPr>
            <p:nvPr/>
          </p:nvSpPr>
          <p:spPr bwMode="auto">
            <a:xfrm>
              <a:off x="535360" y="2458616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19" name="Line 19"/>
            <p:cNvSpPr>
              <a:spLocks noChangeShapeType="1"/>
            </p:cNvSpPr>
            <p:nvPr/>
          </p:nvSpPr>
          <p:spPr bwMode="auto">
            <a:xfrm>
              <a:off x="382960" y="2001416"/>
              <a:ext cx="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20" name="Line 20"/>
            <p:cNvSpPr>
              <a:spLocks noChangeShapeType="1"/>
            </p:cNvSpPr>
            <p:nvPr/>
          </p:nvSpPr>
          <p:spPr bwMode="auto">
            <a:xfrm>
              <a:off x="382960" y="2687216"/>
              <a:ext cx="76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21" name="Line 21"/>
            <p:cNvSpPr>
              <a:spLocks noChangeShapeType="1"/>
            </p:cNvSpPr>
            <p:nvPr/>
          </p:nvSpPr>
          <p:spPr bwMode="auto">
            <a:xfrm>
              <a:off x="1602160" y="253481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1992" name="矩形 88"/>
          <p:cNvSpPr>
            <a:spLocks noChangeArrowheads="1"/>
          </p:cNvSpPr>
          <p:nvPr/>
        </p:nvSpPr>
        <p:spPr bwMode="auto">
          <a:xfrm>
            <a:off x="4067175" y="3403600"/>
            <a:ext cx="1123950" cy="3133725"/>
          </a:xfrm>
          <a:prstGeom prst="rect">
            <a:avLst/>
          </a:prstGeom>
          <a:solidFill>
            <a:srgbClr val="CCFFFF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Priority encoder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1993" name="直接连接符 90"/>
          <p:cNvCxnSpPr>
            <a:cxnSpLocks noChangeShapeType="1"/>
            <a:stCxn id="42047" idx="1"/>
          </p:cNvCxnSpPr>
          <p:nvPr/>
        </p:nvCxnSpPr>
        <p:spPr bwMode="auto">
          <a:xfrm flipV="1">
            <a:off x="2151063" y="3630613"/>
            <a:ext cx="1916112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4" name="直接连接符 95"/>
          <p:cNvCxnSpPr>
            <a:cxnSpLocks noChangeShapeType="1"/>
          </p:cNvCxnSpPr>
          <p:nvPr/>
        </p:nvCxnSpPr>
        <p:spPr bwMode="auto">
          <a:xfrm>
            <a:off x="2151063" y="4784725"/>
            <a:ext cx="1916112" cy="158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5" name="直接连接符 96"/>
          <p:cNvCxnSpPr>
            <a:cxnSpLocks noChangeShapeType="1"/>
          </p:cNvCxnSpPr>
          <p:nvPr/>
        </p:nvCxnSpPr>
        <p:spPr bwMode="auto">
          <a:xfrm flipV="1">
            <a:off x="2151063" y="6365875"/>
            <a:ext cx="1916112" cy="31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6" name="直接箭头连接符 106"/>
          <p:cNvCxnSpPr>
            <a:cxnSpLocks noChangeShapeType="1"/>
            <a:endCxn id="41997" idx="1"/>
          </p:cNvCxnSpPr>
          <p:nvPr/>
        </p:nvCxnSpPr>
        <p:spPr bwMode="auto">
          <a:xfrm>
            <a:off x="5191125" y="4976813"/>
            <a:ext cx="85883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997" name="矩形 109"/>
          <p:cNvSpPr>
            <a:spLocks noChangeArrowheads="1"/>
          </p:cNvSpPr>
          <p:nvPr/>
        </p:nvSpPr>
        <p:spPr bwMode="auto">
          <a:xfrm>
            <a:off x="6049963" y="4221163"/>
            <a:ext cx="1008062" cy="15113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1998" name="直接箭头连接符 111"/>
          <p:cNvCxnSpPr>
            <a:cxnSpLocks noChangeShapeType="1"/>
            <a:stCxn id="41997" idx="3"/>
            <a:endCxn id="41999" idx="3"/>
          </p:cNvCxnSpPr>
          <p:nvPr/>
        </p:nvCxnSpPr>
        <p:spPr bwMode="auto">
          <a:xfrm>
            <a:off x="7058025" y="4976813"/>
            <a:ext cx="6477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999" name="等腰三角形 112"/>
          <p:cNvSpPr>
            <a:spLocks noChangeArrowheads="1"/>
          </p:cNvSpPr>
          <p:nvPr/>
        </p:nvSpPr>
        <p:spPr bwMode="auto">
          <a:xfrm rot="5400000">
            <a:off x="7705725" y="4868863"/>
            <a:ext cx="215900" cy="2159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2000" name="直接连接符 116"/>
          <p:cNvCxnSpPr>
            <a:cxnSpLocks noChangeShapeType="1"/>
            <a:endCxn id="41997" idx="0"/>
          </p:cNvCxnSpPr>
          <p:nvPr/>
        </p:nvCxnSpPr>
        <p:spPr bwMode="auto">
          <a:xfrm>
            <a:off x="6553200" y="3644900"/>
            <a:ext cx="0" cy="57626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01" name="文本框 118"/>
          <p:cNvSpPr txBox="1">
            <a:spLocks noChangeArrowheads="1"/>
          </p:cNvSpPr>
          <p:nvPr/>
        </p:nvSpPr>
        <p:spPr bwMode="auto">
          <a:xfrm>
            <a:off x="7905750" y="4767263"/>
            <a:ext cx="914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002" name="文本框 119"/>
          <p:cNvSpPr txBox="1">
            <a:spLocks noChangeArrowheads="1"/>
          </p:cNvSpPr>
          <p:nvPr/>
        </p:nvSpPr>
        <p:spPr bwMode="auto">
          <a:xfrm>
            <a:off x="6408738" y="4221163"/>
            <a:ext cx="360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 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003" name="文本框 120"/>
          <p:cNvSpPr txBox="1">
            <a:spLocks noChangeArrowheads="1"/>
          </p:cNvSpPr>
          <p:nvPr/>
        </p:nvSpPr>
        <p:spPr bwMode="auto">
          <a:xfrm>
            <a:off x="6049963" y="4724400"/>
            <a:ext cx="358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004" name="文本框 121"/>
          <p:cNvSpPr txBox="1">
            <a:spLocks noChangeArrowheads="1"/>
          </p:cNvSpPr>
          <p:nvPr/>
        </p:nvSpPr>
        <p:spPr bwMode="auto">
          <a:xfrm>
            <a:off x="6049963" y="4868863"/>
            <a:ext cx="100806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?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A&gt;B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005" name="文本框 123"/>
          <p:cNvSpPr txBox="1">
            <a:spLocks noChangeArrowheads="1"/>
          </p:cNvSpPr>
          <p:nvPr/>
        </p:nvSpPr>
        <p:spPr bwMode="auto">
          <a:xfrm>
            <a:off x="5673725" y="3324225"/>
            <a:ext cx="2898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PL of executing program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006" name="文本框 124"/>
          <p:cNvSpPr txBox="1">
            <a:spLocks noChangeArrowheads="1"/>
          </p:cNvSpPr>
          <p:nvPr/>
        </p:nvSpPr>
        <p:spPr bwMode="auto">
          <a:xfrm>
            <a:off x="1239838" y="5029200"/>
            <a:ext cx="49212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…...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007" name="内容占位符 2"/>
          <p:cNvSpPr>
            <a:spLocks noGrp="1"/>
          </p:cNvSpPr>
          <p:nvPr>
            <p:ph idx="1"/>
          </p:nvPr>
        </p:nvSpPr>
        <p:spPr>
          <a:xfrm>
            <a:off x="179388" y="981075"/>
            <a:ext cx="4464050" cy="1008063"/>
          </a:xfrm>
        </p:spPr>
        <p:txBody>
          <a:bodyPr/>
          <a:lstStyle/>
          <a:p>
            <a:r>
              <a:rPr lang="en-US" altLang="zh-CN" dirty="0"/>
              <a:t>What if more than one device wants to interrupt?</a:t>
            </a:r>
          </a:p>
          <a:p>
            <a:pPr lvl="1"/>
            <a:r>
              <a:rPr lang="en-US" altLang="zh-CN" dirty="0"/>
              <a:t>External logic controls which one gets to drive signals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420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1458913"/>
            <a:ext cx="4471987" cy="92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5415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448690-C1FA-4E95-91BE-F9E292ED5A0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F104A8-739C-4800-8DA8-5277F7613FA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003399"/>
                </a:solidFill>
                <a:ea typeface="宋体" panose="02010600030101010101" pitchFamily="2" charset="-122"/>
              </a:rPr>
              <a:t>Testing for Interrupt Signal</a:t>
            </a:r>
          </a:p>
        </p:txBody>
      </p:sp>
      <p:sp>
        <p:nvSpPr>
          <p:cNvPr id="4301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CPU looks at signal between STORE and FETCH phases</a:t>
            </a:r>
          </a:p>
          <a:p>
            <a:r>
              <a:rPr lang="en-US" altLang="zh-CN">
                <a:ea typeface="宋体" panose="02010600030101010101" pitchFamily="2" charset="-122"/>
              </a:rPr>
              <a:t>If not set, continues with next instruction</a:t>
            </a:r>
          </a:p>
          <a:p>
            <a:r>
              <a:rPr lang="en-US" altLang="zh-CN">
                <a:ea typeface="宋体" panose="02010600030101010101" pitchFamily="2" charset="-122"/>
              </a:rPr>
              <a:t>If set, transfers control to interrupt service routine</a:t>
            </a:r>
          </a:p>
        </p:txBody>
      </p:sp>
      <p:sp>
        <p:nvSpPr>
          <p:cNvPr id="43014" name="Line 4"/>
          <p:cNvSpPr>
            <a:spLocks noChangeShapeType="1"/>
          </p:cNvSpPr>
          <p:nvPr/>
        </p:nvSpPr>
        <p:spPr bwMode="auto">
          <a:xfrm>
            <a:off x="5943600" y="3352800"/>
            <a:ext cx="0" cy="228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5" name="Text Box 5"/>
          <p:cNvSpPr txBox="1">
            <a:spLocks noChangeArrowheads="1"/>
          </p:cNvSpPr>
          <p:nvPr/>
        </p:nvSpPr>
        <p:spPr bwMode="auto">
          <a:xfrm>
            <a:off x="5600700" y="4191000"/>
            <a:ext cx="685800" cy="3460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EA</a:t>
            </a:r>
          </a:p>
        </p:txBody>
      </p:sp>
      <p:sp>
        <p:nvSpPr>
          <p:cNvPr id="43016" name="Text Box 6"/>
          <p:cNvSpPr txBox="1">
            <a:spLocks noChangeArrowheads="1"/>
          </p:cNvSpPr>
          <p:nvPr/>
        </p:nvSpPr>
        <p:spPr bwMode="auto">
          <a:xfrm>
            <a:off x="5600700" y="4800600"/>
            <a:ext cx="685800" cy="3460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OP</a:t>
            </a:r>
          </a:p>
        </p:txBody>
      </p:sp>
      <p:sp>
        <p:nvSpPr>
          <p:cNvPr id="43017" name="Text Box 7"/>
          <p:cNvSpPr txBox="1">
            <a:spLocks noChangeArrowheads="1"/>
          </p:cNvSpPr>
          <p:nvPr/>
        </p:nvSpPr>
        <p:spPr bwMode="auto">
          <a:xfrm>
            <a:off x="5600700" y="5410200"/>
            <a:ext cx="685800" cy="3460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EX</a:t>
            </a:r>
          </a:p>
        </p:txBody>
      </p:sp>
      <p:sp>
        <p:nvSpPr>
          <p:cNvPr id="43018" name="Text Box 8"/>
          <p:cNvSpPr txBox="1">
            <a:spLocks noChangeArrowheads="1"/>
          </p:cNvSpPr>
          <p:nvPr/>
        </p:nvSpPr>
        <p:spPr bwMode="auto">
          <a:xfrm>
            <a:off x="5600700" y="6019800"/>
            <a:ext cx="685800" cy="3460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</a:t>
            </a:r>
          </a:p>
        </p:txBody>
      </p:sp>
      <p:sp>
        <p:nvSpPr>
          <p:cNvPr id="43019" name="Text Box 9"/>
          <p:cNvSpPr txBox="1">
            <a:spLocks noChangeArrowheads="1"/>
          </p:cNvSpPr>
          <p:nvPr/>
        </p:nvSpPr>
        <p:spPr bwMode="auto">
          <a:xfrm>
            <a:off x="5600700" y="2971800"/>
            <a:ext cx="685800" cy="3460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</a:t>
            </a:r>
          </a:p>
        </p:txBody>
      </p:sp>
      <p:sp>
        <p:nvSpPr>
          <p:cNvPr id="43020" name="Text Box 10"/>
          <p:cNvSpPr txBox="1">
            <a:spLocks noChangeArrowheads="1"/>
          </p:cNvSpPr>
          <p:nvPr/>
        </p:nvSpPr>
        <p:spPr bwMode="auto">
          <a:xfrm>
            <a:off x="5600700" y="3581400"/>
            <a:ext cx="685800" cy="3460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</a:t>
            </a:r>
          </a:p>
        </p:txBody>
      </p:sp>
      <p:sp>
        <p:nvSpPr>
          <p:cNvPr id="43021" name="Line 11"/>
          <p:cNvSpPr>
            <a:spLocks noChangeShapeType="1"/>
          </p:cNvSpPr>
          <p:nvPr/>
        </p:nvSpPr>
        <p:spPr bwMode="auto">
          <a:xfrm>
            <a:off x="5943600" y="3962400"/>
            <a:ext cx="0" cy="228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22" name="Line 12"/>
          <p:cNvSpPr>
            <a:spLocks noChangeShapeType="1"/>
          </p:cNvSpPr>
          <p:nvPr/>
        </p:nvSpPr>
        <p:spPr bwMode="auto">
          <a:xfrm>
            <a:off x="5943600" y="4572000"/>
            <a:ext cx="0" cy="228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23" name="Line 13"/>
          <p:cNvSpPr>
            <a:spLocks noChangeShapeType="1"/>
          </p:cNvSpPr>
          <p:nvPr/>
        </p:nvSpPr>
        <p:spPr bwMode="auto">
          <a:xfrm>
            <a:off x="5943600" y="5181600"/>
            <a:ext cx="0" cy="228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24" name="Line 14"/>
          <p:cNvSpPr>
            <a:spLocks noChangeShapeType="1"/>
          </p:cNvSpPr>
          <p:nvPr/>
        </p:nvSpPr>
        <p:spPr bwMode="auto">
          <a:xfrm>
            <a:off x="5943600" y="5791200"/>
            <a:ext cx="0" cy="228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25" name="AutoShape 15"/>
          <p:cNvSpPr>
            <a:spLocks noChangeArrowheads="1"/>
          </p:cNvSpPr>
          <p:nvPr/>
        </p:nvSpPr>
        <p:spPr bwMode="auto">
          <a:xfrm>
            <a:off x="3513138" y="3733800"/>
            <a:ext cx="1516062" cy="1524000"/>
          </a:xfrm>
          <a:prstGeom prst="diamond">
            <a:avLst/>
          </a:prstGeom>
          <a:solidFill>
            <a:schemeClr val="bg1"/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63500" dir="3187806" algn="ctr" rotWithShape="0">
                    <a:srgbClr val="336699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interrupt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signal?</a:t>
            </a:r>
          </a:p>
        </p:txBody>
      </p:sp>
      <p:cxnSp>
        <p:nvCxnSpPr>
          <p:cNvPr id="43026" name="AutoShape 16"/>
          <p:cNvCxnSpPr>
            <a:cxnSpLocks noChangeShapeType="1"/>
            <a:stCxn id="43018" idx="1"/>
            <a:endCxn id="43025" idx="2"/>
          </p:cNvCxnSpPr>
          <p:nvPr/>
        </p:nvCxnSpPr>
        <p:spPr bwMode="auto">
          <a:xfrm rot="10800000">
            <a:off x="4271963" y="5272088"/>
            <a:ext cx="1328737" cy="920750"/>
          </a:xfrm>
          <a:prstGeom prst="bentConnector2">
            <a:avLst/>
          </a:prstGeom>
          <a:noFill/>
          <a:ln w="28575">
            <a:solidFill>
              <a:schemeClr val="accent2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7" name="AutoShape 17"/>
          <p:cNvCxnSpPr>
            <a:cxnSpLocks noChangeShapeType="1"/>
            <a:stCxn id="43025" idx="0"/>
            <a:endCxn id="43019" idx="1"/>
          </p:cNvCxnSpPr>
          <p:nvPr/>
        </p:nvCxnSpPr>
        <p:spPr bwMode="auto">
          <a:xfrm rot="-5400000">
            <a:off x="4648994" y="2767807"/>
            <a:ext cx="574675" cy="1328737"/>
          </a:xfrm>
          <a:prstGeom prst="bentConnector2">
            <a:avLst/>
          </a:prstGeom>
          <a:noFill/>
          <a:ln w="28575">
            <a:solidFill>
              <a:schemeClr val="accent2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028" name="Text Box 18"/>
          <p:cNvSpPr txBox="1">
            <a:spLocks noChangeArrowheads="1"/>
          </p:cNvSpPr>
          <p:nvPr/>
        </p:nvSpPr>
        <p:spPr bwMode="auto">
          <a:xfrm>
            <a:off x="1447800" y="4200525"/>
            <a:ext cx="1600200" cy="59055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Transfer to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ISR</a:t>
            </a:r>
          </a:p>
        </p:txBody>
      </p:sp>
      <p:cxnSp>
        <p:nvCxnSpPr>
          <p:cNvPr id="43029" name="AutoShape 19"/>
          <p:cNvCxnSpPr>
            <a:cxnSpLocks noChangeShapeType="1"/>
            <a:stCxn id="43025" idx="1"/>
            <a:endCxn id="43028" idx="3"/>
          </p:cNvCxnSpPr>
          <p:nvPr/>
        </p:nvCxnSpPr>
        <p:spPr bwMode="auto">
          <a:xfrm flipH="1">
            <a:off x="3048000" y="4495800"/>
            <a:ext cx="450850" cy="0"/>
          </a:xfrm>
          <a:prstGeom prst="straightConnector1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30" name="AutoShape 20"/>
          <p:cNvCxnSpPr>
            <a:cxnSpLocks noChangeShapeType="1"/>
            <a:stCxn id="43028" idx="0"/>
            <a:endCxn id="43019" idx="1"/>
          </p:cNvCxnSpPr>
          <p:nvPr/>
        </p:nvCxnSpPr>
        <p:spPr bwMode="auto">
          <a:xfrm rot="-5400000">
            <a:off x="3396456" y="1996282"/>
            <a:ext cx="1055687" cy="3352800"/>
          </a:xfrm>
          <a:prstGeom prst="bentConnector2">
            <a:avLst/>
          </a:prstGeom>
          <a:noFill/>
          <a:ln w="28575">
            <a:solidFill>
              <a:schemeClr val="accent2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031" name="Text Box 21"/>
          <p:cNvSpPr txBox="1">
            <a:spLocks noChangeArrowheads="1"/>
          </p:cNvSpPr>
          <p:nvPr/>
        </p:nvSpPr>
        <p:spPr bwMode="auto">
          <a:xfrm>
            <a:off x="4267200" y="3429000"/>
            <a:ext cx="4286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NO</a:t>
            </a:r>
          </a:p>
        </p:txBody>
      </p:sp>
      <p:sp>
        <p:nvSpPr>
          <p:cNvPr id="43032" name="Text Box 22"/>
          <p:cNvSpPr txBox="1">
            <a:spLocks noChangeArrowheads="1"/>
          </p:cNvSpPr>
          <p:nvPr/>
        </p:nvSpPr>
        <p:spPr bwMode="auto">
          <a:xfrm>
            <a:off x="3124200" y="4191000"/>
            <a:ext cx="4857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1702413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5D122E-61DB-4FD8-9DBC-FEE397BF6CB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A12215-F15E-4CB6-B20C-DC04CFDDA97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How Does Processor Handle It?</a:t>
            </a:r>
            <a:endParaRPr lang="zh-CN" altLang="en-US" b="0"/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C0000"/>
                </a:solidFill>
              </a:rPr>
              <a:t>Examines INT signal just before starting FETCH phase</a:t>
            </a:r>
          </a:p>
          <a:p>
            <a:pPr lvl="1"/>
            <a:r>
              <a:rPr lang="en-US" altLang="zh-CN" dirty="0"/>
              <a:t>If INT=1, don’t fetch next instruction</a:t>
            </a:r>
          </a:p>
          <a:p>
            <a:pPr lvl="1"/>
            <a:r>
              <a:rPr lang="en-US" altLang="zh-CN" dirty="0"/>
              <a:t>Instead</a:t>
            </a:r>
          </a:p>
          <a:p>
            <a:pPr lvl="2"/>
            <a:r>
              <a:rPr lang="en-US" altLang="zh-CN" dirty="0"/>
              <a:t>Save program state (PC, PSR (privilege and CCs)) on stack</a:t>
            </a:r>
          </a:p>
          <a:p>
            <a:pPr lvl="2"/>
            <a:r>
              <a:rPr lang="en-US" altLang="zh-CN" dirty="0"/>
              <a:t>Update PSR (clear privilege bit)</a:t>
            </a:r>
          </a:p>
          <a:p>
            <a:pPr lvl="2"/>
            <a:r>
              <a:rPr lang="en-US" altLang="zh-CN" dirty="0"/>
              <a:t>Index INTV into IVT to get start address of ISR (put in PC)</a:t>
            </a:r>
          </a:p>
          <a:p>
            <a:r>
              <a:rPr lang="en-US" altLang="zh-CN" dirty="0">
                <a:solidFill>
                  <a:srgbClr val="CC0000"/>
                </a:solidFill>
              </a:rPr>
              <a:t>After service routine</a:t>
            </a:r>
          </a:p>
          <a:p>
            <a:pPr lvl="1"/>
            <a:r>
              <a:rPr lang="en-US" altLang="zh-CN" dirty="0"/>
              <a:t>RTI instruction restores PSR and PC from stack</a:t>
            </a:r>
          </a:p>
          <a:p>
            <a:r>
              <a:rPr lang="en-US" altLang="zh-CN" dirty="0"/>
              <a:t>Processor only checks between STORE and FETCH phases -- Why?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057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F246CB4-6AA6-4D8B-9932-995C18DF3F1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2025/12/9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5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56746B-F8BB-4F30-AEDB-7BA33BCC3EA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Supervisor Mode and the Stack</a:t>
            </a:r>
            <a:endParaRPr lang="zh-CN" altLang="en-US" b="0"/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Problem</a:t>
            </a:r>
          </a:p>
          <a:p>
            <a:pPr lvl="1"/>
            <a:r>
              <a:rPr lang="en-US" altLang="zh-CN" dirty="0"/>
              <a:t>PC and PSR shouldn’t be saved on user stack</a:t>
            </a:r>
          </a:p>
          <a:p>
            <a:pPr lvl="1"/>
            <a:r>
              <a:rPr lang="en-US" altLang="zh-CN" dirty="0"/>
              <a:t>What if </a:t>
            </a:r>
            <a:r>
              <a:rPr lang="en-US" altLang="zh-CN" dirty="0">
                <a:solidFill>
                  <a:srgbClr val="FF0000"/>
                </a:solidFill>
              </a:rPr>
              <a:t>R6</a:t>
            </a:r>
            <a:r>
              <a:rPr lang="en-US" altLang="zh-CN" dirty="0"/>
              <a:t> is uninitialized?</a:t>
            </a:r>
          </a:p>
          <a:p>
            <a:pPr lvl="1"/>
            <a:r>
              <a:rPr lang="en-US" altLang="zh-CN" dirty="0"/>
              <a:t>What if user has set R6 to refer to OS memory?</a:t>
            </a:r>
          </a:p>
          <a:p>
            <a:pPr lvl="1"/>
            <a:r>
              <a:rPr lang="en-US" altLang="zh-CN" dirty="0"/>
              <a:t>User could see OS data (when trap returns)</a:t>
            </a:r>
          </a:p>
          <a:p>
            <a:r>
              <a:rPr lang="en-US" altLang="zh-CN" dirty="0"/>
              <a:t>Solution</a:t>
            </a:r>
          </a:p>
          <a:p>
            <a:pPr lvl="1"/>
            <a:r>
              <a:rPr lang="en-US" altLang="zh-CN" dirty="0"/>
              <a:t>Create two versions of R6 (stack pointer) in register file</a:t>
            </a:r>
          </a:p>
          <a:p>
            <a:pPr lvl="2"/>
            <a:r>
              <a:rPr lang="en-US" altLang="zh-CN" dirty="0"/>
              <a:t>One is </a:t>
            </a:r>
            <a:r>
              <a:rPr lang="en-US" altLang="zh-CN" i="1" dirty="0"/>
              <a:t>user stack pointer </a:t>
            </a:r>
            <a:r>
              <a:rPr lang="en-US" altLang="zh-CN" dirty="0"/>
              <a:t>(what we</a:t>
            </a:r>
            <a:r>
              <a:rPr lang="en-US" altLang="zh-CN" dirty="0">
                <a:latin typeface="宋体" panose="02010600030101010101" pitchFamily="2" charset="-122"/>
              </a:rPr>
              <a:t>’</a:t>
            </a:r>
            <a:r>
              <a:rPr lang="en-US" altLang="zh-CN" dirty="0"/>
              <a:t>ve been using all along)</a:t>
            </a:r>
          </a:p>
          <a:p>
            <a:pPr lvl="2"/>
            <a:r>
              <a:rPr lang="en-US" altLang="zh-CN" dirty="0"/>
              <a:t>The other is </a:t>
            </a:r>
            <a:r>
              <a:rPr lang="en-US" altLang="zh-CN" i="1" dirty="0"/>
              <a:t>supervisor stack pointer</a:t>
            </a:r>
          </a:p>
          <a:p>
            <a:pPr lvl="1"/>
            <a:r>
              <a:rPr lang="en-US" altLang="zh-CN" dirty="0"/>
              <a:t>Extra register file logic selects the appropriate register based on privilege bit in current PSR</a:t>
            </a:r>
          </a:p>
          <a:p>
            <a:pPr lvl="1"/>
            <a:r>
              <a:rPr lang="en-US" altLang="zh-CN" dirty="0"/>
              <a:t>Bottom line: OS code always uses its own stack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42210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8519E2-6EA9-4791-8582-C6F35DE43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Example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182ABF-3671-43E5-AF5A-75C221DAF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4DE261-650C-48A1-A4D0-34E2ABF96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619C3C-C5B4-461C-AA2E-E537409AB5D5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2025/12/9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3791BB1-7830-46FF-A93E-7A2C08123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42061-D800-47C3-AE7A-73681109E7C9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28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E6E352-8D76-4FBE-89EB-84E361052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052736"/>
            <a:ext cx="8434773" cy="552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4445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B53EBDB-543E-497D-97D3-99C5A6A80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920845"/>
            <a:ext cx="5546238" cy="573871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55997F8-A2F0-4906-90B2-4D9A7671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Example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2735A7-A676-4EC1-BE0C-673184F32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619C3C-C5B4-461C-AA2E-E537409AB5D5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2025/12/9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E3C944-100F-4DD2-BF4F-97EBAB7B9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42061-D800-47C3-AE7A-73681109E7C9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29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FD5A63-F8CD-41FE-BB68-A8F189688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942" y="3682116"/>
            <a:ext cx="3730538" cy="24447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79801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067AE8-7030-430F-B530-2C9689319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Example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392170-3E90-44D4-BAD8-E1518C4B1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619C3C-C5B4-461C-AA2E-E537409AB5D5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2025/12/9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206BC1-98B5-4C06-9251-B4969D4A4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42061-D800-47C3-AE7A-73681109E7C9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30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032D343-60DB-440B-AF2E-E750CCAB8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58" y="1018903"/>
            <a:ext cx="3272656" cy="428230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DC5F7FA-8B2A-43F8-B78D-C3D6DF7D2895}"/>
              </a:ext>
            </a:extLst>
          </p:cNvPr>
          <p:cNvSpPr/>
          <p:nvPr/>
        </p:nvSpPr>
        <p:spPr>
          <a:xfrm>
            <a:off x="539552" y="5229200"/>
            <a:ext cx="29944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aseline="0" dirty="0">
                <a:latin typeface="STIXGeneral-Regular"/>
              </a:rPr>
              <a:t>before program A fetches the instruction </a:t>
            </a:r>
            <a:r>
              <a:rPr lang="en-US" altLang="zh-CN" baseline="0">
                <a:latin typeface="STIXGeneral-Regular"/>
              </a:rPr>
              <a:t>at x3007 </a:t>
            </a:r>
            <a:r>
              <a:rPr lang="en-US" altLang="zh-CN" baseline="0" dirty="0">
                <a:latin typeface="STIXGeneral-Regular"/>
              </a:rPr>
              <a:t>(</a:t>
            </a:r>
            <a:r>
              <a:rPr lang="en-US" altLang="zh-CN" baseline="0" dirty="0"/>
              <a:t>R6 is to  user stack now!</a:t>
            </a:r>
            <a:r>
              <a:rPr lang="en-US" altLang="zh-CN" baseline="0" dirty="0">
                <a:latin typeface="STIXGeneral-Regular"/>
              </a:rPr>
              <a:t>)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90B0AAF-F9E0-4521-B550-31CF0F6DE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722" y="1052975"/>
            <a:ext cx="2492527" cy="359577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A771365F-3DFE-4F65-9E1E-4808F10F7EBE}"/>
              </a:ext>
            </a:extLst>
          </p:cNvPr>
          <p:cNvSpPr/>
          <p:nvPr/>
        </p:nvSpPr>
        <p:spPr>
          <a:xfrm>
            <a:off x="4932040" y="4675202"/>
            <a:ext cx="3224024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aseline="0" dirty="0">
                <a:latin typeface="STIXGeneral-Regular"/>
              </a:rPr>
              <a:t>Start using the supervisor stack:</a:t>
            </a:r>
          </a:p>
          <a:p>
            <a:r>
              <a:rPr lang="en-US" altLang="zh-CN" baseline="0" dirty="0" err="1"/>
              <a:t>Saved_USP</a:t>
            </a:r>
            <a:r>
              <a:rPr lang="en-US" altLang="zh-CN" baseline="0" dirty="0"/>
              <a:t>=R6</a:t>
            </a:r>
          </a:p>
          <a:p>
            <a:r>
              <a:rPr lang="en-US" altLang="zh-CN" baseline="0" dirty="0"/>
              <a:t>R6=</a:t>
            </a:r>
            <a:r>
              <a:rPr lang="en-US" altLang="zh-CN" baseline="0" dirty="0" err="1"/>
              <a:t>Saved_SSP</a:t>
            </a:r>
            <a:endParaRPr lang="en-US" altLang="zh-CN" baseline="0" dirty="0"/>
          </a:p>
          <a:p>
            <a:r>
              <a:rPr lang="en-US" altLang="zh-CN" baseline="0" dirty="0"/>
              <a:t>Push PSR      ;for program A</a:t>
            </a:r>
          </a:p>
          <a:p>
            <a:r>
              <a:rPr lang="en-US" altLang="zh-CN" baseline="0" dirty="0"/>
              <a:t>PUSH PC       ;3007</a:t>
            </a:r>
          </a:p>
          <a:p>
            <a:r>
              <a:rPr lang="en-US" altLang="zh-CN" baseline="0" dirty="0"/>
              <a:t>ITV: x</a:t>
            </a:r>
            <a:r>
              <a:rPr lang="en-US" altLang="zh-CN" baseline="0" dirty="0">
                <a:solidFill>
                  <a:srgbClr val="FF0000"/>
                </a:solidFill>
              </a:rPr>
              <a:t>F1</a:t>
            </a:r>
            <a:r>
              <a:rPr lang="en-US" altLang="zh-CN" baseline="0" dirty="0">
                <a:sym typeface="Wingdings" panose="05000000000000000000" pitchFamily="2" charset="2"/>
              </a:rPr>
              <a:t>x01F1;</a:t>
            </a:r>
          </a:p>
          <a:p>
            <a:r>
              <a:rPr lang="en-US" altLang="zh-CN" baseline="0" dirty="0">
                <a:sym typeface="Wingdings" panose="05000000000000000000" pitchFamily="2" charset="2"/>
              </a:rPr>
              <a:t>PC=x01F1(x6200)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27378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DB1478-984C-4E70-8FB4-B12018740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Example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9590A0-31CC-4207-8E43-88DFC3486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619C3C-C5B4-461C-AA2E-E537409AB5D5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2025/12/9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F0BE20-10BD-4AA0-B243-2CF647EF3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42061-D800-47C3-AE7A-73681109E7C9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31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E4B825B-DAA8-4B5C-9FAF-E484C58F3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55" y="1052737"/>
            <a:ext cx="2605009" cy="352839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28A1C9F-43CD-40E8-9558-17F84967C143}"/>
              </a:ext>
            </a:extLst>
          </p:cNvPr>
          <p:cNvSpPr/>
          <p:nvPr/>
        </p:nvSpPr>
        <p:spPr>
          <a:xfrm>
            <a:off x="539552" y="4509120"/>
            <a:ext cx="457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aseline="0" dirty="0">
                <a:latin typeface="STIXGeneral-Regular"/>
              </a:rPr>
              <a:t>When a higher priority interrupt</a:t>
            </a:r>
          </a:p>
          <a:p>
            <a:r>
              <a:rPr lang="en-US" altLang="zh-CN" baseline="0" dirty="0">
                <a:latin typeface="STIXGeneral-Regular"/>
              </a:rPr>
              <a:t>is detected: </a:t>
            </a:r>
          </a:p>
          <a:p>
            <a:r>
              <a:rPr lang="en-US" altLang="zh-CN" baseline="0" dirty="0">
                <a:latin typeface="STIXGeneral-Regular"/>
              </a:rPr>
              <a:t>PUSH PSR;   for device B</a:t>
            </a:r>
          </a:p>
          <a:p>
            <a:r>
              <a:rPr lang="en-US" altLang="zh-CN" baseline="0" dirty="0">
                <a:latin typeface="STIXGeneral-Regular"/>
              </a:rPr>
              <a:t>PUSH PC;         x6203</a:t>
            </a:r>
          </a:p>
          <a:p>
            <a:r>
              <a:rPr lang="en-US" altLang="zh-CN" baseline="0" dirty="0">
                <a:latin typeface="STIXGeneral-Regular"/>
              </a:rPr>
              <a:t>INTV: xF2</a:t>
            </a:r>
            <a:r>
              <a:rPr lang="en-US" altLang="zh-CN" baseline="0" dirty="0">
                <a:latin typeface="STIXGeneral-Regular"/>
                <a:sym typeface="Wingdings" panose="05000000000000000000" pitchFamily="2" charset="2"/>
              </a:rPr>
              <a:t></a:t>
            </a:r>
            <a:r>
              <a:rPr lang="en-US" altLang="zh-CN" baseline="0" dirty="0"/>
              <a:t>x01F2 (x6300) 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BEA71E0-4707-451F-A359-70D91C92C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363" y="990416"/>
            <a:ext cx="2605009" cy="356945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94A497B-ED18-45AB-838B-20B98C0D7D90}"/>
              </a:ext>
            </a:extLst>
          </p:cNvPr>
          <p:cNvSpPr/>
          <p:nvPr/>
        </p:nvSpPr>
        <p:spPr>
          <a:xfrm>
            <a:off x="4832409" y="4509120"/>
            <a:ext cx="337438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aseline="0" dirty="0">
                <a:latin typeface="STIXGeneral-Regular"/>
              </a:rPr>
              <a:t>RTI in service routine for device C:</a:t>
            </a:r>
          </a:p>
          <a:p>
            <a:r>
              <a:rPr lang="en-US" altLang="zh-CN" baseline="0" dirty="0">
                <a:latin typeface="STIXGeneral-Regular"/>
              </a:rPr>
              <a:t>POP PC ; X6203</a:t>
            </a:r>
          </a:p>
          <a:p>
            <a:r>
              <a:rPr lang="en-US" altLang="zh-CN" baseline="0" dirty="0">
                <a:latin typeface="STIXGeneral-Regular"/>
              </a:rPr>
              <a:t>POP PSR;   for device 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45472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19293-63E1-456F-80D4-2505926B0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Example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F101AA-00AA-4D7B-8726-2000768C7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619C3C-C5B4-461C-AA2E-E537409AB5D5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2025/12/9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3B27BA-D209-48D2-BED6-1B6ABC7AB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42061-D800-47C3-AE7A-73681109E7C9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32</a:t>
            </a:fld>
            <a:endParaRPr lang="en-US" altLang="zh-CN">
              <a:solidFill>
                <a:srgbClr val="00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AAE7B38-0341-4581-A8C1-A83D3C9C4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052736"/>
            <a:ext cx="3378641" cy="388129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8EA7DCA-358E-4A1B-8BE0-9288C06914CE}"/>
              </a:ext>
            </a:extLst>
          </p:cNvPr>
          <p:cNvSpPr/>
          <p:nvPr/>
        </p:nvSpPr>
        <p:spPr>
          <a:xfrm>
            <a:off x="683568" y="4905143"/>
            <a:ext cx="3450432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aseline="0" dirty="0">
                <a:latin typeface="STIXGeneral-Regular"/>
              </a:rPr>
              <a:t>Resumes to x6203 and run to RTI:</a:t>
            </a:r>
          </a:p>
          <a:p>
            <a:r>
              <a:rPr lang="en-US" altLang="zh-CN" baseline="0" dirty="0">
                <a:latin typeface="STIXGeneral-Regular"/>
              </a:rPr>
              <a:t>POP PC;  x3007</a:t>
            </a:r>
          </a:p>
          <a:p>
            <a:r>
              <a:rPr lang="en-US" altLang="zh-CN" baseline="0" dirty="0">
                <a:latin typeface="STIXGeneral-Regular"/>
              </a:rPr>
              <a:t>POP PSR;      of  program A</a:t>
            </a:r>
          </a:p>
          <a:p>
            <a:r>
              <a:rPr lang="en-US" altLang="zh-CN" baseline="0" dirty="0" err="1">
                <a:latin typeface="STIXGeneral-Regular"/>
              </a:rPr>
              <a:t>Saved_SSP</a:t>
            </a:r>
            <a:r>
              <a:rPr lang="en-US" altLang="zh-CN" baseline="0" dirty="0">
                <a:latin typeface="STIXGeneral-Regular"/>
              </a:rPr>
              <a:t>=R6; </a:t>
            </a:r>
          </a:p>
          <a:p>
            <a:r>
              <a:rPr lang="en-US" altLang="zh-CN" baseline="0" dirty="0">
                <a:latin typeface="STIXGeneral-Regular"/>
              </a:rPr>
              <a:t>R6=</a:t>
            </a:r>
            <a:r>
              <a:rPr lang="en-US" altLang="zh-CN" baseline="0" dirty="0" err="1">
                <a:latin typeface="STIXGeneral-Regular"/>
              </a:rPr>
              <a:t>Saved_USP</a:t>
            </a:r>
            <a:r>
              <a:rPr lang="en-US" altLang="zh-CN" baseline="0" dirty="0">
                <a:latin typeface="STIXGeneral-Regular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67718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589192-A73A-4BF0-85C4-9780C9366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When Polling Encounters Interrupt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DBC716-542D-48F0-BF6F-C7F78B334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619C3C-C5B4-461C-AA2E-E537409AB5D5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2025/12/9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D63720-F859-4987-818C-1BBC8E21D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42061-D800-47C3-AE7A-73681109E7C9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33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AC5B6DB3-518A-4B33-A2C3-F2C31FA577C8}"/>
              </a:ext>
            </a:extLst>
          </p:cNvPr>
          <p:cNvSpPr txBox="1">
            <a:spLocks/>
          </p:cNvSpPr>
          <p:nvPr/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 kern="1200" baseline="-250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b="1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 baseline="-25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1107D958-80F6-4053-B4FA-723D38415863}" type="datetime1">
              <a:rPr lang="zh-CN" altLang="en-US" sz="1400" b="0" smtClean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2025/12/9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F77D7FE0-84D9-46C3-86BB-693C30F7F04E}"/>
              </a:ext>
            </a:extLst>
          </p:cNvPr>
          <p:cNvSpPr txBox="1">
            <a:spLocks/>
          </p:cNvSpPr>
          <p:nvPr/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 kern="1200" baseline="-250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b="1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 baseline="-25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3C7C2FDC-596E-4A14-8E1A-FF3C61AE4117}" type="slidenum">
              <a:rPr lang="en-US" altLang="zh-CN" sz="1400" b="0" smtClean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33</a:t>
            </a:fld>
            <a:endParaRPr lang="en-US" altLang="zh-CN" sz="1400" b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201527B-BE6C-445A-8E0A-197D857A6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981075"/>
            <a:ext cx="8839200" cy="122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楷体_GB2312" pitchFamily="49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ungsuh" pitchFamily="18" charset="-127"/>
              <a:buChar char="-"/>
              <a:defRPr b="1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aseline="0">
                <a:ea typeface="宋体" panose="02010600030101010101" pitchFamily="2" charset="-122"/>
              </a:rPr>
              <a:t>Usually, input character is also printed to screen.</a:t>
            </a:r>
          </a:p>
          <a:p>
            <a:pPr lvl="1"/>
            <a:r>
              <a:rPr lang="en-US" altLang="zh-CN" baseline="0">
                <a:ea typeface="宋体" panose="02010600030101010101" pitchFamily="2" charset="-122"/>
              </a:rPr>
              <a:t>User gets feedback on character typed</a:t>
            </a:r>
            <a:br>
              <a:rPr lang="en-US" altLang="zh-CN" baseline="0">
                <a:ea typeface="宋体" panose="02010600030101010101" pitchFamily="2" charset="-122"/>
              </a:rPr>
            </a:br>
            <a:r>
              <a:rPr lang="en-US" altLang="zh-CN" baseline="0">
                <a:ea typeface="宋体" panose="02010600030101010101" pitchFamily="2" charset="-122"/>
              </a:rPr>
              <a:t>and knows its ok to type the next character.</a:t>
            </a:r>
          </a:p>
          <a:p>
            <a:endParaRPr lang="zh-CN" altLang="en-US" baseline="0">
              <a:ea typeface="宋体" panose="02010600030101010101" pitchFamily="2" charset="-122"/>
            </a:endParaRPr>
          </a:p>
        </p:txBody>
      </p:sp>
      <p:sp>
        <p:nvSpPr>
          <p:cNvPr id="11" name="AutoShape 4">
            <a:extLst>
              <a:ext uri="{FF2B5EF4-FFF2-40B4-BE49-F238E27FC236}">
                <a16:creationId xmlns:a16="http://schemas.microsoft.com/office/drawing/2014/main" id="{30008B33-8EF9-4D5E-8B42-EC74007F0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650" y="2489200"/>
            <a:ext cx="1246188" cy="831850"/>
          </a:xfrm>
          <a:prstGeom prst="diamond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new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char?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022F2FBE-29D4-47C6-821E-E3C5B7A60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1688" y="3689350"/>
            <a:ext cx="1154112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read</a:t>
            </a:r>
            <a:b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character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Line 6">
            <a:extLst>
              <a:ext uri="{FF2B5EF4-FFF2-40B4-BE49-F238E27FC236}">
                <a16:creationId xmlns:a16="http://schemas.microsoft.com/office/drawing/2014/main" id="{5C050E31-2276-4DD7-8FC0-D0D0DA740FF6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7950" y="3321050"/>
            <a:ext cx="0" cy="368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Line 7">
            <a:extLst>
              <a:ext uri="{FF2B5EF4-FFF2-40B4-BE49-F238E27FC236}">
                <a16:creationId xmlns:a16="http://schemas.microsoft.com/office/drawing/2014/main" id="{B8928EEC-CCA8-4F49-9BD9-3A30F2A424B5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7950" y="4151313"/>
            <a:ext cx="0" cy="3698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Line 8">
            <a:extLst>
              <a:ext uri="{FF2B5EF4-FFF2-40B4-BE49-F238E27FC236}">
                <a16:creationId xmlns:a16="http://schemas.microsoft.com/office/drawing/2014/main" id="{2C4AA89F-97D9-455C-96E4-61D5A6672588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7950" y="1981200"/>
            <a:ext cx="0" cy="508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9">
            <a:extLst>
              <a:ext uri="{FF2B5EF4-FFF2-40B4-BE49-F238E27FC236}">
                <a16:creationId xmlns:a16="http://schemas.microsoft.com/office/drawing/2014/main" id="{8F03FDA1-7226-4B17-A359-B8AF6F624D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1650" y="2905125"/>
            <a:ext cx="2762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10">
            <a:extLst>
              <a:ext uri="{FF2B5EF4-FFF2-40B4-BE49-F238E27FC236}">
                <a16:creationId xmlns:a16="http://schemas.microsoft.com/office/drawing/2014/main" id="{378A4D6D-C65D-411D-892D-8F30670B47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1650" y="2211388"/>
            <a:ext cx="0" cy="693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11">
            <a:extLst>
              <a:ext uri="{FF2B5EF4-FFF2-40B4-BE49-F238E27FC236}">
                <a16:creationId xmlns:a16="http://schemas.microsoft.com/office/drawing/2014/main" id="{0BDD2E92-7EA6-458A-BAA0-43BB4A61BCB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1650" y="2211388"/>
            <a:ext cx="876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Text Box 12">
            <a:extLst>
              <a:ext uri="{FF2B5EF4-FFF2-40B4-BE49-F238E27FC236}">
                <a16:creationId xmlns:a16="http://schemas.microsoft.com/office/drawing/2014/main" id="{0FBD534B-EB6F-47DE-90B3-A16634AE7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8588" y="3278188"/>
            <a:ext cx="4889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YES</a:t>
            </a:r>
          </a:p>
        </p:txBody>
      </p:sp>
      <p:sp>
        <p:nvSpPr>
          <p:cNvPr id="20" name="Text Box 13">
            <a:extLst>
              <a:ext uri="{FF2B5EF4-FFF2-40B4-BE49-F238E27FC236}">
                <a16:creationId xmlns:a16="http://schemas.microsoft.com/office/drawing/2014/main" id="{4949F861-7F09-49D8-BCAE-401A4B7E3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2895600"/>
            <a:ext cx="457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</a:t>
            </a:r>
          </a:p>
        </p:txBody>
      </p:sp>
      <p:sp>
        <p:nvSpPr>
          <p:cNvPr id="21" name="AutoShape 14">
            <a:extLst>
              <a:ext uri="{FF2B5EF4-FFF2-40B4-BE49-F238E27FC236}">
                <a16:creationId xmlns:a16="http://schemas.microsoft.com/office/drawing/2014/main" id="{70F93304-B06D-44CF-AA73-8DF63BE22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650" y="4521200"/>
            <a:ext cx="1246188" cy="831850"/>
          </a:xfrm>
          <a:prstGeom prst="diamond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screen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ready?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15">
            <a:extLst>
              <a:ext uri="{FF2B5EF4-FFF2-40B4-BE49-F238E27FC236}">
                <a16:creationId xmlns:a16="http://schemas.microsoft.com/office/drawing/2014/main" id="{60A3CE03-985B-4F86-BCBD-2AABEAEEA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1688" y="5721350"/>
            <a:ext cx="1154112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write</a:t>
            </a:r>
            <a:b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character</a:t>
            </a:r>
          </a:p>
        </p:txBody>
      </p:sp>
      <p:sp>
        <p:nvSpPr>
          <p:cNvPr id="23" name="Line 16">
            <a:extLst>
              <a:ext uri="{FF2B5EF4-FFF2-40B4-BE49-F238E27FC236}">
                <a16:creationId xmlns:a16="http://schemas.microsoft.com/office/drawing/2014/main" id="{8A8C15B2-5E1E-4D1C-9437-A8E9D8A24A6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7950" y="5353050"/>
            <a:ext cx="0" cy="368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Line 17">
            <a:extLst>
              <a:ext uri="{FF2B5EF4-FFF2-40B4-BE49-F238E27FC236}">
                <a16:creationId xmlns:a16="http://schemas.microsoft.com/office/drawing/2014/main" id="{3437673F-A846-4C22-991F-F78ADB60622C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7950" y="6183313"/>
            <a:ext cx="0" cy="3698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Line 18">
            <a:extLst>
              <a:ext uri="{FF2B5EF4-FFF2-40B4-BE49-F238E27FC236}">
                <a16:creationId xmlns:a16="http://schemas.microsoft.com/office/drawing/2014/main" id="{E9A8360F-D5C8-403B-B0C3-AC776495AB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8000" y="49530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Line 19">
            <a:extLst>
              <a:ext uri="{FF2B5EF4-FFF2-40B4-BE49-F238E27FC236}">
                <a16:creationId xmlns:a16="http://schemas.microsoft.com/office/drawing/2014/main" id="{0354DF72-DA71-4AF1-843C-781B72425C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4267200"/>
            <a:ext cx="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Line 20">
            <a:extLst>
              <a:ext uri="{FF2B5EF4-FFF2-40B4-BE49-F238E27FC236}">
                <a16:creationId xmlns:a16="http://schemas.microsoft.com/office/drawing/2014/main" id="{74B35C05-09E5-4415-9D51-A2C277894C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267200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Text Box 21">
            <a:extLst>
              <a:ext uri="{FF2B5EF4-FFF2-40B4-BE49-F238E27FC236}">
                <a16:creationId xmlns:a16="http://schemas.microsoft.com/office/drawing/2014/main" id="{E3764220-34C7-47A9-BEDC-1130DF748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8588" y="5335588"/>
            <a:ext cx="4889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YES</a:t>
            </a:r>
          </a:p>
        </p:txBody>
      </p:sp>
      <p:sp>
        <p:nvSpPr>
          <p:cNvPr id="29" name="Text Box 22">
            <a:extLst>
              <a:ext uri="{FF2B5EF4-FFF2-40B4-BE49-F238E27FC236}">
                <a16:creationId xmlns:a16="http://schemas.microsoft.com/office/drawing/2014/main" id="{366F5636-3B70-4C7F-A41B-DB060A02C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4953000"/>
            <a:ext cx="533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</a:t>
            </a:r>
          </a:p>
        </p:txBody>
      </p:sp>
      <p:sp>
        <p:nvSpPr>
          <p:cNvPr id="30" name="Text Box 23">
            <a:extLst>
              <a:ext uri="{FF2B5EF4-FFF2-40B4-BE49-F238E27FC236}">
                <a16:creationId xmlns:a16="http://schemas.microsoft.com/office/drawing/2014/main" id="{38AC83C6-AE77-4A71-B304-5848821F01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925" y="2456656"/>
            <a:ext cx="4038600" cy="375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tabLst>
                <a:tab pos="12573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tabLst>
                <a:tab pos="1257300" algn="l"/>
              </a:tabLs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tabLst>
                <a:tab pos="1257300" algn="l"/>
              </a:tabLs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tabLst>
                <a:tab pos="12573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573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573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573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573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573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POLL1	LDI  R0, KBSR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BRzp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POLL1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LDI  R0, KBDR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POLL2	LDI  R1, DSR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BRzp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POLL2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STI  R0, DDR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	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57300" algn="l"/>
              </a:tabLst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KBSR	.FILL xFE00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KBDR	.FILL xFE02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DSR	.FILL xFE04</a:t>
            </a:r>
            <a:b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DDR	.FILL xFE06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9EE4A87B-DC15-4929-81D4-E629C0D9D137}"/>
              </a:ext>
            </a:extLst>
          </p:cNvPr>
          <p:cNvSpPr/>
          <p:nvPr/>
        </p:nvSpPr>
        <p:spPr bwMode="auto">
          <a:xfrm flipH="1">
            <a:off x="4499991" y="3933056"/>
            <a:ext cx="456829" cy="15897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FBC391A-2FDD-49C2-A7CB-E394C6F3065D}"/>
              </a:ext>
            </a:extLst>
          </p:cNvPr>
          <p:cNvSpPr/>
          <p:nvPr/>
        </p:nvSpPr>
        <p:spPr>
          <a:xfrm>
            <a:off x="5008841" y="3689925"/>
            <a:ext cx="1425390" cy="646331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r>
              <a:rPr lang="en-US" altLang="zh-CN" b="1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Keyboard </a:t>
            </a:r>
          </a:p>
          <a:p>
            <a:r>
              <a:rPr lang="en-US" altLang="zh-CN" b="1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Interrupt</a:t>
            </a:r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AD5F1BF-1104-4D0F-B65A-98B413EE3EF1}"/>
              </a:ext>
            </a:extLst>
          </p:cNvPr>
          <p:cNvSpPr/>
          <p:nvPr/>
        </p:nvSpPr>
        <p:spPr>
          <a:xfrm>
            <a:off x="4282963" y="4484714"/>
            <a:ext cx="2616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R0</a:t>
            </a:r>
            <a:r>
              <a:rPr lang="en-US" altLang="zh-CN" b="1" baseline="0" dirty="0">
                <a:solidFill>
                  <a:srgbClr val="000000"/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 new character</a:t>
            </a:r>
            <a:endParaRPr lang="zh-CN" altLang="en-US" dirty="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B6654867-DE06-4D8F-A1A8-083D382D599F}"/>
              </a:ext>
            </a:extLst>
          </p:cNvPr>
          <p:cNvCxnSpPr>
            <a:cxnSpLocks/>
          </p:cNvCxnSpPr>
          <p:nvPr/>
        </p:nvCxnSpPr>
        <p:spPr bwMode="auto">
          <a:xfrm>
            <a:off x="6012160" y="4381525"/>
            <a:ext cx="0" cy="1479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E2E37B24-BFA5-49B2-825B-B60E39BE40A3}"/>
              </a:ext>
            </a:extLst>
          </p:cNvPr>
          <p:cNvSpPr/>
          <p:nvPr/>
        </p:nvSpPr>
        <p:spPr bwMode="auto">
          <a:xfrm>
            <a:off x="3831956" y="4347275"/>
            <a:ext cx="2045776" cy="770042"/>
          </a:xfrm>
          <a:custGeom>
            <a:avLst/>
            <a:gdLst>
              <a:gd name="connsiteX0" fmla="*/ 2045776 w 2045776"/>
              <a:gd name="connsiteY0" fmla="*/ 499820 h 770042"/>
              <a:gd name="connsiteX1" fmla="*/ 860156 w 2045776"/>
              <a:gd name="connsiteY1" fmla="*/ 747793 h 770042"/>
              <a:gd name="connsiteX2" fmla="*/ 0 w 2045776"/>
              <a:gd name="connsiteY2" fmla="*/ 0 h 770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45776" h="770042">
                <a:moveTo>
                  <a:pt x="2045776" y="499820"/>
                </a:moveTo>
                <a:cubicBezTo>
                  <a:pt x="1623447" y="665458"/>
                  <a:pt x="1201119" y="831096"/>
                  <a:pt x="860156" y="747793"/>
                </a:cubicBezTo>
                <a:cubicBezTo>
                  <a:pt x="519193" y="664490"/>
                  <a:pt x="259596" y="332245"/>
                  <a:pt x="0" y="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859F9F52-0EDA-49CB-B080-E372F10C5596}"/>
              </a:ext>
            </a:extLst>
          </p:cNvPr>
          <p:cNvCxnSpPr>
            <a:cxnSpLocks/>
          </p:cNvCxnSpPr>
          <p:nvPr/>
        </p:nvCxnSpPr>
        <p:spPr bwMode="auto">
          <a:xfrm flipH="1">
            <a:off x="2477795" y="4309517"/>
            <a:ext cx="216024" cy="720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7C9696A5-5C54-4599-97A2-EF18840B612E}"/>
              </a:ext>
            </a:extLst>
          </p:cNvPr>
          <p:cNvSpPr/>
          <p:nvPr/>
        </p:nvSpPr>
        <p:spPr>
          <a:xfrm>
            <a:off x="159713" y="4330594"/>
            <a:ext cx="225254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b="1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Display a wrong</a:t>
            </a:r>
          </a:p>
          <a:p>
            <a:r>
              <a:rPr lang="en-US" altLang="zh-CN" b="1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charater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48070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51C15B-24E7-45E8-9FBE-AD716691B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EEF668-519D-4C97-AA6F-EC9DE1D39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980728"/>
            <a:ext cx="4680644" cy="4761905"/>
          </a:xfrm>
        </p:spPr>
        <p:txBody>
          <a:bodyPr/>
          <a:lstStyle/>
          <a:p>
            <a:r>
              <a:rPr lang="en-US" altLang="zh-CN" sz="1400" b="0" dirty="0"/>
              <a:t>01    .ORIG x0420</a:t>
            </a:r>
          </a:p>
          <a:p>
            <a:r>
              <a:rPr lang="pt-BR" altLang="zh-CN" sz="1400" b="0" dirty="0"/>
              <a:t>02</a:t>
            </a:r>
            <a:r>
              <a:rPr lang="en-US" altLang="zh-CN" sz="1400" b="0" dirty="0"/>
              <a:t>    </a:t>
            </a:r>
            <a:r>
              <a:rPr lang="pt-BR" altLang="zh-CN" sz="1400" b="0" dirty="0"/>
              <a:t> ADD R6,R6,#-1</a:t>
            </a:r>
          </a:p>
          <a:p>
            <a:r>
              <a:rPr lang="pt-BR" altLang="zh-CN" sz="1400" b="0" dirty="0"/>
              <a:t>03     STR R1,R6,#0</a:t>
            </a:r>
          </a:p>
          <a:p>
            <a:r>
              <a:rPr lang="pt-BR" altLang="zh-CN" sz="1400" b="0" dirty="0"/>
              <a:t>04     ADD R6,R6,#-1</a:t>
            </a:r>
          </a:p>
          <a:p>
            <a:r>
              <a:rPr lang="pt-BR" altLang="zh-CN" sz="1400" b="0" dirty="0"/>
              <a:t>05     STR R2,R6,#0</a:t>
            </a:r>
          </a:p>
          <a:p>
            <a:r>
              <a:rPr lang="pt-BR" altLang="zh-CN" sz="1400" b="0" dirty="0"/>
              <a:t>06     ADD R6,R6,#-1</a:t>
            </a:r>
          </a:p>
          <a:p>
            <a:r>
              <a:rPr lang="pt-BR" altLang="zh-CN" sz="1400" b="0" dirty="0"/>
              <a:t>07     STR R3,R6,#0   ; </a:t>
            </a:r>
            <a:r>
              <a:rPr lang="pt-BR" altLang="zh-CN" sz="1400" b="0" dirty="0">
                <a:solidFill>
                  <a:srgbClr val="00B050"/>
                </a:solidFill>
              </a:rPr>
              <a:t>Save R1,R2,R3 on the stack</a:t>
            </a:r>
          </a:p>
          <a:p>
            <a:r>
              <a:rPr lang="en-US" altLang="zh-CN" sz="1400" b="0" dirty="0"/>
              <a:t>08</a:t>
            </a:r>
          </a:p>
          <a:p>
            <a:r>
              <a:rPr lang="en-US" altLang="zh-CN" sz="1400" b="0" dirty="0"/>
              <a:t>09     LDI R1, PSR</a:t>
            </a:r>
          </a:p>
          <a:p>
            <a:r>
              <a:rPr lang="en-US" altLang="zh-CN" sz="1400" b="0" dirty="0"/>
              <a:t>0A     LD R2,INTMASK</a:t>
            </a:r>
          </a:p>
          <a:p>
            <a:r>
              <a:rPr lang="pt-BR" altLang="zh-CN" sz="1400" b="0" dirty="0"/>
              <a:t>0B     AND R2,R1,R2    ; </a:t>
            </a:r>
            <a:r>
              <a:rPr lang="pt-BR" altLang="zh-CN" sz="1400" b="0" dirty="0">
                <a:solidFill>
                  <a:srgbClr val="00B050"/>
                </a:solidFill>
              </a:rPr>
              <a:t>R1=original PSR, R2=PSR with interrupts disabled</a:t>
            </a:r>
          </a:p>
          <a:p>
            <a:r>
              <a:rPr lang="en-US" altLang="zh-CN" sz="1400" b="0" dirty="0"/>
              <a:t>0C</a:t>
            </a:r>
          </a:p>
          <a:p>
            <a:r>
              <a:rPr lang="en-US" altLang="zh-CN" sz="1400" b="0" dirty="0"/>
              <a:t>0D     POLL </a:t>
            </a:r>
            <a:r>
              <a:rPr lang="en-US" altLang="zh-CN" sz="1400" dirty="0">
                <a:solidFill>
                  <a:srgbClr val="CC3300"/>
                </a:solidFill>
              </a:rPr>
              <a:t>STI R1,PSR </a:t>
            </a:r>
            <a:r>
              <a:rPr lang="en-US" altLang="zh-CN" sz="1400" b="0" dirty="0">
                <a:solidFill>
                  <a:srgbClr val="00B050"/>
                </a:solidFill>
              </a:rPr>
              <a:t>; enable interrupts (if they were enabled to begin)</a:t>
            </a:r>
          </a:p>
          <a:p>
            <a:r>
              <a:rPr lang="en-US" altLang="zh-CN" sz="1400" b="0" dirty="0"/>
              <a:t>0E               </a:t>
            </a:r>
            <a:r>
              <a:rPr lang="en-US" altLang="zh-CN" sz="1400" dirty="0"/>
              <a:t>STI R2,PSR </a:t>
            </a:r>
            <a:r>
              <a:rPr lang="en-US" altLang="zh-CN" sz="1400" b="0" dirty="0"/>
              <a:t>; </a:t>
            </a:r>
            <a:r>
              <a:rPr lang="en-US" altLang="zh-CN" sz="1400" b="0" dirty="0">
                <a:solidFill>
                  <a:srgbClr val="00B050"/>
                </a:solidFill>
              </a:rPr>
              <a:t>disable interrupts</a:t>
            </a:r>
          </a:p>
          <a:p>
            <a:r>
              <a:rPr lang="en-US" altLang="zh-CN" sz="1400" b="0" dirty="0"/>
              <a:t>0F               </a:t>
            </a:r>
            <a:r>
              <a:rPr lang="en-US" altLang="zh-CN" sz="1400" dirty="0"/>
              <a:t>LDI R3,DSR</a:t>
            </a:r>
          </a:p>
          <a:p>
            <a:r>
              <a:rPr lang="en-US" altLang="zh-CN" sz="1400" b="0" dirty="0"/>
              <a:t>10               </a:t>
            </a:r>
            <a:r>
              <a:rPr lang="en-US" altLang="zh-CN" sz="1400" dirty="0" err="1"/>
              <a:t>BRzp</a:t>
            </a:r>
            <a:r>
              <a:rPr lang="en-US" altLang="zh-CN" sz="1400" dirty="0"/>
              <a:t> POLL </a:t>
            </a:r>
            <a:r>
              <a:rPr lang="en-US" altLang="zh-CN" sz="1400" b="0" dirty="0"/>
              <a:t>; </a:t>
            </a:r>
            <a:r>
              <a:rPr lang="en-US" altLang="zh-CN" sz="1400" b="0" dirty="0">
                <a:solidFill>
                  <a:srgbClr val="00B050"/>
                </a:solidFill>
              </a:rPr>
              <a:t>Poll the DSR</a:t>
            </a:r>
          </a:p>
          <a:p>
            <a:r>
              <a:rPr lang="en-US" altLang="zh-CN" sz="1400" b="0" dirty="0"/>
              <a:t>11     STI R0,DDR ; </a:t>
            </a:r>
            <a:r>
              <a:rPr lang="en-US" altLang="zh-CN" sz="1400" b="0" dirty="0">
                <a:solidFill>
                  <a:srgbClr val="00B050"/>
                </a:solidFill>
              </a:rPr>
              <a:t>Store the character into the DDR</a:t>
            </a:r>
          </a:p>
          <a:p>
            <a:r>
              <a:rPr lang="en-US" altLang="zh-CN" sz="1400" b="0" dirty="0"/>
              <a:t>12     STI R1,PSR ; </a:t>
            </a:r>
            <a:r>
              <a:rPr lang="en-US" altLang="zh-CN" sz="1400" b="0" dirty="0">
                <a:solidFill>
                  <a:srgbClr val="00B050"/>
                </a:solidFill>
              </a:rPr>
              <a:t>Restore original PSR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DFA356-7629-4F08-8033-ADCAED4AD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619C3C-C5B4-461C-AA2E-E537409AB5D5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2025/12/9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3EE4A0-28FF-4A25-BBA3-B7C61E3B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C42061-D800-47C3-AE7A-73681109E7C9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34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6EB19F-0A8C-4206-9E75-6588C4CFA185}"/>
              </a:ext>
            </a:extLst>
          </p:cNvPr>
          <p:cNvSpPr txBox="1"/>
          <p:nvPr/>
        </p:nvSpPr>
        <p:spPr>
          <a:xfrm>
            <a:off x="4788024" y="980728"/>
            <a:ext cx="4572000" cy="488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13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pt-BR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14     LDR R3,R6,#0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pt-BR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15     ADD R6,R6,#1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pt-BR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16     LDR R2,R6,#0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pt-BR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17     ADD R6,R6,#1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pt-BR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18     LDR R1,R6,#0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19    ADD R6,R6,#1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altLang="zh-CN" sz="1400" baseline="0" dirty="0">
                <a:solidFill>
                  <a:srgbClr val="000000"/>
                </a:solidFill>
                <a:latin typeface="Arial"/>
                <a:ea typeface="黑体"/>
              </a:rPr>
              <a:t>        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; Restore R3,R2,and R1 from the stack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1A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1B    RTI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1C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1D    INTMASK .FILL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xBFFF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1E    PSR .FILL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xFFFC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1F    DSR .FILL xFE04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20    DDR .FILL xFE06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21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22   .END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zh-CN" altLang="en-US" sz="1400" baseline="0" dirty="0">
                <a:solidFill>
                  <a:srgbClr val="000000"/>
                </a:solidFill>
                <a:latin typeface="Arial"/>
                <a:ea typeface="黑体"/>
              </a:rPr>
              <a:t>     确保屏幕输出为用户最后输入的字符</a:t>
            </a:r>
            <a:endParaRPr lang="zh-CN" altLang="en-US" sz="3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1259A5-8529-4FD0-9087-A2AD7BE0ACD6}"/>
              </a:ext>
            </a:extLst>
          </p:cNvPr>
          <p:cNvSpPr txBox="1"/>
          <p:nvPr/>
        </p:nvSpPr>
        <p:spPr>
          <a:xfrm>
            <a:off x="1979712" y="6088572"/>
            <a:ext cx="4679204" cy="64633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altLang="zh-CN" sz="1800" b="0" i="0" u="none" strike="noStrike" baseline="0" dirty="0">
                <a:solidFill>
                  <a:srgbClr val="FF0000"/>
                </a:solidFill>
                <a:latin typeface="STIXGeneral-Regular"/>
              </a:rPr>
              <a:t>PSR[14] is the interrupt enable bit for</a:t>
            </a:r>
          </a:p>
          <a:p>
            <a:pPr algn="l"/>
            <a:r>
              <a:rPr lang="en-US" altLang="zh-CN" sz="1800" b="0" i="0" u="none" strike="noStrike" baseline="0" dirty="0">
                <a:solidFill>
                  <a:srgbClr val="FF0000"/>
                </a:solidFill>
                <a:latin typeface="STIXGeneral-Regular"/>
              </a:rPr>
              <a:t>all interrupts associated with this program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59F5D035-0001-463C-B6F3-CD334DAC3021}"/>
              </a:ext>
            </a:extLst>
          </p:cNvPr>
          <p:cNvCxnSpPr/>
          <p:nvPr/>
        </p:nvCxnSpPr>
        <p:spPr bwMode="auto">
          <a:xfrm flipV="1">
            <a:off x="6678272" y="4077071"/>
            <a:ext cx="649388" cy="2334666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6F5A4EAC-A8E3-493B-BDE5-F6D4A2CF7878}"/>
              </a:ext>
            </a:extLst>
          </p:cNvPr>
          <p:cNvCxnSpPr/>
          <p:nvPr/>
        </p:nvCxnSpPr>
        <p:spPr bwMode="auto">
          <a:xfrm rot="10800000">
            <a:off x="2483768" y="3424475"/>
            <a:ext cx="4752528" cy="381411"/>
          </a:xfrm>
          <a:prstGeom prst="bentConnector3">
            <a:avLst>
              <a:gd name="adj1" fmla="val 108"/>
            </a:avLst>
          </a:prstGeom>
          <a:solidFill>
            <a:schemeClr val="accent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7586099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2.xml><?xml version="1.0" encoding="utf-8"?>
<a:theme xmlns:a="http://schemas.openxmlformats.org/drawingml/2006/main" name="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3.xml><?xml version="1.0" encoding="utf-8"?>
<a:theme xmlns:a="http://schemas.openxmlformats.org/drawingml/2006/main" name="1_学术交流模板3-中文">
  <a:themeElements>
    <a:clrScheme name="学术交流模板3-中文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5937</TotalTime>
  <Pages>0</Pages>
  <Words>2664</Words>
  <Characters>0</Characters>
  <Application>Microsoft Office PowerPoint</Application>
  <DocSecurity>0</DocSecurity>
  <PresentationFormat>全屏显示(4:3)</PresentationFormat>
  <Lines>0</Lines>
  <Paragraphs>712</Paragraphs>
  <Slides>34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5" baseType="lpstr">
      <vt:lpstr>Gungsuh</vt:lpstr>
      <vt:lpstr>STIXGeneral-Italic</vt:lpstr>
      <vt:lpstr>STIXGeneral-Regular</vt:lpstr>
      <vt:lpstr>仿宋</vt:lpstr>
      <vt:lpstr>黑体</vt:lpstr>
      <vt:lpstr>华文新魏</vt:lpstr>
      <vt:lpstr>楷体</vt:lpstr>
      <vt:lpstr>楷体</vt:lpstr>
      <vt:lpstr>宋体</vt:lpstr>
      <vt:lpstr>微软雅黑</vt:lpstr>
      <vt:lpstr>Arial</vt:lpstr>
      <vt:lpstr>Calibri</vt:lpstr>
      <vt:lpstr>Courier New</vt:lpstr>
      <vt:lpstr>Tahoma</vt:lpstr>
      <vt:lpstr>Wingdings</vt:lpstr>
      <vt:lpstr>Wingdings 3</vt:lpstr>
      <vt:lpstr>1_Office 主题​​</vt:lpstr>
      <vt:lpstr>学术交流模板3-中文</vt:lpstr>
      <vt:lpstr>1_学术交流模板3-中文</vt:lpstr>
      <vt:lpstr>2_Office 主题​​</vt:lpstr>
      <vt:lpstr>CorelDRAW</vt:lpstr>
      <vt:lpstr>Chapter 10 Interrupt-Driven I/O</vt:lpstr>
      <vt:lpstr>PowerPoint 演示文稿</vt:lpstr>
      <vt:lpstr>Review: I/O CONTROL in Von Neumann Model</vt:lpstr>
      <vt:lpstr>Transfer Control</vt:lpstr>
      <vt:lpstr>LC-3 TRAP Mechanism</vt:lpstr>
      <vt:lpstr>LC-3 TRAP Routines(service routines)</vt:lpstr>
      <vt:lpstr>Control Instructions for System Calls</vt:lpstr>
      <vt:lpstr>PowerPoint 演示文稿</vt:lpstr>
      <vt:lpstr>PowerPoint 演示文稿</vt:lpstr>
      <vt:lpstr>Today: I/O in Von Neumann Model</vt:lpstr>
      <vt:lpstr>Interrupt-Driven I/O</vt:lpstr>
      <vt:lpstr>Interrupt-Driven I/O</vt:lpstr>
      <vt:lpstr>Interrupt-Driven I/O</vt:lpstr>
      <vt:lpstr>Interrupt-Driven I/O</vt:lpstr>
      <vt:lpstr>Interrupt-Driven I/O</vt:lpstr>
      <vt:lpstr>Interrupt-Driven I/O</vt:lpstr>
      <vt:lpstr>When to Use Interrupts</vt:lpstr>
      <vt:lpstr>How is Interrupt Signaled?</vt:lpstr>
      <vt:lpstr>Interrupt Signal to CPU: Conditions</vt:lpstr>
      <vt:lpstr>Interrupt Signal to CPU: Conditions</vt:lpstr>
      <vt:lpstr>The State of a Program</vt:lpstr>
      <vt:lpstr>Memory Regions for Privilege Mode</vt:lpstr>
      <vt:lpstr>RTI instruction</vt:lpstr>
      <vt:lpstr>Interrupt Signal to CPU</vt:lpstr>
      <vt:lpstr>Testing for Interrupt Signal</vt:lpstr>
      <vt:lpstr>How Does Processor Handle It?</vt:lpstr>
      <vt:lpstr>Supervisor Mode and the Stack</vt:lpstr>
      <vt:lpstr>Example</vt:lpstr>
      <vt:lpstr>Example</vt:lpstr>
      <vt:lpstr>Example</vt:lpstr>
      <vt:lpstr>Example</vt:lpstr>
      <vt:lpstr>Example</vt:lpstr>
      <vt:lpstr>When Polling Encounters Interrupt</vt:lpstr>
      <vt:lpstr>Solution</vt:lpstr>
    </vt:vector>
  </TitlesOfParts>
  <Manager/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subject/>
  <dc:creator>hanhwt</dc:creator>
  <cp:keywords/>
  <dc:description/>
  <cp:lastModifiedBy>Miao Fuyou</cp:lastModifiedBy>
  <cp:revision>751</cp:revision>
  <cp:lastPrinted>1601-01-01T00:00:00Z</cp:lastPrinted>
  <dcterms:created xsi:type="dcterms:W3CDTF">2012-09-03T16:09:03Z</dcterms:created>
  <dcterms:modified xsi:type="dcterms:W3CDTF">2025-12-09T06:04:10Z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2052-8.1.0.2998</vt:lpwstr>
  </property>
</Properties>
</file>