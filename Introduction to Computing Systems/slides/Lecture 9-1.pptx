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41" r:id="rId2"/>
  </p:sldMasterIdLst>
  <p:notesMasterIdLst>
    <p:notesMasterId r:id="rId42"/>
  </p:notesMasterIdLst>
  <p:sldIdLst>
    <p:sldId id="1541" r:id="rId3"/>
    <p:sldId id="1561" r:id="rId4"/>
    <p:sldId id="559" r:id="rId5"/>
    <p:sldId id="560" r:id="rId6"/>
    <p:sldId id="639" r:id="rId7"/>
    <p:sldId id="1562" r:id="rId8"/>
    <p:sldId id="562" r:id="rId9"/>
    <p:sldId id="563" r:id="rId10"/>
    <p:sldId id="564" r:id="rId11"/>
    <p:sldId id="565" r:id="rId12"/>
    <p:sldId id="566" r:id="rId13"/>
    <p:sldId id="567" r:id="rId14"/>
    <p:sldId id="568" r:id="rId15"/>
    <p:sldId id="569" r:id="rId16"/>
    <p:sldId id="570" r:id="rId17"/>
    <p:sldId id="571" r:id="rId18"/>
    <p:sldId id="572" r:id="rId19"/>
    <p:sldId id="573" r:id="rId20"/>
    <p:sldId id="574" r:id="rId21"/>
    <p:sldId id="575" r:id="rId22"/>
    <p:sldId id="576" r:id="rId23"/>
    <p:sldId id="577" r:id="rId24"/>
    <p:sldId id="578" r:id="rId25"/>
    <p:sldId id="579" r:id="rId26"/>
    <p:sldId id="580" r:id="rId27"/>
    <p:sldId id="581" r:id="rId28"/>
    <p:sldId id="582" r:id="rId29"/>
    <p:sldId id="583" r:id="rId30"/>
    <p:sldId id="584" r:id="rId31"/>
    <p:sldId id="585" r:id="rId32"/>
    <p:sldId id="586" r:id="rId33"/>
    <p:sldId id="587" r:id="rId34"/>
    <p:sldId id="588" r:id="rId35"/>
    <p:sldId id="589" r:id="rId36"/>
    <p:sldId id="590" r:id="rId37"/>
    <p:sldId id="591" r:id="rId38"/>
    <p:sldId id="592" r:id="rId39"/>
    <p:sldId id="593" r:id="rId40"/>
    <p:sldId id="594" r:id="rId4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52A3"/>
    <a:srgbClr val="333399"/>
    <a:srgbClr val="003399"/>
    <a:srgbClr val="0000FF"/>
    <a:srgbClr val="CCFFFF"/>
    <a:srgbClr val="FFCCFF"/>
    <a:srgbClr val="0074BF"/>
    <a:srgbClr val="A6E0E0"/>
    <a:srgbClr val="CC33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496" autoAdjust="0"/>
    <p:restoredTop sz="86390" autoAdjust="0"/>
  </p:normalViewPr>
  <p:slideViewPr>
    <p:cSldViewPr>
      <p:cViewPr varScale="1">
        <p:scale>
          <a:sx n="92" d="100"/>
          <a:sy n="92" d="100"/>
        </p:scale>
        <p:origin x="444" y="60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12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commentAuthors" Target="commentAuthor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2025/10/21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2826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273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184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413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0D222C-F00E-4B5C-84AD-BA07F597068B}" type="slidenum">
              <a:rPr kumimoji="0" lang="en-US" altLang="zh-CN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094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489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22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352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474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542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9444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4932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6870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930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4246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78408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77295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3625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0293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6069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2455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2672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9415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3700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61799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00646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32261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30494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75147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16106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650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323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1013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2025/10/21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7632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0868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9165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9436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0919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07210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0352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3409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71134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13875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20822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5069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5524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2025/10/21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2025/10/21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718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5496" y="2204864"/>
            <a:ext cx="9108504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9-1 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 Mapped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32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计算机系统概论</a:t>
            </a:r>
            <a:endParaRPr lang="en-US" altLang="zh-CN" sz="2800" b="1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CS1002A.01 </a:t>
            </a:r>
            <a:r>
              <a:rPr lang="zh-CN" altLang="en-US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FAA14A-5BFE-4EEC-9A36-0EA62B8ED0FB}"/>
              </a:ext>
            </a:extLst>
          </p:cNvPr>
          <p:cNvSpPr txBox="1"/>
          <p:nvPr/>
        </p:nvSpPr>
        <p:spPr>
          <a:xfrm>
            <a:off x="2640971" y="5114173"/>
            <a:ext cx="3857594" cy="1580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baseline="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Tahoma" panose="020B0604030504040204" pitchFamily="34" charset="0"/>
              </a:rPr>
              <a:t>苗付友</a:t>
            </a:r>
            <a:endParaRPr lang="en-US" altLang="zh-CN" sz="2800" b="1" baseline="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mfy@ustc.edu.cn</a:t>
            </a:r>
            <a:br>
              <a:rPr lang="en-US" altLang="zh-CN" sz="14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4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2025 </a:t>
            </a:r>
            <a:r>
              <a:rPr lang="en-US" altLang="zh-CN" sz="14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28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sz="1600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484784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 Box 17">
            <a:extLst>
              <a:ext uri="{FF2B5EF4-FFF2-40B4-BE49-F238E27FC236}">
                <a16:creationId xmlns:a16="http://schemas.microsoft.com/office/drawing/2014/main" id="{2F40E909-50A3-479F-801F-FBDF076B4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6872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7" name="矩形 17">
            <a:extLst>
              <a:ext uri="{FF2B5EF4-FFF2-40B4-BE49-F238E27FC236}">
                <a16:creationId xmlns:a16="http://schemas.microsoft.com/office/drawing/2014/main" id="{CA6324CE-7477-45E4-9227-00CEB3A27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69838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C373EADB-7815-4166-AA44-D12FD1064AF0}"/>
              </a:ext>
            </a:extLst>
          </p:cNvPr>
          <p:cNvCxnSpPr/>
          <p:nvPr/>
        </p:nvCxnSpPr>
        <p:spPr>
          <a:xfrm>
            <a:off x="438669" y="293048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Box 17">
            <a:extLst>
              <a:ext uri="{FF2B5EF4-FFF2-40B4-BE49-F238E27FC236}">
                <a16:creationId xmlns:a16="http://schemas.microsoft.com/office/drawing/2014/main" id="{8C23C864-3974-4881-A62E-259AA4226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6872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baseline="0" noProof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52" name="矩形 17">
            <a:extLst>
              <a:ext uri="{FF2B5EF4-FFF2-40B4-BE49-F238E27FC236}">
                <a16:creationId xmlns:a16="http://schemas.microsoft.com/office/drawing/2014/main" id="{BE528D61-8B5D-4693-9E04-4E2FA585E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69838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Input/Output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85009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3645F5-D573-4DB4-A689-19E0A28251A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EA6FBC-31A5-461C-9A68-BB8169FC91B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Review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So far, we’ve learned how to: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compute with values in registers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load data from memory to registers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store data from registers to memory</a:t>
            </a:r>
          </a:p>
        </p:txBody>
      </p:sp>
      <p:graphicFrame>
        <p:nvGraphicFramePr>
          <p:cNvPr id="6" name="Object 14"/>
          <p:cNvGraphicFramePr>
            <a:graphicFrameLocks noChangeAspect="1"/>
          </p:cNvGraphicFramePr>
          <p:nvPr/>
        </p:nvGraphicFramePr>
        <p:xfrm>
          <a:off x="1524000" y="2673809"/>
          <a:ext cx="5352256" cy="3754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CorelDRAW" r:id="rId4" imgW="5743575" imgH="4029075" progId="CorelDRAW.Graphic.9">
                  <p:embed/>
                </p:oleObj>
              </mc:Choice>
              <mc:Fallback>
                <p:oleObj name="CorelDRAW" r:id="rId4" imgW="5743575" imgH="4029075" progId="CorelDRAW.Graphic.9">
                  <p:embed/>
                  <p:pic>
                    <p:nvPicPr>
                      <p:cNvPr id="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673809"/>
                        <a:ext cx="5352256" cy="37546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3131840" y="2673809"/>
            <a:ext cx="2160240" cy="899207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120008" y="4005064"/>
            <a:ext cx="2160240" cy="899207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411760" y="5445224"/>
            <a:ext cx="3600400" cy="983209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49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0" name="标题 1"/>
          <p:cNvSpPr txBox="1">
            <a:spLocks/>
          </p:cNvSpPr>
          <p:nvPr/>
        </p:nvSpPr>
        <p:spPr>
          <a:xfrm>
            <a:off x="179388" y="71438"/>
            <a:ext cx="8839200" cy="765175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Review: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LC-3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Data Path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黑体"/>
              <a:cs typeface="+mj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30105" y="1097936"/>
            <a:ext cx="5889529" cy="4131264"/>
            <a:chOff x="130105" y="1097936"/>
            <a:chExt cx="5889529" cy="4131264"/>
          </a:xfrm>
        </p:grpSpPr>
        <p:sp>
          <p:nvSpPr>
            <p:cNvPr id="375" name="矩形 374"/>
            <p:cNvSpPr/>
            <p:nvPr/>
          </p:nvSpPr>
          <p:spPr bwMode="auto">
            <a:xfrm>
              <a:off x="130105" y="1097936"/>
              <a:ext cx="5889529" cy="4131264"/>
            </a:xfrm>
            <a:prstGeom prst="rect">
              <a:avLst/>
            </a:prstGeom>
            <a:noFill/>
            <a:ln w="635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1430292" y="2314348"/>
              <a:ext cx="3506015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Control Unit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38307" y="5302983"/>
            <a:ext cx="6290524" cy="1497514"/>
            <a:chOff x="138307" y="5302983"/>
            <a:chExt cx="6290524" cy="1497514"/>
          </a:xfrm>
        </p:grpSpPr>
        <p:sp>
          <p:nvSpPr>
            <p:cNvPr id="379" name="矩形 378"/>
            <p:cNvSpPr/>
            <p:nvPr/>
          </p:nvSpPr>
          <p:spPr bwMode="auto">
            <a:xfrm>
              <a:off x="138307" y="5302983"/>
              <a:ext cx="6290524" cy="1497514"/>
            </a:xfrm>
            <a:prstGeom prst="rect">
              <a:avLst/>
            </a:prstGeom>
            <a:noFill/>
            <a:ln w="63500" cap="flat" cmpd="sng" algn="ctr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91" name="矩形 390"/>
            <p:cNvSpPr/>
            <p:nvPr/>
          </p:nvSpPr>
          <p:spPr bwMode="auto">
            <a:xfrm>
              <a:off x="1571013" y="5444804"/>
              <a:ext cx="3506015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Memory Unit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" name="组合 21"/>
          <p:cNvGrpSpPr/>
          <p:nvPr/>
        </p:nvGrpSpPr>
        <p:grpSpPr>
          <a:xfrm>
            <a:off x="6094401" y="1111864"/>
            <a:ext cx="2872192" cy="4131264"/>
            <a:chOff x="6094401" y="1111864"/>
            <a:chExt cx="2872192" cy="4131264"/>
          </a:xfrm>
        </p:grpSpPr>
        <p:sp>
          <p:nvSpPr>
            <p:cNvPr id="14" name="矩形 13"/>
            <p:cNvSpPr/>
            <p:nvPr/>
          </p:nvSpPr>
          <p:spPr bwMode="auto">
            <a:xfrm>
              <a:off x="6094401" y="1111864"/>
              <a:ext cx="2872192" cy="4131264"/>
            </a:xfrm>
            <a:prstGeom prst="rect">
              <a:avLst/>
            </a:prstGeom>
            <a:noFill/>
            <a:ln w="635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97" name="矩形 396"/>
            <p:cNvSpPr/>
            <p:nvPr/>
          </p:nvSpPr>
          <p:spPr bwMode="auto">
            <a:xfrm>
              <a:off x="6146232" y="2420306"/>
              <a:ext cx="2736977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Processing Unit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684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C4EF60-1B3C-4756-ADAC-AC2EDAD6562D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2025/10/21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EF408B-58E8-4F79-B5B5-343485345E55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/>
              <a:t>Today: I/O in </a:t>
            </a:r>
            <a:r>
              <a:rPr lang="en-US" altLang="zh-CN" dirty="0">
                <a:ea typeface="宋体" panose="02010600030101010101" pitchFamily="2" charset="-122"/>
              </a:rPr>
              <a:t>Von Neumann Model</a:t>
            </a:r>
            <a:endParaRPr lang="en-US" altLang="zh-CN" sz="1800" dirty="0">
              <a:ea typeface="宋体" panose="02010600030101010101" pitchFamily="2" charset="-122"/>
            </a:endParaRPr>
          </a:p>
        </p:txBody>
      </p:sp>
      <p:graphicFrame>
        <p:nvGraphicFramePr>
          <p:cNvPr id="2560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038764"/>
              </p:ext>
            </p:extLst>
          </p:nvPr>
        </p:nvGraphicFramePr>
        <p:xfrm>
          <a:off x="1192213" y="1219200"/>
          <a:ext cx="6759575" cy="474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CorelDRAW" r:id="rId3" imgW="5743575" imgH="4029075" progId="CorelDRAW.Graphic.9">
                  <p:embed/>
                </p:oleObj>
              </mc:Choice>
              <mc:Fallback>
                <p:oleObj name="CorelDRAW" r:id="rId3" imgW="5743575" imgH="4029075" progId="CorelDRAW.Graphic.9">
                  <p:embed/>
                  <p:pic>
                    <p:nvPicPr>
                      <p:cNvPr id="2560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1219200"/>
                        <a:ext cx="6759575" cy="474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1192212" y="2332232"/>
            <a:ext cx="1474788" cy="1744839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A99FE5-F59D-4DDF-B80C-61A1253C1DBD}"/>
              </a:ext>
            </a:extLst>
          </p:cNvPr>
          <p:cNvSpPr/>
          <p:nvPr/>
        </p:nvSpPr>
        <p:spPr bwMode="auto">
          <a:xfrm>
            <a:off x="6464736" y="2332231"/>
            <a:ext cx="1474788" cy="1744839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816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 Box 17">
            <a:extLst>
              <a:ext uri="{FF2B5EF4-FFF2-40B4-BE49-F238E27FC236}">
                <a16:creationId xmlns:a16="http://schemas.microsoft.com/office/drawing/2014/main" id="{2F40E909-50A3-479F-801F-FBDF076B4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6872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7" name="矩形 17">
            <a:extLst>
              <a:ext uri="{FF2B5EF4-FFF2-40B4-BE49-F238E27FC236}">
                <a16:creationId xmlns:a16="http://schemas.microsoft.com/office/drawing/2014/main" id="{CA6324CE-7477-45E4-9227-00CEB3A27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69838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C373EADB-7815-4166-AA44-D12FD1064AF0}"/>
              </a:ext>
            </a:extLst>
          </p:cNvPr>
          <p:cNvCxnSpPr/>
          <p:nvPr/>
        </p:nvCxnSpPr>
        <p:spPr>
          <a:xfrm>
            <a:off x="438669" y="293048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Box 17">
            <a:extLst>
              <a:ext uri="{FF2B5EF4-FFF2-40B4-BE49-F238E27FC236}">
                <a16:creationId xmlns:a16="http://schemas.microsoft.com/office/drawing/2014/main" id="{8C23C864-3974-4881-A62E-259AA4226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276872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52" name="矩形 17">
            <a:extLst>
              <a:ext uri="{FF2B5EF4-FFF2-40B4-BE49-F238E27FC236}">
                <a16:creationId xmlns:a16="http://schemas.microsoft.com/office/drawing/2014/main" id="{BE528D61-8B5D-4693-9E04-4E2FA585E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69838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Input/Output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152A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5738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Need for I/O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But where does data in memory come from? And how does data get out of the system so that humans can use it?</a:t>
            </a:r>
          </a:p>
          <a:p>
            <a:pPr lvl="1"/>
            <a:r>
              <a:rPr lang="en-US" altLang="zh-CN" dirty="0"/>
              <a:t>Computer systems are useless unless they can process information from outside of the computer and output results outside of the computer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I/O is effectively the communication with outside of the computer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I/O device </a:t>
            </a:r>
            <a:r>
              <a:rPr lang="en-US" altLang="zh-CN" dirty="0"/>
              <a:t>itself communicates with outside world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E.g., keyboard takes input from user</a:t>
            </a:r>
          </a:p>
          <a:p>
            <a:r>
              <a:rPr lang="en-US" altLang="zh-CN" dirty="0"/>
              <a:t>Computer needs to communicate with </a:t>
            </a:r>
            <a:r>
              <a:rPr lang="en-US" altLang="zh-CN" dirty="0">
                <a:solidFill>
                  <a:srgbClr val="FF0000"/>
                </a:solidFill>
              </a:rPr>
              <a:t>I/O device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E.g., computer takes input from keyboard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Communication through shared memory locations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Processor and I/O can read/write those memory locations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Sometimes, data in memory locations can be set/cleared automatically (by hardware) depending on a read/write 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quarter" idx="10"/>
          </p:nvPr>
        </p:nvSpPr>
        <p:spPr>
          <a:xfrm>
            <a:off x="381000" y="6537325"/>
            <a:ext cx="2286000" cy="244475"/>
          </a:xfrm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3645F5-D573-4DB4-A689-19E0A28251A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84850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3645F5-D573-4DB4-A689-19E0A28251A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EA6FBC-31A5-461C-9A68-BB8169FC91B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I/O: Connecting to the Outside World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Keyboard/mouse input, video output </a:t>
            </a:r>
            <a:r>
              <a:rPr lang="en-US" altLang="zh-CN" dirty="0">
                <a:ea typeface="宋体" panose="02010600030101010101" pitchFamily="2" charset="-122"/>
              </a:rPr>
              <a:t>on a standard computer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Network input/output </a:t>
            </a:r>
            <a:r>
              <a:rPr lang="en-US" altLang="zh-CN" dirty="0">
                <a:ea typeface="宋体" panose="02010600030101010101" pitchFamily="2" charset="-122"/>
              </a:rPr>
              <a:t>that enables web surfing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Information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from an engine of a car </a:t>
            </a:r>
            <a:r>
              <a:rPr lang="en-US" altLang="zh-CN" dirty="0">
                <a:ea typeface="宋体" panose="02010600030101010101" pitchFamily="2" charset="-122"/>
              </a:rPr>
              <a:t>that a computer uses to determine how to tune the engine (output from computer tunes the engine)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Requests for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airline reservations </a:t>
            </a:r>
            <a:r>
              <a:rPr lang="en-US" altLang="zh-CN" dirty="0">
                <a:ea typeface="宋体" panose="02010600030101010101" pitchFamily="2" charset="-122"/>
              </a:rPr>
              <a:t>and replies service requests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Types of I/O devices characterized by:</a:t>
            </a:r>
          </a:p>
          <a:p>
            <a:pPr lvl="1"/>
            <a:r>
              <a:rPr lang="en-US" altLang="zh-CN" sz="1800" dirty="0">
                <a:solidFill>
                  <a:srgbClr val="CE0000"/>
                </a:solidFill>
                <a:ea typeface="宋体" panose="02010600030101010101" pitchFamily="2" charset="-122"/>
              </a:rPr>
              <a:t>behavior:</a:t>
            </a:r>
            <a:r>
              <a:rPr lang="en-US" altLang="zh-CN" sz="1800" dirty="0">
                <a:ea typeface="宋体" panose="02010600030101010101" pitchFamily="2" charset="-122"/>
              </a:rPr>
              <a:t> input, output, storage</a:t>
            </a:r>
          </a:p>
          <a:p>
            <a:pPr lvl="2"/>
            <a:r>
              <a:rPr lang="en-US" altLang="zh-CN" sz="1600" dirty="0"/>
              <a:t>input: keyboard, motion detector, network interface</a:t>
            </a:r>
          </a:p>
          <a:p>
            <a:pPr lvl="2"/>
            <a:r>
              <a:rPr lang="en-US" altLang="zh-CN" sz="1600" dirty="0"/>
              <a:t>output: display screen(monitor), printer, network interface</a:t>
            </a:r>
          </a:p>
          <a:p>
            <a:pPr lvl="2"/>
            <a:r>
              <a:rPr lang="en-US" altLang="zh-CN" sz="1600" dirty="0"/>
              <a:t>storage: disk, CD-ROM</a:t>
            </a:r>
          </a:p>
          <a:p>
            <a:pPr lvl="1"/>
            <a:r>
              <a:rPr lang="en-US" altLang="zh-CN" sz="1800" dirty="0">
                <a:solidFill>
                  <a:srgbClr val="CE0000"/>
                </a:solidFill>
                <a:ea typeface="宋体" panose="02010600030101010101" pitchFamily="2" charset="-122"/>
              </a:rPr>
              <a:t>data rate:</a:t>
            </a:r>
            <a:r>
              <a:rPr lang="en-US" altLang="zh-CN" sz="1800" dirty="0">
                <a:ea typeface="宋体" panose="02010600030101010101" pitchFamily="2" charset="-122"/>
              </a:rPr>
              <a:t> how fast can data be transferred?</a:t>
            </a:r>
          </a:p>
          <a:p>
            <a:pPr lvl="2"/>
            <a:r>
              <a:rPr lang="en-US" altLang="zh-CN" sz="1600" dirty="0"/>
              <a:t>keyboard: 100 bytes/sec</a:t>
            </a:r>
          </a:p>
          <a:p>
            <a:pPr lvl="2"/>
            <a:r>
              <a:rPr lang="en-US" altLang="zh-CN" sz="1600" dirty="0"/>
              <a:t>disk: 60-120 MB/s</a:t>
            </a:r>
          </a:p>
          <a:p>
            <a:pPr lvl="2"/>
            <a:r>
              <a:rPr lang="en-US" altLang="zh-CN" sz="1600" dirty="0"/>
              <a:t>network: 1 Mb/s - 100 Gb/s</a:t>
            </a:r>
          </a:p>
          <a:p>
            <a:pPr lvl="2"/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818030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CE4A95-29DD-4818-B65A-BE3150AECB7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DDE464-449D-4440-8C66-601A20D5357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I/O Controller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Control/Status Registers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CPU tells device what to do -- write to control register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CPU checks whether task is done -- read status register</a:t>
            </a: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Data Registers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CPU transfers data to/from device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Device electronics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performs actual operation</a:t>
            </a:r>
          </a:p>
          <a:p>
            <a:pPr lvl="2"/>
            <a:r>
              <a:rPr lang="en-US" altLang="zh-CN" dirty="0"/>
              <a:t>pixels to screen, bits to/from disk, characters from keyboard</a:t>
            </a:r>
          </a:p>
        </p:txBody>
      </p:sp>
      <p:sp>
        <p:nvSpPr>
          <p:cNvPr id="8198" name="Rectangle 4"/>
          <p:cNvSpPr>
            <a:spLocks noChangeArrowheads="1"/>
          </p:cNvSpPr>
          <p:nvPr/>
        </p:nvSpPr>
        <p:spPr bwMode="auto">
          <a:xfrm>
            <a:off x="2438400" y="3200400"/>
            <a:ext cx="4572000" cy="14478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9" name="Text Box 5"/>
          <p:cNvSpPr txBox="1">
            <a:spLocks noChangeArrowheads="1"/>
          </p:cNvSpPr>
          <p:nvPr/>
        </p:nvSpPr>
        <p:spPr bwMode="auto">
          <a:xfrm>
            <a:off x="4495800" y="3200400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Graphics Controller</a:t>
            </a:r>
          </a:p>
        </p:txBody>
      </p:sp>
      <p:sp>
        <p:nvSpPr>
          <p:cNvPr id="8200" name="Text Box 6"/>
          <p:cNvSpPr txBox="1">
            <a:spLocks noChangeArrowheads="1"/>
          </p:cNvSpPr>
          <p:nvPr/>
        </p:nvSpPr>
        <p:spPr bwMode="auto">
          <a:xfrm>
            <a:off x="2590800" y="3352800"/>
            <a:ext cx="1828800" cy="3794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Control/Status</a:t>
            </a:r>
          </a:p>
        </p:txBody>
      </p:sp>
      <p:sp>
        <p:nvSpPr>
          <p:cNvPr id="8201" name="Text Box 7"/>
          <p:cNvSpPr txBox="1">
            <a:spLocks noChangeArrowheads="1"/>
          </p:cNvSpPr>
          <p:nvPr/>
        </p:nvSpPr>
        <p:spPr bwMode="auto">
          <a:xfrm>
            <a:off x="2590800" y="4038600"/>
            <a:ext cx="1828800" cy="3794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 Data</a:t>
            </a:r>
          </a:p>
        </p:txBody>
      </p:sp>
      <p:sp>
        <p:nvSpPr>
          <p:cNvPr id="8202" name="Rectangle 8"/>
          <p:cNvSpPr>
            <a:spLocks noChangeArrowheads="1"/>
          </p:cNvSpPr>
          <p:nvPr/>
        </p:nvSpPr>
        <p:spPr bwMode="auto">
          <a:xfrm>
            <a:off x="5105400" y="3810000"/>
            <a:ext cx="1676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Electronics</a:t>
            </a:r>
          </a:p>
        </p:txBody>
      </p:sp>
      <p:sp>
        <p:nvSpPr>
          <p:cNvPr id="8203" name="Line 9"/>
          <p:cNvSpPr>
            <a:spLocks noChangeShapeType="1"/>
          </p:cNvSpPr>
          <p:nvPr/>
        </p:nvSpPr>
        <p:spPr bwMode="auto">
          <a:xfrm>
            <a:off x="6781800" y="41148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04" name="Line 10"/>
          <p:cNvSpPr>
            <a:spLocks noChangeShapeType="1"/>
          </p:cNvSpPr>
          <p:nvPr/>
        </p:nvSpPr>
        <p:spPr bwMode="auto">
          <a:xfrm>
            <a:off x="1828800" y="4267200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05" name="Line 11"/>
          <p:cNvSpPr>
            <a:spLocks noChangeShapeType="1"/>
          </p:cNvSpPr>
          <p:nvPr/>
        </p:nvSpPr>
        <p:spPr bwMode="auto">
          <a:xfrm>
            <a:off x="1752600" y="3581400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06" name="Line 12"/>
          <p:cNvSpPr>
            <a:spLocks noChangeShapeType="1"/>
          </p:cNvSpPr>
          <p:nvPr/>
        </p:nvSpPr>
        <p:spPr bwMode="auto">
          <a:xfrm>
            <a:off x="4419600" y="419100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07" name="Line 13"/>
          <p:cNvSpPr>
            <a:spLocks noChangeShapeType="1"/>
          </p:cNvSpPr>
          <p:nvPr/>
        </p:nvSpPr>
        <p:spPr bwMode="auto">
          <a:xfrm>
            <a:off x="4419600" y="3581400"/>
            <a:ext cx="6858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08" name="Text Box 14"/>
          <p:cNvSpPr txBox="1">
            <a:spLocks noChangeArrowheads="1"/>
          </p:cNvSpPr>
          <p:nvPr/>
        </p:nvSpPr>
        <p:spPr bwMode="auto">
          <a:xfrm>
            <a:off x="685800" y="3657600"/>
            <a:ext cx="935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CPU</a:t>
            </a:r>
          </a:p>
        </p:txBody>
      </p:sp>
      <p:sp>
        <p:nvSpPr>
          <p:cNvPr id="8209" name="Text Box 15"/>
          <p:cNvSpPr txBox="1">
            <a:spLocks noChangeArrowheads="1"/>
          </p:cNvSpPr>
          <p:nvPr/>
        </p:nvSpPr>
        <p:spPr bwMode="auto">
          <a:xfrm>
            <a:off x="7848600" y="3886200"/>
            <a:ext cx="9763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display</a:t>
            </a:r>
          </a:p>
        </p:txBody>
      </p:sp>
    </p:spTree>
    <p:extLst>
      <p:ext uri="{BB962C8B-B14F-4D97-AF65-F5344CB8AC3E}">
        <p14:creationId xmlns:p14="http://schemas.microsoft.com/office/powerpoint/2010/main" val="1214268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22CF01-0BFF-42BD-8CD4-758182AE840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C52E24A-8FBB-4A22-8D60-DD0BF880913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Programming Interface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How are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device registers </a:t>
            </a:r>
            <a:r>
              <a:rPr lang="en-US" altLang="zh-CN" dirty="0">
                <a:ea typeface="宋体" panose="02010600030101010101" pitchFamily="2" charset="-122"/>
              </a:rPr>
              <a:t>identified?</a:t>
            </a:r>
          </a:p>
          <a:p>
            <a:pPr lvl="1"/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Memory-mapped</a:t>
            </a:r>
            <a:r>
              <a:rPr lang="en-US" altLang="zh-CN" dirty="0">
                <a:ea typeface="宋体" panose="02010600030101010101" pitchFamily="2" charset="-122"/>
              </a:rPr>
              <a:t> vs. 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special instructions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How is timing of transfer managed?</a:t>
            </a:r>
          </a:p>
          <a:p>
            <a:pPr lvl="1"/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Asynchronous</a:t>
            </a:r>
            <a:r>
              <a:rPr lang="en-US" altLang="zh-CN" dirty="0">
                <a:ea typeface="宋体" panose="02010600030101010101" pitchFamily="2" charset="-122"/>
              </a:rPr>
              <a:t> vs. 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synchronous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Who controls transfer?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CPU (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polling</a:t>
            </a:r>
            <a:r>
              <a:rPr lang="en-US" altLang="zh-CN" dirty="0">
                <a:ea typeface="宋体" panose="02010600030101010101" pitchFamily="2" charset="-122"/>
              </a:rPr>
              <a:t>) vs. device (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interrupts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29402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8C31C5-5F1E-41DF-B99A-14981FE49D2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706645-13A0-4D36-8470-2EE8A00CFAE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Memory-Mapped vs. I/O Instructions</a:t>
            </a:r>
          </a:p>
        </p:txBody>
      </p:sp>
      <p:sp>
        <p:nvSpPr>
          <p:cNvPr id="1229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Instructions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designate opcode(s) for I/O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register and operation encoded in instruction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Memory-mapped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assign a memory address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to each device register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use data movement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instructions (LD/ST)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for control and data transfer</a:t>
            </a:r>
          </a:p>
        </p:txBody>
      </p:sp>
      <p:pic>
        <p:nvPicPr>
          <p:cNvPr id="12295" name="Picture 5" descr="ch08-inst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587" y="2359409"/>
            <a:ext cx="55356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3275856" y="5165725"/>
            <a:ext cx="4938762" cy="1296988"/>
            <a:chOff x="3917901" y="4343400"/>
            <a:chExt cx="4938762" cy="1296988"/>
          </a:xfrm>
        </p:grpSpPr>
        <p:pic>
          <p:nvPicPr>
            <p:cNvPr id="12292" name="Picture 2" descr="ch08-mappe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7200" y="4343400"/>
              <a:ext cx="4589463" cy="129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矩形 1"/>
            <p:cNvSpPr/>
            <p:nvPr/>
          </p:nvSpPr>
          <p:spPr bwMode="auto">
            <a:xfrm>
              <a:off x="3917901" y="4910931"/>
              <a:ext cx="914400" cy="3112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0x FE00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2882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1D5C11-5744-4CB3-9827-1F1FB8D0909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42B2D0-A1CF-447A-82E9-6146A1C95D4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Transfer Timing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I/O events generally happen much slower than CPU cycles.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If </a:t>
            </a:r>
            <a:r>
              <a:rPr lang="en-US" altLang="zh-CN" b="0" dirty="0">
                <a:ea typeface="宋体" panose="02010600030101010101" pitchFamily="2" charset="-122"/>
              </a:rPr>
              <a:t>:      CPU 300MHz, 10clocks/character,6characters/word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Then:</a:t>
            </a:r>
            <a:r>
              <a:rPr lang="en-US" altLang="zh-CN" b="0" dirty="0">
                <a:ea typeface="宋体" panose="02010600030101010101" pitchFamily="2" charset="-122"/>
              </a:rPr>
              <a:t> typing speed (1/(</a:t>
            </a:r>
            <a:r>
              <a:rPr lang="en-US" altLang="zh-CN" b="0">
                <a:ea typeface="宋体" panose="02010600030101010101" pitchFamily="2" charset="-122"/>
              </a:rPr>
              <a:t>300x10</a:t>
            </a:r>
            <a:r>
              <a:rPr lang="en-US" altLang="zh-CN" sz="2800" b="0" baseline="30000">
                <a:ea typeface="宋体" panose="02010600030101010101" pitchFamily="2" charset="-122"/>
              </a:rPr>
              <a:t>-6</a:t>
            </a:r>
            <a:r>
              <a:rPr lang="en-US" altLang="zh-CN" b="0">
                <a:ea typeface="宋体" panose="02010600030101010101" pitchFamily="2" charset="-122"/>
              </a:rPr>
              <a:t>))/(10x6)=5x10</a:t>
            </a:r>
            <a:r>
              <a:rPr lang="en-US" altLang="zh-CN" sz="2400" b="0" baseline="30000">
                <a:ea typeface="宋体" panose="02010600030101010101" pitchFamily="2" charset="-122"/>
              </a:rPr>
              <a:t>6</a:t>
            </a:r>
            <a:r>
              <a:rPr lang="en-US" altLang="zh-CN" b="0">
                <a:ea typeface="宋体" panose="02010600030101010101" pitchFamily="2" charset="-122"/>
              </a:rPr>
              <a:t>words</a:t>
            </a:r>
            <a:r>
              <a:rPr lang="en-US" altLang="zh-CN" b="0" dirty="0">
                <a:ea typeface="宋体" panose="02010600030101010101" pitchFamily="2" charset="-122"/>
              </a:rPr>
              <a:t>/s</a:t>
            </a: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Synchronous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data supplied at a fixed, predictable rate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CPU reads/writes every X cycles</a:t>
            </a: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Asynchronous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data rate less predictable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CPU must </a:t>
            </a:r>
            <a:r>
              <a:rPr lang="en-US" altLang="zh-CN" i="1" u="sng" dirty="0">
                <a:ea typeface="宋体" panose="02010600030101010101" pitchFamily="2" charset="-122"/>
              </a:rPr>
              <a:t>synchronize</a:t>
            </a:r>
            <a:r>
              <a:rPr lang="en-US" altLang="zh-CN" dirty="0">
                <a:ea typeface="宋体" panose="02010600030101010101" pitchFamily="2" charset="-122"/>
              </a:rPr>
              <a:t> with device,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so that it doesn’t miss data or write too quickly</a:t>
            </a:r>
          </a:p>
        </p:txBody>
      </p:sp>
    </p:spTree>
    <p:extLst>
      <p:ext uri="{BB962C8B-B14F-4D97-AF65-F5344CB8AC3E}">
        <p14:creationId xmlns:p14="http://schemas.microsoft.com/office/powerpoint/2010/main" val="2732764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09802A-4941-452B-8098-093F5923AA9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AC3D8-E52F-4F5D-9500-31F04A2A52D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Transfer Control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75" y="981075"/>
            <a:ext cx="8686800" cy="54102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Who determines when the next data transfer occurs?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CPU vs. I/O device</a:t>
            </a: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Polling</a:t>
            </a:r>
            <a:r>
              <a:rPr lang="en-US" altLang="zh-CN" dirty="0"/>
              <a:t> is explicitly looking/examining</a:t>
            </a:r>
            <a:endParaRPr lang="en-US" altLang="zh-CN" b="0" u="sng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CPU keeps checking status register until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i="1" u="sng" dirty="0">
                <a:ea typeface="宋体" panose="02010600030101010101" pitchFamily="2" charset="-122"/>
              </a:rPr>
              <a:t>new data</a:t>
            </a:r>
            <a:r>
              <a:rPr lang="en-US" altLang="zh-CN" dirty="0">
                <a:ea typeface="宋体" panose="02010600030101010101" pitchFamily="2" charset="-122"/>
              </a:rPr>
              <a:t> arrives OR </a:t>
            </a:r>
            <a:r>
              <a:rPr lang="en-US" altLang="zh-CN" i="1" u="sng" dirty="0">
                <a:ea typeface="宋体" panose="02010600030101010101" pitchFamily="2" charset="-122"/>
              </a:rPr>
              <a:t>device ready</a:t>
            </a:r>
            <a:r>
              <a:rPr lang="en-US" altLang="zh-CN" dirty="0">
                <a:ea typeface="宋体" panose="02010600030101010101" pitchFamily="2" charset="-122"/>
              </a:rPr>
              <a:t> for next data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“Are you there yet?  Are you there yet?  Are you there yet?”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Interrupts </a:t>
            </a:r>
            <a:r>
              <a:rPr lang="en-US" altLang="zh-CN" dirty="0"/>
              <a:t>is a nudge, knock on the door, loud noise, which forces you to pay attention</a:t>
            </a:r>
            <a:endParaRPr lang="en-US" altLang="zh-CN" b="0" u="sng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Device sends a special signal to CPU when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i="1" u="sng" dirty="0">
                <a:ea typeface="宋体" panose="02010600030101010101" pitchFamily="2" charset="-122"/>
              </a:rPr>
              <a:t>new data</a:t>
            </a:r>
            <a:r>
              <a:rPr lang="en-US" altLang="zh-CN" dirty="0">
                <a:ea typeface="宋体" panose="02010600030101010101" pitchFamily="2" charset="-122"/>
              </a:rPr>
              <a:t> arrives OR </a:t>
            </a:r>
            <a:r>
              <a:rPr lang="en-US" altLang="zh-CN" i="1" u="sng" dirty="0">
                <a:ea typeface="宋体" panose="02010600030101010101" pitchFamily="2" charset="-122"/>
              </a:rPr>
              <a:t>device ready</a:t>
            </a:r>
            <a:r>
              <a:rPr lang="en-US" altLang="zh-CN" dirty="0">
                <a:ea typeface="宋体" panose="02010600030101010101" pitchFamily="2" charset="-122"/>
              </a:rPr>
              <a:t> for next data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CPU can be performing other tasks instead of polling device.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“Wake me when you get there.”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0394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9010CA-62BF-4998-99F8-A1ADE0C8C9A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08C8DB-D64F-47D4-9DE6-9FCB5E2B4C4F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LC-3 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7924800" cy="5562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Memory-mapped I/O</a:t>
            </a:r>
            <a:r>
              <a:rPr lang="en-US" altLang="zh-CN" dirty="0">
                <a:ea typeface="宋体" panose="02010600030101010101" pitchFamily="2" charset="-122"/>
              </a:rPr>
              <a:t>  </a:t>
            </a:r>
            <a:r>
              <a:rPr lang="en-US" altLang="zh-CN" sz="1600" dirty="0">
                <a:ea typeface="宋体" panose="02010600030101010101" pitchFamily="2" charset="-122"/>
              </a:rPr>
              <a:t>(Table A.1)</a:t>
            </a: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60000"/>
              </a:spcBef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Asynchronous devices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synchronized through status registers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Polling</a:t>
            </a:r>
            <a:r>
              <a:rPr lang="en-US" altLang="zh-CN" dirty="0">
                <a:ea typeface="宋体" panose="02010600030101010101" pitchFamily="2" charset="-122"/>
              </a:rPr>
              <a:t> and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Interrupts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details of interrupts will be discussed in Chapter 10</a:t>
            </a:r>
          </a:p>
        </p:txBody>
      </p:sp>
      <p:graphicFrame>
        <p:nvGraphicFramePr>
          <p:cNvPr id="348164" name="Group 4"/>
          <p:cNvGraphicFramePr>
            <a:graphicFrameLocks noGrp="1"/>
          </p:cNvGraphicFramePr>
          <p:nvPr/>
        </p:nvGraphicFramePr>
        <p:xfrm>
          <a:off x="304800" y="1676400"/>
          <a:ext cx="8534400" cy="2825749"/>
        </p:xfrm>
        <a:graphic>
          <a:graphicData uri="http://schemas.openxmlformats.org/drawingml/2006/table">
            <a:tbl>
              <a:tblPr/>
              <a:tblGrid>
                <a:gridCol w="1395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7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Location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I/O Register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Function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14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xFE00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Keyboard Status 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Reg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(KBSR)</a:t>
                      </a:r>
                    </a:p>
                  </a:txBody>
                  <a:tcPr marT="45730" marB="4573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Bit [15] is one when keyboard has received a new character.</a:t>
                      </a:r>
                    </a:p>
                  </a:txBody>
                  <a:tcPr marT="45730" marB="4573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14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xFE02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Keyboard Data 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Reg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(KBDR)</a:t>
                      </a:r>
                    </a:p>
                  </a:txBody>
                  <a:tcPr marT="45730" marB="4573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Bits [7:0] contain the last character typed on keyboard.</a:t>
                      </a:r>
                    </a:p>
                  </a:txBody>
                  <a:tcPr marT="45730" marB="4573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56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xFE04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Display Status Register (DSR)</a:t>
                      </a:r>
                    </a:p>
                  </a:txBody>
                  <a:tcPr marT="45730" marB="4573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Bit [15] is one when device ready to display another char on screen.</a:t>
                      </a:r>
                    </a:p>
                  </a:txBody>
                  <a:tcPr marT="45730" marB="4573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56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xFE06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Display Data Register (DDR)</a:t>
                      </a:r>
                    </a:p>
                  </a:txBody>
                  <a:tcPr marT="45730" marB="4573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Character written to bits [7:0] will be displayed on screen.</a:t>
                      </a:r>
                    </a:p>
                  </a:txBody>
                  <a:tcPr marT="45730" marB="4573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7657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map of the LC-3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56AFFD-C3BD-4EE6-B713-ECC62B3C1FD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156176" y="6564119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51C7DF-C7BE-4EB5-A329-87F30D195B6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3923928" y="2977207"/>
            <a:ext cx="3898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PC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3923928" y="3573016"/>
            <a:ext cx="156978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R4(Global pointer)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3968068" y="5569495"/>
            <a:ext cx="153772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R6 (stack pointer)</a:t>
            </a: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3419872" y="3717032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3419872" y="3114284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3419872" y="5733256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Rectangle 6"/>
          <p:cNvSpPr>
            <a:spLocks noChangeArrowheads="1"/>
          </p:cNvSpPr>
          <p:nvPr/>
        </p:nvSpPr>
        <p:spPr bwMode="auto">
          <a:xfrm>
            <a:off x="971600" y="4598733"/>
            <a:ext cx="2450678" cy="106251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Rectangle 7"/>
          <p:cNvSpPr>
            <a:spLocks noChangeArrowheads="1"/>
          </p:cNvSpPr>
          <p:nvPr/>
        </p:nvSpPr>
        <p:spPr bwMode="auto">
          <a:xfrm>
            <a:off x="971600" y="6124115"/>
            <a:ext cx="2450678" cy="414842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Device Register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Addresses</a:t>
            </a:r>
          </a:p>
        </p:txBody>
      </p:sp>
      <p:sp>
        <p:nvSpPr>
          <p:cNvPr id="70" name="Text Box 10"/>
          <p:cNvSpPr txBox="1">
            <a:spLocks noChangeArrowheads="1"/>
          </p:cNvSpPr>
          <p:nvPr/>
        </p:nvSpPr>
        <p:spPr bwMode="auto">
          <a:xfrm>
            <a:off x="215608" y="965167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0x0000</a:t>
            </a:r>
          </a:p>
        </p:txBody>
      </p:sp>
      <p:sp>
        <p:nvSpPr>
          <p:cNvPr id="71" name="Text Box 11"/>
          <p:cNvSpPr txBox="1">
            <a:spLocks noChangeArrowheads="1"/>
          </p:cNvSpPr>
          <p:nvPr/>
        </p:nvSpPr>
        <p:spPr bwMode="auto">
          <a:xfrm>
            <a:off x="215608" y="6354067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0xFFFF</a:t>
            </a:r>
          </a:p>
        </p:txBody>
      </p:sp>
      <p:sp>
        <p:nvSpPr>
          <p:cNvPr id="72" name="Rectangle 6"/>
          <p:cNvSpPr>
            <a:spLocks noChangeArrowheads="1"/>
          </p:cNvSpPr>
          <p:nvPr/>
        </p:nvSpPr>
        <p:spPr bwMode="auto">
          <a:xfrm>
            <a:off x="971600" y="1011555"/>
            <a:ext cx="2450678" cy="53754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Trap Vector Table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" name="Rectangle 6"/>
          <p:cNvSpPr>
            <a:spLocks noChangeArrowheads="1"/>
          </p:cNvSpPr>
          <p:nvPr/>
        </p:nvSpPr>
        <p:spPr bwMode="auto">
          <a:xfrm>
            <a:off x="971600" y="1550678"/>
            <a:ext cx="2450678" cy="53754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Interrupt Vector Table</a:t>
            </a:r>
          </a:p>
        </p:txBody>
      </p:sp>
      <p:sp>
        <p:nvSpPr>
          <p:cNvPr id="74" name="Rectangle 6"/>
          <p:cNvSpPr>
            <a:spLocks noChangeArrowheads="1"/>
          </p:cNvSpPr>
          <p:nvPr/>
        </p:nvSpPr>
        <p:spPr bwMode="auto">
          <a:xfrm>
            <a:off x="971600" y="2080438"/>
            <a:ext cx="2450678" cy="93800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Operating System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and Supervisor Stack</a:t>
            </a:r>
          </a:p>
        </p:txBody>
      </p:sp>
      <p:sp>
        <p:nvSpPr>
          <p:cNvPr id="75" name="Text Box 10"/>
          <p:cNvSpPr txBox="1">
            <a:spLocks noChangeArrowheads="1"/>
          </p:cNvSpPr>
          <p:nvPr/>
        </p:nvSpPr>
        <p:spPr bwMode="auto">
          <a:xfrm>
            <a:off x="215608" y="1310549"/>
            <a:ext cx="828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0x00FF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PS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" name="Text Box 10"/>
          <p:cNvSpPr txBox="1">
            <a:spLocks noChangeArrowheads="1"/>
          </p:cNvSpPr>
          <p:nvPr/>
        </p:nvSpPr>
        <p:spPr bwMode="auto">
          <a:xfrm>
            <a:off x="215608" y="1526573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0x0100</a:t>
            </a:r>
          </a:p>
        </p:txBody>
      </p:sp>
      <p:sp>
        <p:nvSpPr>
          <p:cNvPr id="77" name="Text Box 10"/>
          <p:cNvSpPr txBox="1">
            <a:spLocks noChangeArrowheads="1"/>
          </p:cNvSpPr>
          <p:nvPr/>
        </p:nvSpPr>
        <p:spPr bwMode="auto">
          <a:xfrm>
            <a:off x="215608" y="1834350"/>
            <a:ext cx="828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0x01FF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PS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Text Box 10"/>
          <p:cNvSpPr txBox="1">
            <a:spLocks noChangeArrowheads="1"/>
          </p:cNvSpPr>
          <p:nvPr/>
        </p:nvSpPr>
        <p:spPr bwMode="auto">
          <a:xfrm>
            <a:off x="215608" y="2050374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0x0200</a:t>
            </a:r>
          </a:p>
        </p:txBody>
      </p:sp>
      <p:sp>
        <p:nvSpPr>
          <p:cNvPr id="79" name="Text Box 10"/>
          <p:cNvSpPr txBox="1">
            <a:spLocks noChangeArrowheads="1"/>
          </p:cNvSpPr>
          <p:nvPr/>
        </p:nvSpPr>
        <p:spPr bwMode="auto">
          <a:xfrm>
            <a:off x="209964" y="2780928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0x2FFF</a:t>
            </a:r>
          </a:p>
        </p:txBody>
      </p:sp>
      <p:sp>
        <p:nvSpPr>
          <p:cNvPr id="80" name="Text Box 10"/>
          <p:cNvSpPr txBox="1">
            <a:spLocks noChangeArrowheads="1"/>
          </p:cNvSpPr>
          <p:nvPr/>
        </p:nvSpPr>
        <p:spPr bwMode="auto">
          <a:xfrm>
            <a:off x="209964" y="2996952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0x3000</a:t>
            </a:r>
          </a:p>
        </p:txBody>
      </p:sp>
      <p:sp>
        <p:nvSpPr>
          <p:cNvPr id="81" name="Text Box 10"/>
          <p:cNvSpPr txBox="1">
            <a:spLocks noChangeArrowheads="1"/>
          </p:cNvSpPr>
          <p:nvPr/>
        </p:nvSpPr>
        <p:spPr bwMode="auto">
          <a:xfrm>
            <a:off x="215608" y="5886742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0xFDFF</a:t>
            </a:r>
          </a:p>
        </p:txBody>
      </p:sp>
      <p:sp>
        <p:nvSpPr>
          <p:cNvPr id="82" name="Text Box 11"/>
          <p:cNvSpPr txBox="1">
            <a:spLocks noChangeArrowheads="1"/>
          </p:cNvSpPr>
          <p:nvPr/>
        </p:nvSpPr>
        <p:spPr bwMode="auto">
          <a:xfrm>
            <a:off x="215608" y="6104329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0xFE00</a:t>
            </a:r>
          </a:p>
        </p:txBody>
      </p:sp>
      <p:sp>
        <p:nvSpPr>
          <p:cNvPr id="84" name="Rectangle 6"/>
          <p:cNvSpPr>
            <a:spLocks noChangeArrowheads="1"/>
          </p:cNvSpPr>
          <p:nvPr/>
        </p:nvSpPr>
        <p:spPr bwMode="auto">
          <a:xfrm>
            <a:off x="971600" y="5661248"/>
            <a:ext cx="2450678" cy="490743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Run-time stack</a:t>
            </a:r>
          </a:p>
        </p:txBody>
      </p:sp>
      <p:sp>
        <p:nvSpPr>
          <p:cNvPr id="85" name="Rectangle 6"/>
          <p:cNvSpPr>
            <a:spLocks noChangeArrowheads="1"/>
          </p:cNvSpPr>
          <p:nvPr/>
        </p:nvSpPr>
        <p:spPr bwMode="auto">
          <a:xfrm>
            <a:off x="971600" y="2996952"/>
            <a:ext cx="2450678" cy="66138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Program Text</a:t>
            </a:r>
          </a:p>
        </p:txBody>
      </p:sp>
      <p:sp>
        <p:nvSpPr>
          <p:cNvPr id="86" name="Rectangle 6"/>
          <p:cNvSpPr>
            <a:spLocks noChangeArrowheads="1"/>
          </p:cNvSpPr>
          <p:nvPr/>
        </p:nvSpPr>
        <p:spPr bwMode="auto">
          <a:xfrm>
            <a:off x="971600" y="3658337"/>
            <a:ext cx="2450678" cy="49074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Global data section</a:t>
            </a:r>
          </a:p>
        </p:txBody>
      </p:sp>
      <p:sp>
        <p:nvSpPr>
          <p:cNvPr id="87" name="Rectangle 6"/>
          <p:cNvSpPr>
            <a:spLocks noChangeArrowheads="1"/>
          </p:cNvSpPr>
          <p:nvPr/>
        </p:nvSpPr>
        <p:spPr bwMode="auto">
          <a:xfrm>
            <a:off x="971600" y="4149080"/>
            <a:ext cx="2450678" cy="490743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Heap (for dynamically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allocated memory)</a:t>
            </a:r>
          </a:p>
        </p:txBody>
      </p:sp>
      <p:cxnSp>
        <p:nvCxnSpPr>
          <p:cNvPr id="89" name="直接箭头连接符 88"/>
          <p:cNvCxnSpPr/>
          <p:nvPr/>
        </p:nvCxnSpPr>
        <p:spPr bwMode="auto">
          <a:xfrm>
            <a:off x="2196939" y="4653136"/>
            <a:ext cx="0" cy="4144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1" name="直接箭头连接符 90"/>
          <p:cNvCxnSpPr/>
          <p:nvPr/>
        </p:nvCxnSpPr>
        <p:spPr bwMode="auto">
          <a:xfrm flipV="1">
            <a:off x="2195736" y="5246805"/>
            <a:ext cx="0" cy="4144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" name="Line 15"/>
          <p:cNvSpPr>
            <a:spLocks noChangeShapeType="1"/>
          </p:cNvSpPr>
          <p:nvPr/>
        </p:nvSpPr>
        <p:spPr bwMode="auto">
          <a:xfrm>
            <a:off x="3419872" y="594928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" name="Text Box 14"/>
          <p:cNvSpPr txBox="1">
            <a:spLocks noChangeArrowheads="1"/>
          </p:cNvSpPr>
          <p:nvPr/>
        </p:nvSpPr>
        <p:spPr bwMode="auto">
          <a:xfrm>
            <a:off x="3968068" y="5805264"/>
            <a:ext cx="15778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R5 (frame pointer)</a:t>
            </a:r>
          </a:p>
        </p:txBody>
      </p:sp>
      <p:grpSp>
        <p:nvGrpSpPr>
          <p:cNvPr id="117" name="组合 116"/>
          <p:cNvGrpSpPr/>
          <p:nvPr/>
        </p:nvGrpSpPr>
        <p:grpSpPr>
          <a:xfrm>
            <a:off x="5796136" y="3749550"/>
            <a:ext cx="2592288" cy="2847802"/>
            <a:chOff x="5508104" y="3140968"/>
            <a:chExt cx="2592288" cy="2847802"/>
          </a:xfrm>
        </p:grpSpPr>
        <p:sp>
          <p:nvSpPr>
            <p:cNvPr id="99" name="Line 15"/>
            <p:cNvSpPr>
              <a:spLocks noChangeShapeType="1"/>
            </p:cNvSpPr>
            <p:nvPr/>
          </p:nvSpPr>
          <p:spPr bwMode="auto">
            <a:xfrm>
              <a:off x="7092280" y="4581128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0" name="Text Box 14"/>
            <p:cNvSpPr txBox="1">
              <a:spLocks noChangeArrowheads="1"/>
            </p:cNvSpPr>
            <p:nvPr/>
          </p:nvSpPr>
          <p:spPr bwMode="auto">
            <a:xfrm>
              <a:off x="7640476" y="4437112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 panose="020B0503020102020204" pitchFamily="34" charset="0"/>
                  <a:ea typeface="宋体" panose="02010600030101010101" pitchFamily="2" charset="-122"/>
                  <a:cs typeface="+mn-cs"/>
                </a:rPr>
                <a:t>R5 </a:t>
              </a:r>
            </a:p>
          </p:txBody>
        </p:sp>
        <p:sp>
          <p:nvSpPr>
            <p:cNvPr id="101" name="文本框 37"/>
            <p:cNvSpPr txBox="1">
              <a:spLocks noChangeArrowheads="1"/>
            </p:cNvSpPr>
            <p:nvPr/>
          </p:nvSpPr>
          <p:spPr bwMode="auto">
            <a:xfrm>
              <a:off x="5652120" y="3933056"/>
              <a:ext cx="1414462" cy="708201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Function2</a:t>
              </a:r>
            </a:p>
          </p:txBody>
        </p:sp>
        <p:sp>
          <p:nvSpPr>
            <p:cNvPr id="102" name="Line 17"/>
            <p:cNvSpPr>
              <a:spLocks noChangeShapeType="1"/>
            </p:cNvSpPr>
            <p:nvPr/>
          </p:nvSpPr>
          <p:spPr bwMode="auto">
            <a:xfrm>
              <a:off x="7092280" y="4077072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" name="Text Box 14"/>
            <p:cNvSpPr txBox="1">
              <a:spLocks noChangeArrowheads="1"/>
            </p:cNvSpPr>
            <p:nvPr/>
          </p:nvSpPr>
          <p:spPr bwMode="auto">
            <a:xfrm>
              <a:off x="7654436" y="3913311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 panose="020B0503020102020204" pitchFamily="34" charset="0"/>
                  <a:ea typeface="宋体" panose="02010600030101010101" pitchFamily="2" charset="-122"/>
                  <a:cs typeface="+mn-cs"/>
                </a:rPr>
                <a:t>R6 </a:t>
              </a:r>
            </a:p>
          </p:txBody>
        </p:sp>
        <p:sp>
          <p:nvSpPr>
            <p:cNvPr id="104" name="Line 15"/>
            <p:cNvSpPr>
              <a:spLocks noChangeShapeType="1"/>
            </p:cNvSpPr>
            <p:nvPr/>
          </p:nvSpPr>
          <p:spPr bwMode="auto">
            <a:xfrm>
              <a:off x="7092280" y="3861048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" name="Text Box 14"/>
            <p:cNvSpPr txBox="1">
              <a:spLocks noChangeArrowheads="1"/>
            </p:cNvSpPr>
            <p:nvPr/>
          </p:nvSpPr>
          <p:spPr bwMode="auto">
            <a:xfrm>
              <a:off x="7640476" y="3645024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 panose="020B0503020102020204" pitchFamily="34" charset="0"/>
                  <a:ea typeface="宋体" panose="02010600030101010101" pitchFamily="2" charset="-122"/>
                  <a:cs typeface="+mn-cs"/>
                </a:rPr>
                <a:t>R5 </a:t>
              </a:r>
            </a:p>
          </p:txBody>
        </p:sp>
        <p:sp>
          <p:nvSpPr>
            <p:cNvPr id="106" name="Line 17"/>
            <p:cNvSpPr>
              <a:spLocks noChangeShapeType="1"/>
            </p:cNvSpPr>
            <p:nvPr/>
          </p:nvSpPr>
          <p:spPr bwMode="auto">
            <a:xfrm>
              <a:off x="7092280" y="3284984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7" name="Text Box 14"/>
            <p:cNvSpPr txBox="1">
              <a:spLocks noChangeArrowheads="1"/>
            </p:cNvSpPr>
            <p:nvPr/>
          </p:nvSpPr>
          <p:spPr bwMode="auto">
            <a:xfrm>
              <a:off x="7654436" y="3140968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 panose="020B0503020102020204" pitchFamily="34" charset="0"/>
                  <a:ea typeface="宋体" panose="02010600030101010101" pitchFamily="2" charset="-122"/>
                  <a:cs typeface="+mn-cs"/>
                </a:rPr>
                <a:t>R6 </a:t>
              </a:r>
            </a:p>
          </p:txBody>
        </p:sp>
        <p:sp>
          <p:nvSpPr>
            <p:cNvPr id="109" name="任意多边形 41"/>
            <p:cNvSpPr>
              <a:spLocks/>
            </p:cNvSpPr>
            <p:nvPr/>
          </p:nvSpPr>
          <p:spPr bwMode="auto">
            <a:xfrm>
              <a:off x="5508104" y="4653136"/>
              <a:ext cx="188913" cy="561975"/>
            </a:xfrm>
            <a:custGeom>
              <a:avLst/>
              <a:gdLst>
                <a:gd name="T0" fmla="*/ 137518 w 188644"/>
                <a:gd name="T1" fmla="*/ 0 h 561315"/>
                <a:gd name="T2" fmla="*/ 553 w 188644"/>
                <a:gd name="T3" fmla="*/ 173232 h 561315"/>
                <a:gd name="T4" fmla="*/ 183171 w 188644"/>
                <a:gd name="T5" fmla="*/ 373818 h 561315"/>
                <a:gd name="T6" fmla="*/ 155778 w 188644"/>
                <a:gd name="T7" fmla="*/ 565287 h 561315"/>
                <a:gd name="T8" fmla="*/ 155778 w 188644"/>
                <a:gd name="T9" fmla="*/ 565287 h 5613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644" h="561315">
                  <a:moveTo>
                    <a:pt x="136349" y="0"/>
                  </a:moveTo>
                  <a:cubicBezTo>
                    <a:pt x="64675" y="55075"/>
                    <a:pt x="-6998" y="110151"/>
                    <a:pt x="547" y="172016"/>
                  </a:cubicBezTo>
                  <a:cubicBezTo>
                    <a:pt x="8092" y="233881"/>
                    <a:pt x="155965" y="306309"/>
                    <a:pt x="181616" y="371192"/>
                  </a:cubicBezTo>
                  <a:cubicBezTo>
                    <a:pt x="207267" y="436075"/>
                    <a:pt x="154455" y="561315"/>
                    <a:pt x="154455" y="56131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" name="任意多边形 41"/>
            <p:cNvSpPr>
              <a:spLocks/>
            </p:cNvSpPr>
            <p:nvPr/>
          </p:nvSpPr>
          <p:spPr bwMode="auto">
            <a:xfrm>
              <a:off x="6903367" y="4653136"/>
              <a:ext cx="188913" cy="561975"/>
            </a:xfrm>
            <a:custGeom>
              <a:avLst/>
              <a:gdLst>
                <a:gd name="T0" fmla="*/ 137518 w 188644"/>
                <a:gd name="T1" fmla="*/ 0 h 561315"/>
                <a:gd name="T2" fmla="*/ 553 w 188644"/>
                <a:gd name="T3" fmla="*/ 173232 h 561315"/>
                <a:gd name="T4" fmla="*/ 183171 w 188644"/>
                <a:gd name="T5" fmla="*/ 373818 h 561315"/>
                <a:gd name="T6" fmla="*/ 155778 w 188644"/>
                <a:gd name="T7" fmla="*/ 565287 h 561315"/>
                <a:gd name="T8" fmla="*/ 155778 w 188644"/>
                <a:gd name="T9" fmla="*/ 565287 h 5613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644" h="561315">
                  <a:moveTo>
                    <a:pt x="136349" y="0"/>
                  </a:moveTo>
                  <a:cubicBezTo>
                    <a:pt x="64675" y="55075"/>
                    <a:pt x="-6998" y="110151"/>
                    <a:pt x="547" y="172016"/>
                  </a:cubicBezTo>
                  <a:cubicBezTo>
                    <a:pt x="8092" y="233881"/>
                    <a:pt x="155965" y="306309"/>
                    <a:pt x="181616" y="371192"/>
                  </a:cubicBezTo>
                  <a:cubicBezTo>
                    <a:pt x="207267" y="436075"/>
                    <a:pt x="154455" y="561315"/>
                    <a:pt x="154455" y="56131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" name="文本框 37"/>
            <p:cNvSpPr txBox="1">
              <a:spLocks noChangeArrowheads="1"/>
            </p:cNvSpPr>
            <p:nvPr/>
          </p:nvSpPr>
          <p:spPr bwMode="auto">
            <a:xfrm>
              <a:off x="5652120" y="5231175"/>
              <a:ext cx="1414462" cy="646097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Function3</a:t>
              </a:r>
            </a:p>
          </p:txBody>
        </p:sp>
        <p:sp>
          <p:nvSpPr>
            <p:cNvPr id="112" name="文本框 37"/>
            <p:cNvSpPr txBox="1">
              <a:spLocks noChangeArrowheads="1"/>
            </p:cNvSpPr>
            <p:nvPr/>
          </p:nvSpPr>
          <p:spPr bwMode="auto">
            <a:xfrm>
              <a:off x="5652120" y="3224855"/>
              <a:ext cx="1414462" cy="708201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Function1</a:t>
              </a:r>
            </a:p>
          </p:txBody>
        </p:sp>
        <p:sp>
          <p:nvSpPr>
            <p:cNvPr id="113" name="Line 15"/>
            <p:cNvSpPr>
              <a:spLocks noChangeShapeType="1"/>
            </p:cNvSpPr>
            <p:nvPr/>
          </p:nvSpPr>
          <p:spPr bwMode="auto">
            <a:xfrm>
              <a:off x="7092280" y="5825009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" name="Text Box 14"/>
            <p:cNvSpPr txBox="1">
              <a:spLocks noChangeArrowheads="1"/>
            </p:cNvSpPr>
            <p:nvPr/>
          </p:nvSpPr>
          <p:spPr bwMode="auto">
            <a:xfrm>
              <a:off x="7640476" y="5680993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 panose="020B0503020102020204" pitchFamily="34" charset="0"/>
                  <a:ea typeface="宋体" panose="02010600030101010101" pitchFamily="2" charset="-122"/>
                  <a:cs typeface="+mn-cs"/>
                </a:rPr>
                <a:t>R5 </a:t>
              </a:r>
            </a:p>
          </p:txBody>
        </p:sp>
        <p:sp>
          <p:nvSpPr>
            <p:cNvPr id="115" name="Line 17"/>
            <p:cNvSpPr>
              <a:spLocks noChangeShapeType="1"/>
            </p:cNvSpPr>
            <p:nvPr/>
          </p:nvSpPr>
          <p:spPr bwMode="auto">
            <a:xfrm>
              <a:off x="7092280" y="5320953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6" name="Text Box 14"/>
            <p:cNvSpPr txBox="1">
              <a:spLocks noChangeArrowheads="1"/>
            </p:cNvSpPr>
            <p:nvPr/>
          </p:nvSpPr>
          <p:spPr bwMode="auto">
            <a:xfrm>
              <a:off x="7654436" y="5157192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 panose="020B0503020102020204" pitchFamily="34" charset="0"/>
                  <a:ea typeface="宋体" panose="02010600030101010101" pitchFamily="2" charset="-122"/>
                  <a:cs typeface="+mn-cs"/>
                </a:rPr>
                <a:t>R6 </a:t>
              </a:r>
            </a:p>
          </p:txBody>
        </p:sp>
      </p:grpSp>
      <p:cxnSp>
        <p:nvCxnSpPr>
          <p:cNvPr id="119" name="直接连接符 118"/>
          <p:cNvCxnSpPr/>
          <p:nvPr/>
        </p:nvCxnSpPr>
        <p:spPr bwMode="auto">
          <a:xfrm flipV="1">
            <a:off x="3419872" y="3850635"/>
            <a:ext cx="2505484" cy="18106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0" name="直接连接符 119"/>
          <p:cNvCxnSpPr/>
          <p:nvPr/>
        </p:nvCxnSpPr>
        <p:spPr bwMode="auto">
          <a:xfrm>
            <a:off x="3430674" y="6131330"/>
            <a:ext cx="2480017" cy="361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027236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B4EC727-3BEC-4998-90CE-A078365133B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4F6028-7006-40F3-9D25-AD613E0066F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 Processor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Input from Keyboard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When a character is typed: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its ASCII code is placed in bits [7:0] of KBDR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(bits [15:8] are always zero)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the “ready bit” (KBSR[15]) is set to one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keyboard is disabled -- any typed characters will be ignored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When KBDR is read: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KBSR[15] is set to zero,</a:t>
            </a:r>
            <a:r>
              <a:rPr lang="en-US" altLang="zh-CN" dirty="0"/>
              <a:t> meaning no keyboard key is pending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keyboard is enabled</a:t>
            </a:r>
          </a:p>
        </p:txBody>
      </p:sp>
      <p:sp>
        <p:nvSpPr>
          <p:cNvPr id="20486" name="Rectangle 4"/>
          <p:cNvSpPr>
            <a:spLocks noChangeArrowheads="1"/>
          </p:cNvSpPr>
          <p:nvPr/>
        </p:nvSpPr>
        <p:spPr bwMode="auto">
          <a:xfrm>
            <a:off x="3276600" y="3429000"/>
            <a:ext cx="1219200" cy="304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7" name="Rectangle 5"/>
          <p:cNvSpPr>
            <a:spLocks noChangeArrowheads="1"/>
          </p:cNvSpPr>
          <p:nvPr/>
        </p:nvSpPr>
        <p:spPr bwMode="auto">
          <a:xfrm>
            <a:off x="4495800" y="3429000"/>
            <a:ext cx="12192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8" name="Rectangle 6"/>
          <p:cNvSpPr>
            <a:spLocks noChangeArrowheads="1"/>
          </p:cNvSpPr>
          <p:nvPr/>
        </p:nvSpPr>
        <p:spPr bwMode="auto">
          <a:xfrm>
            <a:off x="3276600" y="3962400"/>
            <a:ext cx="152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9" name="Rectangle 7"/>
          <p:cNvSpPr>
            <a:spLocks noChangeArrowheads="1"/>
          </p:cNvSpPr>
          <p:nvPr/>
        </p:nvSpPr>
        <p:spPr bwMode="auto">
          <a:xfrm>
            <a:off x="3429000" y="3962400"/>
            <a:ext cx="2286000" cy="304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90" name="Text Box 8"/>
          <p:cNvSpPr txBox="1">
            <a:spLocks noChangeArrowheads="1"/>
          </p:cNvSpPr>
          <p:nvPr/>
        </p:nvSpPr>
        <p:spPr bwMode="auto">
          <a:xfrm>
            <a:off x="5718175" y="3892550"/>
            <a:ext cx="1049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KBSR</a:t>
            </a:r>
          </a:p>
        </p:txBody>
      </p:sp>
      <p:sp>
        <p:nvSpPr>
          <p:cNvPr id="20491" name="Text Box 9"/>
          <p:cNvSpPr txBox="1">
            <a:spLocks noChangeArrowheads="1"/>
          </p:cNvSpPr>
          <p:nvPr/>
        </p:nvSpPr>
        <p:spPr bwMode="auto">
          <a:xfrm>
            <a:off x="5727700" y="335915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KBDR</a:t>
            </a:r>
          </a:p>
        </p:txBody>
      </p:sp>
      <p:sp>
        <p:nvSpPr>
          <p:cNvPr id="20492" name="Text Box 10"/>
          <p:cNvSpPr txBox="1">
            <a:spLocks noChangeArrowheads="1"/>
          </p:cNvSpPr>
          <p:nvPr/>
        </p:nvSpPr>
        <p:spPr bwMode="auto">
          <a:xfrm>
            <a:off x="3200400" y="3201988"/>
            <a:ext cx="3238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15</a:t>
            </a:r>
          </a:p>
        </p:txBody>
      </p:sp>
      <p:sp>
        <p:nvSpPr>
          <p:cNvPr id="20493" name="Text Box 11"/>
          <p:cNvSpPr txBox="1">
            <a:spLocks noChangeArrowheads="1"/>
          </p:cNvSpPr>
          <p:nvPr/>
        </p:nvSpPr>
        <p:spPr bwMode="auto">
          <a:xfrm>
            <a:off x="4292600" y="3201988"/>
            <a:ext cx="25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</a:t>
            </a:r>
          </a:p>
        </p:txBody>
      </p:sp>
      <p:sp>
        <p:nvSpPr>
          <p:cNvPr id="20494" name="Text Box 12"/>
          <p:cNvSpPr txBox="1">
            <a:spLocks noChangeArrowheads="1"/>
          </p:cNvSpPr>
          <p:nvPr/>
        </p:nvSpPr>
        <p:spPr bwMode="auto">
          <a:xfrm>
            <a:off x="4445000" y="3201988"/>
            <a:ext cx="25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</a:t>
            </a:r>
          </a:p>
        </p:txBody>
      </p:sp>
      <p:sp>
        <p:nvSpPr>
          <p:cNvPr id="20495" name="Text Box 13"/>
          <p:cNvSpPr txBox="1">
            <a:spLocks noChangeArrowheads="1"/>
          </p:cNvSpPr>
          <p:nvPr/>
        </p:nvSpPr>
        <p:spPr bwMode="auto">
          <a:xfrm>
            <a:off x="5521325" y="3201988"/>
            <a:ext cx="25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20496" name="Text Box 14"/>
          <p:cNvSpPr txBox="1">
            <a:spLocks noChangeArrowheads="1"/>
          </p:cNvSpPr>
          <p:nvPr/>
        </p:nvSpPr>
        <p:spPr bwMode="auto">
          <a:xfrm>
            <a:off x="3200400" y="3735388"/>
            <a:ext cx="3238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15</a:t>
            </a:r>
          </a:p>
        </p:txBody>
      </p:sp>
      <p:sp>
        <p:nvSpPr>
          <p:cNvPr id="20497" name="Text Box 15"/>
          <p:cNvSpPr txBox="1">
            <a:spLocks noChangeArrowheads="1"/>
          </p:cNvSpPr>
          <p:nvPr/>
        </p:nvSpPr>
        <p:spPr bwMode="auto">
          <a:xfrm>
            <a:off x="3352800" y="3735388"/>
            <a:ext cx="3238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14</a:t>
            </a:r>
          </a:p>
        </p:txBody>
      </p:sp>
      <p:sp>
        <p:nvSpPr>
          <p:cNvPr id="20498" name="Text Box 16"/>
          <p:cNvSpPr txBox="1">
            <a:spLocks noChangeArrowheads="1"/>
          </p:cNvSpPr>
          <p:nvPr/>
        </p:nvSpPr>
        <p:spPr bwMode="auto">
          <a:xfrm>
            <a:off x="5521325" y="3735388"/>
            <a:ext cx="25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20499" name="Text Box 17"/>
          <p:cNvSpPr txBox="1">
            <a:spLocks noChangeArrowheads="1"/>
          </p:cNvSpPr>
          <p:nvPr/>
        </p:nvSpPr>
        <p:spPr bwMode="auto">
          <a:xfrm>
            <a:off x="6826250" y="2895600"/>
            <a:ext cx="2251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keyboard data</a:t>
            </a:r>
          </a:p>
        </p:txBody>
      </p:sp>
      <p:sp>
        <p:nvSpPr>
          <p:cNvPr id="20500" name="Line 18"/>
          <p:cNvSpPr>
            <a:spLocks noChangeShapeType="1"/>
          </p:cNvSpPr>
          <p:nvPr/>
        </p:nvSpPr>
        <p:spPr bwMode="auto">
          <a:xfrm flipH="1">
            <a:off x="5029200" y="3124200"/>
            <a:ext cx="1905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01" name="Line 19"/>
          <p:cNvSpPr>
            <a:spLocks noChangeShapeType="1"/>
          </p:cNvSpPr>
          <p:nvPr/>
        </p:nvSpPr>
        <p:spPr bwMode="auto">
          <a:xfrm>
            <a:off x="5029200" y="3124200"/>
            <a:ext cx="0" cy="457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02" name="Text Box 20"/>
          <p:cNvSpPr txBox="1">
            <a:spLocks noChangeArrowheads="1"/>
          </p:cNvSpPr>
          <p:nvPr/>
        </p:nvSpPr>
        <p:spPr bwMode="auto">
          <a:xfrm>
            <a:off x="914400" y="3886200"/>
            <a:ext cx="1306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ready bit</a:t>
            </a:r>
          </a:p>
        </p:txBody>
      </p:sp>
      <p:sp>
        <p:nvSpPr>
          <p:cNvPr id="20503" name="Line 21"/>
          <p:cNvSpPr>
            <a:spLocks noChangeShapeType="1"/>
          </p:cNvSpPr>
          <p:nvPr/>
        </p:nvSpPr>
        <p:spPr bwMode="auto">
          <a:xfrm>
            <a:off x="2209800" y="4114800"/>
            <a:ext cx="1143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1908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0AC9FC-4E51-4EC4-84A1-F6394DAE453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D273098-05E8-4201-BECB-B1B6F410982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Memory-mapped Operations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How do we read ready bit?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How do we test whether the bit is one?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How do we read keyboard data?</a:t>
            </a:r>
          </a:p>
        </p:txBody>
      </p:sp>
    </p:spTree>
    <p:extLst>
      <p:ext uri="{BB962C8B-B14F-4D97-AF65-F5344CB8AC3E}">
        <p14:creationId xmlns:p14="http://schemas.microsoft.com/office/powerpoint/2010/main" val="1422377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623305-B50F-401F-B8A9-9A69BDE271A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5F80D7-C1BF-4AE9-8617-7B91951EFD6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Basic Input Routine</a:t>
            </a:r>
          </a:p>
        </p:txBody>
      </p:sp>
      <p:sp>
        <p:nvSpPr>
          <p:cNvPr id="24581" name="AutoShape 3"/>
          <p:cNvSpPr>
            <a:spLocks noChangeArrowheads="1"/>
          </p:cNvSpPr>
          <p:nvPr/>
        </p:nvSpPr>
        <p:spPr bwMode="auto">
          <a:xfrm>
            <a:off x="1943100" y="2133600"/>
            <a:ext cx="2057400" cy="1371600"/>
          </a:xfrm>
          <a:prstGeom prst="diamond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new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char?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2" name="Rectangle 4"/>
          <p:cNvSpPr>
            <a:spLocks noChangeArrowheads="1"/>
          </p:cNvSpPr>
          <p:nvPr/>
        </p:nvSpPr>
        <p:spPr bwMode="auto">
          <a:xfrm>
            <a:off x="2019300" y="4114800"/>
            <a:ext cx="1905000" cy="762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read</a:t>
            </a:r>
            <a:b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character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3" name="Line 5"/>
          <p:cNvSpPr>
            <a:spLocks noChangeShapeType="1"/>
          </p:cNvSpPr>
          <p:nvPr/>
        </p:nvSpPr>
        <p:spPr bwMode="auto">
          <a:xfrm>
            <a:off x="2971800" y="35052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4" name="Line 6"/>
          <p:cNvSpPr>
            <a:spLocks noChangeShapeType="1"/>
          </p:cNvSpPr>
          <p:nvPr/>
        </p:nvSpPr>
        <p:spPr bwMode="auto">
          <a:xfrm>
            <a:off x="2971800" y="48768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5" name="Line 7"/>
          <p:cNvSpPr>
            <a:spLocks noChangeShapeType="1"/>
          </p:cNvSpPr>
          <p:nvPr/>
        </p:nvSpPr>
        <p:spPr bwMode="auto">
          <a:xfrm>
            <a:off x="2971800" y="12954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6" name="Line 8"/>
          <p:cNvSpPr>
            <a:spLocks noChangeShapeType="1"/>
          </p:cNvSpPr>
          <p:nvPr/>
        </p:nvSpPr>
        <p:spPr bwMode="auto">
          <a:xfrm flipH="1">
            <a:off x="1524000" y="28194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7" name="Line 9"/>
          <p:cNvSpPr>
            <a:spLocks noChangeShapeType="1"/>
          </p:cNvSpPr>
          <p:nvPr/>
        </p:nvSpPr>
        <p:spPr bwMode="auto">
          <a:xfrm flipV="1">
            <a:off x="1524000" y="16764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8" name="Line 10"/>
          <p:cNvSpPr>
            <a:spLocks noChangeShapeType="1"/>
          </p:cNvSpPr>
          <p:nvPr/>
        </p:nvSpPr>
        <p:spPr bwMode="auto">
          <a:xfrm>
            <a:off x="1524000" y="16764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9" name="Text Box 11"/>
          <p:cNvSpPr txBox="1">
            <a:spLocks noChangeArrowheads="1"/>
          </p:cNvSpPr>
          <p:nvPr/>
        </p:nvSpPr>
        <p:spPr bwMode="auto">
          <a:xfrm>
            <a:off x="2932113" y="3509963"/>
            <a:ext cx="693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YES</a:t>
            </a:r>
          </a:p>
        </p:txBody>
      </p:sp>
      <p:sp>
        <p:nvSpPr>
          <p:cNvPr id="24590" name="Text Box 12"/>
          <p:cNvSpPr txBox="1">
            <a:spLocks noChangeArrowheads="1"/>
          </p:cNvSpPr>
          <p:nvPr/>
        </p:nvSpPr>
        <p:spPr bwMode="auto">
          <a:xfrm>
            <a:off x="1409700" y="2819400"/>
            <a:ext cx="571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</a:t>
            </a:r>
          </a:p>
        </p:txBody>
      </p:sp>
      <p:sp>
        <p:nvSpPr>
          <p:cNvPr id="24591" name="Text Box 13"/>
          <p:cNvSpPr txBox="1">
            <a:spLocks noChangeArrowheads="1"/>
          </p:cNvSpPr>
          <p:nvPr/>
        </p:nvSpPr>
        <p:spPr bwMode="auto">
          <a:xfrm>
            <a:off x="457200" y="3429000"/>
            <a:ext cx="1196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Polling</a:t>
            </a:r>
            <a:endParaRPr kumimoji="0" lang="en-US" altLang="zh-CN" sz="2400" b="1" i="1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Franklin Gothic Book" panose="020B0503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92" name="Line 14"/>
          <p:cNvSpPr>
            <a:spLocks noChangeShapeType="1"/>
          </p:cNvSpPr>
          <p:nvPr/>
        </p:nvSpPr>
        <p:spPr bwMode="auto">
          <a:xfrm flipV="1">
            <a:off x="1600200" y="3200400"/>
            <a:ext cx="609600" cy="381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93" name="Text Box 15"/>
          <p:cNvSpPr txBox="1">
            <a:spLocks noChangeArrowheads="1"/>
          </p:cNvSpPr>
          <p:nvPr/>
        </p:nvSpPr>
        <p:spPr bwMode="auto">
          <a:xfrm>
            <a:off x="4800600" y="1905000"/>
            <a:ext cx="3886200" cy="2657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12573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12573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tabLst>
                <a:tab pos="125730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12573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POLL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LDI  R0, KBSR</a:t>
            </a:r>
            <a:b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BRzp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POLL</a:t>
            </a:r>
            <a:b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LDI  R0, KBDR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KBSR	.FILL xFE00</a:t>
            </a:r>
            <a:b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KBDR	.FILL xFE02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69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直接连接符 115"/>
          <p:cNvCxnSpPr/>
          <p:nvPr/>
        </p:nvCxnSpPr>
        <p:spPr bwMode="auto">
          <a:xfrm flipV="1">
            <a:off x="3196799" y="2780960"/>
            <a:ext cx="50040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Memory-mapped I/O</a:t>
            </a:r>
            <a:endParaRPr lang="zh-CN" altLang="en-US" dirty="0"/>
          </a:p>
        </p:txBody>
      </p:sp>
      <p:sp>
        <p:nvSpPr>
          <p:cNvPr id="2662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511ACE-7E16-4C07-848E-BFD4B3DBA43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D55B4FC-7CA2-45F2-B206-C42DA480AD9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2" name="直接连接符 21"/>
          <p:cNvCxnSpPr/>
          <p:nvPr/>
        </p:nvCxnSpPr>
        <p:spPr bwMode="auto">
          <a:xfrm flipH="1">
            <a:off x="8188720" y="2780960"/>
            <a:ext cx="0" cy="133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直接连接符 22"/>
          <p:cNvCxnSpPr/>
          <p:nvPr/>
        </p:nvCxnSpPr>
        <p:spPr bwMode="auto">
          <a:xfrm flipH="1" flipV="1">
            <a:off x="6037535" y="3717064"/>
            <a:ext cx="0" cy="133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27" name="组合 126"/>
          <p:cNvGrpSpPr/>
          <p:nvPr/>
        </p:nvGrpSpPr>
        <p:grpSpPr>
          <a:xfrm>
            <a:off x="3988888" y="4606008"/>
            <a:ext cx="432016" cy="119168"/>
            <a:chOff x="4355976" y="5254048"/>
            <a:chExt cx="432016" cy="119168"/>
          </a:xfrm>
        </p:grpSpPr>
        <p:sp>
          <p:nvSpPr>
            <p:cNvPr id="28" name="等腰三角形 27"/>
            <p:cNvSpPr/>
            <p:nvPr/>
          </p:nvSpPr>
          <p:spPr bwMode="auto">
            <a:xfrm rot="16200000" flipH="1">
              <a:off x="4362957" y="5247067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 bwMode="auto">
            <a:xfrm flipV="1">
              <a:off x="4499992" y="5313631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" name="文本框 29"/>
          <p:cNvSpPr txBox="1"/>
          <p:nvPr/>
        </p:nvSpPr>
        <p:spPr>
          <a:xfrm>
            <a:off x="3963389" y="4701024"/>
            <a:ext cx="1321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READ/WRITE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592544" y="2781540"/>
            <a:ext cx="396344" cy="215444"/>
            <a:chOff x="7272000" y="2565484"/>
            <a:chExt cx="396344" cy="215444"/>
          </a:xfrm>
        </p:grpSpPr>
        <p:cxnSp>
          <p:nvCxnSpPr>
            <p:cNvPr id="32" name="直接连接符 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" name="文本框 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6" name="等腰三角形 35"/>
          <p:cNvSpPr/>
          <p:nvPr/>
        </p:nvSpPr>
        <p:spPr bwMode="auto">
          <a:xfrm>
            <a:off x="1516592" y="2348912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8" name="矩形 37"/>
          <p:cNvSpPr/>
          <p:nvPr/>
        </p:nvSpPr>
        <p:spPr bwMode="auto">
          <a:xfrm>
            <a:off x="4232257" y="3587497"/>
            <a:ext cx="1124783" cy="489607"/>
          </a:xfrm>
          <a:prstGeom prst="rect">
            <a:avLst/>
          </a:prstGeom>
          <a:solidFill>
            <a:srgbClr val="FF00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ADDR.CTL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3025440" y="3260150"/>
            <a:ext cx="950400" cy="1610762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矩形 39"/>
          <p:cNvSpPr/>
          <p:nvPr/>
        </p:nvSpPr>
        <p:spPr bwMode="auto">
          <a:xfrm>
            <a:off x="1276286" y="2957541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1" name="直接连接符 40"/>
          <p:cNvCxnSpPr/>
          <p:nvPr/>
        </p:nvCxnSpPr>
        <p:spPr bwMode="auto">
          <a:xfrm flipV="1">
            <a:off x="4799156" y="2961040"/>
            <a:ext cx="0" cy="64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直接连接符 41"/>
          <p:cNvCxnSpPr/>
          <p:nvPr/>
        </p:nvCxnSpPr>
        <p:spPr bwMode="auto">
          <a:xfrm flipH="1" flipV="1">
            <a:off x="1900656" y="3861080"/>
            <a:ext cx="0" cy="12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 rot="16200000">
            <a:off x="2098656" y="4933419"/>
            <a:ext cx="0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748528" y="4138175"/>
            <a:ext cx="7200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5" name="组合 44"/>
          <p:cNvGrpSpPr/>
          <p:nvPr/>
        </p:nvGrpSpPr>
        <p:grpSpPr>
          <a:xfrm flipH="1">
            <a:off x="1948640" y="3005957"/>
            <a:ext cx="360039" cy="119168"/>
            <a:chOff x="5292080" y="3452075"/>
            <a:chExt cx="360039" cy="119168"/>
          </a:xfrm>
        </p:grpSpPr>
        <p:sp>
          <p:nvSpPr>
            <p:cNvPr id="46" name="等腰三角形 4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7" name="直接连接符 4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8" name="文本框 47"/>
          <p:cNvSpPr txBox="1"/>
          <p:nvPr/>
        </p:nvSpPr>
        <p:spPr>
          <a:xfrm>
            <a:off x="2020648" y="2894779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" name="梯形 48"/>
          <p:cNvSpPr/>
          <p:nvPr/>
        </p:nvSpPr>
        <p:spPr bwMode="auto">
          <a:xfrm>
            <a:off x="1324592" y="3641669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0" name="直接连接符 49"/>
          <p:cNvCxnSpPr/>
          <p:nvPr/>
        </p:nvCxnSpPr>
        <p:spPr bwMode="auto">
          <a:xfrm flipV="1">
            <a:off x="1478841" y="3861080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直接连接符 50"/>
          <p:cNvCxnSpPr/>
          <p:nvPr/>
        </p:nvCxnSpPr>
        <p:spPr bwMode="auto">
          <a:xfrm flipH="1">
            <a:off x="748528" y="1916832"/>
            <a:ext cx="0" cy="223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直接连接符 51"/>
          <p:cNvCxnSpPr/>
          <p:nvPr/>
        </p:nvCxnSpPr>
        <p:spPr bwMode="auto">
          <a:xfrm>
            <a:off x="1777115" y="319144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直接连接符 52"/>
          <p:cNvCxnSpPr/>
          <p:nvPr/>
        </p:nvCxnSpPr>
        <p:spPr bwMode="auto">
          <a:xfrm flipH="1">
            <a:off x="1771200" y="3501040"/>
            <a:ext cx="12600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964552" y="3710619"/>
            <a:ext cx="360039" cy="119168"/>
            <a:chOff x="5292080" y="3452075"/>
            <a:chExt cx="360039" cy="119168"/>
          </a:xfrm>
        </p:grpSpPr>
        <p:sp>
          <p:nvSpPr>
            <p:cNvPr id="55" name="等腰三角形 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7" name="文本框 56"/>
          <p:cNvSpPr txBox="1"/>
          <p:nvPr/>
        </p:nvSpPr>
        <p:spPr>
          <a:xfrm>
            <a:off x="773579" y="350104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8" name="组合 57"/>
          <p:cNvGrpSpPr/>
          <p:nvPr/>
        </p:nvGrpSpPr>
        <p:grpSpPr>
          <a:xfrm flipH="1">
            <a:off x="1660608" y="2348912"/>
            <a:ext cx="360039" cy="119168"/>
            <a:chOff x="5292080" y="3452075"/>
            <a:chExt cx="360039" cy="119168"/>
          </a:xfrm>
        </p:grpSpPr>
        <p:sp>
          <p:nvSpPr>
            <p:cNvPr id="59" name="等腰三角形 5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1" name="文本框 60"/>
          <p:cNvSpPr txBox="1"/>
          <p:nvPr/>
        </p:nvSpPr>
        <p:spPr>
          <a:xfrm>
            <a:off x="1612624" y="2174699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676520" y="2997532"/>
            <a:ext cx="396344" cy="215444"/>
            <a:chOff x="7272000" y="2565484"/>
            <a:chExt cx="396344" cy="215444"/>
          </a:xfrm>
        </p:grpSpPr>
        <p:cxnSp>
          <p:nvCxnSpPr>
            <p:cNvPr id="63" name="直接连接符 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4" name="文本框 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3344760" y="242094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71" name="直接连接符 70"/>
          <p:cNvCxnSpPr/>
          <p:nvPr/>
        </p:nvCxnSpPr>
        <p:spPr bwMode="auto">
          <a:xfrm>
            <a:off x="3666824" y="1988872"/>
            <a:ext cx="0" cy="43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2" name="组合 71"/>
          <p:cNvGrpSpPr/>
          <p:nvPr/>
        </p:nvGrpSpPr>
        <p:grpSpPr>
          <a:xfrm flipH="1">
            <a:off x="4057847" y="2463541"/>
            <a:ext cx="360039" cy="119168"/>
            <a:chOff x="5292080" y="3452075"/>
            <a:chExt cx="360039" cy="119168"/>
          </a:xfrm>
        </p:grpSpPr>
        <p:sp>
          <p:nvSpPr>
            <p:cNvPr id="73" name="等腰三角形 7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74" name="直接连接符 7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5" name="组合 74"/>
          <p:cNvGrpSpPr/>
          <p:nvPr/>
        </p:nvGrpSpPr>
        <p:grpSpPr>
          <a:xfrm>
            <a:off x="3592544" y="2061460"/>
            <a:ext cx="396344" cy="215444"/>
            <a:chOff x="7272000" y="2565484"/>
            <a:chExt cx="396344" cy="215444"/>
          </a:xfrm>
        </p:grpSpPr>
        <p:cxnSp>
          <p:nvCxnSpPr>
            <p:cNvPr id="76" name="直接连接符 7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7" name="文本框 7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8" name="文本框 77"/>
          <p:cNvSpPr txBox="1"/>
          <p:nvPr/>
        </p:nvSpPr>
        <p:spPr>
          <a:xfrm>
            <a:off x="4129854" y="2348912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79" name="直接连接符 78"/>
          <p:cNvCxnSpPr/>
          <p:nvPr/>
        </p:nvCxnSpPr>
        <p:spPr bwMode="auto">
          <a:xfrm>
            <a:off x="254705" y="1916832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" name="矩形 80"/>
          <p:cNvSpPr/>
          <p:nvPr/>
        </p:nvSpPr>
        <p:spPr bwMode="auto">
          <a:xfrm>
            <a:off x="5724241" y="3501040"/>
            <a:ext cx="640911" cy="215384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KBDR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矩形 81"/>
          <p:cNvSpPr/>
          <p:nvPr/>
        </p:nvSpPr>
        <p:spPr bwMode="auto">
          <a:xfrm>
            <a:off x="6365152" y="4077128"/>
            <a:ext cx="640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KBSR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矩形 82"/>
          <p:cNvSpPr/>
          <p:nvPr/>
        </p:nvSpPr>
        <p:spPr bwMode="auto">
          <a:xfrm>
            <a:off x="7452544" y="3501040"/>
            <a:ext cx="640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DDR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矩形 83"/>
          <p:cNvSpPr/>
          <p:nvPr/>
        </p:nvSpPr>
        <p:spPr bwMode="auto">
          <a:xfrm>
            <a:off x="7877320" y="4077128"/>
            <a:ext cx="640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DSR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5" name="直接连接符 84"/>
          <p:cNvCxnSpPr/>
          <p:nvPr/>
        </p:nvCxnSpPr>
        <p:spPr bwMode="auto">
          <a:xfrm>
            <a:off x="3666824" y="2629465"/>
            <a:ext cx="0" cy="64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直接连接符 85"/>
          <p:cNvCxnSpPr/>
          <p:nvPr/>
        </p:nvCxnSpPr>
        <p:spPr bwMode="auto">
          <a:xfrm>
            <a:off x="3340816" y="2735960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" name="直接连接符 86"/>
          <p:cNvCxnSpPr/>
          <p:nvPr/>
        </p:nvCxnSpPr>
        <p:spPr bwMode="auto">
          <a:xfrm>
            <a:off x="1512199" y="3158129"/>
            <a:ext cx="0" cy="48354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9" name="直接连接符 88"/>
          <p:cNvCxnSpPr/>
          <p:nvPr/>
        </p:nvCxnSpPr>
        <p:spPr bwMode="auto">
          <a:xfrm flipH="1">
            <a:off x="1607076" y="1988872"/>
            <a:ext cx="0" cy="36004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梯形 92"/>
          <p:cNvSpPr/>
          <p:nvPr/>
        </p:nvSpPr>
        <p:spPr bwMode="auto">
          <a:xfrm rot="16200000">
            <a:off x="1987709" y="50168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INMUX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94" name="直接连接符 93"/>
          <p:cNvCxnSpPr/>
          <p:nvPr/>
        </p:nvCxnSpPr>
        <p:spPr bwMode="auto">
          <a:xfrm flipV="1">
            <a:off x="2480198" y="4869192"/>
            <a:ext cx="294305" cy="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直接连接符 94"/>
          <p:cNvCxnSpPr/>
          <p:nvPr/>
        </p:nvCxnSpPr>
        <p:spPr bwMode="auto">
          <a:xfrm flipV="1">
            <a:off x="2494768" y="5061539"/>
            <a:ext cx="35496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6" name="直接连接符 95"/>
          <p:cNvCxnSpPr/>
          <p:nvPr/>
        </p:nvCxnSpPr>
        <p:spPr bwMode="auto">
          <a:xfrm flipV="1">
            <a:off x="2494768" y="5253885"/>
            <a:ext cx="42048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直接连接符 96"/>
          <p:cNvCxnSpPr/>
          <p:nvPr/>
        </p:nvCxnSpPr>
        <p:spPr bwMode="auto">
          <a:xfrm flipV="1">
            <a:off x="2494768" y="5446232"/>
            <a:ext cx="57168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8" name="组合 97"/>
          <p:cNvGrpSpPr/>
          <p:nvPr/>
        </p:nvGrpSpPr>
        <p:grpSpPr>
          <a:xfrm flipH="1">
            <a:off x="3988888" y="3285016"/>
            <a:ext cx="360039" cy="119168"/>
            <a:chOff x="5292080" y="3452075"/>
            <a:chExt cx="360039" cy="119168"/>
          </a:xfrm>
        </p:grpSpPr>
        <p:sp>
          <p:nvSpPr>
            <p:cNvPr id="99" name="等腰三角形 9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00" name="直接连接符 9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02" name="直接连接符 101"/>
          <p:cNvCxnSpPr/>
          <p:nvPr/>
        </p:nvCxnSpPr>
        <p:spPr bwMode="auto">
          <a:xfrm rot="16200000" flipV="1">
            <a:off x="4132936" y="4381160"/>
            <a:ext cx="576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" name="直接连接符 106"/>
          <p:cNvCxnSpPr/>
          <p:nvPr/>
        </p:nvCxnSpPr>
        <p:spPr bwMode="auto">
          <a:xfrm>
            <a:off x="1603041" y="2497569"/>
            <a:ext cx="8070" cy="459972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0" name="直接连接符 109"/>
          <p:cNvCxnSpPr/>
          <p:nvPr/>
        </p:nvCxnSpPr>
        <p:spPr bwMode="auto">
          <a:xfrm>
            <a:off x="2750512" y="4004761"/>
            <a:ext cx="288000" cy="335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2" name="直接连接符 111"/>
          <p:cNvCxnSpPr/>
          <p:nvPr/>
        </p:nvCxnSpPr>
        <p:spPr bwMode="auto">
          <a:xfrm flipH="1" flipV="1">
            <a:off x="2764850" y="4005096"/>
            <a:ext cx="0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9" name="直接连接符 118"/>
          <p:cNvCxnSpPr/>
          <p:nvPr/>
        </p:nvCxnSpPr>
        <p:spPr bwMode="auto">
          <a:xfrm flipH="1">
            <a:off x="6685552" y="2708952"/>
            <a:ext cx="0" cy="14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" name="直接连接符 124"/>
          <p:cNvCxnSpPr/>
          <p:nvPr/>
        </p:nvCxnSpPr>
        <p:spPr bwMode="auto">
          <a:xfrm flipH="1" flipV="1">
            <a:off x="6685552" y="4293127"/>
            <a:ext cx="0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9" name="直接连接符 128"/>
          <p:cNvCxnSpPr/>
          <p:nvPr/>
        </p:nvCxnSpPr>
        <p:spPr bwMode="auto">
          <a:xfrm flipH="1" flipV="1">
            <a:off x="8197720" y="4293248"/>
            <a:ext cx="0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" name="直接连接符 129"/>
          <p:cNvCxnSpPr/>
          <p:nvPr/>
        </p:nvCxnSpPr>
        <p:spPr bwMode="auto">
          <a:xfrm rot="16200000" flipV="1">
            <a:off x="4530116" y="4365168"/>
            <a:ext cx="576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直接连接符 130"/>
          <p:cNvCxnSpPr/>
          <p:nvPr/>
        </p:nvCxnSpPr>
        <p:spPr bwMode="auto">
          <a:xfrm rot="16200000" flipV="1">
            <a:off x="4836706" y="4257144"/>
            <a:ext cx="36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" name="直接连接符 131"/>
          <p:cNvCxnSpPr/>
          <p:nvPr/>
        </p:nvCxnSpPr>
        <p:spPr bwMode="auto">
          <a:xfrm rot="16200000" flipV="1">
            <a:off x="5143295" y="4132760"/>
            <a:ext cx="144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直接连接符 132"/>
          <p:cNvCxnSpPr/>
          <p:nvPr/>
        </p:nvCxnSpPr>
        <p:spPr bwMode="auto">
          <a:xfrm>
            <a:off x="4817288" y="4653168"/>
            <a:ext cx="270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>
            <a:off x="5033240" y="4437144"/>
            <a:ext cx="2124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接连接符 136"/>
          <p:cNvCxnSpPr/>
          <p:nvPr/>
        </p:nvCxnSpPr>
        <p:spPr bwMode="auto">
          <a:xfrm rot="16200000" flipV="1">
            <a:off x="6743240" y="4023144"/>
            <a:ext cx="82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0" name="等腰三角形 139"/>
          <p:cNvSpPr/>
          <p:nvPr/>
        </p:nvSpPr>
        <p:spPr bwMode="auto">
          <a:xfrm rot="5400000">
            <a:off x="7319091" y="3542476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1" name="直接连接符 140"/>
          <p:cNvCxnSpPr/>
          <p:nvPr/>
        </p:nvCxnSpPr>
        <p:spPr bwMode="auto">
          <a:xfrm flipH="1" flipV="1">
            <a:off x="7142512" y="3609040"/>
            <a:ext cx="1512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3" name="等腰三角形 142"/>
          <p:cNvSpPr/>
          <p:nvPr/>
        </p:nvSpPr>
        <p:spPr bwMode="auto">
          <a:xfrm rot="5400000">
            <a:off x="7751171" y="411856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H="1" flipV="1">
            <a:off x="7517304" y="4185128"/>
            <a:ext cx="216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6" name="等腰三角形 145"/>
          <p:cNvSpPr/>
          <p:nvPr/>
        </p:nvSpPr>
        <p:spPr bwMode="auto">
          <a:xfrm rot="5400000">
            <a:off x="6238971" y="4142131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H="1" flipV="1">
            <a:off x="5213024" y="4208695"/>
            <a:ext cx="100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" name="直接连接符 147"/>
          <p:cNvCxnSpPr/>
          <p:nvPr/>
        </p:nvCxnSpPr>
        <p:spPr bwMode="auto">
          <a:xfrm rot="16200000" flipV="1">
            <a:off x="7283280" y="4419168"/>
            <a:ext cx="46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3" name="组合 152"/>
          <p:cNvGrpSpPr/>
          <p:nvPr/>
        </p:nvGrpSpPr>
        <p:grpSpPr>
          <a:xfrm>
            <a:off x="6607513" y="4725176"/>
            <a:ext cx="396344" cy="215444"/>
            <a:chOff x="7272000" y="2565484"/>
            <a:chExt cx="396344" cy="215444"/>
          </a:xfrm>
        </p:grpSpPr>
        <p:cxnSp>
          <p:nvCxnSpPr>
            <p:cNvPr id="154" name="直接连接符 15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5" name="文本框 15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56" name="组合 155"/>
          <p:cNvGrpSpPr/>
          <p:nvPr/>
        </p:nvGrpSpPr>
        <p:grpSpPr>
          <a:xfrm>
            <a:off x="8129048" y="4725176"/>
            <a:ext cx="396344" cy="215444"/>
            <a:chOff x="7272000" y="2565484"/>
            <a:chExt cx="396344" cy="215444"/>
          </a:xfrm>
        </p:grpSpPr>
        <p:cxnSp>
          <p:nvCxnSpPr>
            <p:cNvPr id="157" name="直接连接符 15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8" name="文本框 15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5958825" y="4725176"/>
            <a:ext cx="396344" cy="215444"/>
            <a:chOff x="7272000" y="2565484"/>
            <a:chExt cx="396344" cy="215444"/>
          </a:xfrm>
        </p:grpSpPr>
        <p:cxnSp>
          <p:nvCxnSpPr>
            <p:cNvPr id="160" name="直接连接符 15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1" name="文本框 16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6616880" y="2853548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 rot="5400000" flipH="1" flipV="1">
            <a:off x="2165108" y="5637700"/>
            <a:ext cx="360039" cy="119168"/>
            <a:chOff x="5292080" y="3452075"/>
            <a:chExt cx="360039" cy="119168"/>
          </a:xfrm>
        </p:grpSpPr>
        <p:sp>
          <p:nvSpPr>
            <p:cNvPr id="167" name="等腰三角形 166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68" name="直接连接符 167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9" name="组合 168"/>
          <p:cNvGrpSpPr/>
          <p:nvPr/>
        </p:nvGrpSpPr>
        <p:grpSpPr>
          <a:xfrm rot="16200000" flipH="1">
            <a:off x="4167672" y="3333444"/>
            <a:ext cx="360039" cy="119168"/>
            <a:chOff x="5292080" y="3452075"/>
            <a:chExt cx="360039" cy="119168"/>
          </a:xfrm>
        </p:grpSpPr>
        <p:sp>
          <p:nvSpPr>
            <p:cNvPr id="170" name="等腰三角形 16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71" name="直接连接符 17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5" name="椭圆 134"/>
          <p:cNvSpPr/>
          <p:nvPr/>
        </p:nvSpPr>
        <p:spPr bwMode="auto">
          <a:xfrm>
            <a:off x="6617536" y="2708952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74" name="椭圆 173"/>
          <p:cNvSpPr/>
          <p:nvPr/>
        </p:nvSpPr>
        <p:spPr bwMode="auto">
          <a:xfrm>
            <a:off x="3305168" y="2708952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5" name="直接连接符 174"/>
          <p:cNvCxnSpPr/>
          <p:nvPr/>
        </p:nvCxnSpPr>
        <p:spPr bwMode="auto">
          <a:xfrm flipV="1">
            <a:off x="7761491" y="2780960"/>
            <a:ext cx="0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6" name="椭圆 175"/>
          <p:cNvSpPr/>
          <p:nvPr/>
        </p:nvSpPr>
        <p:spPr bwMode="auto">
          <a:xfrm>
            <a:off x="7697656" y="2708952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7" name="直接连接符 176"/>
          <p:cNvCxnSpPr/>
          <p:nvPr/>
        </p:nvCxnSpPr>
        <p:spPr bwMode="auto">
          <a:xfrm>
            <a:off x="3664544" y="2978976"/>
            <a:ext cx="11520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8" name="椭圆 177"/>
          <p:cNvSpPr/>
          <p:nvPr/>
        </p:nvSpPr>
        <p:spPr bwMode="auto">
          <a:xfrm>
            <a:off x="3628848" y="2924976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9" name="直接连接符 178"/>
          <p:cNvCxnSpPr/>
          <p:nvPr/>
        </p:nvCxnSpPr>
        <p:spPr bwMode="auto">
          <a:xfrm flipV="1">
            <a:off x="1589699" y="2780960"/>
            <a:ext cx="1642749" cy="5003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1" name="椭圆 180"/>
          <p:cNvSpPr/>
          <p:nvPr/>
        </p:nvSpPr>
        <p:spPr bwMode="auto">
          <a:xfrm>
            <a:off x="4313280" y="3285016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82" name="组合 181"/>
          <p:cNvGrpSpPr/>
          <p:nvPr/>
        </p:nvGrpSpPr>
        <p:grpSpPr>
          <a:xfrm>
            <a:off x="7697000" y="2852968"/>
            <a:ext cx="396344" cy="215444"/>
            <a:chOff x="7272000" y="2565484"/>
            <a:chExt cx="396344" cy="215444"/>
          </a:xfrm>
        </p:grpSpPr>
        <p:cxnSp>
          <p:nvCxnSpPr>
            <p:cNvPr id="183" name="直接连接符 18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4" name="文本框 18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85" name="组合 184"/>
          <p:cNvGrpSpPr/>
          <p:nvPr/>
        </p:nvGrpSpPr>
        <p:grpSpPr>
          <a:xfrm>
            <a:off x="8057040" y="2852968"/>
            <a:ext cx="396344" cy="215444"/>
            <a:chOff x="7272000" y="2565484"/>
            <a:chExt cx="396344" cy="215444"/>
          </a:xfrm>
        </p:grpSpPr>
        <p:cxnSp>
          <p:nvCxnSpPr>
            <p:cNvPr id="186" name="直接连接符 18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7" name="文本框 18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88" name="组合 187"/>
          <p:cNvGrpSpPr/>
          <p:nvPr/>
        </p:nvGrpSpPr>
        <p:grpSpPr>
          <a:xfrm>
            <a:off x="3268808" y="2780960"/>
            <a:ext cx="396344" cy="215444"/>
            <a:chOff x="7272000" y="2565484"/>
            <a:chExt cx="396344" cy="215444"/>
          </a:xfrm>
        </p:grpSpPr>
        <p:cxnSp>
          <p:nvCxnSpPr>
            <p:cNvPr id="189" name="直接连接符 18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0" name="文本框 18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91" name="文本框 190"/>
          <p:cNvSpPr txBox="1"/>
          <p:nvPr/>
        </p:nvSpPr>
        <p:spPr>
          <a:xfrm>
            <a:off x="3988888" y="2996985"/>
            <a:ext cx="7716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2" name="矩形 191"/>
          <p:cNvSpPr/>
          <p:nvPr/>
        </p:nvSpPr>
        <p:spPr bwMode="auto">
          <a:xfrm>
            <a:off x="5665732" y="3195136"/>
            <a:ext cx="1374934" cy="1169773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</a:p>
        </p:txBody>
      </p:sp>
      <p:sp>
        <p:nvSpPr>
          <p:cNvPr id="194" name="矩形 193"/>
          <p:cNvSpPr/>
          <p:nvPr/>
        </p:nvSpPr>
        <p:spPr bwMode="auto">
          <a:xfrm>
            <a:off x="7229248" y="3195136"/>
            <a:ext cx="1375200" cy="1170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</a:p>
        </p:txBody>
      </p:sp>
      <p:grpSp>
        <p:nvGrpSpPr>
          <p:cNvPr id="195" name="组合 194"/>
          <p:cNvGrpSpPr/>
          <p:nvPr/>
        </p:nvGrpSpPr>
        <p:grpSpPr>
          <a:xfrm rot="16200000" flipH="1">
            <a:off x="5045428" y="3333444"/>
            <a:ext cx="360039" cy="119168"/>
            <a:chOff x="5292080" y="3452075"/>
            <a:chExt cx="360039" cy="119168"/>
          </a:xfrm>
        </p:grpSpPr>
        <p:sp>
          <p:nvSpPr>
            <p:cNvPr id="196" name="等腰三角形 19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97" name="直接连接符 19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98" name="文本框 197"/>
          <p:cNvSpPr txBox="1"/>
          <p:nvPr/>
        </p:nvSpPr>
        <p:spPr>
          <a:xfrm>
            <a:off x="4873459" y="2996984"/>
            <a:ext cx="7716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9" name="直接连接符 198"/>
          <p:cNvCxnSpPr/>
          <p:nvPr/>
        </p:nvCxnSpPr>
        <p:spPr bwMode="auto">
          <a:xfrm rot="16200000" flipV="1">
            <a:off x="3719526" y="4977304"/>
            <a:ext cx="180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0800000" flipV="1">
            <a:off x="2361600" y="5877303"/>
            <a:ext cx="226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01" name="组合 200"/>
          <p:cNvGrpSpPr/>
          <p:nvPr/>
        </p:nvGrpSpPr>
        <p:grpSpPr>
          <a:xfrm>
            <a:off x="2298847" y="5638899"/>
            <a:ext cx="396344" cy="215444"/>
            <a:chOff x="7272000" y="2565484"/>
            <a:chExt cx="396344" cy="215444"/>
          </a:xfrm>
        </p:grpSpPr>
        <p:cxnSp>
          <p:nvCxnSpPr>
            <p:cNvPr id="202" name="直接连接符 20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3" name="文本框 20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4" name="组合 203"/>
          <p:cNvGrpSpPr/>
          <p:nvPr/>
        </p:nvGrpSpPr>
        <p:grpSpPr>
          <a:xfrm>
            <a:off x="2682733" y="4292153"/>
            <a:ext cx="396344" cy="215444"/>
            <a:chOff x="7272000" y="2565484"/>
            <a:chExt cx="396344" cy="215444"/>
          </a:xfrm>
        </p:grpSpPr>
        <p:cxnSp>
          <p:nvCxnSpPr>
            <p:cNvPr id="205" name="直接连接符 20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6" name="文本框 20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9" name="椭圆 138"/>
          <p:cNvSpPr/>
          <p:nvPr/>
        </p:nvSpPr>
        <p:spPr bwMode="auto">
          <a:xfrm>
            <a:off x="1547664" y="2708920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42" name="组合 141"/>
          <p:cNvGrpSpPr/>
          <p:nvPr/>
        </p:nvGrpSpPr>
        <p:grpSpPr>
          <a:xfrm>
            <a:off x="4355976" y="4293096"/>
            <a:ext cx="396344" cy="215444"/>
            <a:chOff x="7272000" y="2565484"/>
            <a:chExt cx="396344" cy="215444"/>
          </a:xfrm>
        </p:grpSpPr>
        <p:cxnSp>
          <p:nvCxnSpPr>
            <p:cNvPr id="145" name="直接连接符 14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文本框 14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50" name="文本框 149"/>
          <p:cNvSpPr txBox="1"/>
          <p:nvPr/>
        </p:nvSpPr>
        <p:spPr>
          <a:xfrm>
            <a:off x="7159049" y="3738339"/>
            <a:ext cx="692226" cy="246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LD.DDR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51" name="组合 150"/>
          <p:cNvGrpSpPr/>
          <p:nvPr/>
        </p:nvGrpSpPr>
        <p:grpSpPr>
          <a:xfrm>
            <a:off x="1835696" y="4077652"/>
            <a:ext cx="396344" cy="215444"/>
            <a:chOff x="7272000" y="2565484"/>
            <a:chExt cx="396344" cy="215444"/>
          </a:xfrm>
        </p:grpSpPr>
        <p:cxnSp>
          <p:nvCxnSpPr>
            <p:cNvPr id="152" name="直接连接符 15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5" name="文本框 16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6824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LDI (Indirect)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27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34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5216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LDI (Indirect)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2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  <p:sp>
        <p:nvSpPr>
          <p:cNvPr id="390" name="椭圆 389"/>
          <p:cNvSpPr/>
          <p:nvPr/>
        </p:nvSpPr>
        <p:spPr bwMode="auto">
          <a:xfrm>
            <a:off x="4622400" y="1412776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1662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组合 358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8" name="组合 367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70" name="等腰三角形 369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75" name="直接连接符 374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9" name="文本框 368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9" name="组合 37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80" name="组合 379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91" name="等腰三角形 39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97" name="直接连接符 396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90" name="文本框 38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98" name="组合 397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399" name="直接连接符 398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7" name="直接连接符 426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等腰三角形 86"/>
          <p:cNvSpPr/>
          <p:nvPr/>
        </p:nvSpPr>
        <p:spPr bwMode="auto">
          <a:xfrm rot="5400000">
            <a:off x="6677446" y="39131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88" name="直接连接符 87"/>
          <p:cNvCxnSpPr/>
          <p:nvPr/>
        </p:nvCxnSpPr>
        <p:spPr bwMode="auto">
          <a:xfrm rot="5400000">
            <a:off x="6184465" y="3501034"/>
            <a:ext cx="0" cy="9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9" name="矩形 388"/>
          <p:cNvSpPr/>
          <p:nvPr/>
        </p:nvSpPr>
        <p:spPr bwMode="auto">
          <a:xfrm>
            <a:off x="5731200" y="4283503"/>
            <a:ext cx="501327" cy="10694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LDI (Indirect)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60" name="组合 35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61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2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3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8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9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50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51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2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3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4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5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6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7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8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3177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088792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LDI (Indirect)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5" name="组合 374"/>
          <p:cNvGrpSpPr/>
          <p:nvPr/>
        </p:nvGrpSpPr>
        <p:grpSpPr>
          <a:xfrm>
            <a:off x="4101216" y="187435"/>
            <a:ext cx="4863271" cy="569420"/>
            <a:chOff x="3706688" y="187435"/>
            <a:chExt cx="5257800" cy="569420"/>
          </a:xfrm>
        </p:grpSpPr>
        <p:sp>
          <p:nvSpPr>
            <p:cNvPr id="380" name="Line 5"/>
            <p:cNvSpPr>
              <a:spLocks noChangeShapeType="1"/>
            </p:cNvSpPr>
            <p:nvPr/>
          </p:nvSpPr>
          <p:spPr bwMode="auto">
            <a:xfrm rot="16200000">
              <a:off x="46591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" name="Line 6"/>
            <p:cNvSpPr>
              <a:spLocks noChangeShapeType="1"/>
            </p:cNvSpPr>
            <p:nvPr/>
          </p:nvSpPr>
          <p:spPr bwMode="auto">
            <a:xfrm rot="16200000">
              <a:off x="5497388" y="176217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6" name="Line 7"/>
            <p:cNvSpPr>
              <a:spLocks noChangeShapeType="1"/>
            </p:cNvSpPr>
            <p:nvPr/>
          </p:nvSpPr>
          <p:spPr bwMode="auto">
            <a:xfrm rot="16200000">
              <a:off x="63355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9" name="Line 8"/>
            <p:cNvSpPr>
              <a:spLocks noChangeShapeType="1"/>
            </p:cNvSpPr>
            <p:nvPr/>
          </p:nvSpPr>
          <p:spPr bwMode="auto">
            <a:xfrm rot="16200000">
              <a:off x="7173788" y="207339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9"/>
            <p:cNvSpPr>
              <a:spLocks noChangeShapeType="1"/>
            </p:cNvSpPr>
            <p:nvPr/>
          </p:nvSpPr>
          <p:spPr bwMode="auto">
            <a:xfrm rot="16200000">
              <a:off x="8011988" y="197336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Text Box 10"/>
            <p:cNvSpPr txBox="1">
              <a:spLocks noChangeArrowheads="1"/>
            </p:cNvSpPr>
            <p:nvPr/>
          </p:nvSpPr>
          <p:spPr bwMode="auto">
            <a:xfrm>
              <a:off x="5681168" y="187435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4" name="Line 13"/>
            <p:cNvSpPr>
              <a:spLocks noChangeShapeType="1"/>
            </p:cNvSpPr>
            <p:nvPr/>
          </p:nvSpPr>
          <p:spPr bwMode="auto">
            <a:xfrm rot="16200000">
              <a:off x="8812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5" name="Line 14"/>
            <p:cNvSpPr>
              <a:spLocks noChangeShapeType="1"/>
            </p:cNvSpPr>
            <p:nvPr/>
          </p:nvSpPr>
          <p:spPr bwMode="auto">
            <a:xfrm rot="16200000" flipH="1">
              <a:off x="87777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6" name="Line 15"/>
            <p:cNvSpPr>
              <a:spLocks noChangeShapeType="1"/>
            </p:cNvSpPr>
            <p:nvPr/>
          </p:nvSpPr>
          <p:spPr bwMode="auto">
            <a:xfrm rot="16200000" flipV="1">
              <a:off x="6335588" y="-1872045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16"/>
            <p:cNvSpPr>
              <a:spLocks noChangeShapeType="1"/>
            </p:cNvSpPr>
            <p:nvPr/>
          </p:nvSpPr>
          <p:spPr bwMode="auto">
            <a:xfrm rot="16200000">
              <a:off x="35199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7"/>
            <p:cNvSpPr>
              <a:spLocks noChangeShapeType="1"/>
            </p:cNvSpPr>
            <p:nvPr/>
          </p:nvSpPr>
          <p:spPr bwMode="auto">
            <a:xfrm rot="16200000">
              <a:off x="3859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Text Box 4"/>
            <p:cNvSpPr txBox="1">
              <a:spLocks noChangeArrowheads="1"/>
            </p:cNvSpPr>
            <p:nvPr/>
          </p:nvSpPr>
          <p:spPr bwMode="auto">
            <a:xfrm>
              <a:off x="4842967" y="187437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  <p:sp>
          <p:nvSpPr>
            <p:cNvPr id="451" name="Text Box 10"/>
            <p:cNvSpPr txBox="1">
              <a:spLocks noChangeArrowheads="1"/>
            </p:cNvSpPr>
            <p:nvPr/>
          </p:nvSpPr>
          <p:spPr bwMode="auto">
            <a:xfrm>
              <a:off x="3995239" y="189333"/>
              <a:ext cx="48016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</p:grpSp>
      <p:sp>
        <p:nvSpPr>
          <p:cNvPr id="355" name="Text Box 10"/>
          <p:cNvSpPr txBox="1">
            <a:spLocks noChangeArrowheads="1"/>
          </p:cNvSpPr>
          <p:nvPr/>
        </p:nvSpPr>
        <p:spPr bwMode="auto">
          <a:xfrm>
            <a:off x="671701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OP</a:t>
            </a:r>
          </a:p>
        </p:txBody>
      </p:sp>
      <p:sp>
        <p:nvSpPr>
          <p:cNvPr id="390" name="Text Box 10"/>
          <p:cNvSpPr txBox="1">
            <a:spLocks noChangeArrowheads="1"/>
          </p:cNvSpPr>
          <p:nvPr/>
        </p:nvSpPr>
        <p:spPr bwMode="auto">
          <a:xfrm>
            <a:off x="747094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EX</a:t>
            </a:r>
          </a:p>
        </p:txBody>
      </p:sp>
      <p:sp>
        <p:nvSpPr>
          <p:cNvPr id="391" name="Text Box 10"/>
          <p:cNvSpPr txBox="1">
            <a:spLocks noChangeArrowheads="1"/>
          </p:cNvSpPr>
          <p:nvPr/>
        </p:nvSpPr>
        <p:spPr bwMode="auto">
          <a:xfrm>
            <a:off x="8251832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S</a:t>
            </a: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6" name="直接连接符 355"/>
          <p:cNvCxnSpPr/>
          <p:nvPr/>
        </p:nvCxnSpPr>
        <p:spPr bwMode="auto">
          <a:xfrm>
            <a:off x="4836233" y="5342400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7" name="直接连接符 396"/>
          <p:cNvCxnSpPr/>
          <p:nvPr/>
        </p:nvCxnSpPr>
        <p:spPr bwMode="auto">
          <a:xfrm>
            <a:off x="1218173" y="3933056"/>
            <a:ext cx="0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8" name="直接连接符 397"/>
          <p:cNvCxnSpPr/>
          <p:nvPr/>
        </p:nvCxnSpPr>
        <p:spPr bwMode="auto">
          <a:xfrm flipV="1">
            <a:off x="4644008" y="1418400"/>
            <a:ext cx="1726" cy="12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728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LDI (Indirect)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3" y="-1998925"/>
            <a:ext cx="569418" cy="4942139"/>
            <a:chOff x="7543800" y="1143000"/>
            <a:chExt cx="813269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  <p:sp>
        <p:nvSpPr>
          <p:cNvPr id="390" name="Text Box 4"/>
          <p:cNvSpPr txBox="1">
            <a:spLocks noChangeArrowheads="1"/>
          </p:cNvSpPr>
          <p:nvPr/>
        </p:nvSpPr>
        <p:spPr bwMode="auto">
          <a:xfrm>
            <a:off x="4355976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F</a:t>
            </a:r>
          </a:p>
        </p:txBody>
      </p:sp>
      <p:sp>
        <p:nvSpPr>
          <p:cNvPr id="391" name="Text Box 4"/>
          <p:cNvSpPr txBox="1">
            <a:spLocks noChangeArrowheads="1"/>
          </p:cNvSpPr>
          <p:nvPr/>
        </p:nvSpPr>
        <p:spPr bwMode="auto">
          <a:xfrm>
            <a:off x="5920859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EA</a:t>
            </a:r>
          </a:p>
        </p:txBody>
      </p:sp>
    </p:spTree>
    <p:extLst>
      <p:ext uri="{BB962C8B-B14F-4D97-AF65-F5344CB8AC3E}">
        <p14:creationId xmlns:p14="http://schemas.microsoft.com/office/powerpoint/2010/main" val="2014826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LDI (Indirect)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  <p:sp>
        <p:nvSpPr>
          <p:cNvPr id="390" name="Text Box 4"/>
          <p:cNvSpPr txBox="1">
            <a:spLocks noChangeArrowheads="1"/>
          </p:cNvSpPr>
          <p:nvPr/>
        </p:nvSpPr>
        <p:spPr bwMode="auto">
          <a:xfrm>
            <a:off x="4355976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F</a:t>
            </a:r>
          </a:p>
        </p:txBody>
      </p:sp>
      <p:sp>
        <p:nvSpPr>
          <p:cNvPr id="391" name="Text Box 12"/>
          <p:cNvSpPr txBox="1">
            <a:spLocks noChangeArrowheads="1"/>
          </p:cNvSpPr>
          <p:nvPr/>
        </p:nvSpPr>
        <p:spPr bwMode="auto">
          <a:xfrm>
            <a:off x="6712947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OP</a:t>
            </a: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2459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" name="直接连接符 130"/>
          <p:cNvCxnSpPr/>
          <p:nvPr/>
        </p:nvCxnSpPr>
        <p:spPr bwMode="auto">
          <a:xfrm rot="16200000" flipV="1">
            <a:off x="4836706" y="4257144"/>
            <a:ext cx="36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5" name="组合 74"/>
          <p:cNvGrpSpPr/>
          <p:nvPr/>
        </p:nvGrpSpPr>
        <p:grpSpPr>
          <a:xfrm>
            <a:off x="3592544" y="2061460"/>
            <a:ext cx="396344" cy="215444"/>
            <a:chOff x="7272000" y="2565484"/>
            <a:chExt cx="396344" cy="215444"/>
          </a:xfrm>
        </p:grpSpPr>
        <p:cxnSp>
          <p:nvCxnSpPr>
            <p:cNvPr id="76" name="直接连接符 7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7" name="文本框 7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1" name="直接连接符 70"/>
          <p:cNvCxnSpPr/>
          <p:nvPr/>
        </p:nvCxnSpPr>
        <p:spPr bwMode="auto">
          <a:xfrm>
            <a:off x="3666824" y="1988872"/>
            <a:ext cx="0" cy="43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2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D55B4FC-7CA2-45F2-B206-C42DA480AD9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" name="矩形 80"/>
          <p:cNvSpPr/>
          <p:nvPr/>
        </p:nvSpPr>
        <p:spPr bwMode="auto">
          <a:xfrm>
            <a:off x="5724241" y="3501040"/>
            <a:ext cx="640911" cy="215384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KBDR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" name="直接连接符 22"/>
          <p:cNvCxnSpPr/>
          <p:nvPr/>
        </p:nvCxnSpPr>
        <p:spPr bwMode="auto">
          <a:xfrm flipH="1" flipV="1">
            <a:off x="6037535" y="3717064"/>
            <a:ext cx="0" cy="133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9" name="组合 158"/>
          <p:cNvGrpSpPr/>
          <p:nvPr/>
        </p:nvGrpSpPr>
        <p:grpSpPr>
          <a:xfrm>
            <a:off x="5958825" y="4725176"/>
            <a:ext cx="396344" cy="215444"/>
            <a:chOff x="7272000" y="2565484"/>
            <a:chExt cx="396344" cy="215444"/>
          </a:xfrm>
        </p:grpSpPr>
        <p:cxnSp>
          <p:nvCxnSpPr>
            <p:cNvPr id="160" name="直接连接符 15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1" name="文本框 16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02" name="直接连接符 101"/>
          <p:cNvCxnSpPr/>
          <p:nvPr/>
        </p:nvCxnSpPr>
        <p:spPr bwMode="auto">
          <a:xfrm rot="16200000" flipV="1">
            <a:off x="4132936" y="4381160"/>
            <a:ext cx="576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" name="直接连接符 129"/>
          <p:cNvCxnSpPr/>
          <p:nvPr/>
        </p:nvCxnSpPr>
        <p:spPr bwMode="auto">
          <a:xfrm rot="16200000" flipV="1">
            <a:off x="4530116" y="4365168"/>
            <a:ext cx="576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等腰三角形 35"/>
          <p:cNvSpPr/>
          <p:nvPr/>
        </p:nvSpPr>
        <p:spPr bwMode="auto">
          <a:xfrm>
            <a:off x="1516592" y="2348912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58" name="组合 57"/>
          <p:cNvGrpSpPr/>
          <p:nvPr/>
        </p:nvGrpSpPr>
        <p:grpSpPr>
          <a:xfrm flipH="1">
            <a:off x="1660608" y="2348912"/>
            <a:ext cx="360039" cy="119168"/>
            <a:chOff x="5292080" y="3452075"/>
            <a:chExt cx="360039" cy="119168"/>
          </a:xfrm>
        </p:grpSpPr>
        <p:sp>
          <p:nvSpPr>
            <p:cNvPr id="59" name="等腰三角形 5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1" name="文本框 60"/>
          <p:cNvSpPr txBox="1"/>
          <p:nvPr/>
        </p:nvSpPr>
        <p:spPr>
          <a:xfrm>
            <a:off x="1612624" y="2174699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9" name="直接连接符 88"/>
          <p:cNvCxnSpPr/>
          <p:nvPr/>
        </p:nvCxnSpPr>
        <p:spPr bwMode="auto">
          <a:xfrm flipH="1">
            <a:off x="1607076" y="1988872"/>
            <a:ext cx="0" cy="36004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" name="直接连接符 106"/>
          <p:cNvCxnSpPr/>
          <p:nvPr/>
        </p:nvCxnSpPr>
        <p:spPr bwMode="auto">
          <a:xfrm>
            <a:off x="1603041" y="2497569"/>
            <a:ext cx="8070" cy="459972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9" name="椭圆 138"/>
          <p:cNvSpPr/>
          <p:nvPr/>
        </p:nvSpPr>
        <p:spPr bwMode="auto">
          <a:xfrm>
            <a:off x="1547664" y="2708920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2" name="直接连接符 51"/>
          <p:cNvCxnSpPr/>
          <p:nvPr/>
        </p:nvCxnSpPr>
        <p:spPr bwMode="auto">
          <a:xfrm>
            <a:off x="1777115" y="319144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直接连接符 49"/>
          <p:cNvCxnSpPr/>
          <p:nvPr/>
        </p:nvCxnSpPr>
        <p:spPr bwMode="auto">
          <a:xfrm flipV="1">
            <a:off x="1478841" y="3861080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748528" y="4138175"/>
            <a:ext cx="7200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直接连接符 50"/>
          <p:cNvCxnSpPr/>
          <p:nvPr/>
        </p:nvCxnSpPr>
        <p:spPr bwMode="auto">
          <a:xfrm flipH="1">
            <a:off x="748528" y="1916832"/>
            <a:ext cx="0" cy="223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27" name="组合 126"/>
          <p:cNvGrpSpPr/>
          <p:nvPr/>
        </p:nvGrpSpPr>
        <p:grpSpPr>
          <a:xfrm>
            <a:off x="3988888" y="4606008"/>
            <a:ext cx="432016" cy="119168"/>
            <a:chOff x="4355976" y="5254048"/>
            <a:chExt cx="432016" cy="119168"/>
          </a:xfrm>
        </p:grpSpPr>
        <p:sp>
          <p:nvSpPr>
            <p:cNvPr id="28" name="等腰三角形 27"/>
            <p:cNvSpPr/>
            <p:nvPr/>
          </p:nvSpPr>
          <p:spPr bwMode="auto">
            <a:xfrm rot="16200000" flipH="1">
              <a:off x="4362957" y="5247067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 bwMode="auto">
            <a:xfrm flipV="1">
              <a:off x="4499992" y="5313631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42" name="组合 141"/>
          <p:cNvGrpSpPr/>
          <p:nvPr/>
        </p:nvGrpSpPr>
        <p:grpSpPr>
          <a:xfrm>
            <a:off x="4355976" y="4293096"/>
            <a:ext cx="396344" cy="215444"/>
            <a:chOff x="7272000" y="2565484"/>
            <a:chExt cx="396344" cy="215444"/>
          </a:xfrm>
        </p:grpSpPr>
        <p:cxnSp>
          <p:nvCxnSpPr>
            <p:cNvPr id="145" name="直接连接符 14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文本框 14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88" name="组合 187"/>
          <p:cNvGrpSpPr/>
          <p:nvPr/>
        </p:nvGrpSpPr>
        <p:grpSpPr>
          <a:xfrm>
            <a:off x="3268808" y="2780960"/>
            <a:ext cx="396344" cy="215444"/>
            <a:chOff x="7272000" y="2565484"/>
            <a:chExt cx="396344" cy="215444"/>
          </a:xfrm>
        </p:grpSpPr>
        <p:cxnSp>
          <p:nvCxnSpPr>
            <p:cNvPr id="189" name="直接连接符 18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0" name="文本框 18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74" name="椭圆 173"/>
          <p:cNvSpPr/>
          <p:nvPr/>
        </p:nvSpPr>
        <p:spPr bwMode="auto">
          <a:xfrm>
            <a:off x="3305168" y="2708952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16" name="直接连接符 115"/>
          <p:cNvCxnSpPr/>
          <p:nvPr/>
        </p:nvCxnSpPr>
        <p:spPr bwMode="auto">
          <a:xfrm flipV="1">
            <a:off x="3196799" y="2780960"/>
            <a:ext cx="50040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Memory-mapped I/O: 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LDI  R0, KBSR</a:t>
            </a:r>
            <a:endParaRPr lang="zh-CN" altLang="en-US" dirty="0"/>
          </a:p>
        </p:txBody>
      </p:sp>
      <p:sp>
        <p:nvSpPr>
          <p:cNvPr id="2662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511ACE-7E16-4C07-848E-BFD4B3DBA43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2" name="直接连接符 21"/>
          <p:cNvCxnSpPr/>
          <p:nvPr/>
        </p:nvCxnSpPr>
        <p:spPr bwMode="auto">
          <a:xfrm flipH="1">
            <a:off x="8188720" y="2780960"/>
            <a:ext cx="0" cy="133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文本框 29"/>
          <p:cNvSpPr txBox="1"/>
          <p:nvPr/>
        </p:nvSpPr>
        <p:spPr>
          <a:xfrm>
            <a:off x="3963389" y="4701024"/>
            <a:ext cx="1321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READ/WRITE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3025440" y="3260150"/>
            <a:ext cx="950400" cy="1610762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3" name="直接连接符 52"/>
          <p:cNvCxnSpPr/>
          <p:nvPr/>
        </p:nvCxnSpPr>
        <p:spPr bwMode="auto">
          <a:xfrm flipH="1">
            <a:off x="1771200" y="3501040"/>
            <a:ext cx="12600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2" name="组合 61"/>
          <p:cNvGrpSpPr/>
          <p:nvPr/>
        </p:nvGrpSpPr>
        <p:grpSpPr>
          <a:xfrm>
            <a:off x="676520" y="2997532"/>
            <a:ext cx="396344" cy="215444"/>
            <a:chOff x="7272000" y="2565484"/>
            <a:chExt cx="396344" cy="215444"/>
          </a:xfrm>
        </p:grpSpPr>
        <p:cxnSp>
          <p:nvCxnSpPr>
            <p:cNvPr id="63" name="直接连接符 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4" name="文本框 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3" name="矩形 82"/>
          <p:cNvSpPr/>
          <p:nvPr/>
        </p:nvSpPr>
        <p:spPr bwMode="auto">
          <a:xfrm>
            <a:off x="7452544" y="3501040"/>
            <a:ext cx="640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DDR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矩形 83"/>
          <p:cNvSpPr/>
          <p:nvPr/>
        </p:nvSpPr>
        <p:spPr bwMode="auto">
          <a:xfrm>
            <a:off x="7877320" y="4077128"/>
            <a:ext cx="640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DSR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5" name="直接连接符 84"/>
          <p:cNvCxnSpPr/>
          <p:nvPr/>
        </p:nvCxnSpPr>
        <p:spPr bwMode="auto">
          <a:xfrm>
            <a:off x="3666824" y="2629465"/>
            <a:ext cx="0" cy="64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直接连接符 85"/>
          <p:cNvCxnSpPr/>
          <p:nvPr/>
        </p:nvCxnSpPr>
        <p:spPr bwMode="auto">
          <a:xfrm>
            <a:off x="3340816" y="2735960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4" name="直接连接符 93"/>
          <p:cNvCxnSpPr/>
          <p:nvPr/>
        </p:nvCxnSpPr>
        <p:spPr bwMode="auto">
          <a:xfrm flipV="1">
            <a:off x="2480198" y="4869192"/>
            <a:ext cx="294305" cy="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直接连接符 94"/>
          <p:cNvCxnSpPr/>
          <p:nvPr/>
        </p:nvCxnSpPr>
        <p:spPr bwMode="auto">
          <a:xfrm flipV="1">
            <a:off x="2494768" y="5061539"/>
            <a:ext cx="35496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直接连接符 96"/>
          <p:cNvCxnSpPr/>
          <p:nvPr/>
        </p:nvCxnSpPr>
        <p:spPr bwMode="auto">
          <a:xfrm flipV="1">
            <a:off x="2494768" y="5446232"/>
            <a:ext cx="57168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8" name="组合 97"/>
          <p:cNvGrpSpPr/>
          <p:nvPr/>
        </p:nvGrpSpPr>
        <p:grpSpPr>
          <a:xfrm flipH="1">
            <a:off x="3988888" y="3285016"/>
            <a:ext cx="360039" cy="119168"/>
            <a:chOff x="5292080" y="3452075"/>
            <a:chExt cx="360039" cy="119168"/>
          </a:xfrm>
        </p:grpSpPr>
        <p:sp>
          <p:nvSpPr>
            <p:cNvPr id="99" name="等腰三角形 9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00" name="直接连接符 9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10" name="直接连接符 109"/>
          <p:cNvCxnSpPr/>
          <p:nvPr/>
        </p:nvCxnSpPr>
        <p:spPr bwMode="auto">
          <a:xfrm>
            <a:off x="2750512" y="4004761"/>
            <a:ext cx="288000" cy="335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2" name="直接连接符 111"/>
          <p:cNvCxnSpPr/>
          <p:nvPr/>
        </p:nvCxnSpPr>
        <p:spPr bwMode="auto">
          <a:xfrm flipH="1" flipV="1">
            <a:off x="2764850" y="4005096"/>
            <a:ext cx="0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9" name="直接连接符 118"/>
          <p:cNvCxnSpPr/>
          <p:nvPr/>
        </p:nvCxnSpPr>
        <p:spPr bwMode="auto">
          <a:xfrm flipH="1">
            <a:off x="6685552" y="2708952"/>
            <a:ext cx="0" cy="14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9" name="直接连接符 128"/>
          <p:cNvCxnSpPr/>
          <p:nvPr/>
        </p:nvCxnSpPr>
        <p:spPr bwMode="auto">
          <a:xfrm flipH="1" flipV="1">
            <a:off x="8197720" y="4293248"/>
            <a:ext cx="0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直接连接符 132"/>
          <p:cNvCxnSpPr/>
          <p:nvPr/>
        </p:nvCxnSpPr>
        <p:spPr bwMode="auto">
          <a:xfrm>
            <a:off x="4817288" y="4653168"/>
            <a:ext cx="270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>
            <a:off x="5033240" y="4437144"/>
            <a:ext cx="2124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接连接符 136"/>
          <p:cNvCxnSpPr/>
          <p:nvPr/>
        </p:nvCxnSpPr>
        <p:spPr bwMode="auto">
          <a:xfrm rot="16200000" flipV="1">
            <a:off x="6743240" y="4023144"/>
            <a:ext cx="82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0" name="等腰三角形 139"/>
          <p:cNvSpPr/>
          <p:nvPr/>
        </p:nvSpPr>
        <p:spPr bwMode="auto">
          <a:xfrm rot="5400000">
            <a:off x="7319091" y="3542476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1" name="直接连接符 140"/>
          <p:cNvCxnSpPr/>
          <p:nvPr/>
        </p:nvCxnSpPr>
        <p:spPr bwMode="auto">
          <a:xfrm flipH="1" flipV="1">
            <a:off x="7142512" y="3609040"/>
            <a:ext cx="1512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3" name="等腰三角形 142"/>
          <p:cNvSpPr/>
          <p:nvPr/>
        </p:nvSpPr>
        <p:spPr bwMode="auto">
          <a:xfrm rot="5400000">
            <a:off x="7751171" y="411856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H="1" flipV="1">
            <a:off x="7517304" y="4185128"/>
            <a:ext cx="216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" name="直接连接符 147"/>
          <p:cNvCxnSpPr/>
          <p:nvPr/>
        </p:nvCxnSpPr>
        <p:spPr bwMode="auto">
          <a:xfrm rot="16200000" flipV="1">
            <a:off x="7283280" y="4419168"/>
            <a:ext cx="46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6" name="组合 155"/>
          <p:cNvGrpSpPr/>
          <p:nvPr/>
        </p:nvGrpSpPr>
        <p:grpSpPr>
          <a:xfrm>
            <a:off x="8129048" y="4725176"/>
            <a:ext cx="396344" cy="215444"/>
            <a:chOff x="7272000" y="2565484"/>
            <a:chExt cx="396344" cy="215444"/>
          </a:xfrm>
        </p:grpSpPr>
        <p:cxnSp>
          <p:nvCxnSpPr>
            <p:cNvPr id="157" name="直接连接符 15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8" name="文本框 15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6616880" y="2853548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9" name="组合 168"/>
          <p:cNvGrpSpPr/>
          <p:nvPr/>
        </p:nvGrpSpPr>
        <p:grpSpPr>
          <a:xfrm rot="16200000" flipH="1">
            <a:off x="4167672" y="3333444"/>
            <a:ext cx="360039" cy="119168"/>
            <a:chOff x="5292080" y="3452075"/>
            <a:chExt cx="360039" cy="119168"/>
          </a:xfrm>
        </p:grpSpPr>
        <p:sp>
          <p:nvSpPr>
            <p:cNvPr id="170" name="等腰三角形 16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71" name="直接连接符 17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5" name="椭圆 134"/>
          <p:cNvSpPr/>
          <p:nvPr/>
        </p:nvSpPr>
        <p:spPr bwMode="auto">
          <a:xfrm>
            <a:off x="6617536" y="2708952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5" name="直接连接符 174"/>
          <p:cNvCxnSpPr/>
          <p:nvPr/>
        </p:nvCxnSpPr>
        <p:spPr bwMode="auto">
          <a:xfrm flipV="1">
            <a:off x="7761491" y="2780960"/>
            <a:ext cx="0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6" name="椭圆 175"/>
          <p:cNvSpPr/>
          <p:nvPr/>
        </p:nvSpPr>
        <p:spPr bwMode="auto">
          <a:xfrm>
            <a:off x="7697656" y="2708952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9" name="直接连接符 178"/>
          <p:cNvCxnSpPr/>
          <p:nvPr/>
        </p:nvCxnSpPr>
        <p:spPr bwMode="auto">
          <a:xfrm flipV="1">
            <a:off x="1589699" y="2780960"/>
            <a:ext cx="1642749" cy="5003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1" name="椭圆 180"/>
          <p:cNvSpPr/>
          <p:nvPr/>
        </p:nvSpPr>
        <p:spPr bwMode="auto">
          <a:xfrm>
            <a:off x="4313280" y="3285016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82" name="组合 181"/>
          <p:cNvGrpSpPr/>
          <p:nvPr/>
        </p:nvGrpSpPr>
        <p:grpSpPr>
          <a:xfrm>
            <a:off x="7697000" y="2852968"/>
            <a:ext cx="396344" cy="215444"/>
            <a:chOff x="7272000" y="2565484"/>
            <a:chExt cx="396344" cy="215444"/>
          </a:xfrm>
        </p:grpSpPr>
        <p:cxnSp>
          <p:nvCxnSpPr>
            <p:cNvPr id="183" name="直接连接符 18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4" name="文本框 18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85" name="组合 184"/>
          <p:cNvGrpSpPr/>
          <p:nvPr/>
        </p:nvGrpSpPr>
        <p:grpSpPr>
          <a:xfrm>
            <a:off x="8057040" y="2852968"/>
            <a:ext cx="396344" cy="215444"/>
            <a:chOff x="7272000" y="2565484"/>
            <a:chExt cx="396344" cy="215444"/>
          </a:xfrm>
        </p:grpSpPr>
        <p:cxnSp>
          <p:nvCxnSpPr>
            <p:cNvPr id="186" name="直接连接符 18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7" name="文本框 18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91" name="文本框 190"/>
          <p:cNvSpPr txBox="1"/>
          <p:nvPr/>
        </p:nvSpPr>
        <p:spPr>
          <a:xfrm>
            <a:off x="3988888" y="2996985"/>
            <a:ext cx="7716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" name="矩形 193"/>
          <p:cNvSpPr/>
          <p:nvPr/>
        </p:nvSpPr>
        <p:spPr bwMode="auto">
          <a:xfrm>
            <a:off x="7229248" y="3195136"/>
            <a:ext cx="1375200" cy="1170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</a:p>
        </p:txBody>
      </p:sp>
      <p:grpSp>
        <p:nvGrpSpPr>
          <p:cNvPr id="204" name="组合 203"/>
          <p:cNvGrpSpPr/>
          <p:nvPr/>
        </p:nvGrpSpPr>
        <p:grpSpPr>
          <a:xfrm>
            <a:off x="2682733" y="4292153"/>
            <a:ext cx="396344" cy="215444"/>
            <a:chOff x="7272000" y="2565484"/>
            <a:chExt cx="396344" cy="215444"/>
          </a:xfrm>
        </p:grpSpPr>
        <p:cxnSp>
          <p:nvCxnSpPr>
            <p:cNvPr id="205" name="直接连接符 20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6" name="文本框 20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50" name="文本框 149"/>
          <p:cNvSpPr txBox="1"/>
          <p:nvPr/>
        </p:nvSpPr>
        <p:spPr>
          <a:xfrm>
            <a:off x="7159049" y="3738339"/>
            <a:ext cx="692226" cy="246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LD.DDR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2" name="矩形 171"/>
          <p:cNvSpPr/>
          <p:nvPr/>
        </p:nvSpPr>
        <p:spPr bwMode="auto">
          <a:xfrm>
            <a:off x="168480" y="1988872"/>
            <a:ext cx="8896977" cy="3960408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79" name="直接连接符 78"/>
          <p:cNvCxnSpPr/>
          <p:nvPr/>
        </p:nvCxnSpPr>
        <p:spPr bwMode="auto">
          <a:xfrm>
            <a:off x="254705" y="1916832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8" name="椭圆 177"/>
          <p:cNvSpPr/>
          <p:nvPr/>
        </p:nvSpPr>
        <p:spPr bwMode="auto">
          <a:xfrm>
            <a:off x="3628848" y="2924976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592544" y="2781540"/>
            <a:ext cx="396344" cy="215444"/>
            <a:chOff x="7272000" y="2565484"/>
            <a:chExt cx="396344" cy="215444"/>
          </a:xfrm>
        </p:grpSpPr>
        <p:cxnSp>
          <p:nvCxnSpPr>
            <p:cNvPr id="32" name="直接连接符 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" name="文本框 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3344760" y="242094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2" name="组合 71"/>
          <p:cNvGrpSpPr/>
          <p:nvPr/>
        </p:nvGrpSpPr>
        <p:grpSpPr>
          <a:xfrm flipH="1">
            <a:off x="4057847" y="2463541"/>
            <a:ext cx="360039" cy="119168"/>
            <a:chOff x="5292080" y="3452075"/>
            <a:chExt cx="360039" cy="119168"/>
          </a:xfrm>
        </p:grpSpPr>
        <p:sp>
          <p:nvSpPr>
            <p:cNvPr id="73" name="等腰三角形 7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74" name="直接连接符 7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8" name="文本框 77"/>
          <p:cNvSpPr txBox="1"/>
          <p:nvPr/>
        </p:nvSpPr>
        <p:spPr>
          <a:xfrm>
            <a:off x="4129854" y="2348912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77" name="直接连接符 176"/>
          <p:cNvCxnSpPr/>
          <p:nvPr/>
        </p:nvCxnSpPr>
        <p:spPr bwMode="auto">
          <a:xfrm>
            <a:off x="3664544" y="2978976"/>
            <a:ext cx="11520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直接连接符 40"/>
          <p:cNvCxnSpPr/>
          <p:nvPr/>
        </p:nvCxnSpPr>
        <p:spPr bwMode="auto">
          <a:xfrm flipV="1">
            <a:off x="4799156" y="2961040"/>
            <a:ext cx="0" cy="64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矩形 37"/>
          <p:cNvSpPr/>
          <p:nvPr/>
        </p:nvSpPr>
        <p:spPr bwMode="auto">
          <a:xfrm>
            <a:off x="4232257" y="3587497"/>
            <a:ext cx="1124783" cy="489607"/>
          </a:xfrm>
          <a:prstGeom prst="rect">
            <a:avLst/>
          </a:prstGeom>
          <a:solidFill>
            <a:srgbClr val="FF00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ADDR.CTL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9" name="直接连接符 198"/>
          <p:cNvCxnSpPr/>
          <p:nvPr/>
        </p:nvCxnSpPr>
        <p:spPr bwMode="auto">
          <a:xfrm rot="16200000" flipV="1">
            <a:off x="3719526" y="4977304"/>
            <a:ext cx="180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0800000" flipV="1">
            <a:off x="2361600" y="5877303"/>
            <a:ext cx="226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矩形 39"/>
          <p:cNvSpPr/>
          <p:nvPr/>
        </p:nvSpPr>
        <p:spPr bwMode="auto">
          <a:xfrm>
            <a:off x="1276286" y="2957541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 flipH="1" flipV="1">
            <a:off x="1900656" y="3861080"/>
            <a:ext cx="0" cy="12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 rot="16200000">
            <a:off x="2098656" y="4933419"/>
            <a:ext cx="0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梯形 48"/>
          <p:cNvSpPr/>
          <p:nvPr/>
        </p:nvSpPr>
        <p:spPr bwMode="auto">
          <a:xfrm>
            <a:off x="1324592" y="3641669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964552" y="3710619"/>
            <a:ext cx="360039" cy="119168"/>
            <a:chOff x="5292080" y="3452075"/>
            <a:chExt cx="360039" cy="119168"/>
          </a:xfrm>
        </p:grpSpPr>
        <p:sp>
          <p:nvSpPr>
            <p:cNvPr id="55" name="等腰三角形 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7" name="文本框 56"/>
          <p:cNvSpPr txBox="1"/>
          <p:nvPr/>
        </p:nvSpPr>
        <p:spPr>
          <a:xfrm>
            <a:off x="773579" y="350104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7" name="直接连接符 86"/>
          <p:cNvCxnSpPr/>
          <p:nvPr/>
        </p:nvCxnSpPr>
        <p:spPr bwMode="auto">
          <a:xfrm>
            <a:off x="1512199" y="3158129"/>
            <a:ext cx="0" cy="48354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梯形 92"/>
          <p:cNvSpPr/>
          <p:nvPr/>
        </p:nvSpPr>
        <p:spPr bwMode="auto">
          <a:xfrm rot="16200000">
            <a:off x="1987709" y="50168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INMUX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51" name="组合 150"/>
          <p:cNvGrpSpPr/>
          <p:nvPr/>
        </p:nvGrpSpPr>
        <p:grpSpPr>
          <a:xfrm>
            <a:off x="1835696" y="4077652"/>
            <a:ext cx="396344" cy="215444"/>
            <a:chOff x="7272000" y="2565484"/>
            <a:chExt cx="396344" cy="215444"/>
          </a:xfrm>
        </p:grpSpPr>
        <p:cxnSp>
          <p:nvCxnSpPr>
            <p:cNvPr id="152" name="直接连接符 15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5" name="文本框 16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 rot="5400000" flipH="1" flipV="1">
            <a:off x="2165108" y="5637700"/>
            <a:ext cx="360039" cy="119168"/>
            <a:chOff x="5292080" y="3452075"/>
            <a:chExt cx="360039" cy="119168"/>
          </a:xfrm>
        </p:grpSpPr>
        <p:sp>
          <p:nvSpPr>
            <p:cNvPr id="167" name="等腰三角形 166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68" name="直接连接符 167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01" name="组合 200"/>
          <p:cNvGrpSpPr/>
          <p:nvPr/>
        </p:nvGrpSpPr>
        <p:grpSpPr>
          <a:xfrm>
            <a:off x="2298847" y="5638899"/>
            <a:ext cx="396344" cy="215444"/>
            <a:chOff x="7272000" y="2565484"/>
            <a:chExt cx="396344" cy="215444"/>
          </a:xfrm>
        </p:grpSpPr>
        <p:cxnSp>
          <p:nvCxnSpPr>
            <p:cNvPr id="202" name="直接连接符 20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3" name="文本框 20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2020648" y="2852936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5" name="组合 44"/>
          <p:cNvGrpSpPr/>
          <p:nvPr/>
        </p:nvGrpSpPr>
        <p:grpSpPr>
          <a:xfrm flipH="1">
            <a:off x="1948640" y="3005957"/>
            <a:ext cx="360039" cy="119168"/>
            <a:chOff x="5292080" y="3452075"/>
            <a:chExt cx="360039" cy="119168"/>
          </a:xfrm>
        </p:grpSpPr>
        <p:sp>
          <p:nvSpPr>
            <p:cNvPr id="46" name="等腰三角形 4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7" name="直接连接符 4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82" name="矩形 81"/>
          <p:cNvSpPr/>
          <p:nvPr/>
        </p:nvSpPr>
        <p:spPr bwMode="auto">
          <a:xfrm>
            <a:off x="6365152" y="4077128"/>
            <a:ext cx="640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KBSR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25" name="直接连接符 124"/>
          <p:cNvCxnSpPr/>
          <p:nvPr/>
        </p:nvCxnSpPr>
        <p:spPr bwMode="auto">
          <a:xfrm flipH="1" flipV="1">
            <a:off x="6685552" y="4293127"/>
            <a:ext cx="0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6" name="等腰三角形 145"/>
          <p:cNvSpPr/>
          <p:nvPr/>
        </p:nvSpPr>
        <p:spPr bwMode="auto">
          <a:xfrm rot="5400000">
            <a:off x="6238971" y="4142131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H="1" flipV="1">
            <a:off x="5213024" y="4208695"/>
            <a:ext cx="100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3" name="组合 152"/>
          <p:cNvGrpSpPr/>
          <p:nvPr/>
        </p:nvGrpSpPr>
        <p:grpSpPr>
          <a:xfrm>
            <a:off x="6607513" y="4725176"/>
            <a:ext cx="396344" cy="215444"/>
            <a:chOff x="7272000" y="2565484"/>
            <a:chExt cx="396344" cy="215444"/>
          </a:xfrm>
        </p:grpSpPr>
        <p:cxnSp>
          <p:nvCxnSpPr>
            <p:cNvPr id="154" name="直接连接符 15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5" name="文本框 15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92" name="矩形 191"/>
          <p:cNvSpPr/>
          <p:nvPr/>
        </p:nvSpPr>
        <p:spPr bwMode="auto">
          <a:xfrm>
            <a:off x="5665732" y="3195136"/>
            <a:ext cx="1374934" cy="1169773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</a:p>
        </p:txBody>
      </p:sp>
      <p:cxnSp>
        <p:nvCxnSpPr>
          <p:cNvPr id="132" name="直接连接符 131"/>
          <p:cNvCxnSpPr/>
          <p:nvPr/>
        </p:nvCxnSpPr>
        <p:spPr bwMode="auto">
          <a:xfrm rot="16200000" flipV="1">
            <a:off x="5143295" y="4132760"/>
            <a:ext cx="144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6" name="直接连接符 95"/>
          <p:cNvCxnSpPr/>
          <p:nvPr/>
        </p:nvCxnSpPr>
        <p:spPr bwMode="auto">
          <a:xfrm flipV="1">
            <a:off x="2494768" y="5253885"/>
            <a:ext cx="42048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H="1" flipV="1">
            <a:off x="3672000" y="2616022"/>
            <a:ext cx="0" cy="38093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95" name="组合 194"/>
          <p:cNvGrpSpPr/>
          <p:nvPr/>
        </p:nvGrpSpPr>
        <p:grpSpPr>
          <a:xfrm rot="16200000" flipH="1">
            <a:off x="5045428" y="3333444"/>
            <a:ext cx="360039" cy="119168"/>
            <a:chOff x="5292080" y="3452075"/>
            <a:chExt cx="360039" cy="119168"/>
          </a:xfrm>
        </p:grpSpPr>
        <p:sp>
          <p:nvSpPr>
            <p:cNvPr id="196" name="等腰三角形 19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97" name="直接连接符 19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98" name="文本框 197"/>
          <p:cNvSpPr txBox="1"/>
          <p:nvPr/>
        </p:nvSpPr>
        <p:spPr>
          <a:xfrm>
            <a:off x="4873459" y="2996984"/>
            <a:ext cx="7716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58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" name="直接连接符 146"/>
          <p:cNvCxnSpPr/>
          <p:nvPr/>
        </p:nvCxnSpPr>
        <p:spPr bwMode="auto">
          <a:xfrm flipH="1" flipV="1">
            <a:off x="5213024" y="4208695"/>
            <a:ext cx="100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" name="直接连接符 131"/>
          <p:cNvCxnSpPr/>
          <p:nvPr/>
        </p:nvCxnSpPr>
        <p:spPr bwMode="auto">
          <a:xfrm rot="16200000" flipV="1">
            <a:off x="5143295" y="4132760"/>
            <a:ext cx="144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6" name="等腰三角形 145"/>
          <p:cNvSpPr/>
          <p:nvPr/>
        </p:nvSpPr>
        <p:spPr bwMode="auto">
          <a:xfrm rot="5400000">
            <a:off x="6238971" y="4142131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82" name="矩形 81"/>
          <p:cNvSpPr/>
          <p:nvPr/>
        </p:nvSpPr>
        <p:spPr bwMode="auto">
          <a:xfrm>
            <a:off x="6365152" y="4077128"/>
            <a:ext cx="640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KBSR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25" name="直接连接符 124"/>
          <p:cNvCxnSpPr/>
          <p:nvPr/>
        </p:nvCxnSpPr>
        <p:spPr bwMode="auto">
          <a:xfrm flipH="1" flipV="1">
            <a:off x="6685552" y="4293127"/>
            <a:ext cx="0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3" name="组合 152"/>
          <p:cNvGrpSpPr/>
          <p:nvPr/>
        </p:nvGrpSpPr>
        <p:grpSpPr>
          <a:xfrm>
            <a:off x="6607513" y="4725176"/>
            <a:ext cx="396344" cy="215444"/>
            <a:chOff x="7272000" y="2565484"/>
            <a:chExt cx="396344" cy="215444"/>
          </a:xfrm>
        </p:grpSpPr>
        <p:cxnSp>
          <p:nvCxnSpPr>
            <p:cNvPr id="154" name="直接连接符 15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5" name="文本框 15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96" name="直接连接符 95"/>
          <p:cNvCxnSpPr/>
          <p:nvPr/>
        </p:nvCxnSpPr>
        <p:spPr bwMode="auto">
          <a:xfrm flipV="1">
            <a:off x="2494768" y="5253885"/>
            <a:ext cx="42048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直接连接符 130"/>
          <p:cNvCxnSpPr/>
          <p:nvPr/>
        </p:nvCxnSpPr>
        <p:spPr bwMode="auto">
          <a:xfrm rot="16200000" flipV="1">
            <a:off x="4836706" y="4257144"/>
            <a:ext cx="36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5" name="组合 74"/>
          <p:cNvGrpSpPr/>
          <p:nvPr/>
        </p:nvGrpSpPr>
        <p:grpSpPr>
          <a:xfrm>
            <a:off x="3592544" y="2061460"/>
            <a:ext cx="396344" cy="215444"/>
            <a:chOff x="7272000" y="2565484"/>
            <a:chExt cx="396344" cy="215444"/>
          </a:xfrm>
        </p:grpSpPr>
        <p:cxnSp>
          <p:nvCxnSpPr>
            <p:cNvPr id="76" name="直接连接符 7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7" name="文本框 7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1" name="直接连接符 70"/>
          <p:cNvCxnSpPr/>
          <p:nvPr/>
        </p:nvCxnSpPr>
        <p:spPr bwMode="auto">
          <a:xfrm>
            <a:off x="3666824" y="1988872"/>
            <a:ext cx="0" cy="43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2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D55B4FC-7CA2-45F2-B206-C42DA480AD9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02" name="直接连接符 101"/>
          <p:cNvCxnSpPr/>
          <p:nvPr/>
        </p:nvCxnSpPr>
        <p:spPr bwMode="auto">
          <a:xfrm rot="16200000" flipV="1">
            <a:off x="4132936" y="4381160"/>
            <a:ext cx="576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" name="直接连接符 129"/>
          <p:cNvCxnSpPr/>
          <p:nvPr/>
        </p:nvCxnSpPr>
        <p:spPr bwMode="auto">
          <a:xfrm rot="16200000" flipV="1">
            <a:off x="4530116" y="4365168"/>
            <a:ext cx="576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等腰三角形 35"/>
          <p:cNvSpPr/>
          <p:nvPr/>
        </p:nvSpPr>
        <p:spPr bwMode="auto">
          <a:xfrm>
            <a:off x="1516592" y="2348912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58" name="组合 57"/>
          <p:cNvGrpSpPr/>
          <p:nvPr/>
        </p:nvGrpSpPr>
        <p:grpSpPr>
          <a:xfrm flipH="1">
            <a:off x="1660608" y="2348912"/>
            <a:ext cx="360039" cy="119168"/>
            <a:chOff x="5292080" y="3452075"/>
            <a:chExt cx="360039" cy="119168"/>
          </a:xfrm>
        </p:grpSpPr>
        <p:sp>
          <p:nvSpPr>
            <p:cNvPr id="59" name="等腰三角形 5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1" name="文本框 60"/>
          <p:cNvSpPr txBox="1"/>
          <p:nvPr/>
        </p:nvSpPr>
        <p:spPr>
          <a:xfrm>
            <a:off x="1612624" y="2174699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9" name="直接连接符 88"/>
          <p:cNvCxnSpPr/>
          <p:nvPr/>
        </p:nvCxnSpPr>
        <p:spPr bwMode="auto">
          <a:xfrm flipH="1">
            <a:off x="1607076" y="1988872"/>
            <a:ext cx="0" cy="36004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" name="直接连接符 106"/>
          <p:cNvCxnSpPr/>
          <p:nvPr/>
        </p:nvCxnSpPr>
        <p:spPr bwMode="auto">
          <a:xfrm>
            <a:off x="1603041" y="2497569"/>
            <a:ext cx="8070" cy="459972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9" name="椭圆 138"/>
          <p:cNvSpPr/>
          <p:nvPr/>
        </p:nvSpPr>
        <p:spPr bwMode="auto">
          <a:xfrm>
            <a:off x="1547664" y="2708920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2" name="直接连接符 51"/>
          <p:cNvCxnSpPr/>
          <p:nvPr/>
        </p:nvCxnSpPr>
        <p:spPr bwMode="auto">
          <a:xfrm>
            <a:off x="1777115" y="319144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直接连接符 49"/>
          <p:cNvCxnSpPr/>
          <p:nvPr/>
        </p:nvCxnSpPr>
        <p:spPr bwMode="auto">
          <a:xfrm flipV="1">
            <a:off x="1478841" y="3861080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748528" y="4138175"/>
            <a:ext cx="7200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直接连接符 50"/>
          <p:cNvCxnSpPr/>
          <p:nvPr/>
        </p:nvCxnSpPr>
        <p:spPr bwMode="auto">
          <a:xfrm flipH="1">
            <a:off x="748528" y="1916832"/>
            <a:ext cx="0" cy="223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27" name="组合 126"/>
          <p:cNvGrpSpPr/>
          <p:nvPr/>
        </p:nvGrpSpPr>
        <p:grpSpPr>
          <a:xfrm>
            <a:off x="3988888" y="4606008"/>
            <a:ext cx="432016" cy="119168"/>
            <a:chOff x="4355976" y="5254048"/>
            <a:chExt cx="432016" cy="119168"/>
          </a:xfrm>
        </p:grpSpPr>
        <p:sp>
          <p:nvSpPr>
            <p:cNvPr id="28" name="等腰三角形 27"/>
            <p:cNvSpPr/>
            <p:nvPr/>
          </p:nvSpPr>
          <p:spPr bwMode="auto">
            <a:xfrm rot="16200000" flipH="1">
              <a:off x="4362957" y="5247067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 bwMode="auto">
            <a:xfrm flipV="1">
              <a:off x="4499992" y="5313631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42" name="组合 141"/>
          <p:cNvGrpSpPr/>
          <p:nvPr/>
        </p:nvGrpSpPr>
        <p:grpSpPr>
          <a:xfrm>
            <a:off x="4355976" y="4293096"/>
            <a:ext cx="396344" cy="215444"/>
            <a:chOff x="7272000" y="2565484"/>
            <a:chExt cx="396344" cy="215444"/>
          </a:xfrm>
        </p:grpSpPr>
        <p:cxnSp>
          <p:nvCxnSpPr>
            <p:cNvPr id="145" name="直接连接符 14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文本框 14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88" name="组合 187"/>
          <p:cNvGrpSpPr/>
          <p:nvPr/>
        </p:nvGrpSpPr>
        <p:grpSpPr>
          <a:xfrm>
            <a:off x="3268808" y="2780960"/>
            <a:ext cx="396344" cy="215444"/>
            <a:chOff x="7272000" y="2565484"/>
            <a:chExt cx="396344" cy="215444"/>
          </a:xfrm>
        </p:grpSpPr>
        <p:cxnSp>
          <p:nvCxnSpPr>
            <p:cNvPr id="189" name="直接连接符 18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0" name="文本框 18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74" name="椭圆 173"/>
          <p:cNvSpPr/>
          <p:nvPr/>
        </p:nvSpPr>
        <p:spPr bwMode="auto">
          <a:xfrm>
            <a:off x="3305168" y="2708952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16" name="直接连接符 115"/>
          <p:cNvCxnSpPr/>
          <p:nvPr/>
        </p:nvCxnSpPr>
        <p:spPr bwMode="auto">
          <a:xfrm flipV="1">
            <a:off x="3196799" y="2780960"/>
            <a:ext cx="50040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Memory-mapped I/O: 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LDI  R0, KBDR</a:t>
            </a:r>
            <a:endParaRPr lang="zh-CN" altLang="en-US" dirty="0"/>
          </a:p>
        </p:txBody>
      </p:sp>
      <p:sp>
        <p:nvSpPr>
          <p:cNvPr id="2662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511ACE-7E16-4C07-848E-BFD4B3DBA43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2" name="直接连接符 21"/>
          <p:cNvCxnSpPr/>
          <p:nvPr/>
        </p:nvCxnSpPr>
        <p:spPr bwMode="auto">
          <a:xfrm flipH="1">
            <a:off x="8188720" y="2780960"/>
            <a:ext cx="0" cy="133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文本框 29"/>
          <p:cNvSpPr txBox="1"/>
          <p:nvPr/>
        </p:nvSpPr>
        <p:spPr>
          <a:xfrm>
            <a:off x="3963389" y="4701024"/>
            <a:ext cx="1321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READ/WRITE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3025440" y="3260150"/>
            <a:ext cx="950400" cy="1610762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3" name="直接连接符 52"/>
          <p:cNvCxnSpPr/>
          <p:nvPr/>
        </p:nvCxnSpPr>
        <p:spPr bwMode="auto">
          <a:xfrm flipH="1">
            <a:off x="1771200" y="3501040"/>
            <a:ext cx="12600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2" name="组合 61"/>
          <p:cNvGrpSpPr/>
          <p:nvPr/>
        </p:nvGrpSpPr>
        <p:grpSpPr>
          <a:xfrm>
            <a:off x="676520" y="2997532"/>
            <a:ext cx="396344" cy="215444"/>
            <a:chOff x="7272000" y="2565484"/>
            <a:chExt cx="396344" cy="215444"/>
          </a:xfrm>
        </p:grpSpPr>
        <p:cxnSp>
          <p:nvCxnSpPr>
            <p:cNvPr id="63" name="直接连接符 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4" name="文本框 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3" name="矩形 82"/>
          <p:cNvSpPr/>
          <p:nvPr/>
        </p:nvSpPr>
        <p:spPr bwMode="auto">
          <a:xfrm>
            <a:off x="7452544" y="3501040"/>
            <a:ext cx="640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DDR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矩形 83"/>
          <p:cNvSpPr/>
          <p:nvPr/>
        </p:nvSpPr>
        <p:spPr bwMode="auto">
          <a:xfrm>
            <a:off x="7877320" y="4077128"/>
            <a:ext cx="640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DSR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5" name="直接连接符 84"/>
          <p:cNvCxnSpPr/>
          <p:nvPr/>
        </p:nvCxnSpPr>
        <p:spPr bwMode="auto">
          <a:xfrm>
            <a:off x="3666824" y="2629465"/>
            <a:ext cx="0" cy="64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直接连接符 85"/>
          <p:cNvCxnSpPr/>
          <p:nvPr/>
        </p:nvCxnSpPr>
        <p:spPr bwMode="auto">
          <a:xfrm>
            <a:off x="3340816" y="2735960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4" name="直接连接符 93"/>
          <p:cNvCxnSpPr/>
          <p:nvPr/>
        </p:nvCxnSpPr>
        <p:spPr bwMode="auto">
          <a:xfrm>
            <a:off x="2489200" y="4869192"/>
            <a:ext cx="285303" cy="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直接连接符 96"/>
          <p:cNvCxnSpPr/>
          <p:nvPr/>
        </p:nvCxnSpPr>
        <p:spPr bwMode="auto">
          <a:xfrm flipV="1">
            <a:off x="2494768" y="5446232"/>
            <a:ext cx="57168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8" name="组合 97"/>
          <p:cNvGrpSpPr/>
          <p:nvPr/>
        </p:nvGrpSpPr>
        <p:grpSpPr>
          <a:xfrm flipH="1">
            <a:off x="3988888" y="3285016"/>
            <a:ext cx="360039" cy="119168"/>
            <a:chOff x="5292080" y="3452075"/>
            <a:chExt cx="360039" cy="119168"/>
          </a:xfrm>
        </p:grpSpPr>
        <p:sp>
          <p:nvSpPr>
            <p:cNvPr id="99" name="等腰三角形 9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00" name="直接连接符 9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10" name="直接连接符 109"/>
          <p:cNvCxnSpPr/>
          <p:nvPr/>
        </p:nvCxnSpPr>
        <p:spPr bwMode="auto">
          <a:xfrm>
            <a:off x="2750512" y="4004761"/>
            <a:ext cx="288000" cy="335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2" name="直接连接符 111"/>
          <p:cNvCxnSpPr/>
          <p:nvPr/>
        </p:nvCxnSpPr>
        <p:spPr bwMode="auto">
          <a:xfrm flipH="1" flipV="1">
            <a:off x="2764850" y="4005096"/>
            <a:ext cx="0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9" name="直接连接符 118"/>
          <p:cNvCxnSpPr/>
          <p:nvPr/>
        </p:nvCxnSpPr>
        <p:spPr bwMode="auto">
          <a:xfrm flipH="1">
            <a:off x="6685552" y="2708952"/>
            <a:ext cx="0" cy="14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9" name="直接连接符 128"/>
          <p:cNvCxnSpPr/>
          <p:nvPr/>
        </p:nvCxnSpPr>
        <p:spPr bwMode="auto">
          <a:xfrm flipH="1" flipV="1">
            <a:off x="8197720" y="4293248"/>
            <a:ext cx="0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直接连接符 132"/>
          <p:cNvCxnSpPr/>
          <p:nvPr/>
        </p:nvCxnSpPr>
        <p:spPr bwMode="auto">
          <a:xfrm>
            <a:off x="4817288" y="4653168"/>
            <a:ext cx="270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>
            <a:off x="5033240" y="4437144"/>
            <a:ext cx="2124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接连接符 136"/>
          <p:cNvCxnSpPr/>
          <p:nvPr/>
        </p:nvCxnSpPr>
        <p:spPr bwMode="auto">
          <a:xfrm rot="16200000" flipV="1">
            <a:off x="6743240" y="4023144"/>
            <a:ext cx="82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0" name="等腰三角形 139"/>
          <p:cNvSpPr/>
          <p:nvPr/>
        </p:nvSpPr>
        <p:spPr bwMode="auto">
          <a:xfrm rot="5400000">
            <a:off x="7319091" y="3542476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1" name="直接连接符 140"/>
          <p:cNvCxnSpPr/>
          <p:nvPr/>
        </p:nvCxnSpPr>
        <p:spPr bwMode="auto">
          <a:xfrm flipH="1" flipV="1">
            <a:off x="7142512" y="3609040"/>
            <a:ext cx="1512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3" name="等腰三角形 142"/>
          <p:cNvSpPr/>
          <p:nvPr/>
        </p:nvSpPr>
        <p:spPr bwMode="auto">
          <a:xfrm rot="5400000">
            <a:off x="7751171" y="411856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H="1" flipV="1">
            <a:off x="7517304" y="4185128"/>
            <a:ext cx="216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" name="直接连接符 147"/>
          <p:cNvCxnSpPr/>
          <p:nvPr/>
        </p:nvCxnSpPr>
        <p:spPr bwMode="auto">
          <a:xfrm rot="16200000" flipV="1">
            <a:off x="7283280" y="4419168"/>
            <a:ext cx="46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6" name="组合 155"/>
          <p:cNvGrpSpPr/>
          <p:nvPr/>
        </p:nvGrpSpPr>
        <p:grpSpPr>
          <a:xfrm>
            <a:off x="8129048" y="4725176"/>
            <a:ext cx="396344" cy="215444"/>
            <a:chOff x="7272000" y="2565484"/>
            <a:chExt cx="396344" cy="215444"/>
          </a:xfrm>
        </p:grpSpPr>
        <p:cxnSp>
          <p:nvCxnSpPr>
            <p:cNvPr id="157" name="直接连接符 15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8" name="文本框 15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6616880" y="2853548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9" name="组合 168"/>
          <p:cNvGrpSpPr/>
          <p:nvPr/>
        </p:nvGrpSpPr>
        <p:grpSpPr>
          <a:xfrm rot="16200000" flipH="1">
            <a:off x="4167672" y="3333444"/>
            <a:ext cx="360039" cy="119168"/>
            <a:chOff x="5292080" y="3452075"/>
            <a:chExt cx="360039" cy="119168"/>
          </a:xfrm>
        </p:grpSpPr>
        <p:sp>
          <p:nvSpPr>
            <p:cNvPr id="170" name="等腰三角形 16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71" name="直接连接符 17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5" name="椭圆 134"/>
          <p:cNvSpPr/>
          <p:nvPr/>
        </p:nvSpPr>
        <p:spPr bwMode="auto">
          <a:xfrm>
            <a:off x="6617536" y="2708952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5" name="直接连接符 174"/>
          <p:cNvCxnSpPr/>
          <p:nvPr/>
        </p:nvCxnSpPr>
        <p:spPr bwMode="auto">
          <a:xfrm flipV="1">
            <a:off x="7761491" y="2780960"/>
            <a:ext cx="0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6" name="椭圆 175"/>
          <p:cNvSpPr/>
          <p:nvPr/>
        </p:nvSpPr>
        <p:spPr bwMode="auto">
          <a:xfrm>
            <a:off x="7697656" y="2708952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9" name="直接连接符 178"/>
          <p:cNvCxnSpPr/>
          <p:nvPr/>
        </p:nvCxnSpPr>
        <p:spPr bwMode="auto">
          <a:xfrm flipV="1">
            <a:off x="1589699" y="2780960"/>
            <a:ext cx="1642749" cy="5003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1" name="椭圆 180"/>
          <p:cNvSpPr/>
          <p:nvPr/>
        </p:nvSpPr>
        <p:spPr bwMode="auto">
          <a:xfrm>
            <a:off x="4313280" y="3285016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82" name="组合 181"/>
          <p:cNvGrpSpPr/>
          <p:nvPr/>
        </p:nvGrpSpPr>
        <p:grpSpPr>
          <a:xfrm>
            <a:off x="7697000" y="2852968"/>
            <a:ext cx="396344" cy="215444"/>
            <a:chOff x="7272000" y="2565484"/>
            <a:chExt cx="396344" cy="215444"/>
          </a:xfrm>
        </p:grpSpPr>
        <p:cxnSp>
          <p:nvCxnSpPr>
            <p:cNvPr id="183" name="直接连接符 18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4" name="文本框 18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85" name="组合 184"/>
          <p:cNvGrpSpPr/>
          <p:nvPr/>
        </p:nvGrpSpPr>
        <p:grpSpPr>
          <a:xfrm>
            <a:off x="8057040" y="2852968"/>
            <a:ext cx="396344" cy="215444"/>
            <a:chOff x="7272000" y="2565484"/>
            <a:chExt cx="396344" cy="215444"/>
          </a:xfrm>
        </p:grpSpPr>
        <p:cxnSp>
          <p:nvCxnSpPr>
            <p:cNvPr id="186" name="直接连接符 18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7" name="文本框 18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91" name="文本框 190"/>
          <p:cNvSpPr txBox="1"/>
          <p:nvPr/>
        </p:nvSpPr>
        <p:spPr>
          <a:xfrm>
            <a:off x="3988888" y="2996985"/>
            <a:ext cx="7716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" name="矩形 193"/>
          <p:cNvSpPr/>
          <p:nvPr/>
        </p:nvSpPr>
        <p:spPr bwMode="auto">
          <a:xfrm>
            <a:off x="7229248" y="3195136"/>
            <a:ext cx="1375200" cy="1170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</a:p>
        </p:txBody>
      </p:sp>
      <p:grpSp>
        <p:nvGrpSpPr>
          <p:cNvPr id="204" name="组合 203"/>
          <p:cNvGrpSpPr/>
          <p:nvPr/>
        </p:nvGrpSpPr>
        <p:grpSpPr>
          <a:xfrm>
            <a:off x="2682733" y="4292153"/>
            <a:ext cx="396344" cy="215444"/>
            <a:chOff x="7272000" y="2565484"/>
            <a:chExt cx="396344" cy="215444"/>
          </a:xfrm>
        </p:grpSpPr>
        <p:cxnSp>
          <p:nvCxnSpPr>
            <p:cNvPr id="205" name="直接连接符 20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6" name="文本框 20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50" name="文本框 149"/>
          <p:cNvSpPr txBox="1"/>
          <p:nvPr/>
        </p:nvSpPr>
        <p:spPr>
          <a:xfrm>
            <a:off x="7159049" y="3738339"/>
            <a:ext cx="692226" cy="246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LD.DDR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2" name="矩形 171"/>
          <p:cNvSpPr/>
          <p:nvPr/>
        </p:nvSpPr>
        <p:spPr bwMode="auto">
          <a:xfrm>
            <a:off x="168480" y="1988872"/>
            <a:ext cx="8896977" cy="3960408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79" name="直接连接符 78"/>
          <p:cNvCxnSpPr/>
          <p:nvPr/>
        </p:nvCxnSpPr>
        <p:spPr bwMode="auto">
          <a:xfrm>
            <a:off x="254705" y="1916832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8" name="椭圆 177"/>
          <p:cNvSpPr/>
          <p:nvPr/>
        </p:nvSpPr>
        <p:spPr bwMode="auto">
          <a:xfrm>
            <a:off x="3628848" y="2924976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592544" y="2781540"/>
            <a:ext cx="396344" cy="215444"/>
            <a:chOff x="7272000" y="2565484"/>
            <a:chExt cx="396344" cy="215444"/>
          </a:xfrm>
        </p:grpSpPr>
        <p:cxnSp>
          <p:nvCxnSpPr>
            <p:cNvPr id="32" name="直接连接符 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" name="文本框 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3344760" y="242094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2" name="组合 71"/>
          <p:cNvGrpSpPr/>
          <p:nvPr/>
        </p:nvGrpSpPr>
        <p:grpSpPr>
          <a:xfrm flipH="1">
            <a:off x="4057847" y="2463541"/>
            <a:ext cx="360039" cy="119168"/>
            <a:chOff x="5292080" y="3452075"/>
            <a:chExt cx="360039" cy="119168"/>
          </a:xfrm>
        </p:grpSpPr>
        <p:sp>
          <p:nvSpPr>
            <p:cNvPr id="73" name="等腰三角形 7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74" name="直接连接符 7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8" name="文本框 77"/>
          <p:cNvSpPr txBox="1"/>
          <p:nvPr/>
        </p:nvSpPr>
        <p:spPr>
          <a:xfrm>
            <a:off x="4129854" y="2348912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77" name="直接连接符 176"/>
          <p:cNvCxnSpPr/>
          <p:nvPr/>
        </p:nvCxnSpPr>
        <p:spPr bwMode="auto">
          <a:xfrm>
            <a:off x="3664544" y="2978976"/>
            <a:ext cx="11520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直接连接符 40"/>
          <p:cNvCxnSpPr/>
          <p:nvPr/>
        </p:nvCxnSpPr>
        <p:spPr bwMode="auto">
          <a:xfrm flipV="1">
            <a:off x="4799156" y="2961040"/>
            <a:ext cx="0" cy="64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矩形 37"/>
          <p:cNvSpPr/>
          <p:nvPr/>
        </p:nvSpPr>
        <p:spPr bwMode="auto">
          <a:xfrm>
            <a:off x="4232257" y="3587497"/>
            <a:ext cx="1124783" cy="489607"/>
          </a:xfrm>
          <a:prstGeom prst="rect">
            <a:avLst/>
          </a:prstGeom>
          <a:solidFill>
            <a:srgbClr val="FF00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ADDR.CTL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9" name="直接连接符 198"/>
          <p:cNvCxnSpPr/>
          <p:nvPr/>
        </p:nvCxnSpPr>
        <p:spPr bwMode="auto">
          <a:xfrm rot="16200000" flipV="1">
            <a:off x="3719526" y="4977304"/>
            <a:ext cx="180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0800000" flipV="1">
            <a:off x="2361600" y="5877303"/>
            <a:ext cx="226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矩形 39"/>
          <p:cNvSpPr/>
          <p:nvPr/>
        </p:nvSpPr>
        <p:spPr bwMode="auto">
          <a:xfrm>
            <a:off x="1276286" y="2957541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 flipH="1" flipV="1">
            <a:off x="1900656" y="3861080"/>
            <a:ext cx="0" cy="12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1900656" y="5131419"/>
            <a:ext cx="3960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梯形 48"/>
          <p:cNvSpPr/>
          <p:nvPr/>
        </p:nvSpPr>
        <p:spPr bwMode="auto">
          <a:xfrm>
            <a:off x="1324592" y="3641669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964552" y="3710619"/>
            <a:ext cx="360039" cy="119168"/>
            <a:chOff x="5292080" y="3452075"/>
            <a:chExt cx="360039" cy="119168"/>
          </a:xfrm>
        </p:grpSpPr>
        <p:sp>
          <p:nvSpPr>
            <p:cNvPr id="55" name="等腰三角形 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7" name="文本框 56"/>
          <p:cNvSpPr txBox="1"/>
          <p:nvPr/>
        </p:nvSpPr>
        <p:spPr>
          <a:xfrm>
            <a:off x="773579" y="350104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7" name="直接连接符 86"/>
          <p:cNvCxnSpPr/>
          <p:nvPr/>
        </p:nvCxnSpPr>
        <p:spPr bwMode="auto">
          <a:xfrm>
            <a:off x="1512199" y="3158129"/>
            <a:ext cx="0" cy="48354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梯形 92"/>
          <p:cNvSpPr/>
          <p:nvPr/>
        </p:nvSpPr>
        <p:spPr bwMode="auto">
          <a:xfrm rot="16200000">
            <a:off x="1987709" y="50168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INMUX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51" name="组合 150"/>
          <p:cNvGrpSpPr/>
          <p:nvPr/>
        </p:nvGrpSpPr>
        <p:grpSpPr>
          <a:xfrm>
            <a:off x="1835696" y="4077652"/>
            <a:ext cx="396344" cy="215444"/>
            <a:chOff x="7272000" y="2565484"/>
            <a:chExt cx="396344" cy="215444"/>
          </a:xfrm>
        </p:grpSpPr>
        <p:cxnSp>
          <p:nvCxnSpPr>
            <p:cNvPr id="152" name="直接连接符 15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5" name="文本框 16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 rot="5400000" flipH="1" flipV="1">
            <a:off x="2165108" y="5637700"/>
            <a:ext cx="360039" cy="119168"/>
            <a:chOff x="5292080" y="3452075"/>
            <a:chExt cx="360039" cy="119168"/>
          </a:xfrm>
        </p:grpSpPr>
        <p:sp>
          <p:nvSpPr>
            <p:cNvPr id="167" name="等腰三角形 166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68" name="直接连接符 167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01" name="组合 200"/>
          <p:cNvGrpSpPr/>
          <p:nvPr/>
        </p:nvGrpSpPr>
        <p:grpSpPr>
          <a:xfrm>
            <a:off x="2298847" y="5638899"/>
            <a:ext cx="396344" cy="215444"/>
            <a:chOff x="7272000" y="2565484"/>
            <a:chExt cx="396344" cy="215444"/>
          </a:xfrm>
        </p:grpSpPr>
        <p:cxnSp>
          <p:nvCxnSpPr>
            <p:cNvPr id="202" name="直接连接符 20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3" name="文本框 20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2020648" y="2852936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5" name="组合 44"/>
          <p:cNvGrpSpPr/>
          <p:nvPr/>
        </p:nvGrpSpPr>
        <p:grpSpPr>
          <a:xfrm flipH="1">
            <a:off x="1948640" y="3005957"/>
            <a:ext cx="360039" cy="119168"/>
            <a:chOff x="5292080" y="3452075"/>
            <a:chExt cx="360039" cy="119168"/>
          </a:xfrm>
        </p:grpSpPr>
        <p:sp>
          <p:nvSpPr>
            <p:cNvPr id="46" name="等腰三角形 4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7" name="直接连接符 4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92" name="矩形 191"/>
          <p:cNvSpPr/>
          <p:nvPr/>
        </p:nvSpPr>
        <p:spPr bwMode="auto">
          <a:xfrm>
            <a:off x="5665732" y="3195136"/>
            <a:ext cx="1374934" cy="1169773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</a:p>
        </p:txBody>
      </p:sp>
      <p:cxnSp>
        <p:nvCxnSpPr>
          <p:cNvPr id="173" name="直接连接符 172"/>
          <p:cNvCxnSpPr/>
          <p:nvPr/>
        </p:nvCxnSpPr>
        <p:spPr bwMode="auto">
          <a:xfrm flipH="1" flipV="1">
            <a:off x="3672000" y="2616022"/>
            <a:ext cx="0" cy="38093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95" name="组合 194"/>
          <p:cNvGrpSpPr/>
          <p:nvPr/>
        </p:nvGrpSpPr>
        <p:grpSpPr>
          <a:xfrm rot="16200000" flipH="1">
            <a:off x="5045428" y="3333444"/>
            <a:ext cx="360039" cy="119168"/>
            <a:chOff x="5292080" y="3452075"/>
            <a:chExt cx="360039" cy="119168"/>
          </a:xfrm>
        </p:grpSpPr>
        <p:sp>
          <p:nvSpPr>
            <p:cNvPr id="196" name="等腰三角形 19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97" name="直接连接符 19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98" name="文本框 197"/>
          <p:cNvSpPr txBox="1"/>
          <p:nvPr/>
        </p:nvSpPr>
        <p:spPr>
          <a:xfrm>
            <a:off x="4873459" y="2996984"/>
            <a:ext cx="7716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95" name="直接连接符 94"/>
          <p:cNvCxnSpPr/>
          <p:nvPr/>
        </p:nvCxnSpPr>
        <p:spPr bwMode="auto">
          <a:xfrm>
            <a:off x="2494768" y="5061539"/>
            <a:ext cx="35496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" name="矩形 80"/>
          <p:cNvSpPr/>
          <p:nvPr/>
        </p:nvSpPr>
        <p:spPr bwMode="auto">
          <a:xfrm>
            <a:off x="5724241" y="3501040"/>
            <a:ext cx="640911" cy="215384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KBDR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" name="直接连接符 22"/>
          <p:cNvCxnSpPr/>
          <p:nvPr/>
        </p:nvCxnSpPr>
        <p:spPr bwMode="auto">
          <a:xfrm flipH="1" flipV="1">
            <a:off x="6037535" y="3717064"/>
            <a:ext cx="0" cy="133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9" name="组合 158"/>
          <p:cNvGrpSpPr/>
          <p:nvPr/>
        </p:nvGrpSpPr>
        <p:grpSpPr>
          <a:xfrm>
            <a:off x="5958825" y="4725176"/>
            <a:ext cx="396344" cy="215444"/>
            <a:chOff x="7272000" y="2565484"/>
            <a:chExt cx="396344" cy="215444"/>
          </a:xfrm>
        </p:grpSpPr>
        <p:cxnSp>
          <p:nvCxnSpPr>
            <p:cNvPr id="160" name="直接连接符 15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1" name="文本框 16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7191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693498" y="5378888"/>
            <a:ext cx="448053" cy="243552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09058" y="4994483"/>
            <a:ext cx="134717" cy="150500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 flipH="1">
            <a:off x="7533473" y="5144344"/>
            <a:ext cx="225" cy="162787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20469" y="5000295"/>
            <a:ext cx="204578" cy="168051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586947" y="4951513"/>
            <a:ext cx="9389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flipH="1">
            <a:off x="5754997" y="5069233"/>
            <a:ext cx="1563540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 flipV="1">
            <a:off x="729578" y="5288328"/>
            <a:ext cx="8237015" cy="1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3" name="直接连接符 262"/>
          <p:cNvCxnSpPr/>
          <p:nvPr/>
        </p:nvCxnSpPr>
        <p:spPr bwMode="auto">
          <a:xfrm rot="10800000">
            <a:off x="3366482" y="3960000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4" name="直接连接符 263"/>
          <p:cNvCxnSpPr/>
          <p:nvPr/>
        </p:nvCxnSpPr>
        <p:spPr bwMode="auto">
          <a:xfrm rot="16200000">
            <a:off x="4041234" y="3286351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3977270" y="4941168"/>
            <a:ext cx="785704" cy="359746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761765" y="5000876"/>
            <a:ext cx="448053" cy="243552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等腰三角形 54"/>
          <p:cNvSpPr/>
          <p:nvPr/>
        </p:nvSpPr>
        <p:spPr bwMode="auto">
          <a:xfrm>
            <a:off x="2784736" y="5360400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6" name="直接连接符 55"/>
          <p:cNvCxnSpPr/>
          <p:nvPr/>
        </p:nvCxnSpPr>
        <p:spPr bwMode="auto">
          <a:xfrm>
            <a:off x="2875220" y="5508000"/>
            <a:ext cx="0" cy="1944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379486" y="5380464"/>
            <a:ext cx="407011" cy="134715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519972" y="5333967"/>
            <a:ext cx="952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LDI (Indirect)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  <p:sp>
        <p:nvSpPr>
          <p:cNvPr id="436" name="Text Box 4"/>
          <p:cNvSpPr txBox="1">
            <a:spLocks noChangeArrowheads="1"/>
          </p:cNvSpPr>
          <p:nvPr/>
        </p:nvSpPr>
        <p:spPr bwMode="auto">
          <a:xfrm>
            <a:off x="4355976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F</a:t>
            </a:r>
          </a:p>
        </p:txBody>
      </p:sp>
      <p:sp>
        <p:nvSpPr>
          <p:cNvPr id="434" name="Text Box 11"/>
          <p:cNvSpPr txBox="1">
            <a:spLocks noChangeArrowheads="1"/>
          </p:cNvSpPr>
          <p:nvPr/>
        </p:nvSpPr>
        <p:spPr bwMode="auto">
          <a:xfrm>
            <a:off x="7505035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EX</a:t>
            </a:r>
          </a:p>
        </p:txBody>
      </p:sp>
    </p:spTree>
    <p:extLst>
      <p:ext uri="{BB962C8B-B14F-4D97-AF65-F5344CB8AC3E}">
        <p14:creationId xmlns:p14="http://schemas.microsoft.com/office/powerpoint/2010/main" val="3881970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B035EF-7FC8-49C7-85AE-AF1B2A2DFFB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4AEB8D-6EFB-486B-95AB-3F18E12A468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 Processor </a:t>
            </a:r>
            <a:r>
              <a:rPr lang="en-US" altLang="zh-CN" dirty="0">
                <a:solidFill>
                  <a:srgbClr val="FF0000"/>
                </a:solidFill>
              </a:rPr>
              <a:t>Output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to Screen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When Display device is ready to display another character: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the “ready bit” (DSR[15]) is set to one,</a:t>
            </a:r>
            <a:r>
              <a:rPr lang="en-US" altLang="zh-CN" dirty="0"/>
              <a:t> indicating that processor can write a character for display</a:t>
            </a: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When data is written to the Display data register:</a:t>
            </a:r>
          </a:p>
          <a:p>
            <a:pPr lvl="1"/>
            <a:r>
              <a:rPr lang="en-US" altLang="zh-CN" dirty="0"/>
              <a:t>DSR[15] automatically set to 0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character in DDR[7:0] is displayed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any other character data written to DDR is ignored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(while DSR[15] is zero)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643731" y="2492896"/>
            <a:ext cx="7856538" cy="1458615"/>
            <a:chOff x="841375" y="3050505"/>
            <a:chExt cx="7856538" cy="1458615"/>
          </a:xfrm>
        </p:grpSpPr>
        <p:sp>
          <p:nvSpPr>
            <p:cNvPr id="27654" name="Rectangle 4"/>
            <p:cNvSpPr>
              <a:spLocks noChangeArrowheads="1"/>
            </p:cNvSpPr>
            <p:nvPr/>
          </p:nvSpPr>
          <p:spPr bwMode="auto">
            <a:xfrm>
              <a:off x="3276600" y="3583905"/>
              <a:ext cx="1219200" cy="30480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55" name="Rectangle 5"/>
            <p:cNvSpPr>
              <a:spLocks noChangeArrowheads="1"/>
            </p:cNvSpPr>
            <p:nvPr/>
          </p:nvSpPr>
          <p:spPr bwMode="auto">
            <a:xfrm>
              <a:off x="4495800" y="3583905"/>
              <a:ext cx="12192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56" name="Rectangle 6"/>
            <p:cNvSpPr>
              <a:spLocks noChangeArrowheads="1"/>
            </p:cNvSpPr>
            <p:nvPr/>
          </p:nvSpPr>
          <p:spPr bwMode="auto">
            <a:xfrm>
              <a:off x="3276600" y="4117305"/>
              <a:ext cx="1524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57" name="Rectangle 7"/>
            <p:cNvSpPr>
              <a:spLocks noChangeArrowheads="1"/>
            </p:cNvSpPr>
            <p:nvPr/>
          </p:nvSpPr>
          <p:spPr bwMode="auto">
            <a:xfrm>
              <a:off x="3429000" y="4117305"/>
              <a:ext cx="2286000" cy="30480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58" name="Text Box 8"/>
            <p:cNvSpPr txBox="1">
              <a:spLocks noChangeArrowheads="1"/>
            </p:cNvSpPr>
            <p:nvPr/>
          </p:nvSpPr>
          <p:spPr bwMode="auto">
            <a:xfrm>
              <a:off x="5919558" y="4047455"/>
              <a:ext cx="83548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DSR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59" name="Text Box 9"/>
            <p:cNvSpPr txBox="1">
              <a:spLocks noChangeArrowheads="1"/>
            </p:cNvSpPr>
            <p:nvPr/>
          </p:nvSpPr>
          <p:spPr bwMode="auto">
            <a:xfrm>
              <a:off x="5928996" y="3514055"/>
              <a:ext cx="85311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DDR</a:t>
              </a:r>
            </a:p>
          </p:txBody>
        </p:sp>
        <p:sp>
          <p:nvSpPr>
            <p:cNvPr id="27660" name="Text Box 10"/>
            <p:cNvSpPr txBox="1">
              <a:spLocks noChangeArrowheads="1"/>
            </p:cNvSpPr>
            <p:nvPr/>
          </p:nvSpPr>
          <p:spPr bwMode="auto">
            <a:xfrm>
              <a:off x="3200400" y="3356893"/>
              <a:ext cx="32385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15</a:t>
              </a:r>
            </a:p>
          </p:txBody>
        </p:sp>
        <p:sp>
          <p:nvSpPr>
            <p:cNvPr id="27661" name="Text Box 11"/>
            <p:cNvSpPr txBox="1">
              <a:spLocks noChangeArrowheads="1"/>
            </p:cNvSpPr>
            <p:nvPr/>
          </p:nvSpPr>
          <p:spPr bwMode="auto">
            <a:xfrm>
              <a:off x="4292600" y="3356893"/>
              <a:ext cx="2540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8</a:t>
              </a:r>
            </a:p>
          </p:txBody>
        </p:sp>
        <p:sp>
          <p:nvSpPr>
            <p:cNvPr id="27662" name="Text Box 12"/>
            <p:cNvSpPr txBox="1">
              <a:spLocks noChangeArrowheads="1"/>
            </p:cNvSpPr>
            <p:nvPr/>
          </p:nvSpPr>
          <p:spPr bwMode="auto">
            <a:xfrm>
              <a:off x="4445000" y="3356893"/>
              <a:ext cx="2540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7</a:t>
              </a:r>
            </a:p>
          </p:txBody>
        </p:sp>
        <p:sp>
          <p:nvSpPr>
            <p:cNvPr id="27663" name="Text Box 13"/>
            <p:cNvSpPr txBox="1">
              <a:spLocks noChangeArrowheads="1"/>
            </p:cNvSpPr>
            <p:nvPr/>
          </p:nvSpPr>
          <p:spPr bwMode="auto">
            <a:xfrm>
              <a:off x="5521325" y="3356893"/>
              <a:ext cx="2540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27664" name="Text Box 14"/>
            <p:cNvSpPr txBox="1">
              <a:spLocks noChangeArrowheads="1"/>
            </p:cNvSpPr>
            <p:nvPr/>
          </p:nvSpPr>
          <p:spPr bwMode="auto">
            <a:xfrm>
              <a:off x="3200400" y="3890293"/>
              <a:ext cx="32385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15</a:t>
              </a:r>
            </a:p>
          </p:txBody>
        </p:sp>
        <p:sp>
          <p:nvSpPr>
            <p:cNvPr id="27665" name="Text Box 15"/>
            <p:cNvSpPr txBox="1">
              <a:spLocks noChangeArrowheads="1"/>
            </p:cNvSpPr>
            <p:nvPr/>
          </p:nvSpPr>
          <p:spPr bwMode="auto">
            <a:xfrm>
              <a:off x="3352800" y="3890293"/>
              <a:ext cx="32385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14</a:t>
              </a:r>
            </a:p>
          </p:txBody>
        </p:sp>
        <p:sp>
          <p:nvSpPr>
            <p:cNvPr id="27666" name="Text Box 16"/>
            <p:cNvSpPr txBox="1">
              <a:spLocks noChangeArrowheads="1"/>
            </p:cNvSpPr>
            <p:nvPr/>
          </p:nvSpPr>
          <p:spPr bwMode="auto">
            <a:xfrm>
              <a:off x="5521325" y="3890293"/>
              <a:ext cx="2540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27667" name="Text Box 17"/>
            <p:cNvSpPr txBox="1">
              <a:spLocks noChangeArrowheads="1"/>
            </p:cNvSpPr>
            <p:nvPr/>
          </p:nvSpPr>
          <p:spPr bwMode="auto">
            <a:xfrm>
              <a:off x="6856413" y="3050505"/>
              <a:ext cx="18415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output data</a:t>
              </a:r>
            </a:p>
          </p:txBody>
        </p:sp>
        <p:sp>
          <p:nvSpPr>
            <p:cNvPr id="27668" name="Line 18"/>
            <p:cNvSpPr>
              <a:spLocks noChangeShapeType="1"/>
            </p:cNvSpPr>
            <p:nvPr/>
          </p:nvSpPr>
          <p:spPr bwMode="auto">
            <a:xfrm flipH="1">
              <a:off x="5029200" y="3279105"/>
              <a:ext cx="1905000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69" name="Line 19"/>
            <p:cNvSpPr>
              <a:spLocks noChangeShapeType="1"/>
            </p:cNvSpPr>
            <p:nvPr/>
          </p:nvSpPr>
          <p:spPr bwMode="auto">
            <a:xfrm>
              <a:off x="5029200" y="3279105"/>
              <a:ext cx="0" cy="4572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70" name="Text Box 20"/>
            <p:cNvSpPr txBox="1">
              <a:spLocks noChangeArrowheads="1"/>
            </p:cNvSpPr>
            <p:nvPr/>
          </p:nvSpPr>
          <p:spPr bwMode="auto">
            <a:xfrm>
              <a:off x="841375" y="4041105"/>
              <a:ext cx="145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ready bit</a:t>
              </a:r>
            </a:p>
          </p:txBody>
        </p:sp>
        <p:sp>
          <p:nvSpPr>
            <p:cNvPr id="27671" name="Line 21"/>
            <p:cNvSpPr>
              <a:spLocks noChangeShapeType="1"/>
            </p:cNvSpPr>
            <p:nvPr/>
          </p:nvSpPr>
          <p:spPr bwMode="auto">
            <a:xfrm>
              <a:off x="2209800" y="4269705"/>
              <a:ext cx="1143000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17700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130E0B-081D-43D4-B1E7-D53E732CF8E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99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457CC6-87C9-40A5-9C09-7C7B441EECC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Basic Output Routine</a:t>
            </a:r>
          </a:p>
        </p:txBody>
      </p:sp>
      <p:sp>
        <p:nvSpPr>
          <p:cNvPr id="29701" name="AutoShape 3"/>
          <p:cNvSpPr>
            <a:spLocks noChangeArrowheads="1"/>
          </p:cNvSpPr>
          <p:nvPr/>
        </p:nvSpPr>
        <p:spPr bwMode="auto">
          <a:xfrm>
            <a:off x="1943100" y="2133600"/>
            <a:ext cx="2057400" cy="1371600"/>
          </a:xfrm>
          <a:prstGeom prst="diamond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screen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ready?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2" name="Rectangle 4"/>
          <p:cNvSpPr>
            <a:spLocks noChangeArrowheads="1"/>
          </p:cNvSpPr>
          <p:nvPr/>
        </p:nvSpPr>
        <p:spPr bwMode="auto">
          <a:xfrm>
            <a:off x="2019300" y="4114800"/>
            <a:ext cx="1905000" cy="762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write</a:t>
            </a:r>
            <a:b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character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3" name="Line 5"/>
          <p:cNvSpPr>
            <a:spLocks noChangeShapeType="1"/>
          </p:cNvSpPr>
          <p:nvPr/>
        </p:nvSpPr>
        <p:spPr bwMode="auto">
          <a:xfrm>
            <a:off x="2971800" y="35052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4" name="Line 6"/>
          <p:cNvSpPr>
            <a:spLocks noChangeShapeType="1"/>
          </p:cNvSpPr>
          <p:nvPr/>
        </p:nvSpPr>
        <p:spPr bwMode="auto">
          <a:xfrm>
            <a:off x="2971800" y="48768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5" name="Line 7"/>
          <p:cNvSpPr>
            <a:spLocks noChangeShapeType="1"/>
          </p:cNvSpPr>
          <p:nvPr/>
        </p:nvSpPr>
        <p:spPr bwMode="auto">
          <a:xfrm>
            <a:off x="2971800" y="12954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6" name="Line 8"/>
          <p:cNvSpPr>
            <a:spLocks noChangeShapeType="1"/>
          </p:cNvSpPr>
          <p:nvPr/>
        </p:nvSpPr>
        <p:spPr bwMode="auto">
          <a:xfrm flipH="1">
            <a:off x="1524000" y="28194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7" name="Line 9"/>
          <p:cNvSpPr>
            <a:spLocks noChangeShapeType="1"/>
          </p:cNvSpPr>
          <p:nvPr/>
        </p:nvSpPr>
        <p:spPr bwMode="auto">
          <a:xfrm flipV="1">
            <a:off x="1524000" y="16764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8" name="Line 10"/>
          <p:cNvSpPr>
            <a:spLocks noChangeShapeType="1"/>
          </p:cNvSpPr>
          <p:nvPr/>
        </p:nvSpPr>
        <p:spPr bwMode="auto">
          <a:xfrm>
            <a:off x="1524000" y="16764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9" name="Text Box 11"/>
          <p:cNvSpPr txBox="1">
            <a:spLocks noChangeArrowheads="1"/>
          </p:cNvSpPr>
          <p:nvPr/>
        </p:nvSpPr>
        <p:spPr bwMode="auto">
          <a:xfrm>
            <a:off x="2932113" y="3509963"/>
            <a:ext cx="693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YES</a:t>
            </a:r>
          </a:p>
        </p:txBody>
      </p:sp>
      <p:sp>
        <p:nvSpPr>
          <p:cNvPr id="29710" name="Text Box 12"/>
          <p:cNvSpPr txBox="1">
            <a:spLocks noChangeArrowheads="1"/>
          </p:cNvSpPr>
          <p:nvPr/>
        </p:nvSpPr>
        <p:spPr bwMode="auto">
          <a:xfrm>
            <a:off x="1409700" y="2819400"/>
            <a:ext cx="571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</a:t>
            </a:r>
          </a:p>
        </p:txBody>
      </p:sp>
      <p:sp>
        <p:nvSpPr>
          <p:cNvPr id="29711" name="Text Box 13"/>
          <p:cNvSpPr txBox="1">
            <a:spLocks noChangeArrowheads="1"/>
          </p:cNvSpPr>
          <p:nvPr/>
        </p:nvSpPr>
        <p:spPr bwMode="auto">
          <a:xfrm>
            <a:off x="457200" y="3429000"/>
            <a:ext cx="1196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Polling</a:t>
            </a:r>
          </a:p>
        </p:txBody>
      </p:sp>
      <p:sp>
        <p:nvSpPr>
          <p:cNvPr id="29712" name="Line 14"/>
          <p:cNvSpPr>
            <a:spLocks noChangeShapeType="1"/>
          </p:cNvSpPr>
          <p:nvPr/>
        </p:nvSpPr>
        <p:spPr bwMode="auto">
          <a:xfrm flipV="1">
            <a:off x="1600200" y="3200400"/>
            <a:ext cx="609600" cy="381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13" name="Text Box 15"/>
          <p:cNvSpPr txBox="1">
            <a:spLocks noChangeArrowheads="1"/>
          </p:cNvSpPr>
          <p:nvPr/>
        </p:nvSpPr>
        <p:spPr bwMode="auto">
          <a:xfrm>
            <a:off x="4800600" y="1905000"/>
            <a:ext cx="4038600" cy="2657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12573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12573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tabLst>
                <a:tab pos="125730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12573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POLL	LDI  R1, DSR</a:t>
            </a:r>
            <a:b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BRzp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POLL</a:t>
            </a:r>
            <a:b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STI  R0, DDR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DSR	.FILL xFE04</a:t>
            </a:r>
            <a:b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DDR	.FILL xFE06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17536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STI (Indirect)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27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34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81597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STI (Indirect)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2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  <p:sp>
        <p:nvSpPr>
          <p:cNvPr id="390" name="椭圆 389"/>
          <p:cNvSpPr/>
          <p:nvPr/>
        </p:nvSpPr>
        <p:spPr bwMode="auto">
          <a:xfrm>
            <a:off x="4622400" y="1412776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90676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组合 358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8" name="组合 367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70" name="等腰三角形 369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75" name="直接连接符 374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9" name="文本框 368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9" name="组合 37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80" name="组合 379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91" name="等腰三角形 39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97" name="直接连接符 396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90" name="文本框 38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98" name="组合 397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399" name="直接连接符 398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7" name="直接连接符 426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等腰三角形 86"/>
          <p:cNvSpPr/>
          <p:nvPr/>
        </p:nvSpPr>
        <p:spPr bwMode="auto">
          <a:xfrm rot="5400000">
            <a:off x="6677446" y="39131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88" name="直接连接符 87"/>
          <p:cNvCxnSpPr/>
          <p:nvPr/>
        </p:nvCxnSpPr>
        <p:spPr bwMode="auto">
          <a:xfrm rot="5400000">
            <a:off x="6184465" y="3501034"/>
            <a:ext cx="0" cy="9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9" name="矩形 388"/>
          <p:cNvSpPr/>
          <p:nvPr/>
        </p:nvSpPr>
        <p:spPr bwMode="auto">
          <a:xfrm>
            <a:off x="5731200" y="4283503"/>
            <a:ext cx="501327" cy="10694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STI (Indirect)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60" name="组合 35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61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2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3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8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9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50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51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2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3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4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5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6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7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8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56696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088792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STI (Indirect)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5" name="组合 374"/>
          <p:cNvGrpSpPr/>
          <p:nvPr/>
        </p:nvGrpSpPr>
        <p:grpSpPr>
          <a:xfrm>
            <a:off x="4101216" y="187435"/>
            <a:ext cx="4863271" cy="569420"/>
            <a:chOff x="3706688" y="187435"/>
            <a:chExt cx="5257800" cy="569420"/>
          </a:xfrm>
        </p:grpSpPr>
        <p:sp>
          <p:nvSpPr>
            <p:cNvPr id="380" name="Line 5"/>
            <p:cNvSpPr>
              <a:spLocks noChangeShapeType="1"/>
            </p:cNvSpPr>
            <p:nvPr/>
          </p:nvSpPr>
          <p:spPr bwMode="auto">
            <a:xfrm rot="16200000">
              <a:off x="46591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" name="Line 6"/>
            <p:cNvSpPr>
              <a:spLocks noChangeShapeType="1"/>
            </p:cNvSpPr>
            <p:nvPr/>
          </p:nvSpPr>
          <p:spPr bwMode="auto">
            <a:xfrm rot="16200000">
              <a:off x="5497388" y="176217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6" name="Line 7"/>
            <p:cNvSpPr>
              <a:spLocks noChangeShapeType="1"/>
            </p:cNvSpPr>
            <p:nvPr/>
          </p:nvSpPr>
          <p:spPr bwMode="auto">
            <a:xfrm rot="16200000">
              <a:off x="63355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9" name="Line 8"/>
            <p:cNvSpPr>
              <a:spLocks noChangeShapeType="1"/>
            </p:cNvSpPr>
            <p:nvPr/>
          </p:nvSpPr>
          <p:spPr bwMode="auto">
            <a:xfrm rot="16200000">
              <a:off x="7173788" y="207339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9"/>
            <p:cNvSpPr>
              <a:spLocks noChangeShapeType="1"/>
            </p:cNvSpPr>
            <p:nvPr/>
          </p:nvSpPr>
          <p:spPr bwMode="auto">
            <a:xfrm rot="16200000">
              <a:off x="8011988" y="197336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Text Box 10"/>
            <p:cNvSpPr txBox="1">
              <a:spLocks noChangeArrowheads="1"/>
            </p:cNvSpPr>
            <p:nvPr/>
          </p:nvSpPr>
          <p:spPr bwMode="auto">
            <a:xfrm>
              <a:off x="5681168" y="187435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4" name="Line 13"/>
            <p:cNvSpPr>
              <a:spLocks noChangeShapeType="1"/>
            </p:cNvSpPr>
            <p:nvPr/>
          </p:nvSpPr>
          <p:spPr bwMode="auto">
            <a:xfrm rot="16200000">
              <a:off x="8812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5" name="Line 14"/>
            <p:cNvSpPr>
              <a:spLocks noChangeShapeType="1"/>
            </p:cNvSpPr>
            <p:nvPr/>
          </p:nvSpPr>
          <p:spPr bwMode="auto">
            <a:xfrm rot="16200000" flipH="1">
              <a:off x="87777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6" name="Line 15"/>
            <p:cNvSpPr>
              <a:spLocks noChangeShapeType="1"/>
            </p:cNvSpPr>
            <p:nvPr/>
          </p:nvSpPr>
          <p:spPr bwMode="auto">
            <a:xfrm rot="16200000" flipV="1">
              <a:off x="6335588" y="-1872045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16"/>
            <p:cNvSpPr>
              <a:spLocks noChangeShapeType="1"/>
            </p:cNvSpPr>
            <p:nvPr/>
          </p:nvSpPr>
          <p:spPr bwMode="auto">
            <a:xfrm rot="16200000">
              <a:off x="35199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7"/>
            <p:cNvSpPr>
              <a:spLocks noChangeShapeType="1"/>
            </p:cNvSpPr>
            <p:nvPr/>
          </p:nvSpPr>
          <p:spPr bwMode="auto">
            <a:xfrm rot="16200000">
              <a:off x="3859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Text Box 4"/>
            <p:cNvSpPr txBox="1">
              <a:spLocks noChangeArrowheads="1"/>
            </p:cNvSpPr>
            <p:nvPr/>
          </p:nvSpPr>
          <p:spPr bwMode="auto">
            <a:xfrm>
              <a:off x="4842967" y="187437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  <p:sp>
          <p:nvSpPr>
            <p:cNvPr id="451" name="Text Box 10"/>
            <p:cNvSpPr txBox="1">
              <a:spLocks noChangeArrowheads="1"/>
            </p:cNvSpPr>
            <p:nvPr/>
          </p:nvSpPr>
          <p:spPr bwMode="auto">
            <a:xfrm>
              <a:off x="3995239" y="189333"/>
              <a:ext cx="48016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</p:grpSp>
      <p:sp>
        <p:nvSpPr>
          <p:cNvPr id="355" name="Text Box 10"/>
          <p:cNvSpPr txBox="1">
            <a:spLocks noChangeArrowheads="1"/>
          </p:cNvSpPr>
          <p:nvPr/>
        </p:nvSpPr>
        <p:spPr bwMode="auto">
          <a:xfrm>
            <a:off x="671701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OP</a:t>
            </a:r>
          </a:p>
        </p:txBody>
      </p:sp>
      <p:sp>
        <p:nvSpPr>
          <p:cNvPr id="390" name="Text Box 10"/>
          <p:cNvSpPr txBox="1">
            <a:spLocks noChangeArrowheads="1"/>
          </p:cNvSpPr>
          <p:nvPr/>
        </p:nvSpPr>
        <p:spPr bwMode="auto">
          <a:xfrm>
            <a:off x="747094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EX</a:t>
            </a:r>
          </a:p>
        </p:txBody>
      </p:sp>
      <p:sp>
        <p:nvSpPr>
          <p:cNvPr id="391" name="Text Box 10"/>
          <p:cNvSpPr txBox="1">
            <a:spLocks noChangeArrowheads="1"/>
          </p:cNvSpPr>
          <p:nvPr/>
        </p:nvSpPr>
        <p:spPr bwMode="auto">
          <a:xfrm>
            <a:off x="8251832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S</a:t>
            </a: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6" name="直接连接符 355"/>
          <p:cNvCxnSpPr/>
          <p:nvPr/>
        </p:nvCxnSpPr>
        <p:spPr bwMode="auto">
          <a:xfrm>
            <a:off x="4836233" y="5342400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7" name="直接连接符 396"/>
          <p:cNvCxnSpPr/>
          <p:nvPr/>
        </p:nvCxnSpPr>
        <p:spPr bwMode="auto">
          <a:xfrm>
            <a:off x="1218173" y="3933056"/>
            <a:ext cx="0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8" name="直接连接符 397"/>
          <p:cNvCxnSpPr/>
          <p:nvPr/>
        </p:nvCxnSpPr>
        <p:spPr bwMode="auto">
          <a:xfrm flipV="1">
            <a:off x="4644008" y="1418400"/>
            <a:ext cx="1726" cy="12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8958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椭圆 389"/>
          <p:cNvSpPr/>
          <p:nvPr/>
        </p:nvSpPr>
        <p:spPr bwMode="auto">
          <a:xfrm>
            <a:off x="4622400" y="1412776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STI (Indirect)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  <p:sp>
        <p:nvSpPr>
          <p:cNvPr id="391" name="Text Box 11"/>
          <p:cNvSpPr txBox="1">
            <a:spLocks noChangeArrowheads="1"/>
          </p:cNvSpPr>
          <p:nvPr/>
        </p:nvSpPr>
        <p:spPr bwMode="auto">
          <a:xfrm>
            <a:off x="4340264" y="206134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9679283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STI (Indirect)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  <p:sp>
        <p:nvSpPr>
          <p:cNvPr id="390" name="Text Box 4"/>
          <p:cNvSpPr txBox="1">
            <a:spLocks noChangeArrowheads="1"/>
          </p:cNvSpPr>
          <p:nvPr/>
        </p:nvSpPr>
        <p:spPr bwMode="auto">
          <a:xfrm>
            <a:off x="4355976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F</a:t>
            </a:r>
          </a:p>
        </p:txBody>
      </p:sp>
      <p:sp>
        <p:nvSpPr>
          <p:cNvPr id="391" name="Text Box 12"/>
          <p:cNvSpPr txBox="1">
            <a:spLocks noChangeArrowheads="1"/>
          </p:cNvSpPr>
          <p:nvPr/>
        </p:nvSpPr>
        <p:spPr bwMode="auto">
          <a:xfrm>
            <a:off x="6712947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OP</a:t>
            </a: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5642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等腰三角形 54"/>
          <p:cNvSpPr/>
          <p:nvPr/>
        </p:nvSpPr>
        <p:spPr bwMode="auto">
          <a:xfrm>
            <a:off x="2784736" y="5360400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6" name="直接连接符 55"/>
          <p:cNvCxnSpPr/>
          <p:nvPr/>
        </p:nvCxnSpPr>
        <p:spPr bwMode="auto">
          <a:xfrm>
            <a:off x="2875220" y="5508000"/>
            <a:ext cx="0" cy="1944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4" name="组合 403"/>
          <p:cNvGrpSpPr/>
          <p:nvPr/>
        </p:nvGrpSpPr>
        <p:grpSpPr>
          <a:xfrm>
            <a:off x="2379486" y="5380464"/>
            <a:ext cx="407011" cy="134715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519972" y="5333967"/>
            <a:ext cx="952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761765" y="5000876"/>
            <a:ext cx="448053" cy="243552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693498" y="5378888"/>
            <a:ext cx="448053" cy="243552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09058" y="4994483"/>
            <a:ext cx="134717" cy="150500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 flipH="1">
            <a:off x="7533473" y="5144344"/>
            <a:ext cx="225" cy="162787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20469" y="5000295"/>
            <a:ext cx="204578" cy="168051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586947" y="4951513"/>
            <a:ext cx="9389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flipH="1">
            <a:off x="5754997" y="5069233"/>
            <a:ext cx="1563540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 flipV="1">
            <a:off x="729578" y="5288328"/>
            <a:ext cx="8237015" cy="1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3" name="直接连接符 262"/>
          <p:cNvCxnSpPr/>
          <p:nvPr/>
        </p:nvCxnSpPr>
        <p:spPr bwMode="auto">
          <a:xfrm rot="10800000">
            <a:off x="3366482" y="3960000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4" name="直接连接符 263"/>
          <p:cNvCxnSpPr/>
          <p:nvPr/>
        </p:nvCxnSpPr>
        <p:spPr bwMode="auto">
          <a:xfrm rot="16200000">
            <a:off x="4041234" y="3286351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3977270" y="4941168"/>
            <a:ext cx="785704" cy="359746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STI (Indirect)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122344" y="188640"/>
            <a:ext cx="4942139" cy="578814"/>
            <a:chOff x="4122344" y="188640"/>
            <a:chExt cx="4942139" cy="578814"/>
          </a:xfrm>
        </p:grpSpPr>
        <p:sp>
          <p:nvSpPr>
            <p:cNvPr id="436" name="Text Box 4"/>
            <p:cNvSpPr txBox="1">
              <a:spLocks noChangeArrowheads="1"/>
            </p:cNvSpPr>
            <p:nvPr/>
          </p:nvSpPr>
          <p:spPr bwMode="auto">
            <a:xfrm>
              <a:off x="4355976" y="188640"/>
              <a:ext cx="451341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grpSp>
          <p:nvGrpSpPr>
            <p:cNvPr id="380" name="组合 379"/>
            <p:cNvGrpSpPr/>
            <p:nvPr/>
          </p:nvGrpSpPr>
          <p:grpSpPr>
            <a:xfrm rot="16200000">
              <a:off x="6308703" y="-1988326"/>
              <a:ext cx="569421" cy="4942139"/>
              <a:chOff x="7543800" y="1143000"/>
              <a:chExt cx="813273" cy="5257800"/>
            </a:xfrm>
          </p:grpSpPr>
          <p:sp>
            <p:nvSpPr>
              <p:cNvPr id="389" name="Line 5"/>
              <p:cNvSpPr>
                <a:spLocks noChangeShapeType="1"/>
              </p:cNvSpPr>
              <p:nvPr/>
            </p:nvSpPr>
            <p:spPr bwMode="auto">
              <a:xfrm>
                <a:off x="8077200" y="19050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" name="Line 6"/>
              <p:cNvSpPr>
                <a:spLocks noChangeShapeType="1"/>
              </p:cNvSpPr>
              <p:nvPr/>
            </p:nvSpPr>
            <p:spPr bwMode="auto">
              <a:xfrm>
                <a:off x="8101013" y="27432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1" name="Line 7"/>
              <p:cNvSpPr>
                <a:spLocks noChangeShapeType="1"/>
              </p:cNvSpPr>
              <p:nvPr/>
            </p:nvSpPr>
            <p:spPr bwMode="auto">
              <a:xfrm>
                <a:off x="8077200" y="35814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7" name="Line 8"/>
              <p:cNvSpPr>
                <a:spLocks noChangeShapeType="1"/>
              </p:cNvSpPr>
              <p:nvPr/>
            </p:nvSpPr>
            <p:spPr bwMode="auto">
              <a:xfrm>
                <a:off x="8056563" y="44196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8" name="Line 9"/>
              <p:cNvSpPr>
                <a:spLocks noChangeShapeType="1"/>
              </p:cNvSpPr>
              <p:nvPr/>
            </p:nvSpPr>
            <p:spPr bwMode="auto">
              <a:xfrm>
                <a:off x="8070850" y="52578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" name="Text Box 10"/>
              <p:cNvSpPr txBox="1">
                <a:spLocks noChangeArrowheads="1"/>
              </p:cNvSpPr>
              <p:nvPr/>
            </p:nvSpPr>
            <p:spPr bwMode="auto">
              <a:xfrm rot="5400000">
                <a:off x="7897198" y="3137773"/>
                <a:ext cx="480169" cy="43958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charset="0"/>
                    <a:ea typeface="黑体"/>
                    <a:cs typeface="+mn-cs"/>
                  </a:rPr>
                  <a:t>EA</a:t>
                </a:r>
              </a:p>
            </p:txBody>
          </p:sp>
          <p:sp>
            <p:nvSpPr>
              <p:cNvPr id="408" name="Text Box 11"/>
              <p:cNvSpPr txBox="1">
                <a:spLocks noChangeArrowheads="1"/>
              </p:cNvSpPr>
              <p:nvPr/>
            </p:nvSpPr>
            <p:spPr bwMode="auto">
              <a:xfrm rot="5400000">
                <a:off x="7897194" y="3975973"/>
                <a:ext cx="480169" cy="439581"/>
              </a:xfrm>
              <a:prstGeom prst="rect">
                <a:avLst/>
              </a:prstGeom>
              <a:solidFill>
                <a:srgbClr val="003399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黑体"/>
                    <a:cs typeface="+mn-cs"/>
                  </a:rPr>
                  <a:t>OP</a:t>
                </a:r>
              </a:p>
            </p:txBody>
          </p:sp>
          <p:sp>
            <p:nvSpPr>
              <p:cNvPr id="428" name="Line 13"/>
              <p:cNvSpPr>
                <a:spLocks noChangeShapeType="1"/>
              </p:cNvSpPr>
              <p:nvPr/>
            </p:nvSpPr>
            <p:spPr bwMode="auto">
              <a:xfrm>
                <a:off x="8077200" y="609600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29" name="Line 14"/>
              <p:cNvSpPr>
                <a:spLocks noChangeShapeType="1"/>
              </p:cNvSpPr>
              <p:nvPr/>
            </p:nvSpPr>
            <p:spPr bwMode="auto">
              <a:xfrm flipH="1">
                <a:off x="7543800" y="6400800"/>
                <a:ext cx="53340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0" name="Line 15"/>
              <p:cNvSpPr>
                <a:spLocks noChangeShapeType="1"/>
              </p:cNvSpPr>
              <p:nvPr/>
            </p:nvSpPr>
            <p:spPr bwMode="auto">
              <a:xfrm flipV="1">
                <a:off x="7543800" y="1143000"/>
                <a:ext cx="0" cy="5257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1" name="Line 16"/>
              <p:cNvSpPr>
                <a:spLocks noChangeShapeType="1"/>
              </p:cNvSpPr>
              <p:nvPr/>
            </p:nvSpPr>
            <p:spPr bwMode="auto">
              <a:xfrm>
                <a:off x="7543800" y="1143000"/>
                <a:ext cx="53340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2" name="Line 17"/>
              <p:cNvSpPr>
                <a:spLocks noChangeShapeType="1"/>
              </p:cNvSpPr>
              <p:nvPr/>
            </p:nvSpPr>
            <p:spPr bwMode="auto">
              <a:xfrm>
                <a:off x="8077200" y="114300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5" name="Text Box 4"/>
              <p:cNvSpPr txBox="1">
                <a:spLocks noChangeArrowheads="1"/>
              </p:cNvSpPr>
              <p:nvPr/>
            </p:nvSpPr>
            <p:spPr bwMode="auto">
              <a:xfrm rot="5400000">
                <a:off x="7897194" y="2299573"/>
                <a:ext cx="480169" cy="43958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charset="0"/>
                    <a:ea typeface="黑体"/>
                    <a:cs typeface="+mn-cs"/>
                  </a:rPr>
                  <a:t>D</a:t>
                </a:r>
              </a:p>
            </p:txBody>
          </p:sp>
        </p:grpSp>
        <p:sp>
          <p:nvSpPr>
            <p:cNvPr id="434" name="Text Box 11"/>
            <p:cNvSpPr txBox="1">
              <a:spLocks noChangeArrowheads="1"/>
            </p:cNvSpPr>
            <p:nvPr/>
          </p:nvSpPr>
          <p:spPr bwMode="auto">
            <a:xfrm>
              <a:off x="7505035" y="188640"/>
              <a:ext cx="451341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37" name="Text Box 11"/>
            <p:cNvSpPr txBox="1">
              <a:spLocks noChangeArrowheads="1"/>
            </p:cNvSpPr>
            <p:nvPr/>
          </p:nvSpPr>
          <p:spPr bwMode="auto">
            <a:xfrm>
              <a:off x="8297123" y="188640"/>
              <a:ext cx="451341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37113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等腰三角形 142"/>
          <p:cNvSpPr/>
          <p:nvPr/>
        </p:nvSpPr>
        <p:spPr bwMode="auto">
          <a:xfrm rot="5400000">
            <a:off x="7751171" y="411856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35" name="椭圆 134"/>
          <p:cNvSpPr/>
          <p:nvPr/>
        </p:nvSpPr>
        <p:spPr bwMode="auto">
          <a:xfrm>
            <a:off x="6617536" y="2708952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2" name="直接连接符 21"/>
          <p:cNvCxnSpPr/>
          <p:nvPr/>
        </p:nvCxnSpPr>
        <p:spPr bwMode="auto">
          <a:xfrm flipH="1">
            <a:off x="8188720" y="2780960"/>
            <a:ext cx="0" cy="133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9" name="直接连接符 128"/>
          <p:cNvCxnSpPr/>
          <p:nvPr/>
        </p:nvCxnSpPr>
        <p:spPr bwMode="auto">
          <a:xfrm flipH="1" flipV="1">
            <a:off x="8197720" y="4293248"/>
            <a:ext cx="0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H="1" flipV="1">
            <a:off x="7517304" y="4185128"/>
            <a:ext cx="216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" name="直接连接符 147"/>
          <p:cNvCxnSpPr/>
          <p:nvPr/>
        </p:nvCxnSpPr>
        <p:spPr bwMode="auto">
          <a:xfrm rot="16200000" flipV="1">
            <a:off x="7283280" y="4419168"/>
            <a:ext cx="46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" name="直接连接符 124"/>
          <p:cNvCxnSpPr/>
          <p:nvPr/>
        </p:nvCxnSpPr>
        <p:spPr bwMode="auto">
          <a:xfrm flipH="1" flipV="1">
            <a:off x="6685552" y="4293127"/>
            <a:ext cx="0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3" name="组合 152"/>
          <p:cNvGrpSpPr/>
          <p:nvPr/>
        </p:nvGrpSpPr>
        <p:grpSpPr>
          <a:xfrm>
            <a:off x="6607513" y="4725176"/>
            <a:ext cx="396344" cy="215444"/>
            <a:chOff x="7272000" y="2565484"/>
            <a:chExt cx="396344" cy="215444"/>
          </a:xfrm>
        </p:grpSpPr>
        <p:cxnSp>
          <p:nvCxnSpPr>
            <p:cNvPr id="154" name="直接连接符 15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5" name="文本框 15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6616880" y="2853548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19" name="直接连接符 118"/>
          <p:cNvCxnSpPr/>
          <p:nvPr/>
        </p:nvCxnSpPr>
        <p:spPr bwMode="auto">
          <a:xfrm flipH="1">
            <a:off x="6685552" y="2708952"/>
            <a:ext cx="0" cy="14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6" name="直接连接符 115"/>
          <p:cNvCxnSpPr/>
          <p:nvPr/>
        </p:nvCxnSpPr>
        <p:spPr bwMode="auto">
          <a:xfrm flipV="1">
            <a:off x="3196799" y="2780960"/>
            <a:ext cx="50040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Memory-mapped I/O: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STI  R0</a:t>
            </a:r>
            <a:r>
              <a:rPr lang="en-US" altLang="zh-CN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, DDR    ?</a:t>
            </a:r>
            <a:endParaRPr lang="zh-CN" altLang="en-US" dirty="0"/>
          </a:p>
        </p:txBody>
      </p:sp>
      <p:sp>
        <p:nvSpPr>
          <p:cNvPr id="2662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511ACE-7E16-4C07-848E-BFD4B3DBA43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D55B4FC-7CA2-45F2-B206-C42DA480AD9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" name="直接连接符 22"/>
          <p:cNvCxnSpPr/>
          <p:nvPr/>
        </p:nvCxnSpPr>
        <p:spPr bwMode="auto">
          <a:xfrm flipH="1" flipV="1">
            <a:off x="6037535" y="3717064"/>
            <a:ext cx="0" cy="133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27" name="组合 126"/>
          <p:cNvGrpSpPr/>
          <p:nvPr/>
        </p:nvGrpSpPr>
        <p:grpSpPr>
          <a:xfrm>
            <a:off x="3988888" y="4606008"/>
            <a:ext cx="432016" cy="119168"/>
            <a:chOff x="4355976" y="5254048"/>
            <a:chExt cx="432016" cy="119168"/>
          </a:xfrm>
        </p:grpSpPr>
        <p:sp>
          <p:nvSpPr>
            <p:cNvPr id="28" name="等腰三角形 27"/>
            <p:cNvSpPr/>
            <p:nvPr/>
          </p:nvSpPr>
          <p:spPr bwMode="auto">
            <a:xfrm rot="16200000" flipH="1">
              <a:off x="4362957" y="5247067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 bwMode="auto">
            <a:xfrm flipV="1">
              <a:off x="4499992" y="5313631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" name="文本框 29"/>
          <p:cNvSpPr txBox="1"/>
          <p:nvPr/>
        </p:nvSpPr>
        <p:spPr>
          <a:xfrm>
            <a:off x="3963389" y="4701024"/>
            <a:ext cx="1321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READ/WRITE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等腰三角形 35"/>
          <p:cNvSpPr/>
          <p:nvPr/>
        </p:nvSpPr>
        <p:spPr bwMode="auto">
          <a:xfrm>
            <a:off x="1516592" y="2348912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8" name="矩形 37"/>
          <p:cNvSpPr/>
          <p:nvPr/>
        </p:nvSpPr>
        <p:spPr bwMode="auto">
          <a:xfrm>
            <a:off x="4232257" y="3587497"/>
            <a:ext cx="1124783" cy="489607"/>
          </a:xfrm>
          <a:prstGeom prst="rect">
            <a:avLst/>
          </a:prstGeom>
          <a:solidFill>
            <a:srgbClr val="FF00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ADDR.CTL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3025440" y="3260150"/>
            <a:ext cx="950400" cy="1610762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矩形 39"/>
          <p:cNvSpPr/>
          <p:nvPr/>
        </p:nvSpPr>
        <p:spPr bwMode="auto">
          <a:xfrm>
            <a:off x="1276286" y="2957541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1" name="直接连接符 40"/>
          <p:cNvCxnSpPr/>
          <p:nvPr/>
        </p:nvCxnSpPr>
        <p:spPr bwMode="auto">
          <a:xfrm flipV="1">
            <a:off x="4799156" y="2961040"/>
            <a:ext cx="0" cy="64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直接连接符 41"/>
          <p:cNvCxnSpPr/>
          <p:nvPr/>
        </p:nvCxnSpPr>
        <p:spPr bwMode="auto">
          <a:xfrm flipH="1" flipV="1">
            <a:off x="1900656" y="3861080"/>
            <a:ext cx="0" cy="12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 rot="16200000">
            <a:off x="2098656" y="4933419"/>
            <a:ext cx="0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748528" y="4138175"/>
            <a:ext cx="7200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5" name="组合 44"/>
          <p:cNvGrpSpPr/>
          <p:nvPr/>
        </p:nvGrpSpPr>
        <p:grpSpPr>
          <a:xfrm flipH="1">
            <a:off x="1948640" y="3005957"/>
            <a:ext cx="360039" cy="119168"/>
            <a:chOff x="5292080" y="3452075"/>
            <a:chExt cx="360039" cy="119168"/>
          </a:xfrm>
        </p:grpSpPr>
        <p:sp>
          <p:nvSpPr>
            <p:cNvPr id="46" name="等腰三角形 4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7" name="直接连接符 4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8" name="文本框 47"/>
          <p:cNvSpPr txBox="1"/>
          <p:nvPr/>
        </p:nvSpPr>
        <p:spPr>
          <a:xfrm>
            <a:off x="2020648" y="2894779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" name="梯形 48"/>
          <p:cNvSpPr/>
          <p:nvPr/>
        </p:nvSpPr>
        <p:spPr bwMode="auto">
          <a:xfrm>
            <a:off x="1324592" y="3641669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0" name="直接连接符 49"/>
          <p:cNvCxnSpPr/>
          <p:nvPr/>
        </p:nvCxnSpPr>
        <p:spPr bwMode="auto">
          <a:xfrm flipV="1">
            <a:off x="1478841" y="3861080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直接连接符 50"/>
          <p:cNvCxnSpPr/>
          <p:nvPr/>
        </p:nvCxnSpPr>
        <p:spPr bwMode="auto">
          <a:xfrm flipH="1">
            <a:off x="748528" y="1916832"/>
            <a:ext cx="0" cy="223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直接连接符 51"/>
          <p:cNvCxnSpPr/>
          <p:nvPr/>
        </p:nvCxnSpPr>
        <p:spPr bwMode="auto">
          <a:xfrm>
            <a:off x="1777115" y="319144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直接连接符 52"/>
          <p:cNvCxnSpPr/>
          <p:nvPr/>
        </p:nvCxnSpPr>
        <p:spPr bwMode="auto">
          <a:xfrm flipH="1">
            <a:off x="1771200" y="3501040"/>
            <a:ext cx="12600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964552" y="3710619"/>
            <a:ext cx="360039" cy="119168"/>
            <a:chOff x="5292080" y="3452075"/>
            <a:chExt cx="360039" cy="119168"/>
          </a:xfrm>
        </p:grpSpPr>
        <p:sp>
          <p:nvSpPr>
            <p:cNvPr id="55" name="等腰三角形 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7" name="文本框 56"/>
          <p:cNvSpPr txBox="1"/>
          <p:nvPr/>
        </p:nvSpPr>
        <p:spPr>
          <a:xfrm>
            <a:off x="773579" y="350104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8" name="组合 57"/>
          <p:cNvGrpSpPr/>
          <p:nvPr/>
        </p:nvGrpSpPr>
        <p:grpSpPr>
          <a:xfrm flipH="1">
            <a:off x="1660608" y="2348912"/>
            <a:ext cx="360039" cy="119168"/>
            <a:chOff x="5292080" y="3452075"/>
            <a:chExt cx="360039" cy="119168"/>
          </a:xfrm>
        </p:grpSpPr>
        <p:sp>
          <p:nvSpPr>
            <p:cNvPr id="59" name="等腰三角形 5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1" name="文本框 60"/>
          <p:cNvSpPr txBox="1"/>
          <p:nvPr/>
        </p:nvSpPr>
        <p:spPr>
          <a:xfrm>
            <a:off x="1612624" y="2174699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676520" y="2997532"/>
            <a:ext cx="396344" cy="215444"/>
            <a:chOff x="7272000" y="2565484"/>
            <a:chExt cx="396344" cy="215444"/>
          </a:xfrm>
        </p:grpSpPr>
        <p:cxnSp>
          <p:nvCxnSpPr>
            <p:cNvPr id="63" name="直接连接符 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4" name="文本框 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1" name="矩形 80"/>
          <p:cNvSpPr/>
          <p:nvPr/>
        </p:nvSpPr>
        <p:spPr bwMode="auto">
          <a:xfrm>
            <a:off x="5724241" y="3501040"/>
            <a:ext cx="640911" cy="215384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KBDR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矩形 81"/>
          <p:cNvSpPr/>
          <p:nvPr/>
        </p:nvSpPr>
        <p:spPr bwMode="auto">
          <a:xfrm>
            <a:off x="6365152" y="4077128"/>
            <a:ext cx="640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KBSR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矩形 83"/>
          <p:cNvSpPr/>
          <p:nvPr/>
        </p:nvSpPr>
        <p:spPr bwMode="auto">
          <a:xfrm>
            <a:off x="7877320" y="4077128"/>
            <a:ext cx="640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DSR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5" name="直接连接符 84"/>
          <p:cNvCxnSpPr/>
          <p:nvPr/>
        </p:nvCxnSpPr>
        <p:spPr bwMode="auto">
          <a:xfrm>
            <a:off x="3666824" y="2629465"/>
            <a:ext cx="0" cy="64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直接连接符 85"/>
          <p:cNvCxnSpPr/>
          <p:nvPr/>
        </p:nvCxnSpPr>
        <p:spPr bwMode="auto">
          <a:xfrm>
            <a:off x="3340816" y="2735960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" name="直接连接符 86"/>
          <p:cNvCxnSpPr/>
          <p:nvPr/>
        </p:nvCxnSpPr>
        <p:spPr bwMode="auto">
          <a:xfrm>
            <a:off x="1512199" y="3158129"/>
            <a:ext cx="0" cy="48354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9" name="直接连接符 88"/>
          <p:cNvCxnSpPr/>
          <p:nvPr/>
        </p:nvCxnSpPr>
        <p:spPr bwMode="auto">
          <a:xfrm flipH="1">
            <a:off x="1607076" y="1988872"/>
            <a:ext cx="0" cy="36004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梯形 92"/>
          <p:cNvSpPr/>
          <p:nvPr/>
        </p:nvSpPr>
        <p:spPr bwMode="auto">
          <a:xfrm rot="16200000">
            <a:off x="1987709" y="50168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INMUX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94" name="直接连接符 93"/>
          <p:cNvCxnSpPr/>
          <p:nvPr/>
        </p:nvCxnSpPr>
        <p:spPr bwMode="auto">
          <a:xfrm flipV="1">
            <a:off x="2480198" y="4869192"/>
            <a:ext cx="294305" cy="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直接连接符 94"/>
          <p:cNvCxnSpPr/>
          <p:nvPr/>
        </p:nvCxnSpPr>
        <p:spPr bwMode="auto">
          <a:xfrm flipV="1">
            <a:off x="2494768" y="5061539"/>
            <a:ext cx="35496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6" name="直接连接符 95"/>
          <p:cNvCxnSpPr/>
          <p:nvPr/>
        </p:nvCxnSpPr>
        <p:spPr bwMode="auto">
          <a:xfrm flipV="1">
            <a:off x="2494768" y="5253885"/>
            <a:ext cx="42048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直接连接符 96"/>
          <p:cNvCxnSpPr/>
          <p:nvPr/>
        </p:nvCxnSpPr>
        <p:spPr bwMode="auto">
          <a:xfrm flipV="1">
            <a:off x="2494768" y="5446232"/>
            <a:ext cx="57168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8" name="组合 97"/>
          <p:cNvGrpSpPr/>
          <p:nvPr/>
        </p:nvGrpSpPr>
        <p:grpSpPr>
          <a:xfrm flipH="1">
            <a:off x="3988888" y="3285016"/>
            <a:ext cx="360039" cy="119168"/>
            <a:chOff x="5292080" y="3452075"/>
            <a:chExt cx="360039" cy="119168"/>
          </a:xfrm>
        </p:grpSpPr>
        <p:sp>
          <p:nvSpPr>
            <p:cNvPr id="99" name="等腰三角形 9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00" name="直接连接符 9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02" name="直接连接符 101"/>
          <p:cNvCxnSpPr/>
          <p:nvPr/>
        </p:nvCxnSpPr>
        <p:spPr bwMode="auto">
          <a:xfrm rot="16200000" flipV="1">
            <a:off x="4132936" y="4381160"/>
            <a:ext cx="576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" name="直接连接符 106"/>
          <p:cNvCxnSpPr/>
          <p:nvPr/>
        </p:nvCxnSpPr>
        <p:spPr bwMode="auto">
          <a:xfrm>
            <a:off x="1603041" y="2497569"/>
            <a:ext cx="8070" cy="459972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0" name="直接连接符 109"/>
          <p:cNvCxnSpPr/>
          <p:nvPr/>
        </p:nvCxnSpPr>
        <p:spPr bwMode="auto">
          <a:xfrm>
            <a:off x="2750512" y="4004761"/>
            <a:ext cx="288000" cy="335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2" name="直接连接符 111"/>
          <p:cNvCxnSpPr/>
          <p:nvPr/>
        </p:nvCxnSpPr>
        <p:spPr bwMode="auto">
          <a:xfrm flipH="1" flipV="1">
            <a:off x="2764850" y="4005096"/>
            <a:ext cx="0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" name="直接连接符 129"/>
          <p:cNvCxnSpPr/>
          <p:nvPr/>
        </p:nvCxnSpPr>
        <p:spPr bwMode="auto">
          <a:xfrm rot="16200000" flipV="1">
            <a:off x="4530116" y="4365168"/>
            <a:ext cx="576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直接连接符 130"/>
          <p:cNvCxnSpPr/>
          <p:nvPr/>
        </p:nvCxnSpPr>
        <p:spPr bwMode="auto">
          <a:xfrm rot="16200000" flipV="1">
            <a:off x="4836706" y="4257144"/>
            <a:ext cx="36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" name="直接连接符 131"/>
          <p:cNvCxnSpPr/>
          <p:nvPr/>
        </p:nvCxnSpPr>
        <p:spPr bwMode="auto">
          <a:xfrm rot="16200000" flipV="1">
            <a:off x="5143295" y="4132760"/>
            <a:ext cx="144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直接连接符 132"/>
          <p:cNvCxnSpPr/>
          <p:nvPr/>
        </p:nvCxnSpPr>
        <p:spPr bwMode="auto">
          <a:xfrm>
            <a:off x="4817288" y="4653168"/>
            <a:ext cx="270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>
            <a:off x="5033240" y="4437144"/>
            <a:ext cx="2124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6" name="等腰三角形 145"/>
          <p:cNvSpPr/>
          <p:nvPr/>
        </p:nvSpPr>
        <p:spPr bwMode="auto">
          <a:xfrm rot="5400000">
            <a:off x="6238971" y="4142131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H="1" flipV="1">
            <a:off x="5213024" y="4208695"/>
            <a:ext cx="100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6" name="组合 155"/>
          <p:cNvGrpSpPr/>
          <p:nvPr/>
        </p:nvGrpSpPr>
        <p:grpSpPr>
          <a:xfrm>
            <a:off x="8129048" y="4725176"/>
            <a:ext cx="396344" cy="215444"/>
            <a:chOff x="7272000" y="2565484"/>
            <a:chExt cx="396344" cy="215444"/>
          </a:xfrm>
        </p:grpSpPr>
        <p:cxnSp>
          <p:nvCxnSpPr>
            <p:cNvPr id="157" name="直接连接符 15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8" name="文本框 15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5958825" y="4725176"/>
            <a:ext cx="396344" cy="215444"/>
            <a:chOff x="7272000" y="2565484"/>
            <a:chExt cx="396344" cy="215444"/>
          </a:xfrm>
        </p:grpSpPr>
        <p:cxnSp>
          <p:nvCxnSpPr>
            <p:cNvPr id="160" name="直接连接符 15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1" name="文本框 16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 rot="5400000" flipH="1" flipV="1">
            <a:off x="2165108" y="5637700"/>
            <a:ext cx="360039" cy="119168"/>
            <a:chOff x="5292080" y="3452075"/>
            <a:chExt cx="360039" cy="119168"/>
          </a:xfrm>
        </p:grpSpPr>
        <p:sp>
          <p:nvSpPr>
            <p:cNvPr id="167" name="等腰三角形 166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68" name="直接连接符 167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9" name="组合 168"/>
          <p:cNvGrpSpPr/>
          <p:nvPr/>
        </p:nvGrpSpPr>
        <p:grpSpPr>
          <a:xfrm rot="16200000" flipH="1">
            <a:off x="4167672" y="3333444"/>
            <a:ext cx="360039" cy="119168"/>
            <a:chOff x="5292080" y="3452075"/>
            <a:chExt cx="360039" cy="119168"/>
          </a:xfrm>
        </p:grpSpPr>
        <p:sp>
          <p:nvSpPr>
            <p:cNvPr id="170" name="等腰三角形 16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71" name="直接连接符 17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74" name="椭圆 173"/>
          <p:cNvSpPr/>
          <p:nvPr/>
        </p:nvSpPr>
        <p:spPr bwMode="auto">
          <a:xfrm>
            <a:off x="3305168" y="2708952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9" name="直接连接符 178"/>
          <p:cNvCxnSpPr/>
          <p:nvPr/>
        </p:nvCxnSpPr>
        <p:spPr bwMode="auto">
          <a:xfrm flipV="1">
            <a:off x="1589699" y="2780960"/>
            <a:ext cx="1642749" cy="5003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1" name="椭圆 180"/>
          <p:cNvSpPr/>
          <p:nvPr/>
        </p:nvSpPr>
        <p:spPr bwMode="auto">
          <a:xfrm>
            <a:off x="4313280" y="3285016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85" name="组合 184"/>
          <p:cNvGrpSpPr/>
          <p:nvPr/>
        </p:nvGrpSpPr>
        <p:grpSpPr>
          <a:xfrm>
            <a:off x="8057040" y="2852968"/>
            <a:ext cx="396344" cy="215444"/>
            <a:chOff x="7272000" y="2565484"/>
            <a:chExt cx="396344" cy="215444"/>
          </a:xfrm>
        </p:grpSpPr>
        <p:cxnSp>
          <p:nvCxnSpPr>
            <p:cNvPr id="186" name="直接连接符 18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7" name="文本框 18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88" name="组合 187"/>
          <p:cNvGrpSpPr/>
          <p:nvPr/>
        </p:nvGrpSpPr>
        <p:grpSpPr>
          <a:xfrm>
            <a:off x="3268808" y="2780960"/>
            <a:ext cx="396344" cy="215444"/>
            <a:chOff x="7272000" y="2565484"/>
            <a:chExt cx="396344" cy="215444"/>
          </a:xfrm>
        </p:grpSpPr>
        <p:cxnSp>
          <p:nvCxnSpPr>
            <p:cNvPr id="189" name="直接连接符 18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0" name="文本框 18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91" name="文本框 190"/>
          <p:cNvSpPr txBox="1"/>
          <p:nvPr/>
        </p:nvSpPr>
        <p:spPr>
          <a:xfrm>
            <a:off x="3988888" y="2996985"/>
            <a:ext cx="7716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2" name="矩形 191"/>
          <p:cNvSpPr/>
          <p:nvPr/>
        </p:nvSpPr>
        <p:spPr bwMode="auto">
          <a:xfrm>
            <a:off x="5665732" y="3195136"/>
            <a:ext cx="1374934" cy="1169773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</a:p>
        </p:txBody>
      </p:sp>
      <p:sp>
        <p:nvSpPr>
          <p:cNvPr id="194" name="矩形 193"/>
          <p:cNvSpPr/>
          <p:nvPr/>
        </p:nvSpPr>
        <p:spPr bwMode="auto">
          <a:xfrm>
            <a:off x="7229248" y="3195136"/>
            <a:ext cx="1375200" cy="1170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</a:p>
        </p:txBody>
      </p:sp>
      <p:grpSp>
        <p:nvGrpSpPr>
          <p:cNvPr id="195" name="组合 194"/>
          <p:cNvGrpSpPr/>
          <p:nvPr/>
        </p:nvGrpSpPr>
        <p:grpSpPr>
          <a:xfrm rot="16200000" flipH="1">
            <a:off x="5045428" y="3333444"/>
            <a:ext cx="360039" cy="119168"/>
            <a:chOff x="5292080" y="3452075"/>
            <a:chExt cx="360039" cy="119168"/>
          </a:xfrm>
        </p:grpSpPr>
        <p:sp>
          <p:nvSpPr>
            <p:cNvPr id="196" name="等腰三角形 19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97" name="直接连接符 19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98" name="文本框 197"/>
          <p:cNvSpPr txBox="1"/>
          <p:nvPr/>
        </p:nvSpPr>
        <p:spPr>
          <a:xfrm>
            <a:off x="4873459" y="2996984"/>
            <a:ext cx="7716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9" name="直接连接符 198"/>
          <p:cNvCxnSpPr/>
          <p:nvPr/>
        </p:nvCxnSpPr>
        <p:spPr bwMode="auto">
          <a:xfrm rot="16200000" flipV="1">
            <a:off x="3719526" y="4977304"/>
            <a:ext cx="180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0800000" flipV="1">
            <a:off x="2361600" y="5877303"/>
            <a:ext cx="226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01" name="组合 200"/>
          <p:cNvGrpSpPr/>
          <p:nvPr/>
        </p:nvGrpSpPr>
        <p:grpSpPr>
          <a:xfrm>
            <a:off x="2298847" y="5638899"/>
            <a:ext cx="396344" cy="215444"/>
            <a:chOff x="7272000" y="2565484"/>
            <a:chExt cx="396344" cy="215444"/>
          </a:xfrm>
        </p:grpSpPr>
        <p:cxnSp>
          <p:nvCxnSpPr>
            <p:cNvPr id="202" name="直接连接符 20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3" name="文本框 20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4" name="组合 203"/>
          <p:cNvGrpSpPr/>
          <p:nvPr/>
        </p:nvGrpSpPr>
        <p:grpSpPr>
          <a:xfrm>
            <a:off x="2682733" y="4292153"/>
            <a:ext cx="396344" cy="215444"/>
            <a:chOff x="7272000" y="2565484"/>
            <a:chExt cx="396344" cy="215444"/>
          </a:xfrm>
        </p:grpSpPr>
        <p:cxnSp>
          <p:nvCxnSpPr>
            <p:cNvPr id="205" name="直接连接符 20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6" name="文本框 20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9" name="椭圆 138"/>
          <p:cNvSpPr/>
          <p:nvPr/>
        </p:nvSpPr>
        <p:spPr bwMode="auto">
          <a:xfrm>
            <a:off x="1547664" y="2708920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42" name="组合 141"/>
          <p:cNvGrpSpPr/>
          <p:nvPr/>
        </p:nvGrpSpPr>
        <p:grpSpPr>
          <a:xfrm>
            <a:off x="4355976" y="4293096"/>
            <a:ext cx="396344" cy="215444"/>
            <a:chOff x="7272000" y="2565484"/>
            <a:chExt cx="396344" cy="215444"/>
          </a:xfrm>
        </p:grpSpPr>
        <p:cxnSp>
          <p:nvCxnSpPr>
            <p:cNvPr id="145" name="直接连接符 14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文本框 14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1835696" y="4077652"/>
            <a:ext cx="396344" cy="215444"/>
            <a:chOff x="7272000" y="2565484"/>
            <a:chExt cx="396344" cy="215444"/>
          </a:xfrm>
        </p:grpSpPr>
        <p:cxnSp>
          <p:nvCxnSpPr>
            <p:cNvPr id="152" name="直接连接符 15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5" name="文本框 16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9" name="直接连接符 78"/>
          <p:cNvCxnSpPr/>
          <p:nvPr/>
        </p:nvCxnSpPr>
        <p:spPr bwMode="auto">
          <a:xfrm>
            <a:off x="254705" y="1916832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0" name="矩形 69"/>
          <p:cNvSpPr/>
          <p:nvPr/>
        </p:nvSpPr>
        <p:spPr bwMode="auto">
          <a:xfrm>
            <a:off x="3344760" y="242094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71" name="直接连接符 70"/>
          <p:cNvCxnSpPr/>
          <p:nvPr/>
        </p:nvCxnSpPr>
        <p:spPr bwMode="auto">
          <a:xfrm>
            <a:off x="3666824" y="1988872"/>
            <a:ext cx="0" cy="43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2" name="组合 71"/>
          <p:cNvGrpSpPr/>
          <p:nvPr/>
        </p:nvGrpSpPr>
        <p:grpSpPr>
          <a:xfrm flipH="1">
            <a:off x="4057847" y="2463541"/>
            <a:ext cx="360039" cy="119168"/>
            <a:chOff x="5292080" y="3452075"/>
            <a:chExt cx="360039" cy="119168"/>
          </a:xfrm>
        </p:grpSpPr>
        <p:sp>
          <p:nvSpPr>
            <p:cNvPr id="73" name="等腰三角形 7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74" name="直接连接符 7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5" name="组合 74"/>
          <p:cNvGrpSpPr/>
          <p:nvPr/>
        </p:nvGrpSpPr>
        <p:grpSpPr>
          <a:xfrm>
            <a:off x="3592544" y="2061460"/>
            <a:ext cx="396344" cy="215444"/>
            <a:chOff x="7272000" y="2565484"/>
            <a:chExt cx="396344" cy="215444"/>
          </a:xfrm>
        </p:grpSpPr>
        <p:cxnSp>
          <p:nvCxnSpPr>
            <p:cNvPr id="76" name="直接连接符 7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7" name="文本框 7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8" name="文本框 77"/>
          <p:cNvSpPr txBox="1"/>
          <p:nvPr/>
        </p:nvSpPr>
        <p:spPr>
          <a:xfrm>
            <a:off x="4129854" y="2348912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矩形 82"/>
          <p:cNvSpPr/>
          <p:nvPr/>
        </p:nvSpPr>
        <p:spPr bwMode="auto">
          <a:xfrm>
            <a:off x="7452544" y="3501040"/>
            <a:ext cx="640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DDR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rot="16200000" flipV="1">
            <a:off x="6743240" y="4023144"/>
            <a:ext cx="82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0" name="等腰三角形 139"/>
          <p:cNvSpPr/>
          <p:nvPr/>
        </p:nvSpPr>
        <p:spPr bwMode="auto">
          <a:xfrm rot="5400000">
            <a:off x="7319091" y="3542476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1" name="直接连接符 140"/>
          <p:cNvCxnSpPr/>
          <p:nvPr/>
        </p:nvCxnSpPr>
        <p:spPr bwMode="auto">
          <a:xfrm flipH="1" flipV="1">
            <a:off x="7142512" y="3609040"/>
            <a:ext cx="1512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 flipV="1">
            <a:off x="7761491" y="2780960"/>
            <a:ext cx="0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0" name="文本框 149"/>
          <p:cNvSpPr txBox="1"/>
          <p:nvPr/>
        </p:nvSpPr>
        <p:spPr>
          <a:xfrm>
            <a:off x="7159049" y="3738339"/>
            <a:ext cx="692226" cy="246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LD.DDR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592544" y="2781540"/>
            <a:ext cx="396344" cy="215444"/>
            <a:chOff x="7272000" y="2565484"/>
            <a:chExt cx="396344" cy="215444"/>
          </a:xfrm>
        </p:grpSpPr>
        <p:cxnSp>
          <p:nvCxnSpPr>
            <p:cNvPr id="32" name="直接连接符 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" name="文本框 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7" name="直接连接符 176"/>
          <p:cNvCxnSpPr/>
          <p:nvPr/>
        </p:nvCxnSpPr>
        <p:spPr bwMode="auto">
          <a:xfrm>
            <a:off x="3664544" y="2978976"/>
            <a:ext cx="11520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8" name="椭圆 177"/>
          <p:cNvSpPr/>
          <p:nvPr/>
        </p:nvSpPr>
        <p:spPr bwMode="auto">
          <a:xfrm>
            <a:off x="3628848" y="2924976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76" name="椭圆 175"/>
          <p:cNvSpPr/>
          <p:nvPr/>
        </p:nvSpPr>
        <p:spPr bwMode="auto">
          <a:xfrm>
            <a:off x="7697656" y="2708952"/>
            <a:ext cx="107656" cy="1080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82" name="组合 181"/>
          <p:cNvGrpSpPr/>
          <p:nvPr/>
        </p:nvGrpSpPr>
        <p:grpSpPr>
          <a:xfrm>
            <a:off x="7697000" y="2852968"/>
            <a:ext cx="396344" cy="215444"/>
            <a:chOff x="7272000" y="2565484"/>
            <a:chExt cx="396344" cy="215444"/>
          </a:xfrm>
        </p:grpSpPr>
        <p:cxnSp>
          <p:nvCxnSpPr>
            <p:cNvPr id="183" name="直接连接符 18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4" name="文本框 18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07439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07D958-80F6-4053-B4FA-723D3841586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7C2FDC-596E-4A14-8E1A-FF3C61AE411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Keyboard Echo Routine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839200" cy="122872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Usually, input character is also printed to screen.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User gets feedback on character typed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and knows its ok to type the next character.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2774" name="AutoShape 4"/>
          <p:cNvSpPr>
            <a:spLocks noChangeArrowheads="1"/>
          </p:cNvSpPr>
          <p:nvPr/>
        </p:nvSpPr>
        <p:spPr bwMode="auto">
          <a:xfrm>
            <a:off x="7105650" y="2489200"/>
            <a:ext cx="1246188" cy="831850"/>
          </a:xfrm>
          <a:prstGeom prst="diamond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new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char?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5" name="Rectangle 5"/>
          <p:cNvSpPr>
            <a:spLocks noChangeArrowheads="1"/>
          </p:cNvSpPr>
          <p:nvPr/>
        </p:nvSpPr>
        <p:spPr bwMode="auto">
          <a:xfrm>
            <a:off x="7151688" y="3689350"/>
            <a:ext cx="1154112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read</a:t>
            </a:r>
            <a:b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character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6" name="Line 6"/>
          <p:cNvSpPr>
            <a:spLocks noChangeShapeType="1"/>
          </p:cNvSpPr>
          <p:nvPr/>
        </p:nvSpPr>
        <p:spPr bwMode="auto">
          <a:xfrm>
            <a:off x="7727950" y="3321050"/>
            <a:ext cx="0" cy="36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7" name="Line 7"/>
          <p:cNvSpPr>
            <a:spLocks noChangeShapeType="1"/>
          </p:cNvSpPr>
          <p:nvPr/>
        </p:nvSpPr>
        <p:spPr bwMode="auto">
          <a:xfrm>
            <a:off x="7727950" y="4151313"/>
            <a:ext cx="0" cy="3698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8" name="Line 8"/>
          <p:cNvSpPr>
            <a:spLocks noChangeShapeType="1"/>
          </p:cNvSpPr>
          <p:nvPr/>
        </p:nvSpPr>
        <p:spPr bwMode="auto">
          <a:xfrm>
            <a:off x="7727950" y="1981200"/>
            <a:ext cx="0" cy="508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9" name="Line 9"/>
          <p:cNvSpPr>
            <a:spLocks noChangeShapeType="1"/>
          </p:cNvSpPr>
          <p:nvPr/>
        </p:nvSpPr>
        <p:spPr bwMode="auto">
          <a:xfrm flipH="1">
            <a:off x="6851650" y="2905125"/>
            <a:ext cx="2762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80" name="Line 10"/>
          <p:cNvSpPr>
            <a:spLocks noChangeShapeType="1"/>
          </p:cNvSpPr>
          <p:nvPr/>
        </p:nvSpPr>
        <p:spPr bwMode="auto">
          <a:xfrm flipV="1">
            <a:off x="6851650" y="2211388"/>
            <a:ext cx="0" cy="693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81" name="Line 11"/>
          <p:cNvSpPr>
            <a:spLocks noChangeShapeType="1"/>
          </p:cNvSpPr>
          <p:nvPr/>
        </p:nvSpPr>
        <p:spPr bwMode="auto">
          <a:xfrm>
            <a:off x="6851650" y="2211388"/>
            <a:ext cx="876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82" name="Text Box 12"/>
          <p:cNvSpPr txBox="1">
            <a:spLocks noChangeArrowheads="1"/>
          </p:cNvSpPr>
          <p:nvPr/>
        </p:nvSpPr>
        <p:spPr bwMode="auto">
          <a:xfrm>
            <a:off x="7748588" y="3278188"/>
            <a:ext cx="4889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YES</a:t>
            </a:r>
          </a:p>
        </p:txBody>
      </p:sp>
      <p:sp>
        <p:nvSpPr>
          <p:cNvPr id="32783" name="Text Box 13"/>
          <p:cNvSpPr txBox="1">
            <a:spLocks noChangeArrowheads="1"/>
          </p:cNvSpPr>
          <p:nvPr/>
        </p:nvSpPr>
        <p:spPr bwMode="auto">
          <a:xfrm>
            <a:off x="6781800" y="2895600"/>
            <a:ext cx="457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</a:t>
            </a:r>
          </a:p>
        </p:txBody>
      </p:sp>
      <p:sp>
        <p:nvSpPr>
          <p:cNvPr id="32784" name="AutoShape 14"/>
          <p:cNvSpPr>
            <a:spLocks noChangeArrowheads="1"/>
          </p:cNvSpPr>
          <p:nvPr/>
        </p:nvSpPr>
        <p:spPr bwMode="auto">
          <a:xfrm>
            <a:off x="7105650" y="4521200"/>
            <a:ext cx="1246188" cy="831850"/>
          </a:xfrm>
          <a:prstGeom prst="diamond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screen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ready?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85" name="Rectangle 15"/>
          <p:cNvSpPr>
            <a:spLocks noChangeArrowheads="1"/>
          </p:cNvSpPr>
          <p:nvPr/>
        </p:nvSpPr>
        <p:spPr bwMode="auto">
          <a:xfrm>
            <a:off x="7151688" y="5721350"/>
            <a:ext cx="1154112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write</a:t>
            </a:r>
            <a:b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character</a:t>
            </a:r>
          </a:p>
        </p:txBody>
      </p:sp>
      <p:sp>
        <p:nvSpPr>
          <p:cNvPr id="32786" name="Line 16"/>
          <p:cNvSpPr>
            <a:spLocks noChangeShapeType="1"/>
          </p:cNvSpPr>
          <p:nvPr/>
        </p:nvSpPr>
        <p:spPr bwMode="auto">
          <a:xfrm>
            <a:off x="7727950" y="5353050"/>
            <a:ext cx="0" cy="36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87" name="Line 17"/>
          <p:cNvSpPr>
            <a:spLocks noChangeShapeType="1"/>
          </p:cNvSpPr>
          <p:nvPr/>
        </p:nvSpPr>
        <p:spPr bwMode="auto">
          <a:xfrm>
            <a:off x="7727950" y="6183313"/>
            <a:ext cx="0" cy="3698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88" name="Line 18"/>
          <p:cNvSpPr>
            <a:spLocks noChangeShapeType="1"/>
          </p:cNvSpPr>
          <p:nvPr/>
        </p:nvSpPr>
        <p:spPr bwMode="auto">
          <a:xfrm flipH="1">
            <a:off x="6858000" y="49530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89" name="Line 19"/>
          <p:cNvSpPr>
            <a:spLocks noChangeShapeType="1"/>
          </p:cNvSpPr>
          <p:nvPr/>
        </p:nvSpPr>
        <p:spPr bwMode="auto">
          <a:xfrm flipV="1">
            <a:off x="6858000" y="4267200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90" name="Line 20"/>
          <p:cNvSpPr>
            <a:spLocks noChangeShapeType="1"/>
          </p:cNvSpPr>
          <p:nvPr/>
        </p:nvSpPr>
        <p:spPr bwMode="auto">
          <a:xfrm>
            <a:off x="6858000" y="4267200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91" name="Text Box 21"/>
          <p:cNvSpPr txBox="1">
            <a:spLocks noChangeArrowheads="1"/>
          </p:cNvSpPr>
          <p:nvPr/>
        </p:nvSpPr>
        <p:spPr bwMode="auto">
          <a:xfrm>
            <a:off x="7748588" y="5335588"/>
            <a:ext cx="4889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YES</a:t>
            </a:r>
          </a:p>
        </p:txBody>
      </p:sp>
      <p:sp>
        <p:nvSpPr>
          <p:cNvPr id="32792" name="Text Box 22"/>
          <p:cNvSpPr txBox="1">
            <a:spLocks noChangeArrowheads="1"/>
          </p:cNvSpPr>
          <p:nvPr/>
        </p:nvSpPr>
        <p:spPr bwMode="auto">
          <a:xfrm>
            <a:off x="6705600" y="4953000"/>
            <a:ext cx="533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</a:t>
            </a:r>
          </a:p>
        </p:txBody>
      </p:sp>
      <p:sp>
        <p:nvSpPr>
          <p:cNvPr id="32793" name="Text Box 23"/>
          <p:cNvSpPr txBox="1">
            <a:spLocks noChangeArrowheads="1"/>
          </p:cNvSpPr>
          <p:nvPr/>
        </p:nvSpPr>
        <p:spPr bwMode="auto">
          <a:xfrm>
            <a:off x="1447800" y="2590800"/>
            <a:ext cx="4038600" cy="375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12573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12573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tabLst>
                <a:tab pos="125730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12573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POLL1	LDI  R0, KBSR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BRzp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POLL1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LDI  R0, KBDR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POLL2	LDI  R1, DSR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BRzp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POLL2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STI  R0, DDR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KBSR	.FILL xFE00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KBDR	.FILL xFE02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DSR	.FILL xFE04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DDR	.FILL xFE06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47077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3884</TotalTime>
  <Pages>0</Pages>
  <Words>3626</Words>
  <Characters>0</Characters>
  <Application>Microsoft Office PowerPoint</Application>
  <DocSecurity>0</DocSecurity>
  <PresentationFormat>全屏显示(4:3)</PresentationFormat>
  <Lines>0</Lines>
  <Paragraphs>1899</Paragraphs>
  <Slides>39</Slides>
  <Notes>33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7" baseType="lpstr">
      <vt:lpstr>CourierPS</vt:lpstr>
      <vt:lpstr>Gungsuh</vt:lpstr>
      <vt:lpstr>仿宋</vt:lpstr>
      <vt:lpstr>黑体</vt:lpstr>
      <vt:lpstr>华文新魏</vt:lpstr>
      <vt:lpstr>KaiTi</vt:lpstr>
      <vt:lpstr>KaiTi</vt:lpstr>
      <vt:lpstr>微软雅黑</vt:lpstr>
      <vt:lpstr>Arial</vt:lpstr>
      <vt:lpstr>Calibri</vt:lpstr>
      <vt:lpstr>Courier New</vt:lpstr>
      <vt:lpstr>Franklin Gothic Book</vt:lpstr>
      <vt:lpstr>Tahoma</vt:lpstr>
      <vt:lpstr>Wingdings</vt:lpstr>
      <vt:lpstr>Wingdings 3</vt:lpstr>
      <vt:lpstr>1_Office 主题​​</vt:lpstr>
      <vt:lpstr>学术交流模板3-中文</vt:lpstr>
      <vt:lpstr>CorelDRAW</vt:lpstr>
      <vt:lpstr>Chapter 9-1   Memory Mapped I/O</vt:lpstr>
      <vt:lpstr>PowerPoint 演示文稿</vt:lpstr>
      <vt:lpstr>Review</vt:lpstr>
      <vt:lpstr>PowerPoint 演示文稿</vt:lpstr>
      <vt:lpstr>Today: I/O in Von Neumann Model</vt:lpstr>
      <vt:lpstr>PowerPoint 演示文稿</vt:lpstr>
      <vt:lpstr>Need for I/O</vt:lpstr>
      <vt:lpstr>I/O: Connecting to the Outside World</vt:lpstr>
      <vt:lpstr>I/O Controller</vt:lpstr>
      <vt:lpstr>Programming Interface</vt:lpstr>
      <vt:lpstr>Memory-Mapped vs. I/O Instructions</vt:lpstr>
      <vt:lpstr>Transfer Timing</vt:lpstr>
      <vt:lpstr>Transfer Control</vt:lpstr>
      <vt:lpstr>LC-3 </vt:lpstr>
      <vt:lpstr>Memory map of the LC-3</vt:lpstr>
      <vt:lpstr>Example: Processor Input from Keyboard</vt:lpstr>
      <vt:lpstr>Memory-mapped Operations</vt:lpstr>
      <vt:lpstr>Basic Input Routine</vt:lpstr>
      <vt:lpstr>Memory-mapped I/O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Memory-mapped I/O: LDI  R0, KBSR</vt:lpstr>
      <vt:lpstr>Memory-mapped I/O: LDI  R0, KBDR</vt:lpstr>
      <vt:lpstr>PowerPoint 演示文稿</vt:lpstr>
      <vt:lpstr>Example: Processor Output to Screen</vt:lpstr>
      <vt:lpstr>Basic Output Routine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Memory-mapped I/O: STI  R0, DDR    ?</vt:lpstr>
      <vt:lpstr>Keyboard Echo Routine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Miao Fuyou</cp:lastModifiedBy>
  <cp:revision>647</cp:revision>
  <cp:lastPrinted>1601-01-01T00:00:00Z</cp:lastPrinted>
  <dcterms:created xsi:type="dcterms:W3CDTF">2012-09-03T16:09:03Z</dcterms:created>
  <dcterms:modified xsi:type="dcterms:W3CDTF">2025-10-21T00:46:07Z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