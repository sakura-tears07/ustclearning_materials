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6" r:id="rId1"/>
    <p:sldMasterId id="2147483840" r:id="rId2"/>
    <p:sldMasterId id="2147483856" r:id="rId3"/>
  </p:sldMasterIdLst>
  <p:notesMasterIdLst>
    <p:notesMasterId r:id="rId15"/>
  </p:notesMasterIdLst>
  <p:sldIdLst>
    <p:sldId id="1541" r:id="rId4"/>
    <p:sldId id="1692" r:id="rId5"/>
    <p:sldId id="335" r:id="rId6"/>
    <p:sldId id="329" r:id="rId7"/>
    <p:sldId id="562" r:id="rId8"/>
    <p:sldId id="563" r:id="rId9"/>
    <p:sldId id="306" r:id="rId10"/>
    <p:sldId id="1723" r:id="rId11"/>
    <p:sldId id="1649" r:id="rId12"/>
    <p:sldId id="1642" r:id="rId13"/>
    <p:sldId id="308" r:id="rId14"/>
  </p:sldIdLst>
  <p:sldSz cx="9144000" cy="6858000" type="screen4x3"/>
  <p:notesSz cx="7102475" cy="1023302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 baseline="-250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 hwt" initials="hh" lastIdx="1" clrIdx="0">
    <p:extLst>
      <p:ext uri="{19B8F6BF-5375-455C-9EA6-DF929625EA0E}">
        <p15:presenceInfo xmlns:p15="http://schemas.microsoft.com/office/powerpoint/2012/main" userId="31ad2c1f73f72afa" providerId="Windows Live"/>
      </p:ext>
    </p:extLst>
  </p:cmAuthor>
  <p:cmAuthor id="2" name="HAN" initials="H" lastIdx="3" clrIdx="1">
    <p:extLst>
      <p:ext uri="{19B8F6BF-5375-455C-9EA6-DF929625EA0E}">
        <p15:presenceInfo xmlns:p15="http://schemas.microsoft.com/office/powerpoint/2012/main" userId="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99"/>
    <a:srgbClr val="003399"/>
    <a:srgbClr val="0000FF"/>
    <a:srgbClr val="CCFFFF"/>
    <a:srgbClr val="FFCCFF"/>
    <a:srgbClr val="0074BF"/>
    <a:srgbClr val="A6E0E0"/>
    <a:srgbClr val="CC3300"/>
    <a:srgbClr val="00FF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01" autoAdjust="0"/>
    <p:restoredTop sz="86390" autoAdjust="0"/>
  </p:normalViewPr>
  <p:slideViewPr>
    <p:cSldViewPr>
      <p:cViewPr varScale="1">
        <p:scale>
          <a:sx n="76" d="100"/>
          <a:sy n="76" d="100"/>
        </p:scale>
        <p:origin x="63" y="411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120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096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448" y="0"/>
            <a:ext cx="3079384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7B49EF33-1BF8-49F7-918D-11EE9F04FB28}" type="datetimeFigureOut">
              <a:rPr lang="zh-CN" altLang="en-US"/>
              <a:pPr>
                <a:defRPr/>
              </a:pPr>
              <a:t>2025/9/9</a:t>
            </a:fld>
            <a:endParaRPr lang="en-US" altLang="zh-CN"/>
          </a:p>
        </p:txBody>
      </p:sp>
      <p:sp>
        <p:nvSpPr>
          <p:cNvPr id="3076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48" y="4860687"/>
            <a:ext cx="5681980" cy="4604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9598"/>
            <a:ext cx="3076096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448" y="9719598"/>
            <a:ext cx="3079384" cy="51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57" tIns="49528" rIns="99057" bIns="4952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6616E1B-D57C-4DD9-8C78-E9F14A888E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0490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BD6B8-9E6D-49A1-BE7C-D7662EE87E6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7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36616E1B-D57C-4DD9-8C78-E9F14A888E6F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924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90570">
              <a:defRPr/>
            </a:pPr>
            <a:fld id="{36616E1B-D57C-4DD9-8C78-E9F14A888E6F}" type="slidenum">
              <a:rPr lang="zh-CN" altLang="en-US">
                <a:solidFill>
                  <a:srgbClr val="000000"/>
                </a:solidFill>
              </a:rPr>
              <a:pPr defTabSz="990570">
                <a:defRPr/>
              </a:pPr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249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6616E1B-D57C-4DD9-8C78-E9F14A888E6F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3348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4824"/>
            <a:ext cx="91440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147248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7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29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23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088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36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48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6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321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CB035-BD05-4744-9343-3884CB81EC3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3E52-98D4-4D56-ABFC-FE1EB888D54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269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8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sz="2100" baseline="0"/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206758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13" indent="-214313" algn="just">
              <a:buFont typeface="Wingdings" panose="05000000000000000000" pitchFamily="2" charset="2"/>
              <a:buChar char="n"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57213" indent="-214313" algn="just">
              <a:buFont typeface="Wingdings" panose="05000000000000000000" pitchFamily="2" charset="2"/>
              <a:buChar char="l"/>
              <a:defRPr sz="1800" b="1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900113" indent="-214313" algn="just">
              <a:buFont typeface="Wingdings" panose="05000000000000000000" pitchFamily="2" charset="2"/>
              <a:buChar char="p"/>
              <a:defRPr sz="15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243013" indent="-214313" algn="just">
              <a:buSzPct val="70000"/>
              <a:buFontTx/>
              <a:buChar char="○"/>
              <a:defRPr sz="135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371600" indent="0">
              <a:buFont typeface="Arial" panose="020B0604020202020204" pitchFamily="34" charset="0"/>
              <a:buNone/>
              <a:defRPr sz="12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968D65C-4573-401C-9DCC-EB292F32844A}"/>
              </a:ext>
            </a:extLst>
          </p:cNvPr>
          <p:cNvGrpSpPr/>
          <p:nvPr userDrawn="1"/>
        </p:nvGrpSpPr>
        <p:grpSpPr>
          <a:xfrm>
            <a:off x="0" y="9098"/>
            <a:ext cx="9136612" cy="1008001"/>
            <a:chOff x="0" y="9097"/>
            <a:chExt cx="12182149" cy="100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F90630A7-1272-4641-BDC6-F897162C472C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832304" y="9097"/>
              <a:ext cx="3349845" cy="1008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2C42815-95D7-48D7-ABCE-A43E2E82FE4B}"/>
                </a:ext>
              </a:extLst>
            </p:cNvPr>
            <p:cNvPicPr preferRelativeResize="0">
              <a:picLocks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9098"/>
              <a:ext cx="8832304" cy="1008000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E011B50A-73C6-431B-97B4-062DCE2CF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2" y="148311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1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97963D1D-3856-487F-B351-C10C3F480F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80730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1350" baseline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1013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8401-22E9-4153-B0F5-3C3505E5B3D2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AA37B-31F2-46EE-90A4-68D9AA6A438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257E-55D3-41F0-801A-E3D888A26E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</p:spTree>
    <p:extLst>
      <p:ext uri="{BB962C8B-B14F-4D97-AF65-F5344CB8AC3E}">
        <p14:creationId xmlns:p14="http://schemas.microsoft.com/office/powerpoint/2010/main" val="3821325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1" y="76201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>
              <a:defRPr/>
            </a:pPr>
            <a:endParaRPr lang="zh-CN" altLang="en-US" sz="280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 flipV="1">
            <a:off x="107950" y="908050"/>
            <a:ext cx="8928100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6F37AE24-3830-4517-9653-6328518F98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7504" y="6537325"/>
            <a:ext cx="2286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aseline="0">
                <a:latin typeface="Arial" charset="0"/>
              </a:defRPr>
            </a:lvl1pPr>
          </a:lstStyle>
          <a:p>
            <a:pPr>
              <a:defRPr/>
            </a:pPr>
            <a:fld id="{618C75BF-420F-46A9-BC7D-C03727AB3FB9}" type="datetime1">
              <a:rPr lang="zh-CN" altLang="en-US"/>
              <a:pPr>
                <a:defRPr/>
              </a:pPr>
              <a:t>2025/9/9</a:t>
            </a:fld>
            <a:endParaRPr lang="en-US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974FBB4-4567-4F85-B958-29342F6C74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 dirty="0"/>
              <a:t>Hong An @CS of USTC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10CA8C79-FE15-45BB-8EC0-946A163426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300192" y="6537325"/>
            <a:ext cx="2743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aseline="0"/>
            </a:lvl1pPr>
          </a:lstStyle>
          <a:p>
            <a:pPr>
              <a:defRPr/>
            </a:pPr>
            <a:fld id="{959C821A-6763-4EB6-8588-90DEC9026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C7C778B1-98BA-497F-9A6F-8CA973C8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71438"/>
            <a:ext cx="8911084" cy="76517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B33E05BD-7534-4C38-B833-50EECCD08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981075"/>
            <a:ext cx="8911084" cy="5481638"/>
          </a:xfrm>
        </p:spPr>
        <p:txBody>
          <a:bodyPr/>
          <a:lstStyle>
            <a:lvl1pPr>
              <a:spcBef>
                <a:spcPts val="0"/>
              </a:spcBef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spcBef>
                <a:spcPts val="0"/>
              </a:spcBef>
              <a:defRPr sz="2000" b="1">
                <a:latin typeface="Courier"/>
                <a:ea typeface="仿宋" panose="02010609060101010101" pitchFamily="49" charset="-122"/>
              </a:defRPr>
            </a:lvl2pPr>
            <a:lvl3pPr>
              <a:spcBef>
                <a:spcPts val="0"/>
              </a:spcBef>
              <a:defRPr sz="1800" b="1">
                <a:latin typeface="Corbel" panose="020B0503020204020204" pitchFamily="34" charset="0"/>
                <a:ea typeface="楷体" panose="02010609060101010101" pitchFamily="49" charset="-122"/>
              </a:defRPr>
            </a:lvl3pPr>
            <a:lvl4pPr>
              <a:spcBef>
                <a:spcPts val="0"/>
              </a:spcBef>
              <a:defRPr>
                <a:latin typeface="Courier"/>
                <a:ea typeface="黑体" panose="02010609060101010101" pitchFamily="49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3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757026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FBBF7-0857-4E0C-8BA6-6E15C623885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C0A3BD-B17F-41BC-AD2B-B1F4D871CD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1952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CAC6C-B0AD-4F0E-9446-33370F30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A47DD-4F3B-4B0E-A7D4-817BFF4C49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9171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983934-C491-42A4-BFD4-814AB71EDDF7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012B7-EEC4-4D8F-A0AE-0D024276F3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85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9AC0E-F239-4395-A14B-CA68D9010451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E5A60-ACBF-4E9D-8250-BA2475CAEA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48021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7D333-2B55-4460-872C-65971AEBE282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55E1-15C7-4BC0-8F47-E13BA6600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9777" y="71438"/>
            <a:ext cx="1247775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274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5214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CA26-EDE1-4762-BE66-94A7EAAFB3D1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461BE-3140-4BB3-A330-A3E92F9AD8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31357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1047-FBFB-4E30-BFC4-5930808DCF04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CEF3C-935F-45BB-9C47-4C73976C44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6551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3EDD8-01BB-47F8-8E6D-2645728DF3F1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F2E81-A0D5-41DE-88A7-2A2FFF4DBF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6244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08788" y="71438"/>
            <a:ext cx="2209800" cy="63912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71438"/>
            <a:ext cx="6477000" cy="63912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B442F-28AC-43F0-93B7-FE355784DBDB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735D7-0ECB-4EE2-86E4-B3A13F216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9298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7A132-778D-41EB-A2E6-EEFB736A1018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7858A-8586-41E6-A722-1234A2DFF6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2759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联机映像占位符 2"/>
          <p:cNvSpPr>
            <a:spLocks noGrp="1"/>
          </p:cNvSpPr>
          <p:nvPr>
            <p:ph type="clipArt" sz="half" idx="1"/>
          </p:nvPr>
        </p:nvSpPr>
        <p:spPr>
          <a:xfrm>
            <a:off x="179388" y="981075"/>
            <a:ext cx="4343400" cy="5481638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5188" y="981075"/>
            <a:ext cx="4343400" cy="54816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F1A0903-52F4-47D3-ADE3-F62E555508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96CDB2C5-3689-4810-88D9-6DA7D276F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1F0D04F-F837-41AF-A6FC-E0078EB32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95751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31BBA-FE7C-4F62-B3C7-E67336056C60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F38E4D-F0E0-43A3-B617-D416E3156B7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5212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98A28-4DFA-4C7D-AA6D-588ECA392A64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D0D780-4F10-4C55-ABA5-B7A4E1141A4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9928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ECBB94-72A3-4F7E-8D0F-8B561974B784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0D803B-F55D-4639-A9A6-51FE5515C55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3328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1438" y="981075"/>
            <a:ext cx="4405312" cy="5495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981075"/>
            <a:ext cx="4406900" cy="5495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1EB90-C8DC-4FC8-B9C7-877FBC605CDD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CCCE6-1389-4435-A708-4C8506DB45CD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991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8B895-C429-411E-AC0A-EA1F532A5C3D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9C1799-B72F-4777-9703-8C3963C0CB6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330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D2D2C-50A0-4F7A-B382-B1F7066A5D6E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6EF648-426A-4E86-A5EA-CFC10ED39DD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767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1D8FA-93DB-4C90-9DFA-9177ABA57CFF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40A1D-06C7-47B7-8918-E39BF1BC865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165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1C618-E595-49D6-A378-B69450D6F5D2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BCB7A8-854B-492E-BA11-284BD5CFDC2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0889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E5AEE-AE1E-40A6-9B38-FF485D1932DC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E59F50-62BD-4352-9856-6D880A8F3AD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5945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64C92-6B42-49F2-8347-43DF8515377D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B4C3A1-08C4-4B6C-8645-5822A9C6E0E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7916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6088" y="0"/>
            <a:ext cx="2239962" cy="647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1438" y="0"/>
            <a:ext cx="6572250" cy="647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F2C80-3AD4-42BD-92B0-9ACA53141A8A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8E93B8-3985-4C9B-B292-CB2B50B621E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7367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0"/>
            <a:ext cx="8928100" cy="8366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1438" y="981075"/>
            <a:ext cx="4405312" cy="5495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981075"/>
            <a:ext cx="4406900" cy="5495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85D39-F167-499D-AD89-2EDFCD6B1A54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FDBC5-2B5B-4C7C-AAFC-518162E44B7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3103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>
                <a:solidFill>
                  <a:srgbClr val="000000"/>
                </a:solidFill>
              </a:rPr>
              <a:pPr/>
              <a:t>2025/9/9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2710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6848546" y="6462754"/>
            <a:ext cx="2133600" cy="365125"/>
          </a:xfrm>
          <a:ln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6AC41E2-6E75-4510-A384-33CD3C7209CD}" type="slidenum">
              <a:rPr lang="de-DE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  <p:sp>
        <p:nvSpPr>
          <p:cNvPr id="6" name="Rectangle 11"/>
          <p:cNvSpPr>
            <a:spLocks noChangeArrowheads="1"/>
          </p:cNvSpPr>
          <p:nvPr userDrawn="1"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baseline="0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148307"/>
            <a:ext cx="8928100" cy="76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0" y="980728"/>
            <a:ext cx="9144000" cy="1"/>
          </a:xfrm>
          <a:prstGeom prst="line">
            <a:avLst/>
          </a:prstGeom>
          <a:noFill/>
          <a:ln w="47625" cmpd="thinThick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srgbClr val="000000"/>
              </a:solidFill>
              <a:latin typeface="Arial"/>
              <a:ea typeface="黑体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07504" y="1148565"/>
            <a:ext cx="8874642" cy="525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just">
              <a:buFont typeface="Wingdings" panose="05000000000000000000" pitchFamily="2" charset="2"/>
              <a:buChar char="n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just">
              <a:buFont typeface="Wingdings" panose="05000000000000000000" pitchFamily="2" charset="2"/>
              <a:buChar char="l"/>
              <a:defRPr sz="2000" b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2pPr>
            <a:lvl3pPr marL="1200150" indent="-285750" algn="just">
              <a:buFont typeface="Wingdings" panose="05000000000000000000" pitchFamily="2" charset="2"/>
              <a:buChar char="p"/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 marL="1657350" indent="-285750" algn="just">
              <a:buSzPct val="70000"/>
              <a:buFontTx/>
              <a:buChar char="○"/>
              <a:defRPr sz="1600" b="1"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828800" indent="0">
              <a:buFont typeface="Arial" panose="020B0604020202020204" pitchFamily="34" charset="0"/>
              <a:buNone/>
              <a:defRPr sz="1600" b="1"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2888671331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7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7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548181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132572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81000" y="6537325"/>
            <a:ext cx="22860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A0602-4C1E-4AA8-8FA1-77F1FDCED5FC}" type="datetime1">
              <a:rPr lang="zh-CN" altLang="en-US"/>
              <a:pPr>
                <a:defRPr/>
              </a:pPr>
              <a:t>2025/9/9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553200"/>
            <a:ext cx="3200400" cy="2286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0" y="6537325"/>
            <a:ext cx="27432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BD95A-F8D2-4488-8611-E7B836139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64867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836CB035-BD05-4744-9343-3884CB81EC31}" type="datetimeFigureOut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2025/9/9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CDE13E52-98D4-4D56-ABFC-FE1EB888D54D}" type="slidenum">
              <a:rPr lang="zh-CN" altLang="en-US" baseline="0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zh-CN" altLang="en-US" baseline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244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981075"/>
            <a:ext cx="883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71438"/>
            <a:ext cx="8839200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 flipV="1">
            <a:off x="179388" y="908050"/>
            <a:ext cx="8856662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6F42DEA-B9B9-45D5-96A0-2558790DF8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179512" y="6557698"/>
            <a:ext cx="2286000" cy="224102"/>
          </a:xfrm>
          <a:prstGeom prst="rect">
            <a:avLst/>
          </a:prstGeom>
          <a:ln/>
        </p:spPr>
        <p:txBody>
          <a:bodyPr anchor="ctr"/>
          <a:lstStyle>
            <a:lvl1pPr>
              <a:defRPr sz="1400" baseline="0"/>
            </a:lvl1pPr>
          </a:lstStyle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2025/9/9</a:t>
            </a:fld>
            <a:endParaRPr 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8914DB7-AD12-47E1-81D0-BD8F615DFB5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293296" y="6557698"/>
            <a:ext cx="2743200" cy="224102"/>
          </a:xfrm>
          <a:prstGeom prst="rect">
            <a:avLst/>
          </a:prstGeom>
          <a:ln/>
        </p:spPr>
        <p:txBody>
          <a:bodyPr/>
          <a:lstStyle>
            <a:lvl1pPr algn="r">
              <a:defRPr sz="1400" baseline="0"/>
            </a:lvl1pPr>
          </a:lstStyle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36856612-883B-4082-BA93-A0A90DF38E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71800" y="6572250"/>
            <a:ext cx="32004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aseline="0"/>
            </a:lvl1pPr>
          </a:lstStyle>
          <a:p>
            <a:pPr>
              <a:defRPr/>
            </a:pPr>
            <a:r>
              <a:rPr lang="en-US" altLang="zh-CN"/>
              <a:t>Hong An @CS of USTC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1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anose="02030600000101010101" pitchFamily="18" charset="-127"/>
        <a:buChar char="-"/>
        <a:defRPr sz="24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438" y="981075"/>
            <a:ext cx="8964612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388" y="6537325"/>
            <a:ext cx="2286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FontTx/>
              <a:buNone/>
              <a:defRPr sz="1400">
                <a:latin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fld id="{4D64BDEB-96C1-4D62-8AB5-88566BC85483}" type="datetime1">
              <a:rPr lang="zh-CN" altLang="en-US" baseline="0">
                <a:solidFill>
                  <a:srgbClr val="000000"/>
                </a:solidFill>
                <a:ea typeface="黑体"/>
              </a:rPr>
              <a:pPr fontAlgn="auto">
                <a:spcAft>
                  <a:spcPts val="0"/>
                </a:spcAft>
                <a:defRPr/>
              </a:pPr>
              <a:t>2025/9/9</a:t>
            </a:fld>
            <a:endParaRPr lang="en-US" altLang="zh-CN" baseline="0">
              <a:solidFill>
                <a:srgbClr val="000000"/>
              </a:solidFill>
              <a:ea typeface="黑体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55875" y="6553200"/>
            <a:ext cx="4968875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FontTx/>
              <a:buNone/>
              <a:defRPr sz="1400">
                <a:latin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US" altLang="zh-CN" baseline="0">
              <a:solidFill>
                <a:srgbClr val="000000"/>
              </a:solidFill>
              <a:ea typeface="黑体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51725" y="6537325"/>
            <a:ext cx="1387475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C50A051C-A087-4DAD-A16E-694C670F2CF0}" type="slidenum">
              <a:rPr lang="en-US" altLang="zh-CN" baseline="0">
                <a:solidFill>
                  <a:srgbClr val="000000"/>
                </a:solidFill>
                <a:latin typeface="Arial"/>
                <a:ea typeface="黑体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 altLang="zh-CN" baseline="0">
              <a:solidFill>
                <a:srgbClr val="000000"/>
              </a:solidFill>
              <a:latin typeface="Arial"/>
              <a:ea typeface="黑体"/>
            </a:endParaRPr>
          </a:p>
        </p:txBody>
      </p:sp>
      <p:sp>
        <p:nvSpPr>
          <p:cNvPr id="1032" name="Rectangle 11"/>
          <p:cNvSpPr>
            <a:spLocks noChangeArrowheads="1"/>
          </p:cNvSpPr>
          <p:nvPr/>
        </p:nvSpPr>
        <p:spPr bwMode="auto">
          <a:xfrm>
            <a:off x="304800" y="76200"/>
            <a:ext cx="5410200" cy="9144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1pPr>
            <a:lvl2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2pPr>
            <a:lvl3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3pPr>
            <a:lvl4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4pPr>
            <a:lvl5pPr>
              <a:spcBef>
                <a:spcPct val="0"/>
              </a:spcBef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3399"/>
                </a:solidFill>
                <a:latin typeface="Arial" pitchFamily="34" charset="0"/>
                <a:ea typeface="黑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endParaRPr lang="zh-CN" altLang="en-US" baseline="0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0"/>
            <a:ext cx="8928100" cy="8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 flipV="1">
            <a:off x="107950" y="908050"/>
            <a:ext cx="8928100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baseline="0">
              <a:solidFill>
                <a:srgbClr val="000000"/>
              </a:solidFill>
              <a:latin typeface="Arial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613455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  <p:sldLayoutId id="2147483869" r:id="rId13"/>
    <p:sldLayoutId id="2147483870" r:id="rId14"/>
    <p:sldLayoutId id="2147483871" r:id="rId15"/>
    <p:sldLayoutId id="2147483872" r:id="rId16"/>
    <p:sldLayoutId id="2147483874" r:id="rId17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3399"/>
          </a:solidFill>
          <a:latin typeface="Arial" pitchFamily="34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sz="2400" b="1">
          <a:solidFill>
            <a:schemeClr val="tx1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Gungsuh" pitchFamily="18" charset="-127"/>
        <a:buChar char="-"/>
        <a:defRPr sz="2000" b="1">
          <a:solidFill>
            <a:schemeClr val="tx1"/>
          </a:solidFill>
          <a:latin typeface="+mn-lt"/>
          <a:ea typeface="宋体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hyperlink" Target="https://www.amazon.com/Randal-E.-Bryant/e/B0050BO0LY/ref=dp_byline_cont_book_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35496" y="2204864"/>
            <a:ext cx="9108504" cy="2160240"/>
          </a:xfrm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Chapter 1-2  </a:t>
            </a:r>
            <a:b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Course Implementation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06644" y="5019680"/>
            <a:ext cx="4326248" cy="17936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chemeClr val="bg2">
                    <a:lumMod val="1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ahoma" panose="020B0604030504040204" pitchFamily="34" charset="0"/>
              </a:rPr>
              <a:t>苗付友</a:t>
            </a:r>
            <a:endParaRPr lang="en-US" altLang="zh-CN" sz="3200" b="1" baseline="0" dirty="0">
              <a:solidFill>
                <a:schemeClr val="bg2">
                  <a:lumMod val="1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mfy@ustc.edu.cn</a:t>
            </a:r>
            <a:b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600" b="1" baseline="0" dirty="0">
                <a:solidFill>
                  <a:schemeClr val="bg2">
                    <a:lumMod val="1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2025 Fall</a:t>
            </a:r>
          </a:p>
          <a:p>
            <a:pPr algn="ct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baseline="0" dirty="0">
              <a:solidFill>
                <a:schemeClr val="bg2">
                  <a:lumMod val="1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baseline="0" dirty="0">
                <a:solidFill>
                  <a:srgbClr val="1F497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计算机科学与技术学院</a:t>
            </a:r>
            <a:endParaRPr lang="en-US" altLang="zh-CN" sz="3200" b="1" baseline="0" dirty="0">
              <a:solidFill>
                <a:srgbClr val="1F497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aseline="0" dirty="0">
                <a:solidFill>
                  <a:srgbClr val="1F497D"/>
                </a:solidFill>
                <a:latin typeface="Calibri"/>
                <a:ea typeface="华文新魏" panose="02010800040101010101" pitchFamily="2" charset="-122"/>
              </a:rPr>
              <a:t>School of Computer Science and Technology</a:t>
            </a:r>
            <a:endParaRPr lang="zh-CN" altLang="en-US" baseline="0" dirty="0">
              <a:solidFill>
                <a:srgbClr val="1F497D"/>
              </a:solidFill>
              <a:latin typeface="Calibri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32039" y="404664"/>
            <a:ext cx="41376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2800" b="1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计算机系统概论</a:t>
            </a:r>
            <a:endParaRPr lang="en-US" altLang="zh-CN" sz="2800" b="1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to Computing Systems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CS1002A.02</a:t>
            </a:r>
            <a:r>
              <a:rPr lang="zh-CN" altLang="en-US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2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Text Book</a:t>
            </a:r>
            <a:endParaRPr lang="zh-CN" altLang="en-US" dirty="0"/>
          </a:p>
        </p:txBody>
      </p:sp>
      <p:sp>
        <p:nvSpPr>
          <p:cNvPr id="1034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" y="981075"/>
            <a:ext cx="5256709" cy="548163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dirty="0"/>
              <a:t>Introduction to computer architecture(ISA)</a:t>
            </a: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Courier"/>
              </a:rPr>
              <a:t>How is data represented?</a:t>
            </a: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Courier"/>
              </a:rPr>
              <a:t>What are the pieces of a computer?</a:t>
            </a: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Courier"/>
              </a:rPr>
              <a:t>How do computers work?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Programming</a:t>
            </a: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Courier"/>
              </a:rPr>
              <a:t>How do I "talk" directly to the machine?-Assembly  language</a:t>
            </a: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Courier"/>
              </a:rPr>
              <a:t>How do I program in “C”?-high level language(HLL)</a:t>
            </a:r>
          </a:p>
          <a:p>
            <a:pPr>
              <a:spcBef>
                <a:spcPts val="0"/>
              </a:spcBef>
            </a:pPr>
            <a:r>
              <a:rPr lang="en-US" altLang="zh-CN" dirty="0"/>
              <a:t>Computer systems and computation</a:t>
            </a:r>
          </a:p>
          <a:p>
            <a:pPr lvl="1">
              <a:spcBef>
                <a:spcPts val="0"/>
              </a:spcBef>
            </a:pPr>
            <a:r>
              <a:rPr lang="en-US" altLang="zh-CN" sz="2000" dirty="0">
                <a:latin typeface="Courier"/>
              </a:rPr>
              <a:t>How do simple HW/SW elements come together to realize complex computations?</a:t>
            </a:r>
            <a:endParaRPr lang="zh-CN" altLang="en-US" sz="2000" dirty="0">
              <a:latin typeface="Courier"/>
            </a:endParaRPr>
          </a:p>
        </p:txBody>
      </p:sp>
      <p:sp>
        <p:nvSpPr>
          <p:cNvPr id="19" name="日期占位符 3">
            <a:extLst>
              <a:ext uri="{FF2B5EF4-FFF2-40B4-BE49-F238E27FC236}">
                <a16:creationId xmlns:a16="http://schemas.microsoft.com/office/drawing/2014/main" id="{CEC25319-DC28-4F59-874C-A2BAC33292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>
            <a:extLst>
              <a:ext uri="{FF2B5EF4-FFF2-40B4-BE49-F238E27FC236}">
                <a16:creationId xmlns:a16="http://schemas.microsoft.com/office/drawing/2014/main" id="{4C368CCF-819F-4CE1-B4F6-DC7A1151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-2500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TextBox 29"/>
          <p:cNvSpPr txBox="1">
            <a:spLocks noChangeArrowheads="1"/>
          </p:cNvSpPr>
          <p:nvPr/>
        </p:nvSpPr>
        <p:spPr bwMode="auto">
          <a:xfrm>
            <a:off x="5398791" y="4337557"/>
            <a:ext cx="3543610" cy="21236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5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Introduction to Computing Systems: from bits and gates to C/C++and beyond(3nd edition), 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65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Yale N. </a:t>
            </a:r>
            <a:r>
              <a:rPr kumimoji="0" lang="en-US" altLang="zh-CN" sz="16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Patt</a:t>
            </a:r>
            <a:r>
              <a:rPr kumimoji="0" lang="en-US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and Sanjay J. Patel</a:t>
            </a:r>
            <a:r>
              <a:rPr kumimoji="0" lang="zh-CN" alt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 </a:t>
            </a:r>
            <a:r>
              <a:rPr kumimoji="0" lang="en-US" altLang="zh-CN" sz="16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September 2019, McGraw-Hill Higher Education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570" y="1430885"/>
            <a:ext cx="1552231" cy="2010420"/>
          </a:xfrm>
          <a:prstGeom prst="rect">
            <a:avLst/>
          </a:prstGeom>
        </p:spPr>
      </p:pic>
      <p:pic>
        <p:nvPicPr>
          <p:cNvPr id="10" name="Picture 7" descr="pp_cov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060" y="1939221"/>
            <a:ext cx="1638822" cy="189000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âIntroduction to Computing Systems: From Bits &amp; Gates to C &amp; Beyondâï¼ä½èï¼[Patt, Yale]">
            <a:extLst>
              <a:ext uri="{FF2B5EF4-FFF2-40B4-BE49-F238E27FC236}">
                <a16:creationId xmlns:a16="http://schemas.microsoft.com/office/drawing/2014/main" id="{3090B2E4-A53A-42DF-BFE9-324FEC021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468" y="2360817"/>
            <a:ext cx="1582933" cy="189800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315" y="92597"/>
            <a:ext cx="2022158" cy="167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3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Text Book Components</a:t>
            </a:r>
            <a:endParaRPr lang="zh-CN" altLang="en-US" dirty="0"/>
          </a:p>
        </p:txBody>
      </p:sp>
      <p:sp>
        <p:nvSpPr>
          <p:cNvPr id="1044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Part 1: Hardware(Chapter 1-4)</a:t>
            </a:r>
          </a:p>
          <a:p>
            <a:pPr lvl="1"/>
            <a:r>
              <a:rPr lang="en-US" altLang="zh-CN" dirty="0"/>
              <a:t>Representing data, transistors, gates, digital logic structures</a:t>
            </a:r>
          </a:p>
          <a:p>
            <a:pPr lvl="1"/>
            <a:r>
              <a:rPr lang="en-US" altLang="zh-CN" dirty="0"/>
              <a:t>von Neumann machine model</a:t>
            </a:r>
          </a:p>
          <a:p>
            <a:r>
              <a:rPr lang="en-US" altLang="zh-CN" dirty="0"/>
              <a:t>Part 2: Software: Assembly language(Chapter 5-10)</a:t>
            </a:r>
          </a:p>
          <a:p>
            <a:pPr lvl="1"/>
            <a:r>
              <a:rPr lang="en-US" altLang="zh-CN" dirty="0"/>
              <a:t>Instructions, (structured) programming, input/output, </a:t>
            </a:r>
            <a:r>
              <a:rPr lang="en-US" altLang="zh-CN" i="1" dirty="0"/>
              <a:t>relationship to hardware</a:t>
            </a:r>
          </a:p>
          <a:p>
            <a:r>
              <a:rPr lang="en-US" altLang="zh-CN" dirty="0"/>
              <a:t>Part 3: Software: C programming(Chapter11-19), selected</a:t>
            </a:r>
          </a:p>
          <a:p>
            <a:pPr lvl="1"/>
            <a:r>
              <a:rPr lang="en-US" altLang="zh-CN" dirty="0"/>
              <a:t>Syntax, operators, control structures, functions, </a:t>
            </a:r>
            <a:r>
              <a:rPr lang="en-US" altLang="zh-CN" i="1" err="1"/>
              <a:t>pointers</a:t>
            </a:r>
            <a:r>
              <a:rPr lang="en-US" altLang="zh-CN"/>
              <a:t>, recursion</a:t>
            </a:r>
            <a:r>
              <a:rPr lang="en-US" altLang="zh-CN" dirty="0"/>
              <a:t>, data structures, </a:t>
            </a:r>
            <a:r>
              <a:rPr lang="en-US" altLang="zh-CN" i="1" dirty="0"/>
              <a:t>relationship to assembly language</a:t>
            </a:r>
          </a:p>
          <a:p>
            <a:pPr lvl="1"/>
            <a:r>
              <a:rPr lang="en-US" altLang="zh-CN" dirty="0"/>
              <a:t>Assume already familiar with programming (C)</a:t>
            </a:r>
            <a:endParaRPr lang="zh-CN" altLang="en-US" dirty="0"/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BF8FE774-C6AE-4DB6-911D-F64101EF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4C362858-0414-4CFC-A1C3-312E5FBD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This Course Focused on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54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981075"/>
            <a:ext cx="8839200" cy="52562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Chapt</a:t>
            </a:r>
            <a:r>
              <a:rPr lang="en-US" altLang="zh-CN" dirty="0">
                <a:ea typeface="宋体" panose="02010600030101010101" pitchFamily="2" charset="-122"/>
              </a:rPr>
              <a:t> 2 Bits and Bytes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How do we represent information using electrical signals?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Chapt</a:t>
            </a:r>
            <a:r>
              <a:rPr lang="en-US" altLang="zh-CN" dirty="0">
                <a:ea typeface="宋体" panose="02010600030101010101" pitchFamily="2" charset="-122"/>
              </a:rPr>
              <a:t> 3 Digital Logic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How do we build circuits to process information?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Chapt</a:t>
            </a:r>
            <a:r>
              <a:rPr lang="en-US" altLang="zh-CN" dirty="0">
                <a:ea typeface="宋体" panose="02010600030101010101" pitchFamily="2" charset="-122"/>
              </a:rPr>
              <a:t> 4, 5, 6 Computer Machine Model, Processor and Instruction Set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How do we build a processor out of logic elements?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What operations (instructions) will we implement?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Chapt</a:t>
            </a:r>
            <a:r>
              <a:rPr lang="en-US" altLang="zh-CN" dirty="0">
                <a:ea typeface="宋体" panose="02010600030101010101" pitchFamily="2" charset="-122"/>
              </a:rPr>
              <a:t> 7 Assembly Language Programming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How do we use processor instructions to implement algorithms?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How do we write modular, reusable code?  (subroutines)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Chapt</a:t>
            </a:r>
            <a:r>
              <a:rPr lang="en-US" altLang="zh-CN" dirty="0">
                <a:ea typeface="宋体" panose="02010600030101010101" pitchFamily="2" charset="-122"/>
              </a:rPr>
              <a:t> 8,9,10  I/O, Traps, and Interrupts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How does processor communicate with outside world?</a:t>
            </a:r>
          </a:p>
          <a:p>
            <a:pPr>
              <a:lnSpc>
                <a:spcPct val="90000"/>
              </a:lnSpc>
            </a:pPr>
            <a:r>
              <a:rPr lang="en-US" altLang="zh-CN" dirty="0" err="1"/>
              <a:t>Chapt</a:t>
            </a:r>
            <a:r>
              <a:rPr lang="en-US" altLang="zh-CN" dirty="0"/>
              <a:t> 11, C </a:t>
            </a:r>
            <a:r>
              <a:rPr lang="en-US" altLang="zh-CN" dirty="0" err="1"/>
              <a:t>Implemention</a:t>
            </a:r>
            <a:r>
              <a:rPr lang="en-US" altLang="zh-CN" dirty="0"/>
              <a:t> related to Hardware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9AD63CBD-31B0-45D9-816A-DCF48C31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F88401-22E9-4153-B0F5-3C3505E5B3D2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C1DFD45A-B2AF-460F-A2E4-88151818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</p:spPr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83AA37B-31F2-46EE-90A4-68D9AA6A438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en-US" altLang="zh-CN" dirty="0"/>
              <a:t>Other Reference Text Books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E09A7FD-EAC9-4176-9094-D1E041DE029A}"/>
              </a:ext>
            </a:extLst>
          </p:cNvPr>
          <p:cNvGrpSpPr/>
          <p:nvPr/>
        </p:nvGrpSpPr>
        <p:grpSpPr>
          <a:xfrm>
            <a:off x="209605" y="1089000"/>
            <a:ext cx="8898899" cy="5508032"/>
            <a:chOff x="209605" y="1089000"/>
            <a:chExt cx="8898899" cy="5508032"/>
          </a:xfrm>
        </p:grpSpPr>
        <p:pic>
          <p:nvPicPr>
            <p:cNvPr id="82" name="Picture 2" descr="âIntroduction to Computing Systems: From Bits &amp; Gates to C &amp; Beyondâï¼ä½èï¼[Patt, Yale]">
              <a:extLst>
                <a:ext uri="{FF2B5EF4-FFF2-40B4-BE49-F238E27FC236}">
                  <a16:creationId xmlns:a16="http://schemas.microsoft.com/office/drawing/2014/main" id="{D2C7B572-0DB0-4D25-8EF6-2E334D289D97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605" y="1089000"/>
              <a:ext cx="2160000" cy="255600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6" descr="https://images-na.ssl-images-amazon.com/images/I/51iED7dd3bL._SX423_BO1,204,203,200_.jpg">
              <a:extLst>
                <a:ext uri="{FF2B5EF4-FFF2-40B4-BE49-F238E27FC236}">
                  <a16:creationId xmlns:a16="http://schemas.microsoft.com/office/drawing/2014/main" id="{A473021B-71E9-4013-B03D-075D23FFB46F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1291" y="1089000"/>
              <a:ext cx="2160000" cy="255600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" name="单圆角矩形 20">
              <a:extLst>
                <a:ext uri="{FF2B5EF4-FFF2-40B4-BE49-F238E27FC236}">
                  <a16:creationId xmlns:a16="http://schemas.microsoft.com/office/drawing/2014/main" id="{0C70AA34-8AEF-438C-AB5F-30360F4FD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291" y="3717032"/>
              <a:ext cx="2160000" cy="2880000"/>
            </a:xfrm>
            <a:custGeom>
              <a:avLst/>
              <a:gdLst>
                <a:gd name="T0" fmla="*/ 0 w 3486972"/>
                <a:gd name="T1" fmla="*/ 0 h 2329590"/>
                <a:gd name="T2" fmla="*/ 3245238 w 3486972"/>
                <a:gd name="T3" fmla="*/ 0 h 2329590"/>
                <a:gd name="T4" fmla="*/ 3485328 w 3486972"/>
                <a:gd name="T5" fmla="*/ 240382 h 2329590"/>
                <a:gd name="T6" fmla="*/ 3485328 w 3486972"/>
                <a:gd name="T7" fmla="*/ 2331310 h 2329590"/>
                <a:gd name="T8" fmla="*/ 0 w 3486972"/>
                <a:gd name="T9" fmla="*/ 2331310 h 2329590"/>
                <a:gd name="T10" fmla="*/ 0 w 3486972"/>
                <a:gd name="T11" fmla="*/ 0 h 23295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86972" h="2329590">
                  <a:moveTo>
                    <a:pt x="0" y="0"/>
                  </a:moveTo>
                  <a:lnTo>
                    <a:pt x="3246768" y="0"/>
                  </a:lnTo>
                  <a:cubicBezTo>
                    <a:pt x="3379429" y="0"/>
                    <a:pt x="3486972" y="107543"/>
                    <a:pt x="3486972" y="240204"/>
                  </a:cubicBezTo>
                  <a:lnTo>
                    <a:pt x="3486972" y="2329590"/>
                  </a:lnTo>
                  <a:lnTo>
                    <a:pt x="0" y="2329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C40"/>
            </a:soli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 typeface="Arial" charset="0"/>
                <a:buNone/>
                <a:defRPr/>
              </a:pPr>
              <a:endParaRPr lang="zh-CN" altLang="en-US" sz="1400" kern="0" baseline="0">
                <a:solidFill>
                  <a:srgbClr val="005E5E"/>
                </a:solidFill>
                <a:latin typeface="Arial"/>
                <a:ea typeface="宋体" charset="-122"/>
              </a:endParaRPr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51EC0A14-63D7-447A-8BC5-7B297EDA150F}"/>
                </a:ext>
              </a:extLst>
            </p:cNvPr>
            <p:cNvGrpSpPr/>
            <p:nvPr/>
          </p:nvGrpSpPr>
          <p:grpSpPr>
            <a:xfrm>
              <a:off x="5358520" y="3245844"/>
              <a:ext cx="734725" cy="736600"/>
              <a:chOff x="4219631" y="3978102"/>
              <a:chExt cx="734725" cy="736600"/>
            </a:xfrm>
          </p:grpSpPr>
          <p:sp>
            <p:nvSpPr>
              <p:cNvPr id="89" name="椭圆 23">
                <a:extLst>
                  <a:ext uri="{FF2B5EF4-FFF2-40B4-BE49-F238E27FC236}">
                    <a16:creationId xmlns:a16="http://schemas.microsoft.com/office/drawing/2014/main" id="{88738B99-3DE5-42D0-88A4-4C1EB870E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631" y="3978102"/>
                <a:ext cx="734725" cy="736600"/>
              </a:xfrm>
              <a:prstGeom prst="ellipse">
                <a:avLst/>
              </a:prstGeom>
              <a:solidFill>
                <a:srgbClr val="004C40"/>
              </a:solidFill>
              <a:ln w="381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tIns="144000" b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charset="0"/>
                  <a:buNone/>
                  <a:defRPr/>
                </a:pPr>
                <a:endParaRPr lang="zh-CN" altLang="en-US" sz="2400" kern="0" baseline="0">
                  <a:solidFill>
                    <a:srgbClr val="005E5E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90" name="TextBox 26">
                <a:extLst>
                  <a:ext uri="{FF2B5EF4-FFF2-40B4-BE49-F238E27FC236}">
                    <a16:creationId xmlns:a16="http://schemas.microsoft.com/office/drawing/2014/main" id="{ECDDA78E-B0F3-4959-A828-2D7E2C75D0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559" y="4010175"/>
                <a:ext cx="457021" cy="514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144000" bIns="0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buFont typeface="Arial" charset="0"/>
                  <a:buNone/>
                </a:pPr>
                <a:r>
                  <a:rPr lang="en-US" altLang="zh-CN" sz="2400" b="1" baseline="0" dirty="0">
                    <a:solidFill>
                      <a:srgbClr val="F8F8F8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3</a:t>
                </a:r>
                <a:endParaRPr lang="zh-CN" altLang="en-US" sz="2400" b="1" baseline="0" dirty="0">
                  <a:solidFill>
                    <a:srgbClr val="F8F8F8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88" name="TextBox 29">
              <a:extLst>
                <a:ext uri="{FF2B5EF4-FFF2-40B4-BE49-F238E27FC236}">
                  <a16:creationId xmlns:a16="http://schemas.microsoft.com/office/drawing/2014/main" id="{05C3FEBA-5C01-4388-9E43-44A3D838F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572" y="4004864"/>
              <a:ext cx="2162012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400" b="1" i="1" baseline="0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Computer Science Illuminated(5th Edition) , </a:t>
              </a:r>
            </a:p>
            <a:p>
              <a:endParaRPr lang="en-US" altLang="zh-CN" sz="1400" b="1" i="1" baseline="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baseline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D. M. Harris, S. L. Harris, Morgan Kaufmann, San Francisco, 2007 </a:t>
              </a:r>
            </a:p>
          </p:txBody>
        </p:sp>
        <p:pic>
          <p:nvPicPr>
            <p:cNvPr id="92" name="Picture 2" descr="https://images-na.ssl-images-amazon.com/images/I/61XN9HujpTL._SX359_BO1,204,203,200_.jpg">
              <a:extLst>
                <a:ext uri="{FF2B5EF4-FFF2-40B4-BE49-F238E27FC236}">
                  <a16:creationId xmlns:a16="http://schemas.microsoft.com/office/drawing/2014/main" id="{AA3EC34E-80E0-4C2C-84F9-B5B31DF14D84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0448" y="1089000"/>
              <a:ext cx="2160000" cy="255600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单圆角矩形 19">
              <a:extLst>
                <a:ext uri="{FF2B5EF4-FFF2-40B4-BE49-F238E27FC236}">
                  <a16:creationId xmlns:a16="http://schemas.microsoft.com/office/drawing/2014/main" id="{B1B7A864-CDFE-42B3-A0F3-A5E411915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448" y="3717032"/>
              <a:ext cx="2160000" cy="2880000"/>
            </a:xfrm>
            <a:custGeom>
              <a:avLst/>
              <a:gdLst>
                <a:gd name="T0" fmla="*/ 0 w 3486972"/>
                <a:gd name="T1" fmla="*/ 0 h 2329590"/>
                <a:gd name="T2" fmla="*/ 3245238 w 3486972"/>
                <a:gd name="T3" fmla="*/ 0 h 2329590"/>
                <a:gd name="T4" fmla="*/ 3485328 w 3486972"/>
                <a:gd name="T5" fmla="*/ 240382 h 2329590"/>
                <a:gd name="T6" fmla="*/ 3485328 w 3486972"/>
                <a:gd name="T7" fmla="*/ 2331310 h 2329590"/>
                <a:gd name="T8" fmla="*/ 0 w 3486972"/>
                <a:gd name="T9" fmla="*/ 2331310 h 2329590"/>
                <a:gd name="T10" fmla="*/ 0 w 3486972"/>
                <a:gd name="T11" fmla="*/ 0 h 23295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86972" h="2329590">
                  <a:moveTo>
                    <a:pt x="0" y="0"/>
                  </a:moveTo>
                  <a:lnTo>
                    <a:pt x="3246768" y="0"/>
                  </a:lnTo>
                  <a:cubicBezTo>
                    <a:pt x="3379429" y="0"/>
                    <a:pt x="3486972" y="107543"/>
                    <a:pt x="3486972" y="240204"/>
                  </a:cubicBezTo>
                  <a:lnTo>
                    <a:pt x="3486972" y="2329590"/>
                  </a:lnTo>
                  <a:lnTo>
                    <a:pt x="0" y="2329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33"/>
            </a:soli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5E5E"/>
                </a:solidFill>
                <a:effectLst/>
                <a:uLnTx/>
                <a:uFillTx/>
                <a:latin typeface="Arial"/>
                <a:ea typeface="宋体" charset="-122"/>
              </a:endParaRPr>
            </a:p>
          </p:txBody>
        </p:sp>
        <p:sp>
          <p:nvSpPr>
            <p:cNvPr id="97" name="椭圆 22">
              <a:extLst>
                <a:ext uri="{FF2B5EF4-FFF2-40B4-BE49-F238E27FC236}">
                  <a16:creationId xmlns:a16="http://schemas.microsoft.com/office/drawing/2014/main" id="{BEB76686-C12D-49D9-AE42-06D77E36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5565" y="3245844"/>
              <a:ext cx="736313" cy="736600"/>
            </a:xfrm>
            <a:prstGeom prst="ellipse">
              <a:avLst/>
            </a:prstGeom>
            <a:solidFill>
              <a:srgbClr val="8CC344"/>
            </a:solidFill>
            <a:ln w="38100">
              <a:solidFill>
                <a:srgbClr val="FFFFFF"/>
              </a:solidFill>
              <a:round/>
              <a:headEnd/>
              <a:tailEnd/>
            </a:ln>
          </p:spPr>
          <p:txBody>
            <a:bodyPr wrap="none" tIns="72000" bIns="612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5E5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98" name="TextBox 25">
              <a:extLst>
                <a:ext uri="{FF2B5EF4-FFF2-40B4-BE49-F238E27FC236}">
                  <a16:creationId xmlns:a16="http://schemas.microsoft.com/office/drawing/2014/main" id="{9567523B-6885-445A-94E0-AC692F170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5210" y="3429478"/>
              <a:ext cx="4570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</a:rPr>
                <a:t>2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96" name="TextBox 28">
              <a:extLst>
                <a:ext uri="{FF2B5EF4-FFF2-40B4-BE49-F238E27FC236}">
                  <a16:creationId xmlns:a16="http://schemas.microsoft.com/office/drawing/2014/main" id="{30485263-FABD-4691-AB09-307EFB64D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3721" y="4077152"/>
              <a:ext cx="2139690" cy="2246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The Once and Future Turing: Computing the World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 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1st Edition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），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endParaRPr>
            </a:p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S. Barry Cooper, Andrew Hodges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，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Cambridge University Press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，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2016</a:t>
              </a:r>
            </a:p>
          </p:txBody>
        </p:sp>
        <p:pic>
          <p:nvPicPr>
            <p:cNvPr id="100" name="Picture 10" descr="https://images-na.ssl-images-amazon.com/images/I/41AoUQujOCL._SX387_BO1,204,203,200_.jpg">
              <a:extLst>
                <a:ext uri="{FF2B5EF4-FFF2-40B4-BE49-F238E27FC236}">
                  <a16:creationId xmlns:a16="http://schemas.microsoft.com/office/drawing/2014/main" id="{AF1D4DD5-C2B9-4356-B7CE-F297AEC0E543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135" y="1089000"/>
              <a:ext cx="2160000" cy="255600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单圆角矩形 19">
              <a:extLst>
                <a:ext uri="{FF2B5EF4-FFF2-40B4-BE49-F238E27FC236}">
                  <a16:creationId xmlns:a16="http://schemas.microsoft.com/office/drawing/2014/main" id="{73922BAA-6812-4BD5-BCC2-432617719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2135" y="3717032"/>
              <a:ext cx="2160000" cy="2880000"/>
            </a:xfrm>
            <a:custGeom>
              <a:avLst/>
              <a:gdLst>
                <a:gd name="T0" fmla="*/ 0 w 3486972"/>
                <a:gd name="T1" fmla="*/ 0 h 2329590"/>
                <a:gd name="T2" fmla="*/ 3245238 w 3486972"/>
                <a:gd name="T3" fmla="*/ 0 h 2329590"/>
                <a:gd name="T4" fmla="*/ 3485328 w 3486972"/>
                <a:gd name="T5" fmla="*/ 240382 h 2329590"/>
                <a:gd name="T6" fmla="*/ 3485328 w 3486972"/>
                <a:gd name="T7" fmla="*/ 2331310 h 2329590"/>
                <a:gd name="T8" fmla="*/ 0 w 3486972"/>
                <a:gd name="T9" fmla="*/ 2331310 h 2329590"/>
                <a:gd name="T10" fmla="*/ 0 w 3486972"/>
                <a:gd name="T11" fmla="*/ 0 h 23295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86972" h="2329590">
                  <a:moveTo>
                    <a:pt x="0" y="0"/>
                  </a:moveTo>
                  <a:lnTo>
                    <a:pt x="3246768" y="0"/>
                  </a:lnTo>
                  <a:cubicBezTo>
                    <a:pt x="3379429" y="0"/>
                    <a:pt x="3486972" y="107543"/>
                    <a:pt x="3486972" y="240204"/>
                  </a:cubicBezTo>
                  <a:lnTo>
                    <a:pt x="3486972" y="2329590"/>
                  </a:lnTo>
                  <a:lnTo>
                    <a:pt x="0" y="2329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33"/>
            </a:soli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Font typeface="Arial" charset="0"/>
                <a:buNone/>
                <a:defRPr/>
              </a:pPr>
              <a:endParaRPr lang="zh-CN" altLang="en-US" sz="1400" kern="0" baseline="0">
                <a:solidFill>
                  <a:srgbClr val="005E5E"/>
                </a:solidFill>
                <a:latin typeface="Arial"/>
                <a:ea typeface="宋体" charset="-122"/>
              </a:endParaRPr>
            </a:p>
          </p:txBody>
        </p:sp>
        <p:grpSp>
          <p:nvGrpSpPr>
            <p:cNvPr id="102" name="组合 101">
              <a:extLst>
                <a:ext uri="{FF2B5EF4-FFF2-40B4-BE49-F238E27FC236}">
                  <a16:creationId xmlns:a16="http://schemas.microsoft.com/office/drawing/2014/main" id="{4B247AEF-E231-4AE4-9DBF-3266B2509AD0}"/>
                </a:ext>
              </a:extLst>
            </p:cNvPr>
            <p:cNvGrpSpPr/>
            <p:nvPr/>
          </p:nvGrpSpPr>
          <p:grpSpPr>
            <a:xfrm>
              <a:off x="7579888" y="3245844"/>
              <a:ext cx="736313" cy="736600"/>
              <a:chOff x="899592" y="3978102"/>
              <a:chExt cx="736313" cy="736600"/>
            </a:xfrm>
          </p:grpSpPr>
          <p:sp>
            <p:nvSpPr>
              <p:cNvPr id="104" name="椭圆 22">
                <a:extLst>
                  <a:ext uri="{FF2B5EF4-FFF2-40B4-BE49-F238E27FC236}">
                    <a16:creationId xmlns:a16="http://schemas.microsoft.com/office/drawing/2014/main" id="{0989F4DB-9849-4FAC-AE24-5C8A6183B6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592" y="3978102"/>
                <a:ext cx="736313" cy="736600"/>
              </a:xfrm>
              <a:prstGeom prst="ellipse">
                <a:avLst/>
              </a:prstGeom>
              <a:solidFill>
                <a:srgbClr val="8CC344"/>
              </a:solidFill>
              <a:ln w="381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 tIns="144000" bIns="0"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buFont typeface="Arial" charset="0"/>
                  <a:buNone/>
                  <a:defRPr/>
                </a:pPr>
                <a:endParaRPr lang="zh-CN" altLang="en-US" sz="2400" kern="0" baseline="0">
                  <a:solidFill>
                    <a:srgbClr val="005E5E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  <p:sp>
            <p:nvSpPr>
              <p:cNvPr id="105" name="TextBox 25">
                <a:extLst>
                  <a:ext uri="{FF2B5EF4-FFF2-40B4-BE49-F238E27FC236}">
                    <a16:creationId xmlns:a16="http://schemas.microsoft.com/office/drawing/2014/main" id="{12A9A66D-0780-460D-A2E6-FB8A2D7D77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9242" y="4010175"/>
                <a:ext cx="457021" cy="514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144000" bIns="0" anchor="ctr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>
                  <a:buFont typeface="Arial" charset="0"/>
                  <a:buNone/>
                </a:pPr>
                <a:r>
                  <a:rPr lang="en-US" altLang="zh-CN" sz="2400" b="1" baseline="0" dirty="0">
                    <a:solidFill>
                      <a:srgbClr val="F8F8F8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4</a:t>
                </a:r>
                <a:endParaRPr lang="zh-CN" altLang="en-US" sz="2400" b="1" baseline="0" dirty="0">
                  <a:solidFill>
                    <a:srgbClr val="F8F8F8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03" name="TextBox 28">
              <a:extLst>
                <a:ext uri="{FF2B5EF4-FFF2-40B4-BE49-F238E27FC236}">
                  <a16:creationId xmlns:a16="http://schemas.microsoft.com/office/drawing/2014/main" id="{9C95400A-2A56-4E0C-B76D-EF55460B1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68044" y="3933056"/>
              <a:ext cx="2240460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400" b="1" i="1" baseline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Computer Systems: A Programmer</a:t>
              </a:r>
              <a:r>
                <a:rPr lang="en-US" altLang="zh-CN" sz="1400" b="1" i="1" baseline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hlinkClick r:id="rId7"/>
                </a:rPr>
                <a:t>‘</a:t>
              </a:r>
              <a:r>
                <a:rPr lang="en-US" altLang="zh-CN" sz="1400" b="1" i="1" baseline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 Perspective </a:t>
              </a:r>
              <a:r>
                <a:rPr lang="en-US" altLang="zh-CN" sz="1400" b="1" baseline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(3rd Edition) </a:t>
              </a:r>
              <a:r>
                <a:rPr lang="zh-CN" altLang="en-US" sz="1400" b="1" baseline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endParaRPr lang="en-US" altLang="zh-CN" sz="1400" b="1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baseline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Randal E. Bryant, David R. </a:t>
              </a:r>
              <a:r>
                <a:rPr lang="en-US" altLang="zh-CN" sz="1400" baseline="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O’Hallaron</a:t>
              </a:r>
              <a:r>
                <a:rPr lang="zh-CN" altLang="en-US" sz="1400" baseline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400" baseline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Pearson Education Inc.</a:t>
              </a:r>
              <a:r>
                <a:rPr lang="zh-CN" altLang="en-US" sz="1400" baseline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400" baseline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2016 </a:t>
              </a:r>
              <a:endParaRPr lang="zh-CN" altLang="en-US" sz="1400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单圆角矩形 20">
              <a:extLst>
                <a:ext uri="{FF2B5EF4-FFF2-40B4-BE49-F238E27FC236}">
                  <a16:creationId xmlns:a16="http://schemas.microsoft.com/office/drawing/2014/main" id="{FB78D902-1FCB-42DC-B319-C6B9455E6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605" y="3717032"/>
              <a:ext cx="2160000" cy="2880000"/>
            </a:xfrm>
            <a:custGeom>
              <a:avLst/>
              <a:gdLst>
                <a:gd name="T0" fmla="*/ 0 w 3486972"/>
                <a:gd name="T1" fmla="*/ 0 h 2329590"/>
                <a:gd name="T2" fmla="*/ 3245238 w 3486972"/>
                <a:gd name="T3" fmla="*/ 0 h 2329590"/>
                <a:gd name="T4" fmla="*/ 3485328 w 3486972"/>
                <a:gd name="T5" fmla="*/ 240382 h 2329590"/>
                <a:gd name="T6" fmla="*/ 3485328 w 3486972"/>
                <a:gd name="T7" fmla="*/ 2331310 h 2329590"/>
                <a:gd name="T8" fmla="*/ 0 w 3486972"/>
                <a:gd name="T9" fmla="*/ 2331310 h 2329590"/>
                <a:gd name="T10" fmla="*/ 0 w 3486972"/>
                <a:gd name="T11" fmla="*/ 0 h 23295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86972" h="2329590">
                  <a:moveTo>
                    <a:pt x="0" y="0"/>
                  </a:moveTo>
                  <a:lnTo>
                    <a:pt x="3246768" y="0"/>
                  </a:lnTo>
                  <a:cubicBezTo>
                    <a:pt x="3379429" y="0"/>
                    <a:pt x="3486972" y="107543"/>
                    <a:pt x="3486972" y="240204"/>
                  </a:cubicBezTo>
                  <a:lnTo>
                    <a:pt x="3486972" y="2329590"/>
                  </a:lnTo>
                  <a:lnTo>
                    <a:pt x="0" y="2329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5E5E"/>
                </a:solidFill>
                <a:effectLst/>
                <a:uLnTx/>
                <a:uFillTx/>
                <a:latin typeface="Arial"/>
                <a:ea typeface="宋体" charset="-122"/>
              </a:endParaRPr>
            </a:p>
          </p:txBody>
        </p:sp>
        <p:sp>
          <p:nvSpPr>
            <p:cNvPr id="108" name="椭圆 23">
              <a:extLst>
                <a:ext uri="{FF2B5EF4-FFF2-40B4-BE49-F238E27FC236}">
                  <a16:creationId xmlns:a16="http://schemas.microsoft.com/office/drawing/2014/main" id="{620E3CD2-C82B-41BF-AE3B-3CB52A2F6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198" y="3245844"/>
              <a:ext cx="734725" cy="736600"/>
            </a:xfrm>
            <a:prstGeom prst="ellipse">
              <a:avLst/>
            </a:prstGeom>
            <a:solidFill>
              <a:srgbClr val="004C40"/>
            </a:solidFill>
            <a:ln w="38100">
              <a:solidFill>
                <a:srgbClr val="FFFFFF"/>
              </a:solidFill>
              <a:round/>
              <a:headEnd/>
              <a:tailEnd/>
            </a:ln>
          </p:spPr>
          <p:txBody>
            <a:bodyPr tIns="0" bIns="21600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Font typeface="Arial" charset="0"/>
                <a:buNone/>
                <a:defRPr/>
              </a:pPr>
              <a:endParaRPr lang="zh-CN" altLang="en-US" sz="2400" kern="0" baseline="0">
                <a:solidFill>
                  <a:srgbClr val="005E5E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09" name="TextBox 26">
              <a:extLst>
                <a:ext uri="{FF2B5EF4-FFF2-40B4-BE49-F238E27FC236}">
                  <a16:creationId xmlns:a16="http://schemas.microsoft.com/office/drawing/2014/main" id="{D39F1C3B-9388-4AE6-AFAA-E8FADD254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3050" y="3423904"/>
              <a:ext cx="457021" cy="525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216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Arial" charset="0"/>
                <a:buNone/>
              </a:pPr>
              <a:r>
                <a:rPr lang="en-US" altLang="zh-CN" sz="3000" b="1" dirty="0">
                  <a:solidFill>
                    <a:srgbClr val="F8F8F8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3000" b="1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TextBox 29">
              <a:extLst>
                <a:ext uri="{FF2B5EF4-FFF2-40B4-BE49-F238E27FC236}">
                  <a16:creationId xmlns:a16="http://schemas.microsoft.com/office/drawing/2014/main" id="{B404318E-0812-4DED-A8FE-730270DEE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786" y="3935363"/>
              <a:ext cx="2195142" cy="2246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 sz="1400" b="1" i="1" baseline="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Introduction to Computing Systems: from bits and gates to C/C++ and beyond(3nd edition), </a:t>
              </a:r>
            </a:p>
            <a:p>
              <a:endParaRPr lang="en-US" altLang="zh-CN" sz="1400" b="1" i="1" baseline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1400" b="1" baseline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Yale N. </a:t>
              </a:r>
              <a:r>
                <a:rPr lang="en-US" altLang="zh-CN" sz="1400" b="1" baseline="0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Patt</a:t>
              </a:r>
              <a:r>
                <a:rPr lang="en-US" altLang="zh-CN" sz="1400" b="1" baseline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and Sanjay J. Patel</a:t>
              </a:r>
              <a:r>
                <a:rPr lang="zh-CN" altLang="en-US" sz="1400" b="1" baseline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 </a:t>
              </a:r>
              <a:r>
                <a:rPr lang="en-US" altLang="zh-CN" sz="1400" b="1" baseline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June 2019, McGraw-Hill Higher Education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827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prism isInverted="1"/>
      </p:transition>
    </mc:Choice>
    <mc:Fallback xmlns="">
      <p:transition spd="slow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655033" y="1016226"/>
            <a:ext cx="2160000" cy="5472527"/>
            <a:chOff x="179752" y="1124745"/>
            <a:chExt cx="2160000" cy="5472527"/>
          </a:xfrm>
        </p:grpSpPr>
        <p:pic>
          <p:nvPicPr>
            <p:cNvPr id="31" name="Picture 2" descr="https://images-na.ssl-images-amazon.com/images/I/51cRjNxB5NL._SX403_BO1,204,203,200_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752" y="1124745"/>
              <a:ext cx="2160000" cy="2519999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单圆角矩形 19"/>
            <p:cNvSpPr>
              <a:spLocks/>
            </p:cNvSpPr>
            <p:nvPr/>
          </p:nvSpPr>
          <p:spPr bwMode="auto">
            <a:xfrm>
              <a:off x="179752" y="3717272"/>
              <a:ext cx="2160000" cy="2880000"/>
            </a:xfrm>
            <a:custGeom>
              <a:avLst/>
              <a:gdLst>
                <a:gd name="T0" fmla="*/ 0 w 3486972"/>
                <a:gd name="T1" fmla="*/ 0 h 2329590"/>
                <a:gd name="T2" fmla="*/ 3245238 w 3486972"/>
                <a:gd name="T3" fmla="*/ 0 h 2329590"/>
                <a:gd name="T4" fmla="*/ 3485328 w 3486972"/>
                <a:gd name="T5" fmla="*/ 240382 h 2329590"/>
                <a:gd name="T6" fmla="*/ 3485328 w 3486972"/>
                <a:gd name="T7" fmla="*/ 2331310 h 2329590"/>
                <a:gd name="T8" fmla="*/ 0 w 3486972"/>
                <a:gd name="T9" fmla="*/ 2331310 h 2329590"/>
                <a:gd name="T10" fmla="*/ 0 w 3486972"/>
                <a:gd name="T11" fmla="*/ 0 h 23295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86972" h="2329590">
                  <a:moveTo>
                    <a:pt x="0" y="0"/>
                  </a:moveTo>
                  <a:lnTo>
                    <a:pt x="3246768" y="0"/>
                  </a:lnTo>
                  <a:cubicBezTo>
                    <a:pt x="3379429" y="0"/>
                    <a:pt x="3486972" y="107543"/>
                    <a:pt x="3486972" y="240204"/>
                  </a:cubicBezTo>
                  <a:lnTo>
                    <a:pt x="3486972" y="2329590"/>
                  </a:lnTo>
                  <a:lnTo>
                    <a:pt x="0" y="2329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33"/>
            </a:soli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5E5E"/>
                </a:solidFill>
                <a:effectLst/>
                <a:uLnTx/>
                <a:uFillTx/>
                <a:latin typeface="Arial"/>
                <a:ea typeface="宋体" charset="-122"/>
                <a:cs typeface="+mn-cs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891596" y="3350560"/>
              <a:ext cx="736313" cy="736600"/>
              <a:chOff x="899592" y="3978102"/>
              <a:chExt cx="736313" cy="736600"/>
            </a:xfrm>
          </p:grpSpPr>
          <p:sp>
            <p:nvSpPr>
              <p:cNvPr id="26" name="椭圆 22"/>
              <p:cNvSpPr>
                <a:spLocks noChangeArrowheads="1"/>
              </p:cNvSpPr>
              <p:nvPr/>
            </p:nvSpPr>
            <p:spPr bwMode="auto">
              <a:xfrm>
                <a:off x="899592" y="3978102"/>
                <a:ext cx="736313" cy="736600"/>
              </a:xfrm>
              <a:prstGeom prst="ellipse">
                <a:avLst/>
              </a:prstGeom>
              <a:solidFill>
                <a:srgbClr val="8CC344"/>
              </a:solidFill>
              <a:ln w="381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5E5E"/>
                  </a:solidFill>
                  <a:effectLst/>
                  <a:uLnTx/>
                  <a:uFillTx/>
                  <a:latin typeface="Arial"/>
                  <a:ea typeface="宋体" charset="-122"/>
                  <a:cs typeface="+mn-cs"/>
                </a:endParaRPr>
              </a:p>
            </p:txBody>
          </p:sp>
          <p:sp>
            <p:nvSpPr>
              <p:cNvPr id="29" name="TextBox 25"/>
              <p:cNvSpPr txBox="1">
                <a:spLocks noChangeArrowheads="1"/>
              </p:cNvSpPr>
              <p:nvPr/>
            </p:nvSpPr>
            <p:spPr bwMode="auto">
              <a:xfrm>
                <a:off x="1039242" y="4082877"/>
                <a:ext cx="4570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r>
                  <a:rPr kumimoji="0" lang="en-US" altLang="zh-CN" sz="3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7</a:t>
                </a:r>
                <a:endParaRPr kumimoji="0" lang="zh-CN" altLang="en-US" sz="3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sp>
          <p:nvSpPr>
            <p:cNvPr id="32" name="TextBox 28"/>
            <p:cNvSpPr txBox="1">
              <a:spLocks noChangeArrowheads="1"/>
            </p:cNvSpPr>
            <p:nvPr/>
          </p:nvSpPr>
          <p:spPr bwMode="auto">
            <a:xfrm>
              <a:off x="179752" y="4149080"/>
              <a:ext cx="2139690" cy="2439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Computer Organization and Design: The Hardware/Software Interface</a:t>
              </a: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</a:t>
              </a:r>
              <a:r>
                <a:rPr kumimoji="0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David A Patterson, John L. Hennessy, 5th edition. Morgan Kaufmann Publishers, Inc.</a:t>
              </a:r>
              <a:r>
                <a:rPr kumimoji="0" lang="zh-CN" altLang="en-US" sz="2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</a:t>
              </a:r>
              <a:r>
                <a:rPr kumimoji="0" lang="en-US" altLang="zh-CN" sz="2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2017</a:t>
              </a:r>
              <a:endParaRPr kumimoji="0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876496" y="1016226"/>
            <a:ext cx="2160000" cy="5465855"/>
            <a:chOff x="2398767" y="1124745"/>
            <a:chExt cx="2160000" cy="5465855"/>
          </a:xfrm>
        </p:grpSpPr>
        <p:pic>
          <p:nvPicPr>
            <p:cNvPr id="34" name="Picture 4" descr="https://images-na.ssl-images-amazon.com/images/I/51TjBdnBAqL._SX403_BO1,204,203,200_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767" y="1124745"/>
              <a:ext cx="2160000" cy="252000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单圆角矩形 20"/>
            <p:cNvSpPr>
              <a:spLocks/>
            </p:cNvSpPr>
            <p:nvPr/>
          </p:nvSpPr>
          <p:spPr bwMode="auto">
            <a:xfrm>
              <a:off x="2398767" y="3710600"/>
              <a:ext cx="2160000" cy="2880000"/>
            </a:xfrm>
            <a:custGeom>
              <a:avLst/>
              <a:gdLst>
                <a:gd name="T0" fmla="*/ 0 w 3486972"/>
                <a:gd name="T1" fmla="*/ 0 h 2329590"/>
                <a:gd name="T2" fmla="*/ 3245238 w 3486972"/>
                <a:gd name="T3" fmla="*/ 0 h 2329590"/>
                <a:gd name="T4" fmla="*/ 3485328 w 3486972"/>
                <a:gd name="T5" fmla="*/ 240382 h 2329590"/>
                <a:gd name="T6" fmla="*/ 3485328 w 3486972"/>
                <a:gd name="T7" fmla="*/ 2331310 h 2329590"/>
                <a:gd name="T8" fmla="*/ 0 w 3486972"/>
                <a:gd name="T9" fmla="*/ 2331310 h 2329590"/>
                <a:gd name="T10" fmla="*/ 0 w 3486972"/>
                <a:gd name="T11" fmla="*/ 0 h 23295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86972" h="2329590">
                  <a:moveTo>
                    <a:pt x="0" y="0"/>
                  </a:moveTo>
                  <a:lnTo>
                    <a:pt x="3246768" y="0"/>
                  </a:lnTo>
                  <a:cubicBezTo>
                    <a:pt x="3379429" y="0"/>
                    <a:pt x="3486972" y="107543"/>
                    <a:pt x="3486972" y="240204"/>
                  </a:cubicBezTo>
                  <a:lnTo>
                    <a:pt x="3486972" y="2329590"/>
                  </a:lnTo>
                  <a:lnTo>
                    <a:pt x="0" y="2329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C40"/>
            </a:solidFill>
            <a:ln w="9525" cap="flat" cmpd="sng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5E5E"/>
                </a:solidFill>
                <a:effectLst/>
                <a:uLnTx/>
                <a:uFillTx/>
                <a:latin typeface="Arial"/>
                <a:ea typeface="宋体" charset="-122"/>
                <a:cs typeface="+mn-cs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3111405" y="3350560"/>
              <a:ext cx="734725" cy="736600"/>
              <a:chOff x="4219631" y="3978102"/>
              <a:chExt cx="734725" cy="736600"/>
            </a:xfrm>
          </p:grpSpPr>
          <p:sp>
            <p:nvSpPr>
              <p:cNvPr id="27" name="椭圆 23"/>
              <p:cNvSpPr>
                <a:spLocks noChangeArrowheads="1"/>
              </p:cNvSpPr>
              <p:nvPr/>
            </p:nvSpPr>
            <p:spPr bwMode="auto">
              <a:xfrm>
                <a:off x="4219631" y="3978102"/>
                <a:ext cx="734725" cy="736600"/>
              </a:xfrm>
              <a:prstGeom prst="ellipse">
                <a:avLst/>
              </a:prstGeom>
              <a:solidFill>
                <a:srgbClr val="004C40"/>
              </a:solidFill>
              <a:ln w="3810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5E5E"/>
                  </a:solidFill>
                  <a:effectLst/>
                  <a:uLnTx/>
                  <a:uFillTx/>
                  <a:latin typeface="Arial"/>
                  <a:ea typeface="宋体" charset="-122"/>
                  <a:cs typeface="+mn-cs"/>
                </a:endParaRPr>
              </a:p>
            </p:txBody>
          </p:sp>
          <p:sp>
            <p:nvSpPr>
              <p:cNvPr id="30" name="TextBox 26"/>
              <p:cNvSpPr txBox="1">
                <a:spLocks noChangeArrowheads="1"/>
              </p:cNvSpPr>
              <p:nvPr/>
            </p:nvSpPr>
            <p:spPr bwMode="auto">
              <a:xfrm>
                <a:off x="4373559" y="4082877"/>
                <a:ext cx="4570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r>
                  <a:rPr kumimoji="0" lang="en-US" altLang="zh-CN" sz="3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8</a:t>
                </a:r>
                <a:endParaRPr kumimoji="0" lang="zh-CN" altLang="en-US" sz="30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sp>
          <p:nvSpPr>
            <p:cNvPr id="33" name="TextBox 29"/>
            <p:cNvSpPr txBox="1">
              <a:spLocks noChangeArrowheads="1"/>
            </p:cNvSpPr>
            <p:nvPr/>
          </p:nvSpPr>
          <p:spPr bwMode="auto">
            <a:xfrm>
              <a:off x="2424993" y="4142648"/>
              <a:ext cx="2133774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charset="0"/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-2500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Computer Architecture: A Quantitative Approach</a:t>
              </a:r>
              <a:r>
                <a:rPr kumimoji="0" lang="zh-CN" altLang="en-US" sz="24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</a:t>
              </a:r>
              <a:endPara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John L. Hennessy and David A. Patterson</a:t>
              </a:r>
              <a:r>
                <a:rPr kumimoji="0" lang="zh-CN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The Morgan Kaufmann</a:t>
              </a:r>
              <a:r>
                <a:rPr kumimoji="0" lang="zh-CN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</a:t>
              </a:r>
              <a:r>
                <a:rPr kumimoji="0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Dec 7, 2017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60169" y="1016226"/>
            <a:ext cx="2160000" cy="5465554"/>
            <a:chOff x="160169" y="1125046"/>
            <a:chExt cx="2160000" cy="5465554"/>
          </a:xfrm>
        </p:grpSpPr>
        <p:pic>
          <p:nvPicPr>
            <p:cNvPr id="65" name="Picture 2" descr="https://images-na.ssl-images-amazon.com/images/I/61IraiQbf4L._SX403_BO1,204,203,200_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169" y="1125046"/>
              <a:ext cx="2160000" cy="2519978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6" name="组合 65"/>
            <p:cNvGrpSpPr/>
            <p:nvPr/>
          </p:nvGrpSpPr>
          <p:grpSpPr>
            <a:xfrm>
              <a:off x="160169" y="3343888"/>
              <a:ext cx="2160000" cy="3246712"/>
              <a:chOff x="199822" y="3350560"/>
              <a:chExt cx="2160000" cy="3246712"/>
            </a:xfrm>
          </p:grpSpPr>
          <p:sp>
            <p:nvSpPr>
              <p:cNvPr id="67" name="单圆角矩形 19"/>
              <p:cNvSpPr>
                <a:spLocks/>
              </p:cNvSpPr>
              <p:nvPr/>
            </p:nvSpPr>
            <p:spPr bwMode="auto">
              <a:xfrm>
                <a:off x="199822" y="3717272"/>
                <a:ext cx="2160000" cy="2880000"/>
              </a:xfrm>
              <a:custGeom>
                <a:avLst/>
                <a:gdLst>
                  <a:gd name="T0" fmla="*/ 0 w 3486972"/>
                  <a:gd name="T1" fmla="*/ 0 h 2329590"/>
                  <a:gd name="T2" fmla="*/ 3245238 w 3486972"/>
                  <a:gd name="T3" fmla="*/ 0 h 2329590"/>
                  <a:gd name="T4" fmla="*/ 3485328 w 3486972"/>
                  <a:gd name="T5" fmla="*/ 240382 h 2329590"/>
                  <a:gd name="T6" fmla="*/ 3485328 w 3486972"/>
                  <a:gd name="T7" fmla="*/ 2331310 h 2329590"/>
                  <a:gd name="T8" fmla="*/ 0 w 3486972"/>
                  <a:gd name="T9" fmla="*/ 2331310 h 2329590"/>
                  <a:gd name="T10" fmla="*/ 0 w 3486972"/>
                  <a:gd name="T11" fmla="*/ 0 h 232959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86972" h="2329590">
                    <a:moveTo>
                      <a:pt x="0" y="0"/>
                    </a:moveTo>
                    <a:lnTo>
                      <a:pt x="3246768" y="0"/>
                    </a:lnTo>
                    <a:cubicBezTo>
                      <a:pt x="3379429" y="0"/>
                      <a:pt x="3486972" y="107543"/>
                      <a:pt x="3486972" y="240204"/>
                    </a:cubicBezTo>
                    <a:lnTo>
                      <a:pt x="3486972" y="2329590"/>
                    </a:lnTo>
                    <a:lnTo>
                      <a:pt x="0" y="23295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33"/>
              </a:soli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5E5E"/>
                  </a:solidFill>
                  <a:effectLst/>
                  <a:uLnTx/>
                  <a:uFillTx/>
                  <a:latin typeface="Arial"/>
                  <a:ea typeface="宋体" charset="-122"/>
                  <a:cs typeface="+mn-cs"/>
                </a:endParaRPr>
              </a:p>
            </p:txBody>
          </p:sp>
          <p:grpSp>
            <p:nvGrpSpPr>
              <p:cNvPr id="68" name="组合 67"/>
              <p:cNvGrpSpPr/>
              <p:nvPr/>
            </p:nvGrpSpPr>
            <p:grpSpPr>
              <a:xfrm>
                <a:off x="911666" y="3350560"/>
                <a:ext cx="736313" cy="736600"/>
                <a:chOff x="899592" y="3978102"/>
                <a:chExt cx="736313" cy="736600"/>
              </a:xfrm>
            </p:grpSpPr>
            <p:sp>
              <p:nvSpPr>
                <p:cNvPr id="70" name="椭圆 22"/>
                <p:cNvSpPr>
                  <a:spLocks noChangeArrowheads="1"/>
                </p:cNvSpPr>
                <p:nvPr/>
              </p:nvSpPr>
              <p:spPr bwMode="auto">
                <a:xfrm>
                  <a:off x="899592" y="3978102"/>
                  <a:ext cx="736313" cy="736600"/>
                </a:xfrm>
                <a:prstGeom prst="ellipse">
                  <a:avLst/>
                </a:prstGeom>
                <a:solidFill>
                  <a:srgbClr val="8CC344"/>
                </a:solidFill>
                <a:ln w="3810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charset="0"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5E5E"/>
                    </a:solidFill>
                    <a:effectLst/>
                    <a:uLnTx/>
                    <a:uFillTx/>
                    <a:latin typeface="Arial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1" name="TextBox 25"/>
                <p:cNvSpPr txBox="1">
                  <a:spLocks noChangeArrowheads="1"/>
                </p:cNvSpPr>
                <p:nvPr/>
              </p:nvSpPr>
              <p:spPr bwMode="auto">
                <a:xfrm>
                  <a:off x="1039242" y="4082877"/>
                  <a:ext cx="4570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  <a:defRPr/>
                  </a:pPr>
                  <a:r>
                    <a:rPr kumimoji="0" lang="en-US" altLang="zh-CN" sz="3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8F8F8"/>
                      </a:solidFill>
                      <a:effectLst/>
                      <a:uLnTx/>
                      <a:uFillTx/>
                      <a:latin typeface="微软雅黑" pitchFamily="34" charset="-122"/>
                      <a:ea typeface="微软雅黑" pitchFamily="34" charset="-122"/>
                      <a:cs typeface="+mn-cs"/>
                    </a:rPr>
                    <a:t>5</a:t>
                  </a:r>
                  <a:endParaRPr kumimoji="0" lang="zh-CN" altLang="en-US" sz="3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</p:grpSp>
          <p:sp>
            <p:nvSpPr>
              <p:cNvPr id="69" name="TextBox 28"/>
              <p:cNvSpPr txBox="1">
                <a:spLocks noChangeArrowheads="1"/>
              </p:cNvSpPr>
              <p:nvPr/>
            </p:nvSpPr>
            <p:spPr bwMode="auto">
              <a:xfrm>
                <a:off x="199822" y="4076992"/>
                <a:ext cx="2160000" cy="21236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Digital Design and Computer Architecture</a:t>
                </a:r>
                <a:r>
                  <a:rPr kumimoji="0" lang="zh-CN" altLang="en-US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（</a:t>
                </a: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2nd Edition</a:t>
                </a:r>
                <a:r>
                  <a:rPr kumimoji="0" lang="zh-CN" altLang="en-US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），</a:t>
                </a:r>
                <a:endParaRPr kumimoji="0" lang="en-US" altLang="zh-CN" sz="22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2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David Harris Sarah Harris</a:t>
                </a:r>
                <a:r>
                  <a:rPr kumimoji="0" lang="zh-CN" altLang="en-US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</a:t>
                </a: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p712, Morgan Kaufmann</a:t>
                </a:r>
                <a:r>
                  <a:rPr kumimoji="0" lang="zh-CN" altLang="en-US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，</a:t>
                </a: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24th July 2012</a:t>
                </a: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2381632" y="1016226"/>
            <a:ext cx="2211938" cy="5465314"/>
            <a:chOff x="2372107" y="1125046"/>
            <a:chExt cx="2211938" cy="5465314"/>
          </a:xfrm>
        </p:grpSpPr>
        <p:pic>
          <p:nvPicPr>
            <p:cNvPr id="73" name="Picture 16" descr="https://images-na.ssl-images-amazon.com/images/I/41FN5Q43KEL._SX358_BO1,204,203,200_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2417" y="1125046"/>
              <a:ext cx="2160000" cy="2519978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4" name="组合 73"/>
            <p:cNvGrpSpPr/>
            <p:nvPr/>
          </p:nvGrpSpPr>
          <p:grpSpPr>
            <a:xfrm>
              <a:off x="2372107" y="3350320"/>
              <a:ext cx="2211938" cy="3240040"/>
              <a:chOff x="2639182" y="3356992"/>
              <a:chExt cx="2211938" cy="3240040"/>
            </a:xfrm>
          </p:grpSpPr>
          <p:sp>
            <p:nvSpPr>
              <p:cNvPr id="75" name="单圆角矩形 20"/>
              <p:cNvSpPr>
                <a:spLocks/>
              </p:cNvSpPr>
              <p:nvPr/>
            </p:nvSpPr>
            <p:spPr bwMode="auto">
              <a:xfrm>
                <a:off x="2639182" y="3717032"/>
                <a:ext cx="2160000" cy="2880000"/>
              </a:xfrm>
              <a:custGeom>
                <a:avLst/>
                <a:gdLst>
                  <a:gd name="T0" fmla="*/ 0 w 3486972"/>
                  <a:gd name="T1" fmla="*/ 0 h 2329590"/>
                  <a:gd name="T2" fmla="*/ 3245238 w 3486972"/>
                  <a:gd name="T3" fmla="*/ 0 h 2329590"/>
                  <a:gd name="T4" fmla="*/ 3485328 w 3486972"/>
                  <a:gd name="T5" fmla="*/ 240382 h 2329590"/>
                  <a:gd name="T6" fmla="*/ 3485328 w 3486972"/>
                  <a:gd name="T7" fmla="*/ 2331310 h 2329590"/>
                  <a:gd name="T8" fmla="*/ 0 w 3486972"/>
                  <a:gd name="T9" fmla="*/ 2331310 h 2329590"/>
                  <a:gd name="T10" fmla="*/ 0 w 3486972"/>
                  <a:gd name="T11" fmla="*/ 0 h 232959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86972" h="2329590">
                    <a:moveTo>
                      <a:pt x="0" y="0"/>
                    </a:moveTo>
                    <a:lnTo>
                      <a:pt x="3246768" y="0"/>
                    </a:lnTo>
                    <a:cubicBezTo>
                      <a:pt x="3379429" y="0"/>
                      <a:pt x="3486972" y="107543"/>
                      <a:pt x="3486972" y="240204"/>
                    </a:cubicBezTo>
                    <a:lnTo>
                      <a:pt x="3486972" y="2329590"/>
                    </a:lnTo>
                    <a:lnTo>
                      <a:pt x="0" y="23295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4C40"/>
              </a:solidFill>
              <a:ln w="9525" cap="flat" cmpd="sng">
                <a:solidFill>
                  <a:srgbClr val="FFFFFF"/>
                </a:solidFill>
                <a:bevel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charset="0"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5E5E"/>
                  </a:solidFill>
                  <a:effectLst/>
                  <a:uLnTx/>
                  <a:uFillTx/>
                  <a:latin typeface="Arial"/>
                  <a:ea typeface="宋体" charset="-122"/>
                  <a:cs typeface="+mn-cs"/>
                </a:endParaRPr>
              </a:p>
            </p:txBody>
          </p:sp>
          <p:grpSp>
            <p:nvGrpSpPr>
              <p:cNvPr id="76" name="组合 75"/>
              <p:cNvGrpSpPr/>
              <p:nvPr/>
            </p:nvGrpSpPr>
            <p:grpSpPr>
              <a:xfrm>
                <a:off x="3351820" y="3356992"/>
                <a:ext cx="734725" cy="736600"/>
                <a:chOff x="4219631" y="3978102"/>
                <a:chExt cx="734725" cy="736600"/>
              </a:xfrm>
            </p:grpSpPr>
            <p:sp>
              <p:nvSpPr>
                <p:cNvPr id="78" name="椭圆 23"/>
                <p:cNvSpPr>
                  <a:spLocks noChangeArrowheads="1"/>
                </p:cNvSpPr>
                <p:nvPr/>
              </p:nvSpPr>
              <p:spPr bwMode="auto">
                <a:xfrm>
                  <a:off x="4219631" y="3978102"/>
                  <a:ext cx="734725" cy="736600"/>
                </a:xfrm>
                <a:prstGeom prst="ellipse">
                  <a:avLst/>
                </a:prstGeom>
                <a:solidFill>
                  <a:srgbClr val="004C40"/>
                </a:solidFill>
                <a:ln w="38100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charset="0"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5E5E"/>
                    </a:solidFill>
                    <a:effectLst/>
                    <a:uLnTx/>
                    <a:uFillTx/>
                    <a:latin typeface="Arial"/>
                    <a:ea typeface="宋体" charset="-122"/>
                    <a:cs typeface="+mn-cs"/>
                  </a:endParaRPr>
                </a:p>
              </p:txBody>
            </p:sp>
            <p:sp>
              <p:nvSpPr>
                <p:cNvPr id="79" name="TextBox 26"/>
                <p:cNvSpPr txBox="1">
                  <a:spLocks noChangeArrowheads="1"/>
                </p:cNvSpPr>
                <p:nvPr/>
              </p:nvSpPr>
              <p:spPr bwMode="auto">
                <a:xfrm>
                  <a:off x="4373559" y="4082877"/>
                  <a:ext cx="4570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charset="0"/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 typeface="Arial" charset="0"/>
                    <a:buNone/>
                    <a:tabLst/>
                    <a:defRPr/>
                  </a:pPr>
                  <a:r>
                    <a:rPr kumimoji="0" lang="en-US" altLang="zh-CN" sz="30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rgbClr val="F8F8F8"/>
                      </a:solidFill>
                      <a:effectLst/>
                      <a:uLnTx/>
                      <a:uFillTx/>
                      <a:latin typeface="微软雅黑" pitchFamily="34" charset="-122"/>
                      <a:ea typeface="微软雅黑" pitchFamily="34" charset="-122"/>
                      <a:cs typeface="+mn-cs"/>
                    </a:rPr>
                    <a:t>6</a:t>
                  </a:r>
                  <a:endParaRPr kumimoji="0" lang="zh-CN" altLang="en-US" sz="3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8F8F8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</p:grpSp>
          <p:sp>
            <p:nvSpPr>
              <p:cNvPr id="77" name="TextBox 29"/>
              <p:cNvSpPr txBox="1">
                <a:spLocks noChangeArrowheads="1"/>
              </p:cNvSpPr>
              <p:nvPr/>
            </p:nvSpPr>
            <p:spPr bwMode="auto">
              <a:xfrm>
                <a:off x="2667704" y="4103895"/>
                <a:ext cx="2183416" cy="23493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Digital Integrated Circuits: A Design Perspective </a:t>
                </a: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C000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(2nd Edition),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22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Arial" charset="0"/>
                  <a:ea typeface="宋体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Jan M. </a:t>
                </a:r>
                <a:r>
                  <a:rPr kumimoji="0" lang="en-US" altLang="zh-CN" sz="2200" b="1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Rabaey</a:t>
                </a:r>
                <a:r>
                  <a:rPr kumimoji="0" lang="zh-CN" altLang="en-US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，</a:t>
                </a:r>
                <a:r>
                  <a:rPr kumimoji="0" lang="en-US" altLang="zh-CN" sz="2200" b="1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Anantha</a:t>
                </a: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 </a:t>
                </a:r>
                <a:r>
                  <a:rPr kumimoji="0" lang="en-US" altLang="zh-CN" sz="2200" b="1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Chandrakasan</a:t>
                </a: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, </a:t>
                </a:r>
                <a:r>
                  <a:rPr kumimoji="0" lang="en-US" altLang="zh-CN" sz="2200" b="1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Borivoje</a:t>
                </a: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, Prentice-Hall, </a:t>
                </a:r>
                <a:r>
                  <a:rPr kumimoji="0" lang="en-US" altLang="zh-CN" sz="2200" b="1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Inc</a:t>
                </a:r>
                <a:r>
                  <a:rPr kumimoji="0" lang="zh-CN" altLang="en-US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，</a:t>
                </a:r>
                <a:r>
                  <a:rPr kumimoji="0" lang="en-US" altLang="zh-CN" sz="2200" b="1" i="0" u="none" strike="noStrike" kern="1200" cap="none" spc="0" normalizeH="0" baseline="-2500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Nikolic,Jan</a:t>
                </a:r>
                <a:r>
                  <a:rPr kumimoji="0" lang="en-US" altLang="zh-CN" sz="22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charset="0"/>
                    <a:ea typeface="宋体" charset="-122"/>
                    <a:cs typeface="+mn-cs"/>
                  </a:rPr>
                  <a:t> 3, 2003</a:t>
                </a:r>
              </a:p>
            </p:txBody>
          </p:sp>
        </p:grpSp>
      </p:grpSp>
      <p:sp>
        <p:nvSpPr>
          <p:cNvPr id="8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1438"/>
            <a:ext cx="8839200" cy="765175"/>
          </a:xfrm>
        </p:spPr>
        <p:txBody>
          <a:bodyPr/>
          <a:lstStyle/>
          <a:p>
            <a:r>
              <a:rPr lang="en-US" altLang="zh-CN" dirty="0"/>
              <a:t>Other Reference Text Books</a:t>
            </a:r>
          </a:p>
        </p:txBody>
      </p:sp>
    </p:spTree>
    <p:extLst>
      <p:ext uri="{BB962C8B-B14F-4D97-AF65-F5344CB8AC3E}">
        <p14:creationId xmlns:p14="http://schemas.microsoft.com/office/powerpoint/2010/main" val="158362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prism isInverted="1"/>
      </p:transition>
    </mc:Choice>
    <mc:Fallback xmlns="">
      <p:transition spd="slow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36C09C-4CCB-4E52-807A-AF7DAED74FD1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752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EAC951-5F7A-4D56-B120-EA9261C23EC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7526" name="灯片编号占位符 5"/>
          <p:cNvSpPr txBox="1">
            <a:spLocks noGrp="1"/>
          </p:cNvSpPr>
          <p:nvPr/>
        </p:nvSpPr>
        <p:spPr bwMode="auto">
          <a:xfrm>
            <a:off x="6096000" y="6537325"/>
            <a:ext cx="2743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0FC5B3-F9A0-4904-9349-3314E4652D4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75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Background/Prerequisites</a:t>
            </a:r>
            <a:endParaRPr lang="zh-CN" altLang="en-US" dirty="0"/>
          </a:p>
        </p:txBody>
      </p:sp>
      <p:sp>
        <p:nvSpPr>
          <p:cNvPr id="1075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Requirement</a:t>
            </a:r>
          </a:p>
          <a:p>
            <a:pPr lvl="1"/>
            <a:r>
              <a:rPr lang="en-US" altLang="zh-CN" dirty="0"/>
              <a:t>background in programming(C)</a:t>
            </a:r>
          </a:p>
          <a:p>
            <a:pPr lvl="1"/>
            <a:r>
              <a:rPr lang="en-US" altLang="zh-CN" dirty="0"/>
              <a:t>Assume you can program/debug in C </a:t>
            </a:r>
            <a:endParaRPr lang="en-US" altLang="zh-CN" b="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 Organization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Labs – LC-3 Simulator /Assembler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All labs start after two weeks 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1Midterms + 1 Final </a:t>
            </a:r>
          </a:p>
          <a:p>
            <a:r>
              <a:rPr lang="en-US" altLang="zh-CN" dirty="0"/>
              <a:t>Location:  3C101</a:t>
            </a:r>
          </a:p>
          <a:p>
            <a:r>
              <a:rPr lang="en-US" altLang="zh-CN" dirty="0"/>
              <a:t>Date: </a:t>
            </a:r>
          </a:p>
          <a:p>
            <a:pPr lvl="1"/>
            <a:r>
              <a:rPr lang="en-US" altLang="zh-CN" dirty="0"/>
              <a:t>September 2 - December 30</a:t>
            </a:r>
          </a:p>
          <a:p>
            <a:r>
              <a:rPr lang="en-US" altLang="zh-CN" dirty="0"/>
              <a:t>Time</a:t>
            </a:r>
          </a:p>
          <a:p>
            <a:pPr lvl="1"/>
            <a:r>
              <a:rPr lang="en-US" altLang="zh-CN" dirty="0"/>
              <a:t>4(3,4,5): 9:45-12:10</a:t>
            </a:r>
          </a:p>
          <a:p>
            <a:r>
              <a:rPr lang="en-US" altLang="zh-CN" dirty="0"/>
              <a:t>60 hours+40hours</a:t>
            </a:r>
            <a:r>
              <a:rPr lang="zh-CN" altLang="en-US" dirty="0"/>
              <a:t>，</a:t>
            </a:r>
            <a:r>
              <a:rPr lang="en-US" altLang="zh-CN" dirty="0"/>
              <a:t>3+1credit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/>
              <a:pPr>
                <a:defRPr/>
              </a:pPr>
              <a:t>2025/9/9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>
          <a:xfrm>
            <a:off x="2819400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400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 baseline="-25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/>
              <a:t>Lecture 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308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课堂教学模式：</a:t>
            </a:r>
            <a:r>
              <a:rPr lang="zh-CN" altLang="en-US" dirty="0"/>
              <a:t>基于讲义（</a:t>
            </a:r>
            <a:r>
              <a:rPr lang="en-US" altLang="zh-CN" dirty="0"/>
              <a:t>TBL</a:t>
            </a:r>
            <a:r>
              <a:rPr lang="zh-CN" altLang="en-US" dirty="0"/>
              <a:t>）</a:t>
            </a:r>
            <a:r>
              <a:rPr lang="en-US" altLang="zh-CN" dirty="0"/>
              <a:t>&amp; </a:t>
            </a:r>
            <a:r>
              <a:rPr lang="zh-CN" altLang="en-US" dirty="0"/>
              <a:t>基于案例（</a:t>
            </a:r>
            <a:r>
              <a:rPr lang="en-US" altLang="zh-CN" dirty="0"/>
              <a:t>CBL</a:t>
            </a:r>
            <a:r>
              <a:rPr lang="zh-CN" altLang="en-US" dirty="0"/>
              <a:t>）</a:t>
            </a:r>
          </a:p>
        </p:txBody>
      </p:sp>
      <p:sp>
        <p:nvSpPr>
          <p:cNvPr id="1044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CN" dirty="0"/>
              <a:t>Lectures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zh-CN" sz="2000" dirty="0">
                <a:latin typeface="Courier"/>
              </a:rPr>
              <a:t>Will not simply “cover” the material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rgbClr val="FF0000"/>
                </a:solidFill>
                <a:latin typeface="Courier"/>
              </a:rPr>
              <a:t>Will focus on the “hard stuff”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zh-CN" sz="2000" dirty="0">
                <a:latin typeface="Courier"/>
              </a:rPr>
              <a:t>Will not stand alone, instead build on reading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CN" dirty="0"/>
              <a:t>Part 1: Hardware(Chapter 1-4)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latin typeface="Courier"/>
              </a:rPr>
              <a:t>Representing data, transistors, gates, digital logic structures</a:t>
            </a: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CN" sz="2000" dirty="0">
                <a:latin typeface="Courier"/>
              </a:rPr>
              <a:t>von Neumann machine model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CN" dirty="0"/>
              <a:t>Part 2: Software: Assembly language(Chapter 5-10)</a:t>
            </a:r>
          </a:p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zh-CN" sz="2000" dirty="0">
                <a:latin typeface="Courier"/>
              </a:rPr>
              <a:t>Instructions, (structured) programming, input/output, </a:t>
            </a:r>
            <a:r>
              <a:rPr lang="en-US" altLang="zh-CN" sz="2000" i="1" dirty="0">
                <a:latin typeface="Courier"/>
              </a:rPr>
              <a:t>relationship to hardware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zh-CN" dirty="0"/>
              <a:t>Part 3: </a:t>
            </a:r>
            <a:r>
              <a:rPr lang="en-US" altLang="zh-CN" dirty="0" err="1"/>
              <a:t>Software:C</a:t>
            </a:r>
            <a:r>
              <a:rPr lang="en-US" altLang="zh-CN" dirty="0"/>
              <a:t> programming(Chapter11-19), selected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altLang="zh-CN" sz="2000" dirty="0">
                <a:latin typeface="Courier"/>
              </a:rPr>
              <a:t>Syntax, operators, control structures, functions, </a:t>
            </a:r>
            <a:r>
              <a:rPr lang="en-US" altLang="zh-CN" sz="2000" i="1" dirty="0" err="1">
                <a:latin typeface="Courier"/>
              </a:rPr>
              <a:t>pointers</a:t>
            </a:r>
            <a:r>
              <a:rPr lang="en-US" altLang="zh-CN" sz="2000" dirty="0" err="1">
                <a:latin typeface="Courier"/>
              </a:rPr>
              <a:t>,recursion</a:t>
            </a:r>
            <a:r>
              <a:rPr lang="en-US" altLang="zh-CN" sz="2000" dirty="0">
                <a:latin typeface="Courier"/>
              </a:rPr>
              <a:t>, data structures, </a:t>
            </a:r>
            <a:r>
              <a:rPr lang="en-US" altLang="zh-CN" sz="2000" i="1" dirty="0">
                <a:latin typeface="Courier"/>
              </a:rPr>
              <a:t>relationship to assembly language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altLang="zh-CN" sz="2000" dirty="0">
                <a:latin typeface="Courier"/>
              </a:rPr>
              <a:t>Assume already familiar with programming (C)</a:t>
            </a:r>
            <a:endParaRPr lang="zh-CN" altLang="en-US" sz="2000" dirty="0">
              <a:latin typeface="Courier"/>
            </a:endParaRP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BF8FE774-C6AE-4DB6-911D-F64101EF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9512" y="6537325"/>
            <a:ext cx="2286000" cy="244475"/>
          </a:xfrm>
        </p:spPr>
        <p:txBody>
          <a:bodyPr/>
          <a:lstStyle/>
          <a:p>
            <a:pPr>
              <a:defRPr/>
            </a:pPr>
            <a:fld id="{FAF88401-22E9-4153-B0F5-3C3505E5B3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4C362858-0414-4CFC-A1C3-312E5FBD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93296" y="6537325"/>
            <a:ext cx="2743200" cy="244475"/>
          </a:xfrm>
        </p:spPr>
        <p:txBody>
          <a:bodyPr/>
          <a:lstStyle/>
          <a:p>
            <a:pPr>
              <a:defRPr/>
            </a:pPr>
            <a:fld id="{283AA37B-31F2-46EE-90A4-68D9AA6A4383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43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实践教学模式：</a:t>
            </a:r>
            <a:r>
              <a:rPr lang="zh-CN" altLang="en-US" dirty="0"/>
              <a:t>基于资源（</a:t>
            </a:r>
            <a:r>
              <a:rPr lang="en-US" altLang="zh-CN" dirty="0"/>
              <a:t>RBL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dirty="0"/>
              <a:t>LC-3/RISC-V  Simulator/Assembler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Labs Assignments</a:t>
            </a:r>
            <a:r>
              <a:rPr lang="zh-CN" altLang="en-US" dirty="0"/>
              <a:t>：</a:t>
            </a:r>
            <a:r>
              <a:rPr lang="en-US" altLang="zh-CN" dirty="0">
                <a:latin typeface="Courier"/>
              </a:rPr>
              <a:t>Simple exercises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Programming Assignments</a:t>
            </a:r>
          </a:p>
          <a:p>
            <a:pPr lvl="2">
              <a:spcBef>
                <a:spcPts val="600"/>
              </a:spcBef>
            </a:pPr>
            <a:r>
              <a:rPr lang="en-US" altLang="zh-CN" dirty="0">
                <a:latin typeface="Courier"/>
              </a:rPr>
              <a:t>Programming LC3 Assignments1: Programming In machine language</a:t>
            </a:r>
          </a:p>
          <a:p>
            <a:pPr lvl="2">
              <a:spcBef>
                <a:spcPts val="600"/>
              </a:spcBef>
            </a:pPr>
            <a:r>
              <a:rPr lang="en-US" altLang="zh-CN" dirty="0">
                <a:latin typeface="Courier"/>
              </a:rPr>
              <a:t>Programming Assignments2~5:Programming In LC3 assembly language</a:t>
            </a:r>
          </a:p>
          <a:p>
            <a:pPr lvl="2">
              <a:spcBef>
                <a:spcPts val="600"/>
              </a:spcBef>
            </a:pPr>
            <a:r>
              <a:rPr lang="en-US" altLang="zh-CN" dirty="0">
                <a:latin typeface="Courier"/>
              </a:rPr>
              <a:t>Programming Assignments6:Assignments2~5:Programming In C</a:t>
            </a:r>
          </a:p>
          <a:p>
            <a:pPr>
              <a:spcBef>
                <a:spcPts val="600"/>
              </a:spcBef>
            </a:pPr>
            <a:r>
              <a:rPr lang="en-US" altLang="zh-CN" dirty="0"/>
              <a:t>Course Projects</a:t>
            </a:r>
            <a:r>
              <a:rPr lang="zh-CN" altLang="en-US" dirty="0"/>
              <a:t>：</a:t>
            </a:r>
            <a:r>
              <a:rPr lang="en-US" altLang="zh-CN" dirty="0">
                <a:latin typeface="Courier"/>
              </a:rPr>
              <a:t>Challenging projects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en-US" altLang="zh-CN" dirty="0"/>
              <a:t>LC-3 Simulator/Assembler Design(Encouraged! Extra 5 points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698A28-4DFA-4C7D-AA6D-588ECA392A64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2025/9/9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0D780-4F10-4C55-ABA5-B7A4E1141A43}" type="slidenum">
              <a:rPr lang="en-US" altLang="zh-CN" smtClean="0">
                <a:solidFill>
                  <a:srgbClr val="000000"/>
                </a:solidFill>
              </a:rPr>
              <a:pPr/>
              <a:t>10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168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280435-3341-465C-843E-3FFA355478CA}" type="datetime1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2025/9/9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776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Font typeface="Gungsuh" panose="02030600000101010101" pitchFamily="18" charset="-127"/>
              <a:buChar char="-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EAD1D4-BE9A-409B-B6DD-7C13D095777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77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Assignments</a:t>
            </a:r>
            <a:endParaRPr lang="zh-CN" altLang="en-US" dirty="0"/>
          </a:p>
        </p:txBody>
      </p:sp>
      <p:sp>
        <p:nvSpPr>
          <p:cNvPr id="1177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Problem Sets</a:t>
            </a:r>
          </a:p>
          <a:p>
            <a:pPr lvl="1"/>
            <a:r>
              <a:rPr lang="en-US" altLang="zh-CN" dirty="0"/>
              <a:t>Problem solving</a:t>
            </a:r>
          </a:p>
          <a:p>
            <a:pPr lvl="1"/>
            <a:r>
              <a:rPr lang="en-US" altLang="zh-CN" dirty="0"/>
              <a:t>Complete </a:t>
            </a:r>
            <a:r>
              <a:rPr lang="en-US" altLang="zh-CN" i="1" dirty="0"/>
              <a:t>before </a:t>
            </a:r>
            <a:r>
              <a:rPr lang="en-US" altLang="zh-CN" dirty="0"/>
              <a:t>each due date</a:t>
            </a:r>
          </a:p>
          <a:p>
            <a:pPr lvl="1"/>
            <a:r>
              <a:rPr lang="en-US" altLang="zh-CN" dirty="0"/>
              <a:t>Can work ahead </a:t>
            </a:r>
          </a:p>
          <a:p>
            <a:pPr lvl="1"/>
            <a:r>
              <a:rPr lang="en-US" altLang="zh-CN" dirty="0"/>
              <a:t>Submit and complete assignment </a:t>
            </a:r>
            <a:r>
              <a:rPr lang="en-US" altLang="zh-CN" dirty="0">
                <a:solidFill>
                  <a:schemeClr val="accent1"/>
                </a:solidFill>
              </a:rPr>
              <a:t>by yourself </a:t>
            </a:r>
            <a:r>
              <a:rPr lang="en-US" altLang="zh-CN" dirty="0"/>
              <a:t>to get points (whether correct or wrong)</a:t>
            </a:r>
          </a:p>
          <a:p>
            <a:pPr lvl="1"/>
            <a:r>
              <a:rPr lang="en-US" altLang="zh-CN" dirty="0"/>
              <a:t>Do not copy</a:t>
            </a:r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科大蓝色模板" id="{7E8D1F99-3530-4A82-9E3D-77E2AF246E2B}" vid="{86B9B503-2F19-4690-9F30-5A7A0621D455}"/>
    </a:ext>
  </a:extLst>
</a:theme>
</file>

<file path=ppt/theme/theme2.xml><?xml version="1.0" encoding="utf-8"?>
<a:theme xmlns:a="http://schemas.openxmlformats.org/drawingml/2006/main" name="学术交流模板3-中文">
  <a:themeElements>
    <a:clrScheme name="学术交流模板3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3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3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3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CS17-Ch 1Course Introduction.Id_400384" id="{1E5A2080-B47E-4B7F-A81A-CF725B3E27F9}" vid="{403FED12-708E-4AE7-9E4F-F7D8D23A0490}"/>
    </a:ext>
  </a:extLst>
</a:theme>
</file>

<file path=ppt/theme/theme3.xml><?xml version="1.0" encoding="utf-8"?>
<a:theme xmlns:a="http://schemas.openxmlformats.org/drawingml/2006/main" name="学术交流模板2-中文">
  <a:themeElements>
    <a:clrScheme name="学术交流模板2-中文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FF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学术交流模板2-中文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学术交流模板2-中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学术交流模板2-中文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学术交流模板2-中文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00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4165</TotalTime>
  <Pages>0</Pages>
  <Words>889</Words>
  <Characters>0</Characters>
  <Application>Microsoft Office PowerPoint</Application>
  <DocSecurity>0</DocSecurity>
  <PresentationFormat>全屏显示(4:3)</PresentationFormat>
  <Lines>0</Lines>
  <Paragraphs>142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Courier</vt:lpstr>
      <vt:lpstr>Gungsuh</vt:lpstr>
      <vt:lpstr>等线</vt:lpstr>
      <vt:lpstr>仿宋</vt:lpstr>
      <vt:lpstr>黑体</vt:lpstr>
      <vt:lpstr>华文新魏</vt:lpstr>
      <vt:lpstr>楷体</vt:lpstr>
      <vt:lpstr>楷体</vt:lpstr>
      <vt:lpstr>微软雅黑</vt:lpstr>
      <vt:lpstr>Arial</vt:lpstr>
      <vt:lpstr>Calibri</vt:lpstr>
      <vt:lpstr>Corbel</vt:lpstr>
      <vt:lpstr>Tahoma</vt:lpstr>
      <vt:lpstr>Wingdings</vt:lpstr>
      <vt:lpstr>1_Office 主题​​</vt:lpstr>
      <vt:lpstr>学术交流模板3-中文</vt:lpstr>
      <vt:lpstr>学术交流模板2-中文</vt:lpstr>
      <vt:lpstr>Chapter 1-2   Course Implementation</vt:lpstr>
      <vt:lpstr>Text Book</vt:lpstr>
      <vt:lpstr>Text Book Components</vt:lpstr>
      <vt:lpstr>This Course Focused on </vt:lpstr>
      <vt:lpstr>Other Reference Text Books</vt:lpstr>
      <vt:lpstr>Other Reference Text Books</vt:lpstr>
      <vt:lpstr>Background/Prerequisites</vt:lpstr>
      <vt:lpstr>Class Organization</vt:lpstr>
      <vt:lpstr>课堂教学模式：基于讲义（TBL）&amp; 基于案例（CBL）</vt:lpstr>
      <vt:lpstr>实践教学模式：基于资源（RBL）</vt:lpstr>
      <vt:lpstr>Homework Assignments</vt:lpstr>
    </vt:vector>
  </TitlesOfParts>
  <Manager/>
  <Company>USTC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 An Hong han@ustc.edu.cn</dc:title>
  <dc:subject/>
  <dc:creator>hanhwt</dc:creator>
  <cp:keywords/>
  <dc:description/>
  <cp:lastModifiedBy>Miao Fuyou</cp:lastModifiedBy>
  <cp:revision>673</cp:revision>
  <cp:lastPrinted>2020-01-03T04:33:31Z</cp:lastPrinted>
  <dcterms:created xsi:type="dcterms:W3CDTF">2012-09-03T16:09:03Z</dcterms:created>
  <dcterms:modified xsi:type="dcterms:W3CDTF">2025-09-08T23:49:49Z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2052-8.1.0.2998</vt:lpwstr>
  </property>
</Properties>
</file>