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54" r:id="rId2"/>
    <p:sldMasterId id="2147483869" r:id="rId3"/>
  </p:sldMasterIdLst>
  <p:notesMasterIdLst>
    <p:notesMasterId r:id="rId82"/>
  </p:notesMasterIdLst>
  <p:sldIdLst>
    <p:sldId id="1541" r:id="rId4"/>
    <p:sldId id="1561" r:id="rId5"/>
    <p:sldId id="1699" r:id="rId6"/>
    <p:sldId id="692" r:id="rId7"/>
    <p:sldId id="493" r:id="rId8"/>
    <p:sldId id="424" r:id="rId9"/>
    <p:sldId id="1702" r:id="rId10"/>
    <p:sldId id="1695" r:id="rId11"/>
    <p:sldId id="559" r:id="rId12"/>
    <p:sldId id="570" r:id="rId13"/>
    <p:sldId id="1690" r:id="rId14"/>
    <p:sldId id="342" r:id="rId15"/>
    <p:sldId id="343" r:id="rId16"/>
    <p:sldId id="344" r:id="rId17"/>
    <p:sldId id="505" r:id="rId18"/>
    <p:sldId id="425" r:id="rId19"/>
    <p:sldId id="426" r:id="rId20"/>
    <p:sldId id="427" r:id="rId21"/>
    <p:sldId id="428" r:id="rId22"/>
    <p:sldId id="429" r:id="rId23"/>
    <p:sldId id="430" r:id="rId24"/>
    <p:sldId id="345" r:id="rId25"/>
    <p:sldId id="431" r:id="rId26"/>
    <p:sldId id="432" r:id="rId27"/>
    <p:sldId id="433" r:id="rId28"/>
    <p:sldId id="434" r:id="rId29"/>
    <p:sldId id="436" r:id="rId30"/>
    <p:sldId id="435" r:id="rId31"/>
    <p:sldId id="1700" r:id="rId32"/>
    <p:sldId id="346" r:id="rId33"/>
    <p:sldId id="347" r:id="rId34"/>
    <p:sldId id="506" r:id="rId35"/>
    <p:sldId id="437" r:id="rId36"/>
    <p:sldId id="438" r:id="rId37"/>
    <p:sldId id="439" r:id="rId38"/>
    <p:sldId id="440" r:id="rId39"/>
    <p:sldId id="441" r:id="rId40"/>
    <p:sldId id="443" r:id="rId41"/>
    <p:sldId id="444" r:id="rId42"/>
    <p:sldId id="442" r:id="rId43"/>
    <p:sldId id="348" r:id="rId44"/>
    <p:sldId id="445" r:id="rId45"/>
    <p:sldId id="446" r:id="rId46"/>
    <p:sldId id="447" r:id="rId47"/>
    <p:sldId id="448" r:id="rId48"/>
    <p:sldId id="451" r:id="rId49"/>
    <p:sldId id="452" r:id="rId50"/>
    <p:sldId id="449" r:id="rId51"/>
    <p:sldId id="450" r:id="rId52"/>
    <p:sldId id="349" r:id="rId53"/>
    <p:sldId id="350" r:id="rId54"/>
    <p:sldId id="508" r:id="rId55"/>
    <p:sldId id="453" r:id="rId56"/>
    <p:sldId id="454" r:id="rId57"/>
    <p:sldId id="455" r:id="rId58"/>
    <p:sldId id="456" r:id="rId59"/>
    <p:sldId id="457" r:id="rId60"/>
    <p:sldId id="458" r:id="rId61"/>
    <p:sldId id="351" r:id="rId62"/>
    <p:sldId id="459" r:id="rId63"/>
    <p:sldId id="460" r:id="rId64"/>
    <p:sldId id="461" r:id="rId65"/>
    <p:sldId id="462" r:id="rId66"/>
    <p:sldId id="465" r:id="rId67"/>
    <p:sldId id="466" r:id="rId68"/>
    <p:sldId id="352" r:id="rId69"/>
    <p:sldId id="353" r:id="rId70"/>
    <p:sldId id="509" r:id="rId71"/>
    <p:sldId id="467" r:id="rId72"/>
    <p:sldId id="468" r:id="rId73"/>
    <p:sldId id="469" r:id="rId74"/>
    <p:sldId id="470" r:id="rId75"/>
    <p:sldId id="354" r:id="rId76"/>
    <p:sldId id="1701" r:id="rId77"/>
    <p:sldId id="496" r:id="rId78"/>
    <p:sldId id="414" r:id="rId79"/>
    <p:sldId id="1703" r:id="rId80"/>
    <p:sldId id="498" r:id="rId81"/>
  </p:sldIdLst>
  <p:sldSz cx="9144000" cy="6858000" type="screen4x3"/>
  <p:notesSz cx="7102475" cy="10233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60A5"/>
    <a:srgbClr val="333399"/>
    <a:srgbClr val="003399"/>
    <a:srgbClr val="0000FF"/>
    <a:srgbClr val="CCFFFF"/>
    <a:srgbClr val="FFCCFF"/>
    <a:srgbClr val="0074BF"/>
    <a:srgbClr val="A6E0E0"/>
    <a:srgbClr val="CC33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405" autoAdjust="0"/>
    <p:restoredTop sz="86390" autoAdjust="0"/>
  </p:normalViewPr>
  <p:slideViewPr>
    <p:cSldViewPr>
      <p:cViewPr varScale="1">
        <p:scale>
          <a:sx n="93" d="100"/>
          <a:sy n="93" d="100"/>
        </p:scale>
        <p:origin x="648" y="33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448" y="0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2023/11/3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8" y="4860687"/>
            <a:ext cx="5681980" cy="460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9598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448" y="9719598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2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82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3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85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570">
              <a:defRPr/>
            </a:pPr>
            <a:fld id="{36616E1B-D57C-4DD9-8C78-E9F14A888E6F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59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8023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4538" y="833438"/>
            <a:ext cx="5551487" cy="4165600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777" y="5278181"/>
            <a:ext cx="5162447" cy="4999259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4619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530858-BF76-453D-8D3B-E94317EF6EAB}" type="slidenum">
              <a:rPr lang="zh-CN" altLang="en-US" baseline="-25000" smtClean="0">
                <a:solidFill>
                  <a:srgbClr val="000000"/>
                </a:solidFill>
                <a:latin typeface="Calibri" panose="020F050202020403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zh-CN" altLang="en-US" baseline="-25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45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4538" y="833438"/>
            <a:ext cx="5551487" cy="4165600"/>
          </a:xfrm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777" y="5278181"/>
            <a:ext cx="5162447" cy="4999259"/>
          </a:xfrm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0113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5633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31B920D1-8660-49EC-A01C-14FD68A65A8E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12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741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95E72EBF-3B93-4643-ADD2-0ECAB28B78CF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14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185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55327C34-C641-4100-93D8-0F91E49AC283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15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949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8301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5541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3074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2585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8911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1109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46EB0357-5E2A-4B60-9178-7C8669010743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22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942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334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784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499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6236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74838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2576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29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258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B061C07F-D012-4924-94FE-9AD89112316F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31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3334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55327C34-C641-4100-93D8-0F91E49AC283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32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1253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066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88071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62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7008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38951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32795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6059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4579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7A8A8894-8C84-4771-927A-142086E639E0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41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7917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29670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79975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85450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2478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5801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0059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40372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7936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F091D9F9-E7FA-45FC-924C-FB3561F0623D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51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0602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55327C34-C641-4100-93D8-0F91E49AC283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52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5844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2257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37389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85072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13471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888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16605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297496F7-A7DE-4899-B1A9-13E4065EF16F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59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8087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5212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75554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0962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2374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50725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82950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F7CECE05-36B8-414C-8543-D70EF99187E7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67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57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55327C34-C641-4100-93D8-0F91E49AC283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68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34448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238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51332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931652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819765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 noChangeArrowheads="1"/>
          </p:cNvSpPr>
          <p:nvPr/>
        </p:nvSpPr>
        <p:spPr bwMode="auto">
          <a:xfrm>
            <a:off x="5825669" y="7228853"/>
            <a:ext cx="4456479" cy="378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42" tIns="50421" rIns="100842" bIns="50421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B43B1DD3-55B4-411B-ADC1-867427A8EF49}" type="slidenum">
              <a:rPr lang="zh-CN" altLang="en-US" baseline="0">
                <a:latin typeface="Garamond" panose="02020404030301010803" pitchFamily="18" charset="0"/>
              </a:rPr>
              <a:pPr algn="r">
                <a:spcBef>
                  <a:spcPct val="0"/>
                </a:spcBef>
              </a:pPr>
              <a:t>73</a:t>
            </a:fld>
            <a:endParaRPr lang="en-US" altLang="zh-CN" baseline="0">
              <a:latin typeface="Garamond" panose="02020404030301010803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40088" y="569913"/>
            <a:ext cx="3805237" cy="2855912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0844" y="3613539"/>
            <a:ext cx="7540462" cy="3423445"/>
          </a:xfrm>
          <a:noFill/>
        </p:spPr>
        <p:txBody>
          <a:bodyPr lIns="100842" tIns="50421" rIns="100842" bIns="50421" anchor="t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4264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804838" indent="-309553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238212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733497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228781" indent="-247642"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72406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3219351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714636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4209920" indent="-2476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defTabSz="990570">
              <a:defRPr/>
            </a:pPr>
            <a:fld id="{EC530858-BF76-453D-8D3B-E94317EF6EAB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</a:rPr>
              <a:pPr defTabSz="990570">
                <a:defRPr/>
              </a:pPr>
              <a:t>74</a:t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7490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DE7ED3-F08B-42E1-9FA3-46A86819226E}" type="slidenum">
              <a:rPr kumimoji="0" lang="zh-CN" altLang="en-US" sz="12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zh-CN" sz="12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3264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DE7ED3-F08B-42E1-9FA3-46A86819226E}" type="slidenum">
              <a:rPr lang="zh-CN" altLang="en-US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112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6180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267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5851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59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6967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234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99297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4345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3096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1004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9036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91322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2023/11/3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7320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90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896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5477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4086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36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8484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914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4735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2350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8577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2023/11/3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7278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624712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2023/11/3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63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2023/11/3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9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8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2023/11/3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756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notesSlide" Target="../notesSlides/notesSlide6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5-2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LC-3 Data Movement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Instructions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CS1002A.01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406A83-F220-4C96-BDBA-B1ADCC790D97}"/>
              </a:ext>
            </a:extLst>
          </p:cNvPr>
          <p:cNvSpPr txBox="1"/>
          <p:nvPr/>
        </p:nvSpPr>
        <p:spPr>
          <a:xfrm>
            <a:off x="2426624" y="5064304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mfy@utc.edu.cn</a:t>
            </a:r>
            <a:b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 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A42D7D9-17EA-462F-B953-5CE22981C4C2}"/>
              </a:ext>
            </a:extLst>
          </p:cNvPr>
          <p:cNvGrpSpPr/>
          <p:nvPr/>
        </p:nvGrpSpPr>
        <p:grpSpPr>
          <a:xfrm>
            <a:off x="474181" y="1724523"/>
            <a:ext cx="8160714" cy="691174"/>
            <a:chOff x="509104" y="1724523"/>
            <a:chExt cx="8160714" cy="691174"/>
          </a:xfrm>
        </p:grpSpPr>
        <p:sp>
          <p:nvSpPr>
            <p:cNvPr id="63" name="TextBox 7">
              <a:extLst>
                <a:ext uri="{FF2B5EF4-FFF2-40B4-BE49-F238E27FC236}">
                  <a16:creationId xmlns:a16="http://schemas.microsoft.com/office/drawing/2014/main" id="{8FF97695-E40D-4A06-9022-A4F2FA482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835" y="1861642"/>
              <a:ext cx="7418983" cy="438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0000"/>
                </a:buClr>
                <a:buSzPct val="76000"/>
                <a:buFont typeface="Wingdings 3" panose="05040102010807070707" pitchFamily="18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Review</a:t>
              </a:r>
            </a:p>
          </p:txBody>
        </p:sp>
        <p:sp>
          <p:nvSpPr>
            <p:cNvPr id="64" name="Text Box 17">
              <a:extLst>
                <a:ext uri="{FF2B5EF4-FFF2-40B4-BE49-F238E27FC236}">
                  <a16:creationId xmlns:a16="http://schemas.microsoft.com/office/drawing/2014/main" id="{B2651B73-185C-4A5E-94AD-B248780CE5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775" y="1724523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8953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6A64685A-F0CB-4EBF-A966-37511DE73D75}"/>
                </a:ext>
              </a:extLst>
            </p:cNvPr>
            <p:cNvCxnSpPr/>
            <p:nvPr/>
          </p:nvCxnSpPr>
          <p:spPr>
            <a:xfrm>
              <a:off x="509104" y="2415697"/>
              <a:ext cx="8130267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1A68FFD1-3578-4F0B-BD17-51E49310EE34}"/>
              </a:ext>
            </a:extLst>
          </p:cNvPr>
          <p:cNvGrpSpPr/>
          <p:nvPr/>
        </p:nvGrpSpPr>
        <p:grpSpPr>
          <a:xfrm>
            <a:off x="438669" y="3351456"/>
            <a:ext cx="8165779" cy="653608"/>
            <a:chOff x="438669" y="3351456"/>
            <a:chExt cx="8165779" cy="653608"/>
          </a:xfrm>
        </p:grpSpPr>
        <p:sp>
          <p:nvSpPr>
            <p:cNvPr id="67" name="Text Box 17">
              <a:extLst>
                <a:ext uri="{FF2B5EF4-FFF2-40B4-BE49-F238E27FC236}">
                  <a16:creationId xmlns:a16="http://schemas.microsoft.com/office/drawing/2014/main" id="{D023DCD8-AB65-42FC-8E4C-6446EB1F1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335145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8953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68" name="矩形 17">
              <a:extLst>
                <a:ext uri="{FF2B5EF4-FFF2-40B4-BE49-F238E27FC236}">
                  <a16:creationId xmlns:a16="http://schemas.microsoft.com/office/drawing/2014/main" id="{8257235F-71C6-4E17-ABC4-2882ADBA0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3444422"/>
              <a:ext cx="7344816" cy="438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6000"/>
                <a:buFont typeface="Wingdings 3" panose="05040102010807070707" pitchFamily="18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LC-3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Indirect, </a:t>
              </a:r>
              <a:r>
                <a:rPr kumimoji="0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Base+offset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Load/Store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F54C81C4-12C1-4EFD-A446-C472AFF408E3}"/>
                </a:ext>
              </a:extLst>
            </p:cNvPr>
            <p:cNvCxnSpPr/>
            <p:nvPr/>
          </p:nvCxnSpPr>
          <p:spPr>
            <a:xfrm>
              <a:off x="438669" y="4005064"/>
              <a:ext cx="8130267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905622D-A5B0-4424-AA09-9A31E3D549C7}"/>
              </a:ext>
            </a:extLst>
          </p:cNvPr>
          <p:cNvGrpSpPr/>
          <p:nvPr/>
        </p:nvGrpSpPr>
        <p:grpSpPr>
          <a:xfrm>
            <a:off x="438669" y="2554177"/>
            <a:ext cx="8165779" cy="658799"/>
            <a:chOff x="438669" y="2554177"/>
            <a:chExt cx="8165779" cy="658799"/>
          </a:xfrm>
        </p:grpSpPr>
        <p:sp>
          <p:nvSpPr>
            <p:cNvPr id="71" name="Text Box 17">
              <a:extLst>
                <a:ext uri="{FF2B5EF4-FFF2-40B4-BE49-F238E27FC236}">
                  <a16:creationId xmlns:a16="http://schemas.microsoft.com/office/drawing/2014/main" id="{04C7B0B7-6014-4157-8040-28C515BEA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2554177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8953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72" name="矩形 17">
              <a:extLst>
                <a:ext uri="{FF2B5EF4-FFF2-40B4-BE49-F238E27FC236}">
                  <a16:creationId xmlns:a16="http://schemas.microsoft.com/office/drawing/2014/main" id="{B2A7C8BA-EF15-4335-85D4-A5C19BF2C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2647143"/>
              <a:ext cx="7344816" cy="438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6000"/>
                <a:buFont typeface="Wingdings 3" panose="05040102010807070707" pitchFamily="18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LC-3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PC-Relative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Load/Store</a:t>
              </a:r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9C015303-FD7B-41DC-915D-FBFDCBBC7EFF}"/>
                </a:ext>
              </a:extLst>
            </p:cNvPr>
            <p:cNvCxnSpPr/>
            <p:nvPr/>
          </p:nvCxnSpPr>
          <p:spPr>
            <a:xfrm>
              <a:off x="438669" y="3207785"/>
              <a:ext cx="8130267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A7C9C73-4E22-4510-B545-CA8ADF590D98}"/>
                </a:ext>
              </a:extLst>
            </p:cNvPr>
            <p:cNvCxnSpPr/>
            <p:nvPr/>
          </p:nvCxnSpPr>
          <p:spPr>
            <a:xfrm>
              <a:off x="474181" y="3212976"/>
              <a:ext cx="8130267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E9EEAD7-B02D-4668-B061-025F6B40D989}"/>
              </a:ext>
            </a:extLst>
          </p:cNvPr>
          <p:cNvGrpSpPr/>
          <p:nvPr/>
        </p:nvGrpSpPr>
        <p:grpSpPr>
          <a:xfrm>
            <a:off x="438669" y="4143544"/>
            <a:ext cx="8165779" cy="653608"/>
            <a:chOff x="438669" y="3351456"/>
            <a:chExt cx="8165779" cy="653608"/>
          </a:xfrm>
        </p:grpSpPr>
        <p:sp>
          <p:nvSpPr>
            <p:cNvPr id="76" name="Text Box 17">
              <a:extLst>
                <a:ext uri="{FF2B5EF4-FFF2-40B4-BE49-F238E27FC236}">
                  <a16:creationId xmlns:a16="http://schemas.microsoft.com/office/drawing/2014/main" id="{630BB9E9-A71E-4AC4-A1FC-62A3F3FA5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3351456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marL="0" marR="0" lvl="0" indent="0" algn="ctr" defTabSz="8953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77" name="矩形 17">
              <a:extLst>
                <a:ext uri="{FF2B5EF4-FFF2-40B4-BE49-F238E27FC236}">
                  <a16:creationId xmlns:a16="http://schemas.microsoft.com/office/drawing/2014/main" id="{C5BCB2B5-4742-4C20-A157-D15D9DC54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3444422"/>
              <a:ext cx="7344816" cy="438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0000"/>
                </a:buClr>
                <a:buSzPct val="76000"/>
                <a:buFont typeface="Wingdings 3" panose="05040102010807070707" pitchFamily="18" charset="2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9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Summary</a:t>
              </a: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3CAD0D13-0B2F-48EA-9466-8DEA02B69E29}"/>
                </a:ext>
              </a:extLst>
            </p:cNvPr>
            <p:cNvCxnSpPr/>
            <p:nvPr/>
          </p:nvCxnSpPr>
          <p:spPr>
            <a:xfrm>
              <a:off x="438669" y="4005064"/>
              <a:ext cx="8130267" cy="0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08500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3" name="TextBox 7">
            <a:extLst>
              <a:ext uri="{FF2B5EF4-FFF2-40B4-BE49-F238E27FC236}">
                <a16:creationId xmlns:a16="http://schemas.microsoft.com/office/drawing/2014/main" id="{8FF97695-E40D-4A06-9022-A4F2FA482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64" name="Text Box 17">
            <a:extLst>
              <a:ext uri="{FF2B5EF4-FFF2-40B4-BE49-F238E27FC236}">
                <a16:creationId xmlns:a16="http://schemas.microsoft.com/office/drawing/2014/main" id="{B2651B73-185C-4A5E-94AD-B248780CE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24523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A64685A-F0CB-4EBF-A966-37511DE73D75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67" name="Text Box 17">
            <a:extLst>
              <a:ext uri="{FF2B5EF4-FFF2-40B4-BE49-F238E27FC236}">
                <a16:creationId xmlns:a16="http://schemas.microsoft.com/office/drawing/2014/main" id="{D023DCD8-AB65-42FC-8E4C-6446EB1F1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68" name="矩形 17">
            <a:extLst>
              <a:ext uri="{FF2B5EF4-FFF2-40B4-BE49-F238E27FC236}">
                <a16:creationId xmlns:a16="http://schemas.microsoft.com/office/drawing/2014/main" id="{8257235F-71C6-4E17-ABC4-2882ADBA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LC-3 Indirect,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Base+offset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Load/Store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54C81C4-12C1-4EFD-A446-C472AFF408E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71" name="Text Box 17">
            <a:extLst>
              <a:ext uri="{FF2B5EF4-FFF2-40B4-BE49-F238E27FC236}">
                <a16:creationId xmlns:a16="http://schemas.microsoft.com/office/drawing/2014/main" id="{04C7B0B7-6014-4157-8040-28C515BEA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sp>
        <p:nvSpPr>
          <p:cNvPr id="72" name="矩形 17">
            <a:extLst>
              <a:ext uri="{FF2B5EF4-FFF2-40B4-BE49-F238E27FC236}">
                <a16:creationId xmlns:a16="http://schemas.microsoft.com/office/drawing/2014/main" id="{B2A7C8BA-EF15-4335-85D4-A5C19BF2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LC-3 PC-Relative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ill Sans MT" panose="020B0502020104020203" pitchFamily="34" charset="0"/>
                <a:ea typeface="宋体" panose="02010600030101010101" pitchFamily="2" charset="-122"/>
                <a:sym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Load/Store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C015303-FD7B-41DC-915D-FBFDCBBC7EFF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A7C9C73-4E22-4510-B545-CA8ADF590D98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76" name="Text Box 17">
            <a:extLst>
              <a:ext uri="{FF2B5EF4-FFF2-40B4-BE49-F238E27FC236}">
                <a16:creationId xmlns:a16="http://schemas.microsoft.com/office/drawing/2014/main" id="{630BB9E9-A71E-4AC4-A1FC-62A3F3FA5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77" name="矩形 17">
            <a:extLst>
              <a:ext uri="{FF2B5EF4-FFF2-40B4-BE49-F238E27FC236}">
                <a16:creationId xmlns:a16="http://schemas.microsoft.com/office/drawing/2014/main" id="{C5BCB2B5-4742-4C20-A157-D15D9DC54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CAD0D13-0B2F-48EA-9466-8DEA02B69E29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5006752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Great Idea #3 </a:t>
            </a:r>
            <a:r>
              <a:rPr lang="zh-CN" altLang="en-US" dirty="0"/>
              <a:t>：</a:t>
            </a:r>
            <a:r>
              <a:rPr lang="en-US" altLang="zh-CN" dirty="0"/>
              <a:t>Abstraction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4139952" y="1212310"/>
            <a:ext cx="4878636" cy="5240338"/>
            <a:chOff x="709" y="624"/>
            <a:chExt cx="4537" cy="3301"/>
          </a:xfrm>
        </p:grpSpPr>
        <p:sp>
          <p:nvSpPr>
            <p:cNvPr id="33" name="Text Box 3"/>
            <p:cNvSpPr txBox="1">
              <a:spLocks noChangeArrowheads="1"/>
            </p:cNvSpPr>
            <p:nvPr/>
          </p:nvSpPr>
          <p:spPr bwMode="auto">
            <a:xfrm>
              <a:off x="1642" y="624"/>
              <a:ext cx="246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Solve a system of equations</a:t>
              </a:r>
            </a:p>
          </p:txBody>
        </p:sp>
        <p:grpSp>
          <p:nvGrpSpPr>
            <p:cNvPr id="34" name="Group 28"/>
            <p:cNvGrpSpPr>
              <a:grpSpLocks/>
            </p:cNvGrpSpPr>
            <p:nvPr/>
          </p:nvGrpSpPr>
          <p:grpSpPr bwMode="auto">
            <a:xfrm>
              <a:off x="709" y="1150"/>
              <a:ext cx="4537" cy="292"/>
              <a:chOff x="709" y="1115"/>
              <a:chExt cx="4537" cy="292"/>
            </a:xfrm>
          </p:grpSpPr>
          <p:sp>
            <p:nvSpPr>
              <p:cNvPr id="74" name="Text Box 4"/>
              <p:cNvSpPr txBox="1">
                <a:spLocks noChangeArrowheads="1"/>
              </p:cNvSpPr>
              <p:nvPr/>
            </p:nvSpPr>
            <p:spPr bwMode="auto">
              <a:xfrm>
                <a:off x="2150" y="1116"/>
                <a:ext cx="109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Gaussian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elimination</a:t>
                </a:r>
              </a:p>
            </p:txBody>
          </p:sp>
          <p:sp>
            <p:nvSpPr>
              <p:cNvPr id="75" name="Text Box 5"/>
              <p:cNvSpPr txBox="1">
                <a:spLocks noChangeArrowheads="1"/>
              </p:cNvSpPr>
              <p:nvPr/>
            </p:nvSpPr>
            <p:spPr bwMode="auto">
              <a:xfrm>
                <a:off x="3345" y="1115"/>
                <a:ext cx="86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Jacobi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iteration</a:t>
                </a:r>
              </a:p>
            </p:txBody>
          </p:sp>
          <p:sp>
            <p:nvSpPr>
              <p:cNvPr id="76" name="Text Box 6"/>
              <p:cNvSpPr txBox="1">
                <a:spLocks noChangeArrowheads="1"/>
              </p:cNvSpPr>
              <p:nvPr/>
            </p:nvSpPr>
            <p:spPr bwMode="auto">
              <a:xfrm>
                <a:off x="709" y="1202"/>
                <a:ext cx="141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Red-black SOR</a:t>
                </a:r>
              </a:p>
            </p:txBody>
          </p:sp>
          <p:sp>
            <p:nvSpPr>
              <p:cNvPr id="77" name="Text Box 7"/>
              <p:cNvSpPr txBox="1">
                <a:spLocks noChangeArrowheads="1"/>
              </p:cNvSpPr>
              <p:nvPr/>
            </p:nvSpPr>
            <p:spPr bwMode="auto">
              <a:xfrm>
                <a:off x="4332" y="1202"/>
                <a:ext cx="91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Multigrid</a:t>
                </a:r>
              </a:p>
            </p:txBody>
          </p:sp>
        </p:grp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277" y="1794"/>
              <a:ext cx="2948" cy="174"/>
              <a:chOff x="1133" y="1848"/>
              <a:chExt cx="2948" cy="174"/>
            </a:xfrm>
          </p:grpSpPr>
          <p:sp>
            <p:nvSpPr>
              <p:cNvPr id="70" name="Text Box 8"/>
              <p:cNvSpPr txBox="1">
                <a:spLocks noChangeArrowheads="1"/>
              </p:cNvSpPr>
              <p:nvPr/>
            </p:nvSpPr>
            <p:spPr bwMode="auto">
              <a:xfrm>
                <a:off x="1133" y="1848"/>
                <a:ext cx="10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FORTRAN</a:t>
                </a:r>
              </a:p>
            </p:txBody>
          </p:sp>
          <p:sp>
            <p:nvSpPr>
              <p:cNvPr id="71" name="Text Box 9"/>
              <p:cNvSpPr txBox="1">
                <a:spLocks noChangeArrowheads="1"/>
              </p:cNvSpPr>
              <p:nvPr/>
            </p:nvSpPr>
            <p:spPr bwMode="auto">
              <a:xfrm>
                <a:off x="2279" y="1848"/>
                <a:ext cx="32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72" name="Text Box 10"/>
              <p:cNvSpPr txBox="1">
                <a:spLocks noChangeArrowheads="1"/>
              </p:cNvSpPr>
              <p:nvPr/>
            </p:nvSpPr>
            <p:spPr bwMode="auto">
              <a:xfrm>
                <a:off x="2811" y="1848"/>
                <a:ext cx="519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C++</a:t>
                </a:r>
              </a:p>
            </p:txBody>
          </p:sp>
          <p:sp>
            <p:nvSpPr>
              <p:cNvPr id="73" name="Text Box 11"/>
              <p:cNvSpPr txBox="1">
                <a:spLocks noChangeArrowheads="1"/>
              </p:cNvSpPr>
              <p:nvPr/>
            </p:nvSpPr>
            <p:spPr bwMode="auto">
              <a:xfrm>
                <a:off x="3508" y="1848"/>
                <a:ext cx="573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Java</a:t>
                </a:r>
              </a:p>
            </p:txBody>
          </p:sp>
        </p:grpSp>
        <p:grpSp>
          <p:nvGrpSpPr>
            <p:cNvPr id="36" name="Group 24"/>
            <p:cNvGrpSpPr>
              <a:grpSpLocks/>
            </p:cNvGrpSpPr>
            <p:nvPr/>
          </p:nvGrpSpPr>
          <p:grpSpPr bwMode="auto">
            <a:xfrm>
              <a:off x="982" y="2263"/>
              <a:ext cx="3647" cy="174"/>
              <a:chOff x="694" y="2472"/>
              <a:chExt cx="3647" cy="174"/>
            </a:xfrm>
          </p:grpSpPr>
          <p:sp>
            <p:nvSpPr>
              <p:cNvPr id="67" name="Text Box 12"/>
              <p:cNvSpPr txBox="1">
                <a:spLocks noChangeArrowheads="1"/>
              </p:cNvSpPr>
              <p:nvPr/>
            </p:nvSpPr>
            <p:spPr bwMode="auto">
              <a:xfrm>
                <a:off x="2004" y="2472"/>
                <a:ext cx="87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Intel x86</a:t>
                </a:r>
              </a:p>
            </p:txBody>
          </p:sp>
          <p:sp>
            <p:nvSpPr>
              <p:cNvPr id="68" name="Text Box 13"/>
              <p:cNvSpPr txBox="1">
                <a:spLocks noChangeArrowheads="1"/>
              </p:cNvSpPr>
              <p:nvPr/>
            </p:nvSpPr>
            <p:spPr bwMode="auto">
              <a:xfrm>
                <a:off x="694" y="2472"/>
                <a:ext cx="114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Sun SPARC</a:t>
                </a:r>
              </a:p>
            </p:txBody>
          </p:sp>
          <p:sp>
            <p:nvSpPr>
              <p:cNvPr id="69" name="Text Box 14"/>
              <p:cNvSpPr txBox="1">
                <a:spLocks noChangeArrowheads="1"/>
              </p:cNvSpPr>
              <p:nvPr/>
            </p:nvSpPr>
            <p:spPr bwMode="auto">
              <a:xfrm>
                <a:off x="3047" y="2472"/>
                <a:ext cx="1294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IBM PowerPC</a:t>
                </a:r>
              </a:p>
            </p:txBody>
          </p:sp>
        </p:grpSp>
        <p:grpSp>
          <p:nvGrpSpPr>
            <p:cNvPr id="37" name="Group 25"/>
            <p:cNvGrpSpPr>
              <a:grpSpLocks/>
            </p:cNvGrpSpPr>
            <p:nvPr/>
          </p:nvGrpSpPr>
          <p:grpSpPr bwMode="auto">
            <a:xfrm>
              <a:off x="1362" y="2733"/>
              <a:ext cx="3161" cy="232"/>
              <a:chOff x="1074" y="2928"/>
              <a:chExt cx="3161" cy="232"/>
            </a:xfrm>
          </p:grpSpPr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074" y="2986"/>
                <a:ext cx="100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Pentium 4</a:t>
                </a:r>
              </a:p>
            </p:txBody>
          </p:sp>
          <p:sp>
            <p:nvSpPr>
              <p:cNvPr id="65" name="Text Box 16"/>
              <p:cNvSpPr txBox="1">
                <a:spLocks noChangeArrowheads="1"/>
              </p:cNvSpPr>
              <p:nvPr/>
            </p:nvSpPr>
            <p:spPr bwMode="auto">
              <a:xfrm>
                <a:off x="1892" y="2928"/>
                <a:ext cx="1098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Core 2 Duo</a:t>
                </a:r>
              </a:p>
            </p:txBody>
          </p:sp>
          <p:sp>
            <p:nvSpPr>
              <p:cNvPr id="66" name="Text Box 17"/>
              <p:cNvSpPr txBox="1">
                <a:spLocks noChangeArrowheads="1"/>
              </p:cNvSpPr>
              <p:nvPr/>
            </p:nvSpPr>
            <p:spPr bwMode="auto">
              <a:xfrm>
                <a:off x="2824" y="2986"/>
                <a:ext cx="141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AMD Athlon X2</a:t>
                </a:r>
              </a:p>
            </p:txBody>
          </p:sp>
        </p:grpSp>
        <p:grpSp>
          <p:nvGrpSpPr>
            <p:cNvPr id="38" name="Group 26"/>
            <p:cNvGrpSpPr>
              <a:grpSpLocks/>
            </p:cNvGrpSpPr>
            <p:nvPr/>
          </p:nvGrpSpPr>
          <p:grpSpPr bwMode="auto">
            <a:xfrm>
              <a:off x="1257" y="3202"/>
              <a:ext cx="3482" cy="174"/>
              <a:chOff x="1017" y="3288"/>
              <a:chExt cx="3482" cy="174"/>
            </a:xfrm>
          </p:grpSpPr>
          <p:sp>
            <p:nvSpPr>
              <p:cNvPr id="62" name="Text Box 18"/>
              <p:cNvSpPr txBox="1">
                <a:spLocks noChangeArrowheads="1"/>
              </p:cNvSpPr>
              <p:nvPr/>
            </p:nvSpPr>
            <p:spPr bwMode="auto">
              <a:xfrm>
                <a:off x="1017" y="3288"/>
                <a:ext cx="1685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Ripple-carry adder</a:t>
                </a:r>
              </a:p>
            </p:txBody>
          </p:sp>
          <p:sp>
            <p:nvSpPr>
              <p:cNvPr id="63" name="Text Box 19"/>
              <p:cNvSpPr txBox="1">
                <a:spLocks noChangeArrowheads="1"/>
              </p:cNvSpPr>
              <p:nvPr/>
            </p:nvSpPr>
            <p:spPr bwMode="auto">
              <a:xfrm>
                <a:off x="2469" y="3288"/>
                <a:ext cx="203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Carry-lookahead adder</a:t>
                </a:r>
              </a:p>
            </p:txBody>
          </p:sp>
        </p:grpSp>
        <p:grpSp>
          <p:nvGrpSpPr>
            <p:cNvPr id="39" name="Group 27"/>
            <p:cNvGrpSpPr>
              <a:grpSpLocks/>
            </p:cNvGrpSpPr>
            <p:nvPr/>
          </p:nvGrpSpPr>
          <p:grpSpPr bwMode="auto">
            <a:xfrm>
              <a:off x="1259" y="3696"/>
              <a:ext cx="3608" cy="229"/>
              <a:chOff x="1259" y="3696"/>
              <a:chExt cx="3608" cy="229"/>
            </a:xfrm>
          </p:grpSpPr>
          <p:sp>
            <p:nvSpPr>
              <p:cNvPr id="59" name="Text Box 20"/>
              <p:cNvSpPr txBox="1">
                <a:spLocks noChangeArrowheads="1"/>
              </p:cNvSpPr>
              <p:nvPr/>
            </p:nvSpPr>
            <p:spPr bwMode="auto">
              <a:xfrm>
                <a:off x="1259" y="3751"/>
                <a:ext cx="121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Static CMOS</a:t>
                </a:r>
              </a:p>
            </p:txBody>
          </p:sp>
          <p:sp>
            <p:nvSpPr>
              <p:cNvPr id="60" name="Text Box 21"/>
              <p:cNvSpPr txBox="1">
                <a:spLocks noChangeArrowheads="1"/>
              </p:cNvSpPr>
              <p:nvPr/>
            </p:nvSpPr>
            <p:spPr bwMode="auto">
              <a:xfrm>
                <a:off x="2200" y="3751"/>
                <a:ext cx="145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Dynamic CMOS</a:t>
                </a:r>
              </a:p>
            </p:txBody>
          </p:sp>
          <p:sp>
            <p:nvSpPr>
              <p:cNvPr id="61" name="Text Box 22"/>
              <p:cNvSpPr txBox="1">
                <a:spLocks noChangeArrowheads="1"/>
              </p:cNvSpPr>
              <p:nvPr/>
            </p:nvSpPr>
            <p:spPr bwMode="auto">
              <a:xfrm>
                <a:off x="3331" y="3696"/>
                <a:ext cx="15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l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Gungsuh" panose="02030600000101010101" pitchFamily="18" charset="-127"/>
                  <a:buChar char="-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Nanomechanical</a:t>
                </a: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H="1">
              <a:off x="1728" y="912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2688" y="9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31"/>
            <p:cNvSpPr>
              <a:spLocks noChangeShapeType="1"/>
            </p:cNvSpPr>
            <p:nvPr/>
          </p:nvSpPr>
          <p:spPr bwMode="auto">
            <a:xfrm>
              <a:off x="2688" y="912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" name="Line 32"/>
            <p:cNvSpPr>
              <a:spLocks noChangeShapeType="1"/>
            </p:cNvSpPr>
            <p:nvPr/>
          </p:nvSpPr>
          <p:spPr bwMode="auto">
            <a:xfrm>
              <a:off x="2688" y="912"/>
              <a:ext cx="18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 flipH="1">
              <a:off x="2112" y="1536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H="1">
              <a:off x="2592" y="153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>
              <a:off x="2688" y="15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Line 36"/>
            <p:cNvSpPr>
              <a:spLocks noChangeShapeType="1"/>
            </p:cNvSpPr>
            <p:nvPr/>
          </p:nvSpPr>
          <p:spPr bwMode="auto">
            <a:xfrm>
              <a:off x="2688" y="153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8" name="Line 37"/>
            <p:cNvSpPr>
              <a:spLocks noChangeShapeType="1"/>
            </p:cNvSpPr>
            <p:nvPr/>
          </p:nvSpPr>
          <p:spPr bwMode="auto">
            <a:xfrm flipH="1">
              <a:off x="1920" y="2016"/>
              <a:ext cx="62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9" name="Line 38"/>
            <p:cNvSpPr>
              <a:spLocks noChangeShapeType="1"/>
            </p:cNvSpPr>
            <p:nvPr/>
          </p:nvSpPr>
          <p:spPr bwMode="auto">
            <a:xfrm>
              <a:off x="2544" y="2016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Line 39"/>
            <p:cNvSpPr>
              <a:spLocks noChangeShapeType="1"/>
            </p:cNvSpPr>
            <p:nvPr/>
          </p:nvSpPr>
          <p:spPr bwMode="auto">
            <a:xfrm>
              <a:off x="2544" y="2016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Line 40"/>
            <p:cNvSpPr>
              <a:spLocks noChangeShapeType="1"/>
            </p:cNvSpPr>
            <p:nvPr/>
          </p:nvSpPr>
          <p:spPr bwMode="auto">
            <a:xfrm flipH="1">
              <a:off x="2112" y="2448"/>
              <a:ext cx="57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2688" y="2448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Line 42"/>
            <p:cNvSpPr>
              <a:spLocks noChangeShapeType="1"/>
            </p:cNvSpPr>
            <p:nvPr/>
          </p:nvSpPr>
          <p:spPr bwMode="auto">
            <a:xfrm>
              <a:off x="2688" y="244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43"/>
            <p:cNvSpPr>
              <a:spLocks noChangeShapeType="1"/>
            </p:cNvSpPr>
            <p:nvPr/>
          </p:nvSpPr>
          <p:spPr bwMode="auto">
            <a:xfrm flipH="1">
              <a:off x="2448" y="297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44"/>
            <p:cNvSpPr>
              <a:spLocks noChangeShapeType="1"/>
            </p:cNvSpPr>
            <p:nvPr/>
          </p:nvSpPr>
          <p:spPr bwMode="auto">
            <a:xfrm>
              <a:off x="2736" y="2976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 flipH="1">
              <a:off x="1920" y="3408"/>
              <a:ext cx="148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 flipH="1">
              <a:off x="2880" y="340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3408" y="3408"/>
              <a:ext cx="379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0" name="矩形 89">
            <a:extLst>
              <a:ext uri="{FF2B5EF4-FFF2-40B4-BE49-F238E27FC236}">
                <a16:creationId xmlns:a16="http://schemas.microsoft.com/office/drawing/2014/main" id="{C560C8C4-5EEE-41C4-AC70-48165D0473EA}"/>
              </a:ext>
            </a:extLst>
          </p:cNvPr>
          <p:cNvSpPr/>
          <p:nvPr/>
        </p:nvSpPr>
        <p:spPr bwMode="auto">
          <a:xfrm>
            <a:off x="4265966" y="113030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208D5C12-FE93-4CC4-8771-EFE38D3D5B5D}"/>
              </a:ext>
            </a:extLst>
          </p:cNvPr>
          <p:cNvGrpSpPr/>
          <p:nvPr/>
        </p:nvGrpSpPr>
        <p:grpSpPr>
          <a:xfrm>
            <a:off x="245196" y="1210268"/>
            <a:ext cx="3663217" cy="5115084"/>
            <a:chOff x="468313" y="1446213"/>
            <a:chExt cx="4225925" cy="4192587"/>
          </a:xfrm>
        </p:grpSpPr>
        <p:sp>
          <p:nvSpPr>
            <p:cNvPr id="92" name="AutoShape 3">
              <a:extLst>
                <a:ext uri="{FF2B5EF4-FFF2-40B4-BE49-F238E27FC236}">
                  <a16:creationId xmlns:a16="http://schemas.microsoft.com/office/drawing/2014/main" id="{2C10F0D1-C173-44D5-B515-5860AEC4E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849438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Algorithm and Data Structure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3" name="AutoShape 4">
              <a:extLst>
                <a:ext uri="{FF2B5EF4-FFF2-40B4-BE49-F238E27FC236}">
                  <a16:creationId xmlns:a16="http://schemas.microsoft.com/office/drawing/2014/main" id="{357ABF6D-49A8-46FE-B227-5FA30743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933825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Gates/Register-Transfer Level (RTL)</a:t>
              </a:r>
            </a:p>
          </p:txBody>
        </p:sp>
        <p:sp>
          <p:nvSpPr>
            <p:cNvPr id="94" name="AutoShape 5">
              <a:extLst>
                <a:ext uri="{FF2B5EF4-FFF2-40B4-BE49-F238E27FC236}">
                  <a16:creationId xmlns:a16="http://schemas.microsoft.com/office/drawing/2014/main" id="{E1C94568-5CA8-45C1-B629-827DDE2D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1446213"/>
              <a:ext cx="4217987" cy="4032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Application</a:t>
              </a:r>
            </a:p>
          </p:txBody>
        </p:sp>
        <p:sp>
          <p:nvSpPr>
            <p:cNvPr id="95" name="AutoShape 6">
              <a:extLst>
                <a:ext uri="{FF2B5EF4-FFF2-40B4-BE49-F238E27FC236}">
                  <a16:creationId xmlns:a16="http://schemas.microsoft.com/office/drawing/2014/main" id="{078434B0-DF55-43D2-97AB-067635DC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059113"/>
              <a:ext cx="4225925" cy="471487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Instruction Set Architecture (ISA)</a:t>
              </a:r>
            </a:p>
          </p:txBody>
        </p:sp>
        <p:sp>
          <p:nvSpPr>
            <p:cNvPr id="96" name="AutoShape 7">
              <a:extLst>
                <a:ext uri="{FF2B5EF4-FFF2-40B4-BE49-F238E27FC236}">
                  <a16:creationId xmlns:a16="http://schemas.microsoft.com/office/drawing/2014/main" id="{04E43027-11E9-4BBA-8113-FD288165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655888"/>
              <a:ext cx="4214812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Operating System/Virtual Machines</a:t>
              </a:r>
            </a:p>
          </p:txBody>
        </p:sp>
        <p:sp>
          <p:nvSpPr>
            <p:cNvPr id="97" name="AutoShape 8">
              <a:extLst>
                <a:ext uri="{FF2B5EF4-FFF2-40B4-BE49-F238E27FC236}">
                  <a16:creationId xmlns:a16="http://schemas.microsoft.com/office/drawing/2014/main" id="{42130CB5-CC4E-4B36-8F60-19F83864E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30600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Microarchitecture</a:t>
              </a:r>
            </a:p>
          </p:txBody>
        </p:sp>
        <p:sp>
          <p:nvSpPr>
            <p:cNvPr id="98" name="AutoShape 9">
              <a:extLst>
                <a:ext uri="{FF2B5EF4-FFF2-40B4-BE49-F238E27FC236}">
                  <a16:creationId xmlns:a16="http://schemas.microsoft.com/office/drawing/2014/main" id="{6E0F1BA5-89D3-4437-8856-FFB566E24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740275"/>
              <a:ext cx="4225925" cy="45878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Electronic Devices</a:t>
              </a:r>
            </a:p>
          </p:txBody>
        </p:sp>
        <p:sp>
          <p:nvSpPr>
            <p:cNvPr id="99" name="AutoShape 10">
              <a:extLst>
                <a:ext uri="{FF2B5EF4-FFF2-40B4-BE49-F238E27FC236}">
                  <a16:creationId xmlns:a16="http://schemas.microsoft.com/office/drawing/2014/main" id="{B6FFA4A0-4F30-490C-8A53-39941D9A0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2252663"/>
              <a:ext cx="4225925" cy="403225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Programming Language/Compiler</a:t>
              </a:r>
            </a:p>
          </p:txBody>
        </p:sp>
        <p:sp>
          <p:nvSpPr>
            <p:cNvPr id="100" name="AutoShape 11">
              <a:extLst>
                <a:ext uri="{FF2B5EF4-FFF2-40B4-BE49-F238E27FC236}">
                  <a16:creationId xmlns:a16="http://schemas.microsoft.com/office/drawing/2014/main" id="{CD3CC031-1514-4719-B4DD-1F200F51F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4337050"/>
              <a:ext cx="4225925" cy="39211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Analog/Digital Circuits</a:t>
              </a:r>
            </a:p>
          </p:txBody>
        </p:sp>
        <p:sp>
          <p:nvSpPr>
            <p:cNvPr id="101" name="AutoShape 12">
              <a:extLst>
                <a:ext uri="{FF2B5EF4-FFF2-40B4-BE49-F238E27FC236}">
                  <a16:creationId xmlns:a16="http://schemas.microsoft.com/office/drawing/2014/main" id="{148CCF79-0C97-491C-8247-1A032683B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5180013"/>
              <a:ext cx="4225925" cy="458787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29" tIns="45714" rIns="91429" bIns="45714" anchor="ctr"/>
            <a:lstStyle>
              <a:lvl1pPr defTabSz="820738"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defTabSz="820738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defTabSz="820738">
                <a:spcBef>
                  <a:spcPct val="20000"/>
                </a:spcBef>
                <a:buFont typeface="Gungsuh" panose="02030600000101010101" pitchFamily="18" charset="-127"/>
                <a:buChar char="-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20738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defTabSz="820738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2073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82073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rPr>
                <a:t>Physics</a:t>
              </a:r>
            </a:p>
          </p:txBody>
        </p:sp>
      </p:grp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2957E336-7614-43E1-A24C-6C1A453F3684}"/>
              </a:ext>
            </a:extLst>
          </p:cNvPr>
          <p:cNvCxnSpPr>
            <a:cxnSpLocks/>
            <a:stCxn id="78" idx="1"/>
            <a:endCxn id="8" idx="1"/>
          </p:cNvCxnSpPr>
          <p:nvPr/>
        </p:nvCxnSpPr>
        <p:spPr bwMode="auto">
          <a:xfrm flipH="1" flipV="1">
            <a:off x="4151706" y="3681548"/>
            <a:ext cx="132262" cy="1049282"/>
          </a:xfrm>
          <a:prstGeom prst="straightConnector1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5C80D713-1397-43BF-A430-C9B60EBCF6FC}"/>
              </a:ext>
            </a:extLst>
          </p:cNvPr>
          <p:cNvSpPr/>
          <p:nvPr/>
        </p:nvSpPr>
        <p:spPr bwMode="auto">
          <a:xfrm>
            <a:off x="4283968" y="4509120"/>
            <a:ext cx="4698522" cy="443420"/>
          </a:xfrm>
          <a:prstGeom prst="rect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6692F43F-8414-49CD-93C0-36333FEC4028}"/>
              </a:ext>
            </a:extLst>
          </p:cNvPr>
          <p:cNvSpPr/>
          <p:nvPr/>
        </p:nvSpPr>
        <p:spPr bwMode="auto">
          <a:xfrm>
            <a:off x="3850697" y="3178055"/>
            <a:ext cx="301009" cy="1053619"/>
          </a:xfrm>
          <a:prstGeom prst="rightBrace">
            <a:avLst>
              <a:gd name="adj1" fmla="val 8333"/>
              <a:gd name="adj2" fmla="val 47787"/>
            </a:avLst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758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组合 281"/>
          <p:cNvGrpSpPr/>
          <p:nvPr/>
        </p:nvGrpSpPr>
        <p:grpSpPr>
          <a:xfrm>
            <a:off x="4716016" y="1591482"/>
            <a:ext cx="3939034" cy="4256413"/>
            <a:chOff x="4860032" y="1548851"/>
            <a:chExt cx="3939034" cy="4256413"/>
          </a:xfrm>
        </p:grpSpPr>
        <p:sp>
          <p:nvSpPr>
            <p:cNvPr id="283" name="矩形 282"/>
            <p:cNvSpPr/>
            <p:nvPr/>
          </p:nvSpPr>
          <p:spPr bwMode="auto">
            <a:xfrm>
              <a:off x="4860032" y="1548851"/>
              <a:ext cx="3939034" cy="4256413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移动数据指令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284" name="组合 283"/>
            <p:cNvGrpSpPr/>
            <p:nvPr/>
          </p:nvGrpSpPr>
          <p:grpSpPr>
            <a:xfrm>
              <a:off x="5148040" y="2407131"/>
              <a:ext cx="3539683" cy="1449519"/>
              <a:chOff x="833366" y="4427663"/>
              <a:chExt cx="3539683" cy="1449519"/>
            </a:xfrm>
          </p:grpSpPr>
          <p:grpSp>
            <p:nvGrpSpPr>
              <p:cNvPr id="360" name="组合 359"/>
              <p:cNvGrpSpPr/>
              <p:nvPr/>
            </p:nvGrpSpPr>
            <p:grpSpPr>
              <a:xfrm>
                <a:off x="1502926" y="4427663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416" name="组合 41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434" name="矩形 43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5" name="矩形 43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6" name="矩形 43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7" name="矩形 43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38" name="矩形 43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41" name="矩形 44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PCoffset9</a:t>
                    </a:r>
                    <a:r>
                      <a:rPr kumimoji="0" lang="zh-CN" alt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 </a:t>
                    </a:r>
                  </a:p>
                </p:txBody>
              </p:sp>
            </p:grpSp>
            <p:grpSp>
              <p:nvGrpSpPr>
                <p:cNvPr id="417" name="组合 41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418" name="矩形 41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419" name="矩形 41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0" name="矩形 41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1" name="矩形 42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2" name="矩形 42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3" name="矩形 42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4" name="矩形 42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5" name="矩形 42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6" name="矩形 42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7" name="矩形 42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8" name="矩形 42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29" name="矩形 42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0" name="矩形 42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1" name="矩形 43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2" name="矩形 43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433" name="矩形 43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61" name="组合 360"/>
              <p:cNvGrpSpPr/>
              <p:nvPr/>
            </p:nvGrpSpPr>
            <p:grpSpPr>
              <a:xfrm>
                <a:off x="1502926" y="4958852"/>
                <a:ext cx="2865890" cy="288000"/>
                <a:chOff x="381000" y="3212976"/>
                <a:chExt cx="2865890" cy="288000"/>
              </a:xfrm>
            </p:grpSpPr>
            <p:sp>
              <p:nvSpPr>
                <p:cNvPr id="400" name="矩形 3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1" name="矩形 4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2" name="矩形 4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3" name="矩形 4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4" name="矩形 40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7" name="矩形 4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10" name="矩形 40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62" name="组合 361"/>
              <p:cNvGrpSpPr/>
              <p:nvPr/>
            </p:nvGrpSpPr>
            <p:grpSpPr>
              <a:xfrm>
                <a:off x="1502926" y="5274017"/>
                <a:ext cx="2870123" cy="288000"/>
                <a:chOff x="381000" y="3212976"/>
                <a:chExt cx="2870123" cy="288000"/>
              </a:xfrm>
            </p:grpSpPr>
            <p:sp>
              <p:nvSpPr>
                <p:cNvPr id="384" name="矩形 3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5" name="矩形 3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6" name="矩形 3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7" name="矩形 3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8" name="矩形 38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1" name="矩形 39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grpSp>
            <p:nvGrpSpPr>
              <p:cNvPr id="363" name="组合 362"/>
              <p:cNvGrpSpPr/>
              <p:nvPr/>
            </p:nvGrpSpPr>
            <p:grpSpPr>
              <a:xfrm>
                <a:off x="1502926" y="5589182"/>
                <a:ext cx="2870123" cy="288000"/>
                <a:chOff x="381000" y="3212976"/>
                <a:chExt cx="2870123" cy="288000"/>
              </a:xfrm>
            </p:grpSpPr>
            <p:sp>
              <p:nvSpPr>
                <p:cNvPr id="368" name="矩形 3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9" name="矩形 3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70" name="矩形 3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71" name="矩形 3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2" name="矩形 371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75" name="矩形 374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364" name="矩形 363"/>
              <p:cNvSpPr/>
              <p:nvPr/>
            </p:nvSpPr>
            <p:spPr bwMode="auto">
              <a:xfrm>
                <a:off x="833366" y="46409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5" name="矩形 364"/>
              <p:cNvSpPr/>
              <p:nvPr/>
            </p:nvSpPr>
            <p:spPr bwMode="auto">
              <a:xfrm>
                <a:off x="833366" y="527236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6" name="矩形 365"/>
              <p:cNvSpPr/>
              <p:nvPr/>
            </p:nvSpPr>
            <p:spPr bwMode="auto">
              <a:xfrm>
                <a:off x="833366" y="5588080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LEA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67" name="矩形 366"/>
              <p:cNvSpPr/>
              <p:nvPr/>
            </p:nvSpPr>
            <p:spPr bwMode="auto">
              <a:xfrm>
                <a:off x="833366" y="49613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285" name="组合 284"/>
            <p:cNvGrpSpPr/>
            <p:nvPr/>
          </p:nvGrpSpPr>
          <p:grpSpPr>
            <a:xfrm>
              <a:off x="5088934" y="4522496"/>
              <a:ext cx="3611691" cy="1134354"/>
              <a:chOff x="5326485" y="4443852"/>
              <a:chExt cx="3611691" cy="1134354"/>
            </a:xfrm>
          </p:grpSpPr>
          <p:grpSp>
            <p:nvGrpSpPr>
              <p:cNvPr id="288" name="组合 287"/>
              <p:cNvGrpSpPr/>
              <p:nvPr/>
            </p:nvGrpSpPr>
            <p:grpSpPr>
              <a:xfrm>
                <a:off x="6068053" y="4443852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326" name="组合 325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344" name="矩形 343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5" name="矩形 344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6" name="矩形 345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7" name="矩形 346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48" name="矩形 347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51" name="矩形 35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327" name="组合 326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328" name="矩形 327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329" name="矩形 328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0" name="矩形 329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1" name="矩形 330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2" name="矩形 331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3" name="矩形 332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4" name="矩形 333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5" name="矩形 334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6" name="矩形 335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7" name="矩形 336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8" name="矩形 337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39" name="矩形 338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0" name="矩形 339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1" name="矩形 340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2" name="矩形 341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343" name="矩形 342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89" name="组合 288"/>
              <p:cNvGrpSpPr/>
              <p:nvPr/>
            </p:nvGrpSpPr>
            <p:grpSpPr>
              <a:xfrm>
                <a:off x="6068053" y="4975041"/>
                <a:ext cx="2865890" cy="288000"/>
                <a:chOff x="381000" y="3212976"/>
                <a:chExt cx="2865890" cy="288000"/>
              </a:xfrm>
            </p:grpSpPr>
            <p:sp>
              <p:nvSpPr>
                <p:cNvPr id="317" name="矩形 31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0" name="矩形 30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1" name="矩形 31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2" name="矩形 31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3" name="矩形 31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4" name="矩形 31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0" name="矩形 319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90" name="组合 289"/>
              <p:cNvGrpSpPr/>
              <p:nvPr/>
            </p:nvGrpSpPr>
            <p:grpSpPr>
              <a:xfrm>
                <a:off x="6068053" y="5290206"/>
                <a:ext cx="2870123" cy="288000"/>
                <a:chOff x="381000" y="3212976"/>
                <a:chExt cx="2870123" cy="288000"/>
              </a:xfrm>
            </p:grpSpPr>
            <p:sp>
              <p:nvSpPr>
                <p:cNvPr id="294" name="矩形 29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5" name="矩形 29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6" name="矩形 29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7" name="矩形 29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8" name="矩形 297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1" name="矩形 30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91" name="矩形 290"/>
              <p:cNvSpPr/>
              <p:nvPr/>
            </p:nvSpPr>
            <p:spPr bwMode="auto">
              <a:xfrm>
                <a:off x="5326485" y="46571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2" name="矩形 291"/>
              <p:cNvSpPr/>
              <p:nvPr/>
            </p:nvSpPr>
            <p:spPr bwMode="auto">
              <a:xfrm>
                <a:off x="5326485" y="528855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3" name="矩形 292"/>
              <p:cNvSpPr/>
              <p:nvPr/>
            </p:nvSpPr>
            <p:spPr bwMode="auto">
              <a:xfrm>
                <a:off x="5326485" y="49775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286" name="文本框 285"/>
            <p:cNvSpPr txBox="1"/>
            <p:nvPr/>
          </p:nvSpPr>
          <p:spPr>
            <a:xfrm>
              <a:off x="6350794" y="1995475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取数指令</a:t>
              </a:r>
            </a:p>
          </p:txBody>
        </p:sp>
        <p:sp>
          <p:nvSpPr>
            <p:cNvPr id="287" name="文本框 286"/>
            <p:cNvSpPr txBox="1"/>
            <p:nvPr/>
          </p:nvSpPr>
          <p:spPr>
            <a:xfrm>
              <a:off x="6350794" y="4137131"/>
              <a:ext cx="870751" cy="2975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存数指令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LC-3</a:t>
            </a:r>
            <a:r>
              <a:rPr lang="zh-CN" altLang="en-US" dirty="0"/>
              <a:t> </a:t>
            </a:r>
            <a:r>
              <a:rPr lang="en-US" altLang="zh-CN" dirty="0"/>
              <a:t>ISA </a:t>
            </a:r>
            <a:r>
              <a:rPr lang="en-US" altLang="zh-CN" dirty="0">
                <a:solidFill>
                  <a:srgbClr val="003399"/>
                </a:solidFill>
              </a:rPr>
              <a:t>Operate Instructions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5" name="组合 134"/>
          <p:cNvGrpSpPr/>
          <p:nvPr/>
        </p:nvGrpSpPr>
        <p:grpSpPr>
          <a:xfrm>
            <a:off x="459787" y="3573877"/>
            <a:ext cx="3851482" cy="3024601"/>
            <a:chOff x="504494" y="3554486"/>
            <a:chExt cx="3851482" cy="3024601"/>
          </a:xfrm>
        </p:grpSpPr>
        <p:sp>
          <p:nvSpPr>
            <p:cNvPr id="136" name="矩形 135"/>
            <p:cNvSpPr/>
            <p:nvPr/>
          </p:nvSpPr>
          <p:spPr bwMode="auto">
            <a:xfrm>
              <a:off x="504494" y="3554486"/>
              <a:ext cx="3851482" cy="3024601"/>
            </a:xfrm>
            <a:prstGeom prst="rect">
              <a:avLst/>
            </a:prstGeom>
            <a:solidFill>
              <a:srgbClr val="FF99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控制指令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1399105" y="6237344"/>
              <a:ext cx="2868712" cy="288000"/>
              <a:chOff x="381000" y="3212976"/>
              <a:chExt cx="2868712" cy="288000"/>
            </a:xfrm>
          </p:grpSpPr>
          <p:sp>
            <p:nvSpPr>
              <p:cNvPr id="266" name="矩形 265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7" name="矩形 266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8" name="矩形 267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69" name="矩形 268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1" name="矩形 270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2" name="矩形 271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3" name="矩形 272"/>
              <p:cNvSpPr/>
              <p:nvPr/>
            </p:nvSpPr>
            <p:spPr bwMode="auto">
              <a:xfrm>
                <a:off x="1631123" y="3212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0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74" name="矩形 273"/>
              <p:cNvSpPr/>
              <p:nvPr/>
            </p:nvSpPr>
            <p:spPr bwMode="auto">
              <a:xfrm>
                <a:off x="1809712" y="3212976"/>
                <a:ext cx="144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TrapVector8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 bwMode="auto">
            <a:xfrm>
              <a:off x="696381" y="6236242"/>
              <a:ext cx="634282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8000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TRAP</a:t>
              </a:r>
              <a:endParaRPr kumimoji="0" lang="zh-CN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39" name="组合 138"/>
            <p:cNvGrpSpPr/>
            <p:nvPr/>
          </p:nvGrpSpPr>
          <p:grpSpPr>
            <a:xfrm>
              <a:off x="696381" y="4005064"/>
              <a:ext cx="3575669" cy="2124691"/>
              <a:chOff x="696381" y="3857190"/>
              <a:chExt cx="3575669" cy="2124691"/>
            </a:xfrm>
          </p:grpSpPr>
          <p:grpSp>
            <p:nvGrpSpPr>
              <p:cNvPr id="140" name="组合 139"/>
              <p:cNvGrpSpPr/>
              <p:nvPr/>
            </p:nvGrpSpPr>
            <p:grpSpPr>
              <a:xfrm>
                <a:off x="1399105" y="3857190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232" name="组合 231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250" name="矩形 249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1" name="矩形 250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2" name="矩形 251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3" name="矩形 252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54" name="矩形 253"/>
                  <p:cNvSpPr/>
                  <p:nvPr/>
                </p:nvSpPr>
                <p:spPr bwMode="auto">
                  <a:xfrm>
                    <a:off x="1095356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n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5" name="矩形 254"/>
                  <p:cNvSpPr/>
                  <p:nvPr/>
                </p:nvSpPr>
                <p:spPr bwMode="auto">
                  <a:xfrm>
                    <a:off x="1273945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z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6" name="矩形 255"/>
                  <p:cNvSpPr/>
                  <p:nvPr/>
                </p:nvSpPr>
                <p:spPr bwMode="auto">
                  <a:xfrm>
                    <a:off x="1452534" y="3212976"/>
                    <a:ext cx="18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57" name="矩形 256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33" name="组合 232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234" name="矩形 233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35" name="矩形 234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6" name="矩形 235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7" name="矩形 236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8" name="矩形 237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39" name="矩形 238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0" name="矩形 239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1" name="矩形 240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2" name="矩形 241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3" name="矩形 242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4" name="矩形 243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5" name="矩形 244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6" name="矩形 245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7" name="矩形 246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8" name="矩形 247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249" name="矩形 248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1" name="组合 140"/>
              <p:cNvGrpSpPr/>
              <p:nvPr/>
            </p:nvGrpSpPr>
            <p:grpSpPr>
              <a:xfrm>
                <a:off x="1399105" y="4388379"/>
                <a:ext cx="2872945" cy="288000"/>
                <a:chOff x="381000" y="3212976"/>
                <a:chExt cx="2872945" cy="288000"/>
              </a:xfrm>
            </p:grpSpPr>
            <p:sp>
              <p:nvSpPr>
                <p:cNvPr id="216" name="矩形 21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 bwMode="auto">
                <a:xfrm>
                  <a:off x="1273945" y="3212976"/>
                  <a:ext cx="19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PCoffset11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1399105" y="4703544"/>
                <a:ext cx="2858832" cy="288000"/>
                <a:chOff x="381000" y="3212976"/>
                <a:chExt cx="2858832" cy="288000"/>
              </a:xfrm>
            </p:grpSpPr>
            <p:sp>
              <p:nvSpPr>
                <p:cNvPr id="200" name="矩形 19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5" name="矩形 204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6" name="矩形 205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3" name="组合 142"/>
              <p:cNvGrpSpPr/>
              <p:nvPr/>
            </p:nvGrpSpPr>
            <p:grpSpPr>
              <a:xfrm>
                <a:off x="1399105" y="5018709"/>
                <a:ext cx="2858832" cy="288000"/>
                <a:chOff x="381000" y="3212976"/>
                <a:chExt cx="2858832" cy="288000"/>
              </a:xfrm>
            </p:grpSpPr>
            <p:sp>
              <p:nvSpPr>
                <p:cNvPr id="184" name="矩形 183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2" name="矩形 191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3" name="矩形 192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4" name="矩形 143"/>
              <p:cNvSpPr/>
              <p:nvPr/>
            </p:nvSpPr>
            <p:spPr bwMode="auto">
              <a:xfrm>
                <a:off x="696381" y="40704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BR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5" name="矩形 144"/>
              <p:cNvSpPr/>
              <p:nvPr/>
            </p:nvSpPr>
            <p:spPr bwMode="auto">
              <a:xfrm>
                <a:off x="696381" y="470189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696381" y="501760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RTI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696381" y="439086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JSR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48" name="组合 147"/>
              <p:cNvGrpSpPr/>
              <p:nvPr/>
            </p:nvGrpSpPr>
            <p:grpSpPr>
              <a:xfrm>
                <a:off x="1399105" y="533491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68" name="矩形 167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9" name="矩形 178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0" name="矩形 179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49" name="矩形 148"/>
              <p:cNvSpPr/>
              <p:nvPr/>
            </p:nvSpPr>
            <p:spPr bwMode="auto">
              <a:xfrm>
                <a:off x="696381" y="533380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JMP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grpSp>
            <p:nvGrpSpPr>
              <p:cNvPr id="150" name="组合 149"/>
              <p:cNvGrpSpPr/>
              <p:nvPr/>
            </p:nvGrpSpPr>
            <p:grpSpPr>
              <a:xfrm>
                <a:off x="1399105" y="5693881"/>
                <a:ext cx="2858832" cy="288000"/>
                <a:chOff x="381000" y="3212976"/>
                <a:chExt cx="2858832" cy="288000"/>
              </a:xfrm>
            </p:grpSpPr>
            <p:sp>
              <p:nvSpPr>
                <p:cNvPr id="152" name="矩形 15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3" name="矩形 15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4" name="矩形 15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6" name="矩形 165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1" name="矩形 150"/>
              <p:cNvSpPr/>
              <p:nvPr/>
            </p:nvSpPr>
            <p:spPr bwMode="auto">
              <a:xfrm>
                <a:off x="696381" y="5692779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 bwMode="auto">
          <a:xfrm>
            <a:off x="35496" y="966680"/>
            <a:ext cx="9108504" cy="5702680"/>
          </a:xfrm>
          <a:prstGeom prst="rect">
            <a:avLst/>
          </a:prstGeom>
          <a:solidFill>
            <a:schemeClr val="bg1">
              <a:alpha val="79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70624" y="966680"/>
            <a:ext cx="3829807" cy="2574797"/>
            <a:chOff x="504494" y="926211"/>
            <a:chExt cx="3829807" cy="2574797"/>
          </a:xfrm>
        </p:grpSpPr>
        <p:sp>
          <p:nvSpPr>
            <p:cNvPr id="7" name="矩形 6"/>
            <p:cNvSpPr/>
            <p:nvPr/>
          </p:nvSpPr>
          <p:spPr bwMode="auto">
            <a:xfrm>
              <a:off x="504494" y="926211"/>
              <a:ext cx="3829807" cy="257479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运算指令</a:t>
              </a: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17255" y="1349152"/>
              <a:ext cx="3534039" cy="2079848"/>
              <a:chOff x="827584" y="1628800"/>
              <a:chExt cx="3534039" cy="207984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1497144" y="1628800"/>
                <a:ext cx="2861657" cy="504024"/>
                <a:chOff x="345016" y="2996952"/>
                <a:chExt cx="2861657" cy="504024"/>
              </a:xfrm>
            </p:grpSpPr>
            <p:grpSp>
              <p:nvGrpSpPr>
                <p:cNvPr id="101" name="组合 100"/>
                <p:cNvGrpSpPr/>
                <p:nvPr/>
              </p:nvGrpSpPr>
              <p:grpSpPr>
                <a:xfrm>
                  <a:off x="345016" y="3212976"/>
                  <a:ext cx="2861657" cy="288000"/>
                  <a:chOff x="381000" y="3212976"/>
                  <a:chExt cx="2861657" cy="288000"/>
                </a:xfrm>
              </p:grpSpPr>
              <p:sp>
                <p:nvSpPr>
                  <p:cNvPr id="119" name="矩形 118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0" name="矩形 119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 bwMode="auto">
                  <a:xfrm>
                    <a:off x="1631123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SR1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29" name="矩形 128"/>
                  <p:cNvSpPr/>
                  <p:nvPr/>
                </p:nvSpPr>
                <p:spPr bwMode="auto">
                  <a:xfrm>
                    <a:off x="216689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1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2345479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2524068" y="3212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2702657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SR2</a:t>
                    </a:r>
                    <a:endParaRPr kumimoji="0" lang="zh-CN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02" name="组合 101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03" name="矩形 102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6" name="矩形 105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7" name="矩形 106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8" name="矩形 107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09" name="矩形 108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4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14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0" name="组合 9"/>
              <p:cNvGrpSpPr/>
              <p:nvPr/>
            </p:nvGrpSpPr>
            <p:grpSpPr>
              <a:xfrm>
                <a:off x="1497144" y="2159989"/>
                <a:ext cx="2864479" cy="288000"/>
                <a:chOff x="381000" y="3212976"/>
                <a:chExt cx="2864479" cy="288000"/>
              </a:xfrm>
            </p:grpSpPr>
            <p:sp>
              <p:nvSpPr>
                <p:cNvPr id="85" name="矩形 8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7" name="矩形 8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8" name="矩形 8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2" name="矩形 91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6" name="矩形 95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" name="组合 10"/>
              <p:cNvGrpSpPr/>
              <p:nvPr/>
            </p:nvGrpSpPr>
            <p:grpSpPr>
              <a:xfrm>
                <a:off x="1497144" y="2475154"/>
                <a:ext cx="2861657" cy="288000"/>
                <a:chOff x="381000" y="3212976"/>
                <a:chExt cx="2861657" cy="288000"/>
              </a:xfrm>
            </p:grpSpPr>
            <p:sp>
              <p:nvSpPr>
                <p:cNvPr id="69" name="矩形 68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0" name="矩形 69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1" name="矩形 70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2" name="矩形 71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3" name="矩形 72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79" name="矩形 78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1" name="矩形 80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82" name="矩形 81"/>
                <p:cNvSpPr/>
                <p:nvPr/>
              </p:nvSpPr>
              <p:spPr bwMode="auto">
                <a:xfrm>
                  <a:off x="2702657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SR2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1497144" y="2790319"/>
                <a:ext cx="2864479" cy="288000"/>
                <a:chOff x="381000" y="3212976"/>
                <a:chExt cx="2864479" cy="288000"/>
              </a:xfrm>
            </p:grpSpPr>
            <p:sp>
              <p:nvSpPr>
                <p:cNvPr id="53" name="矩形 52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6" name="矩形 55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矩形 56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0" name="矩形 59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 bwMode="auto">
                <a:xfrm>
                  <a:off x="2345479" y="3212976"/>
                  <a:ext cx="90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Imm5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1497144" y="3105484"/>
                <a:ext cx="2858832" cy="288000"/>
                <a:chOff x="381000" y="3212976"/>
                <a:chExt cx="2858832" cy="288000"/>
              </a:xfrm>
            </p:grpSpPr>
            <p:sp>
              <p:nvSpPr>
                <p:cNvPr id="37" name="矩形 36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0" name="矩形 39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矩形 40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4" name="矩形 43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0" name="矩形 49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1" name="矩形 50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1497144" y="3420648"/>
                <a:ext cx="2858832" cy="288000"/>
                <a:chOff x="381000" y="3212976"/>
                <a:chExt cx="2858832" cy="288000"/>
              </a:xfrm>
            </p:grpSpPr>
            <p:sp>
              <p:nvSpPr>
                <p:cNvPr id="21" name="矩形 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2" name="矩形 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3" name="矩形 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1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矩形 24"/>
                <p:cNvSpPr/>
                <p:nvPr/>
              </p:nvSpPr>
              <p:spPr bwMode="auto">
                <a:xfrm>
                  <a:off x="109535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 bwMode="auto">
                <a:xfrm>
                  <a:off x="1273945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1452534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8" name="矩形 27"/>
                <p:cNvSpPr/>
                <p:nvPr/>
              </p:nvSpPr>
              <p:spPr bwMode="auto">
                <a:xfrm>
                  <a:off x="1631123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29" name="矩形 28"/>
                <p:cNvSpPr/>
                <p:nvPr/>
              </p:nvSpPr>
              <p:spPr bwMode="auto">
                <a:xfrm>
                  <a:off x="180971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0" name="矩形 29"/>
                <p:cNvSpPr/>
                <p:nvPr/>
              </p:nvSpPr>
              <p:spPr bwMode="auto">
                <a:xfrm>
                  <a:off x="1988301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 bwMode="auto">
                <a:xfrm>
                  <a:off x="2166890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 bwMode="auto">
                <a:xfrm>
                  <a:off x="2345479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 bwMode="auto">
                <a:xfrm>
                  <a:off x="2524068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 bwMode="auto">
                <a:xfrm>
                  <a:off x="2702657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 bwMode="auto">
                <a:xfrm>
                  <a:off x="2881246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 bwMode="auto">
                <a:xfrm>
                  <a:off x="3059832" y="3212976"/>
                  <a:ext cx="1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</p:grpSp>
          <p:sp>
            <p:nvSpPr>
              <p:cNvPr id="15" name="矩形 14"/>
              <p:cNvSpPr/>
              <p:nvPr/>
            </p:nvSpPr>
            <p:spPr bwMode="auto">
              <a:xfrm>
                <a:off x="827584" y="18420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 bwMode="auto">
              <a:xfrm>
                <a:off x="827584" y="247350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 bwMode="auto">
              <a:xfrm>
                <a:off x="827584" y="2789217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AND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 bwMode="auto">
              <a:xfrm>
                <a:off x="827584" y="310493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NOT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 bwMode="auto">
              <a:xfrm>
                <a:off x="827584" y="3420648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Reserved</a:t>
                </a:r>
                <a:endParaRPr kumimoji="0" lang="zh-CN" alt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 bwMode="auto">
              <a:xfrm>
                <a:off x="827584" y="2162472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ADD</a:t>
                </a:r>
                <a:endParaRPr kumimoji="0" lang="zh-CN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036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7865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2786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3" name="直接连接符 262"/>
          <p:cNvCxnSpPr/>
          <p:nvPr/>
        </p:nvCxnSpPr>
        <p:spPr bwMode="auto">
          <a:xfrm rot="10800000">
            <a:off x="3366482" y="3988800"/>
            <a:ext cx="1726" cy="84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321927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LC-3  Data Path After Operate Instruction</a:t>
            </a: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52" name="直接连接符 451"/>
          <p:cNvCxnSpPr/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5" name="文本框 354"/>
          <p:cNvSpPr txBox="1"/>
          <p:nvPr/>
        </p:nvSpPr>
        <p:spPr>
          <a:xfrm>
            <a:off x="6122062" y="4190891"/>
            <a:ext cx="84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ADD/AND</a:t>
            </a:r>
            <a:endParaRPr lang="zh-CN" altLang="en-US" sz="1000" b="1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505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3645F5-D573-4DB4-A689-19E0A28251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EA6FBC-31A5-461C-9A68-BB8169FC91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Today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 are going to learn how to: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load data from memory to registers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store data from registers to memory</a:t>
            </a:r>
          </a:p>
        </p:txBody>
      </p: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1835696" y="2673809"/>
          <a:ext cx="5352256" cy="375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CorelDRAW" r:id="rId4" imgW="5743575" imgH="4029075" progId="CorelDRAW.Graphic.9">
                  <p:embed/>
                </p:oleObj>
              </mc:Choice>
              <mc:Fallback>
                <p:oleObj name="CorelDRAW" r:id="rId4" imgW="5743575" imgH="4029075" progId="CorelDRAW.Graphic.9">
                  <p:embed/>
                  <p:pic>
                    <p:nvPicPr>
                      <p:cNvPr id="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673809"/>
                        <a:ext cx="5352256" cy="3754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443536" y="2673809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D847CD-3A84-4244-8A25-695199C38716}"/>
              </a:ext>
            </a:extLst>
          </p:cNvPr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909A08DE-FFA4-4D18-A5DC-7926DFFB5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B2C5CDCC-C194-4B6B-856E-18FD199EA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7612F04B-1D4D-48CA-965F-5F1A793DA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52EC5AF1-659B-4B7E-B97D-1FC8269D0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A4B85D9F-7C01-4991-924E-C1E367D53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42C28447-D47C-483A-98E3-CA9B9E21D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AC3C823F-1F63-4802-A77D-29BCD7585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4FCD24E3-0624-4207-8215-7DAADED30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35DD780D-8E3D-40B7-A4E8-FB53426B1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2C89ED00-8B05-44F6-8A6F-297651D74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2DC6E25C-3820-4188-AD1A-67289C218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C2B76F26-AEBC-4154-BBEF-56FB58CF7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25CABBA1-3307-4A0C-BE9C-AB63057A9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FACC10C4-D07C-46EA-8D71-E3AFEC56C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25" name="Text Box 19">
              <a:extLst>
                <a:ext uri="{FF2B5EF4-FFF2-40B4-BE49-F238E27FC236}">
                  <a16:creationId xmlns:a16="http://schemas.microsoft.com/office/drawing/2014/main" id="{94AEB6E9-9BA1-48A0-A1A8-47AB67915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DBD529B4-E16B-4B19-BBA2-3DFF534D6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358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433E8E-CADD-49AA-A3C2-A6F1E0D18F7B}"/>
              </a:ext>
            </a:extLst>
          </p:cNvPr>
          <p:cNvSpPr/>
          <p:nvPr/>
        </p:nvSpPr>
        <p:spPr bwMode="auto">
          <a:xfrm>
            <a:off x="112099" y="46525"/>
            <a:ext cx="2227653" cy="790186"/>
          </a:xfrm>
          <a:prstGeom prst="rect">
            <a:avLst/>
          </a:prstGeom>
          <a:gradFill flip="none" rotWithShape="1">
            <a:gsLst>
              <a:gs pos="0">
                <a:srgbClr val="0074BF">
                  <a:shade val="30000"/>
                  <a:satMod val="115000"/>
                </a:srgbClr>
              </a:gs>
              <a:gs pos="50000">
                <a:srgbClr val="0074BF">
                  <a:shade val="67500"/>
                  <a:satMod val="115000"/>
                </a:srgbClr>
              </a:gs>
              <a:gs pos="100000">
                <a:srgbClr val="0074BF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12099" y="226175"/>
            <a:ext cx="202302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/>
            </a:pPr>
            <a:r>
              <a:rPr lang="en-US" altLang="zh-CN" sz="28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Outline</a:t>
            </a:r>
            <a:endParaRPr lang="zh-CN" altLang="en-US" sz="28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FBFB4F98-A1B6-4B54-9432-9B1BAD84A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Review</a:t>
            </a:r>
          </a:p>
        </p:txBody>
      </p:sp>
      <p:sp>
        <p:nvSpPr>
          <p:cNvPr id="23" name="Text Box 17">
            <a:extLst>
              <a:ext uri="{FF2B5EF4-FFF2-40B4-BE49-F238E27FC236}">
                <a16:creationId xmlns:a16="http://schemas.microsoft.com/office/drawing/2014/main" id="{10064102-F5B2-40A8-A097-05F8C082B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69" y="176867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3F16C4-A290-47B9-BA72-08B73E244C4D}"/>
              </a:ext>
            </a:extLst>
          </p:cNvPr>
          <p:cNvCxnSpPr/>
          <p:nvPr/>
        </p:nvCxnSpPr>
        <p:spPr>
          <a:xfrm>
            <a:off x="439258" y="2415697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17">
            <a:extLst>
              <a:ext uri="{FF2B5EF4-FFF2-40B4-BE49-F238E27FC236}">
                <a16:creationId xmlns:a16="http://schemas.microsoft.com/office/drawing/2014/main" id="{EF1DEE29-9275-45CA-A1C1-B2DD20A3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8D3CB30D-E9CE-4AAA-8189-C4674F81A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LC-3 Indirect, </a:t>
            </a:r>
            <a:r>
              <a:rPr lang="en-US" altLang="zh-CN" sz="2400" b="1" baseline="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Base+offset</a:t>
            </a: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 Load/Store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80CF5E8-68AF-4F8B-B510-DB9A7B9CCB0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B8835617-2E0F-4BDD-BF0B-4F639AAE8BC2}"/>
              </a:ext>
            </a:extLst>
          </p:cNvPr>
          <p:cNvGrpSpPr/>
          <p:nvPr/>
        </p:nvGrpSpPr>
        <p:grpSpPr>
          <a:xfrm>
            <a:off x="438669" y="2554177"/>
            <a:ext cx="8165779" cy="658799"/>
            <a:chOff x="438669" y="2554177"/>
            <a:chExt cx="8165779" cy="658799"/>
          </a:xfrm>
        </p:grpSpPr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CE5C1212-F8ED-4FB6-A797-C6AFBC179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92" y="2554177"/>
              <a:ext cx="611764" cy="624357"/>
            </a:xfrm>
            <a:prstGeom prst="rect">
              <a:avLst/>
            </a:prstGeom>
            <a:solidFill>
              <a:srgbClr val="003399">
                <a:alpha val="67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anchor="ctr" anchorCtr="1"/>
            <a:lstStyle>
              <a:lvl1pPr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1pPr>
              <a:lvl2pPr marL="742950" indent="-28575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2pPr>
              <a:lvl3pPr marL="11430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3pPr>
              <a:lvl4pPr marL="16002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4pPr>
              <a:lvl5pPr marL="2057400" indent="-228600" defTabSz="895350"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5pPr>
              <a:lvl6pPr marL="25146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6pPr>
              <a:lvl7pPr marL="29718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7pPr>
              <a:lvl8pPr marL="34290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8pPr>
              <a:lvl9pPr marL="3886200" indent="-228600" defTabSz="895350" fontAlgn="base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tx1"/>
                  </a:solidFill>
                  <a:latin typeface="Calibri" pitchFamily="34" charset="0"/>
                  <a:ea typeface="宋体" pitchFamily="2" charset="-122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baseline="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21" name="矩形 17">
              <a:extLst>
                <a:ext uri="{FF2B5EF4-FFF2-40B4-BE49-F238E27FC236}">
                  <a16:creationId xmlns:a16="http://schemas.microsoft.com/office/drawing/2014/main" id="{71D289C4-D39F-4710-BBD5-91958FB2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632" y="2647143"/>
              <a:ext cx="7344816" cy="4384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105000" tIns="52500" rIns="105000" bIns="52500" anchor="ctr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1pPr>
              <a:lvl2pPr marL="742950" indent="-285750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4pPr>
              <a:lvl5pPr marL="20574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微软雅黑" panose="020B0503020204020204" pitchFamily="34" charset="-122"/>
                  <a:sym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ts val="0"/>
                </a:spcBef>
                <a:buNone/>
                <a:defRPr/>
              </a:pP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LC-3 </a:t>
              </a:r>
              <a:r>
                <a:rPr lang="en-US" altLang="zh-CN" sz="2400" b="1" baseline="0" dirty="0">
                  <a:solidFill>
                    <a:srgbClr val="333399"/>
                  </a:solidFill>
                  <a:latin typeface="微软雅黑" panose="020B0503020204020204" pitchFamily="34" charset="-122"/>
                </a:rPr>
                <a:t>PC-Relative</a:t>
              </a:r>
              <a:r>
                <a:rPr lang="en-US" altLang="zh-CN" sz="2400" baseline="0" dirty="0">
                  <a:ea typeface="宋体" panose="02010600030101010101" pitchFamily="2" charset="-122"/>
                </a:rPr>
                <a:t> </a:t>
              </a:r>
              <a:r>
                <a:rPr lang="en-US" altLang="zh-CN" sz="2400" b="1" baseline="0" dirty="0">
                  <a:solidFill>
                    <a:srgbClr val="003399"/>
                  </a:solidFill>
                  <a:latin typeface="微软雅黑" panose="020B0503020204020204" pitchFamily="34" charset="-122"/>
                </a:rPr>
                <a:t>Load/Store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27503D4-1039-4406-BA5B-9D61A87E45D7}"/>
                </a:ext>
              </a:extLst>
            </p:cNvPr>
            <p:cNvCxnSpPr/>
            <p:nvPr/>
          </p:nvCxnSpPr>
          <p:spPr>
            <a:xfrm>
              <a:off x="438669" y="3207785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0B97DD4-DFAF-460E-BBC2-FAD7477409F4}"/>
                </a:ext>
              </a:extLst>
            </p:cNvPr>
            <p:cNvCxnSpPr/>
            <p:nvPr/>
          </p:nvCxnSpPr>
          <p:spPr>
            <a:xfrm>
              <a:off x="474181" y="3212976"/>
              <a:ext cx="8130267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 Box 17">
            <a:extLst>
              <a:ext uri="{FF2B5EF4-FFF2-40B4-BE49-F238E27FC236}">
                <a16:creationId xmlns:a16="http://schemas.microsoft.com/office/drawing/2014/main" id="{F2A6EB95-A217-45C7-8DA1-F9D56EBAD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baseline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</p:txBody>
      </p:sp>
      <p:sp>
        <p:nvSpPr>
          <p:cNvPr id="38" name="矩形 17">
            <a:extLst>
              <a:ext uri="{FF2B5EF4-FFF2-40B4-BE49-F238E27FC236}">
                <a16:creationId xmlns:a16="http://schemas.microsoft.com/office/drawing/2014/main" id="{F662604F-4382-4FEE-B5E3-B873FB9B4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None/>
              <a:defRPr/>
            </a:pPr>
            <a:r>
              <a:rPr lang="en-US" altLang="zh-CN" sz="2400" b="1" baseline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</a:rPr>
              <a:t>Summary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EA20B8CD-2A08-41F9-9C3E-98C5A0BC9771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20656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23645F5-D573-4DB4-A689-19E0A28251A8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EA6FBC-31A5-461C-9A68-BB8169FC91B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Today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 are going to learn how to:</a:t>
            </a: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ea typeface="宋体" panose="02010600030101010101" pitchFamily="2" charset="-122"/>
              </a:rPr>
              <a:t>compute with values in registers</a:t>
            </a:r>
          </a:p>
          <a:p>
            <a:pPr lvl="1"/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load data from memory to registers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store data from registers to memory</a:t>
            </a:r>
          </a:p>
        </p:txBody>
      </p:sp>
      <p:graphicFrame>
        <p:nvGraphicFramePr>
          <p:cNvPr id="6" name="Object 14"/>
          <p:cNvGraphicFramePr>
            <a:graphicFrameLocks noChangeAspect="1"/>
          </p:cNvGraphicFramePr>
          <p:nvPr/>
        </p:nvGraphicFramePr>
        <p:xfrm>
          <a:off x="1835696" y="2673809"/>
          <a:ext cx="5352256" cy="375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CorelDRAW" r:id="rId4" imgW="5743575" imgH="4029075" progId="CorelDRAW.Graphic.9">
                  <p:embed/>
                </p:oleObj>
              </mc:Choice>
              <mc:Fallback>
                <p:oleObj name="CorelDRAW" r:id="rId4" imgW="5743575" imgH="4029075" progId="CorelDRAW.Graphic.9">
                  <p:embed/>
                  <p:pic>
                    <p:nvPicPr>
                      <p:cNvPr id="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2673809"/>
                        <a:ext cx="5352256" cy="3754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3443536" y="2673809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431704" y="4005064"/>
            <a:ext cx="2160240" cy="899207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723456" y="5445224"/>
            <a:ext cx="3600400" cy="983209"/>
          </a:xfrm>
          <a:prstGeom prst="rect">
            <a:avLst/>
          </a:prstGeom>
          <a:noFill/>
          <a:ln w="76200" cap="flat" cmpd="sng" algn="ctr">
            <a:solidFill>
              <a:srgbClr val="3333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D847CD-3A84-4244-8A25-695199C38716}"/>
              </a:ext>
            </a:extLst>
          </p:cNvPr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909A08DE-FFA4-4D18-A5DC-7926DFFB5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B2C5CDCC-C194-4B6B-856E-18FD199EA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7612F04B-1D4D-48CA-965F-5F1A793DA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52EC5AF1-659B-4B7E-B97D-1FC8269D0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A4B85D9F-7C01-4991-924E-C1E367D53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Text Box 10">
              <a:extLst>
                <a:ext uri="{FF2B5EF4-FFF2-40B4-BE49-F238E27FC236}">
                  <a16:creationId xmlns:a16="http://schemas.microsoft.com/office/drawing/2014/main" id="{42C28447-D47C-483A-98E3-CA9B9E21D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EA</a:t>
              </a:r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AC3C823F-1F63-4802-A77D-29BCD7585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OP</a:t>
              </a: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4FCD24E3-0624-4207-8215-7DAADED30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EX</a:t>
              </a:r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35DD780D-8E3D-40B7-A4E8-FB53426B1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14">
              <a:extLst>
                <a:ext uri="{FF2B5EF4-FFF2-40B4-BE49-F238E27FC236}">
                  <a16:creationId xmlns:a16="http://schemas.microsoft.com/office/drawing/2014/main" id="{2C89ED00-8B05-44F6-8A6F-297651D74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15">
              <a:extLst>
                <a:ext uri="{FF2B5EF4-FFF2-40B4-BE49-F238E27FC236}">
                  <a16:creationId xmlns:a16="http://schemas.microsoft.com/office/drawing/2014/main" id="{2DC6E25C-3820-4188-AD1A-67289C218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C2B76F26-AEBC-4154-BBEF-56FB58CF7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17">
              <a:extLst>
                <a:ext uri="{FF2B5EF4-FFF2-40B4-BE49-F238E27FC236}">
                  <a16:creationId xmlns:a16="http://schemas.microsoft.com/office/drawing/2014/main" id="{25CABBA1-3307-4A0C-BE9C-AB63057A9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Text Box 18">
              <a:extLst>
                <a:ext uri="{FF2B5EF4-FFF2-40B4-BE49-F238E27FC236}">
                  <a16:creationId xmlns:a16="http://schemas.microsoft.com/office/drawing/2014/main" id="{FACC10C4-D07C-46EA-8D71-E3AFEC56C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S</a:t>
              </a:r>
            </a:p>
          </p:txBody>
        </p:sp>
        <p:sp>
          <p:nvSpPr>
            <p:cNvPr id="25" name="Text Box 19">
              <a:extLst>
                <a:ext uri="{FF2B5EF4-FFF2-40B4-BE49-F238E27FC236}">
                  <a16:creationId xmlns:a16="http://schemas.microsoft.com/office/drawing/2014/main" id="{94AEB6E9-9BA1-48A0-A1A8-47AB67915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F</a:t>
              </a: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DBD529B4-E16B-4B19-BBA2-3DFF534D6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charset="0"/>
                  <a:ea typeface="黑体"/>
                  <a:cs typeface="+mn-cs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198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LC-3 Overview: </a:t>
            </a:r>
            <a:r>
              <a:rPr lang="en-US" altLang="zh-CN" dirty="0"/>
              <a:t>Memory Map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56AFFD-C3BD-4EE6-B713-ECC62B3C1FDF}" type="datetime1">
              <a:rPr lang="zh-CN" altLang="en-US" smtClean="0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56176" y="6564119"/>
            <a:ext cx="2743200" cy="244475"/>
          </a:xfrm>
        </p:spPr>
        <p:txBody>
          <a:bodyPr/>
          <a:lstStyle/>
          <a:p>
            <a:pPr>
              <a:defRPr/>
            </a:pPr>
            <a:fld id="{9D51C7DF-C7BE-4EB5-A329-87F30D195B6D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923928" y="2977207"/>
            <a:ext cx="3898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3923928" y="3573016"/>
            <a:ext cx="156978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R4(Global pointer)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968068" y="5569495"/>
            <a:ext cx="15377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R6 (stack pointer)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419872" y="371703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419872" y="3114284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3419872" y="5733256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68" name="Rectangle 6"/>
          <p:cNvSpPr>
            <a:spLocks noChangeArrowheads="1"/>
          </p:cNvSpPr>
          <p:nvPr/>
        </p:nvSpPr>
        <p:spPr bwMode="auto">
          <a:xfrm>
            <a:off x="971600" y="4598733"/>
            <a:ext cx="2450678" cy="10625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zh-CN" sz="1200" b="1" baseline="0" dirty="0"/>
          </a:p>
        </p:txBody>
      </p:sp>
      <p:sp>
        <p:nvSpPr>
          <p:cNvPr id="69" name="Rectangle 7"/>
          <p:cNvSpPr>
            <a:spLocks noChangeArrowheads="1"/>
          </p:cNvSpPr>
          <p:nvPr/>
        </p:nvSpPr>
        <p:spPr bwMode="auto">
          <a:xfrm>
            <a:off x="971600" y="6124115"/>
            <a:ext cx="2450678" cy="414842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rgbClr val="FFFF00"/>
                </a:solidFill>
              </a:rPr>
              <a:t>Device Register </a:t>
            </a:r>
          </a:p>
          <a:p>
            <a:pPr algn="ctr"/>
            <a:r>
              <a:rPr lang="en-US" altLang="zh-CN" sz="1200" b="1" baseline="0" dirty="0">
                <a:solidFill>
                  <a:srgbClr val="FFFF00"/>
                </a:solidFill>
              </a:rPr>
              <a:t>Addresses</a:t>
            </a:r>
          </a:p>
        </p:txBody>
      </p:sp>
      <p:sp>
        <p:nvSpPr>
          <p:cNvPr id="70" name="Text Box 10"/>
          <p:cNvSpPr txBox="1">
            <a:spLocks noChangeArrowheads="1"/>
          </p:cNvSpPr>
          <p:nvPr/>
        </p:nvSpPr>
        <p:spPr bwMode="auto">
          <a:xfrm>
            <a:off x="215608" y="9651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0x0000</a:t>
            </a:r>
          </a:p>
        </p:txBody>
      </p:sp>
      <p:sp>
        <p:nvSpPr>
          <p:cNvPr id="71" name="Text Box 11"/>
          <p:cNvSpPr txBox="1">
            <a:spLocks noChangeArrowheads="1"/>
          </p:cNvSpPr>
          <p:nvPr/>
        </p:nvSpPr>
        <p:spPr bwMode="auto">
          <a:xfrm>
            <a:off x="215608" y="6354067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0xFFFF</a:t>
            </a:r>
          </a:p>
        </p:txBody>
      </p:sp>
      <p:sp>
        <p:nvSpPr>
          <p:cNvPr id="72" name="Rectangle 6"/>
          <p:cNvSpPr>
            <a:spLocks noChangeArrowheads="1"/>
          </p:cNvSpPr>
          <p:nvPr/>
        </p:nvSpPr>
        <p:spPr bwMode="auto">
          <a:xfrm>
            <a:off x="971600" y="1011555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rgbClr val="FFFF00"/>
                </a:solidFill>
                <a:ea typeface="宋体" panose="02010600030101010101" pitchFamily="2" charset="-122"/>
              </a:rPr>
              <a:t>Trap Vector Table</a:t>
            </a:r>
            <a:r>
              <a:rPr lang="zh-CN" altLang="en-US" sz="1200" b="1" baseline="0" dirty="0">
                <a:solidFill>
                  <a:srgbClr val="FFFF00"/>
                </a:solidFill>
                <a:ea typeface="宋体" panose="02010600030101010101" pitchFamily="2" charset="-122"/>
              </a:rPr>
              <a:t> </a:t>
            </a:r>
            <a:endParaRPr lang="en-US" altLang="zh-CN" sz="1200" b="1" baseline="0" dirty="0">
              <a:solidFill>
                <a:srgbClr val="FFFF00"/>
              </a:solidFill>
              <a:ea typeface="宋体" panose="02010600030101010101" pitchFamily="2" charset="-122"/>
            </a:endParaRPr>
          </a:p>
        </p:txBody>
      </p:sp>
      <p:sp>
        <p:nvSpPr>
          <p:cNvPr id="73" name="Rectangle 6"/>
          <p:cNvSpPr>
            <a:spLocks noChangeArrowheads="1"/>
          </p:cNvSpPr>
          <p:nvPr/>
        </p:nvSpPr>
        <p:spPr bwMode="auto">
          <a:xfrm>
            <a:off x="971600" y="1550678"/>
            <a:ext cx="2450678" cy="537548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rgbClr val="FFFF00"/>
                </a:solidFill>
                <a:ea typeface="宋体" panose="02010600030101010101" pitchFamily="2" charset="-122"/>
              </a:rPr>
              <a:t>Interrupt Vector Table</a:t>
            </a:r>
          </a:p>
        </p:txBody>
      </p:sp>
      <p:sp>
        <p:nvSpPr>
          <p:cNvPr id="74" name="Rectangle 6"/>
          <p:cNvSpPr>
            <a:spLocks noChangeArrowheads="1"/>
          </p:cNvSpPr>
          <p:nvPr/>
        </p:nvSpPr>
        <p:spPr bwMode="auto">
          <a:xfrm>
            <a:off x="971600" y="2080438"/>
            <a:ext cx="2450678" cy="93800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</a:rPr>
              <a:t>Operating System </a:t>
            </a:r>
          </a:p>
          <a:p>
            <a:pPr algn="ctr"/>
            <a:r>
              <a:rPr lang="en-US" altLang="zh-CN" sz="1200" b="1" baseline="0" dirty="0">
                <a:solidFill>
                  <a:schemeClr val="bg1"/>
                </a:solidFill>
              </a:rPr>
              <a:t>and Supervisor Stack</a:t>
            </a:r>
          </a:p>
        </p:txBody>
      </p:sp>
      <p:sp>
        <p:nvSpPr>
          <p:cNvPr id="75" name="Text Box 10"/>
          <p:cNvSpPr txBox="1">
            <a:spLocks noChangeArrowheads="1"/>
          </p:cNvSpPr>
          <p:nvPr/>
        </p:nvSpPr>
        <p:spPr bwMode="auto">
          <a:xfrm>
            <a:off x="215608" y="1310549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0x00FF</a:t>
            </a:r>
            <a:r>
              <a:rPr lang="zh-CN" altLang="en-US" sz="1200" b="1" baseline="0" dirty="0">
                <a:latin typeface="CourierPS" pitchFamily="49" charset="0"/>
                <a:ea typeface="宋体" panose="02010600030101010101" pitchFamily="2" charset="-122"/>
              </a:rPr>
              <a:t> </a:t>
            </a:r>
            <a:endParaRPr lang="en-US" altLang="zh-CN" sz="1200" b="1" baseline="0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76" name="Text Box 10"/>
          <p:cNvSpPr txBox="1">
            <a:spLocks noChangeArrowheads="1"/>
          </p:cNvSpPr>
          <p:nvPr/>
        </p:nvSpPr>
        <p:spPr bwMode="auto">
          <a:xfrm>
            <a:off x="215608" y="1526573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0x0100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215608" y="1834350"/>
            <a:ext cx="828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0x01FF</a:t>
            </a:r>
            <a:r>
              <a:rPr lang="zh-CN" altLang="en-US" sz="1200" b="1" baseline="0" dirty="0">
                <a:latin typeface="CourierPS" pitchFamily="49" charset="0"/>
                <a:ea typeface="宋体" panose="02010600030101010101" pitchFamily="2" charset="-122"/>
              </a:rPr>
              <a:t> </a:t>
            </a:r>
            <a:endParaRPr lang="en-US" altLang="zh-CN" sz="1200" b="1" baseline="0" dirty="0">
              <a:latin typeface="CourierPS" pitchFamily="49" charset="0"/>
              <a:ea typeface="宋体" panose="02010600030101010101" pitchFamily="2" charset="-122"/>
            </a:endParaRPr>
          </a:p>
        </p:txBody>
      </p:sp>
      <p:sp>
        <p:nvSpPr>
          <p:cNvPr id="78" name="Text Box 10"/>
          <p:cNvSpPr txBox="1">
            <a:spLocks noChangeArrowheads="1"/>
          </p:cNvSpPr>
          <p:nvPr/>
        </p:nvSpPr>
        <p:spPr bwMode="auto">
          <a:xfrm>
            <a:off x="215608" y="2050374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0x0200</a:t>
            </a:r>
          </a:p>
        </p:txBody>
      </p:sp>
      <p:sp>
        <p:nvSpPr>
          <p:cNvPr id="79" name="Text Box 10"/>
          <p:cNvSpPr txBox="1">
            <a:spLocks noChangeArrowheads="1"/>
          </p:cNvSpPr>
          <p:nvPr/>
        </p:nvSpPr>
        <p:spPr bwMode="auto">
          <a:xfrm>
            <a:off x="209964" y="2780928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0x2FFF</a:t>
            </a:r>
          </a:p>
        </p:txBody>
      </p:sp>
      <p:sp>
        <p:nvSpPr>
          <p:cNvPr id="80" name="Text Box 10"/>
          <p:cNvSpPr txBox="1">
            <a:spLocks noChangeArrowheads="1"/>
          </p:cNvSpPr>
          <p:nvPr/>
        </p:nvSpPr>
        <p:spPr bwMode="auto">
          <a:xfrm>
            <a:off x="209964" y="299695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0x3000</a:t>
            </a:r>
          </a:p>
        </p:txBody>
      </p:sp>
      <p:sp>
        <p:nvSpPr>
          <p:cNvPr id="81" name="Text Box 10"/>
          <p:cNvSpPr txBox="1">
            <a:spLocks noChangeArrowheads="1"/>
          </p:cNvSpPr>
          <p:nvPr/>
        </p:nvSpPr>
        <p:spPr bwMode="auto">
          <a:xfrm>
            <a:off x="215608" y="5886742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0xFDFF</a:t>
            </a:r>
          </a:p>
        </p:txBody>
      </p:sp>
      <p:sp>
        <p:nvSpPr>
          <p:cNvPr id="82" name="Text Box 11"/>
          <p:cNvSpPr txBox="1">
            <a:spLocks noChangeArrowheads="1"/>
          </p:cNvSpPr>
          <p:nvPr/>
        </p:nvSpPr>
        <p:spPr bwMode="auto">
          <a:xfrm>
            <a:off x="215608" y="6104329"/>
            <a:ext cx="74251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1" baseline="0" dirty="0">
                <a:latin typeface="CourierPS" pitchFamily="49" charset="0"/>
                <a:ea typeface="宋体" panose="02010600030101010101" pitchFamily="2" charset="-122"/>
              </a:rPr>
              <a:t>0xFE00</a:t>
            </a:r>
          </a:p>
        </p:txBody>
      </p:sp>
      <p:sp>
        <p:nvSpPr>
          <p:cNvPr id="84" name="Rectangle 6"/>
          <p:cNvSpPr>
            <a:spLocks noChangeArrowheads="1"/>
          </p:cNvSpPr>
          <p:nvPr/>
        </p:nvSpPr>
        <p:spPr bwMode="auto">
          <a:xfrm>
            <a:off x="971600" y="5661248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Run-time stack</a:t>
            </a:r>
          </a:p>
        </p:txBody>
      </p:sp>
      <p:sp>
        <p:nvSpPr>
          <p:cNvPr id="85" name="Rectangle 6"/>
          <p:cNvSpPr>
            <a:spLocks noChangeArrowheads="1"/>
          </p:cNvSpPr>
          <p:nvPr/>
        </p:nvSpPr>
        <p:spPr bwMode="auto">
          <a:xfrm>
            <a:off x="971600" y="2996952"/>
            <a:ext cx="2450678" cy="66138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Program Text</a:t>
            </a:r>
          </a:p>
        </p:txBody>
      </p:sp>
      <p:sp>
        <p:nvSpPr>
          <p:cNvPr id="86" name="Rectangle 6"/>
          <p:cNvSpPr>
            <a:spLocks noChangeArrowheads="1"/>
          </p:cNvSpPr>
          <p:nvPr/>
        </p:nvSpPr>
        <p:spPr bwMode="auto">
          <a:xfrm>
            <a:off x="971600" y="3658337"/>
            <a:ext cx="2450678" cy="490743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Global data section</a:t>
            </a: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971600" y="4149080"/>
            <a:ext cx="2450678" cy="49074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200" b="1" baseline="0" dirty="0"/>
              <a:t>Heap (for dynamically </a:t>
            </a:r>
          </a:p>
          <a:p>
            <a:pPr algn="ctr"/>
            <a:r>
              <a:rPr lang="en-US" altLang="zh-CN" sz="1200" b="1" baseline="0" dirty="0"/>
              <a:t>allocated memory)</a:t>
            </a:r>
          </a:p>
        </p:txBody>
      </p:sp>
      <p:cxnSp>
        <p:nvCxnSpPr>
          <p:cNvPr id="89" name="直接箭头连接符 88"/>
          <p:cNvCxnSpPr/>
          <p:nvPr/>
        </p:nvCxnSpPr>
        <p:spPr bwMode="auto">
          <a:xfrm>
            <a:off x="2196939" y="4653136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直接箭头连接符 90"/>
          <p:cNvCxnSpPr/>
          <p:nvPr/>
        </p:nvCxnSpPr>
        <p:spPr bwMode="auto">
          <a:xfrm flipV="1">
            <a:off x="2195736" y="5246805"/>
            <a:ext cx="0" cy="41444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" name="Line 15"/>
          <p:cNvSpPr>
            <a:spLocks noChangeShapeType="1"/>
          </p:cNvSpPr>
          <p:nvPr/>
        </p:nvSpPr>
        <p:spPr bwMode="auto">
          <a:xfrm>
            <a:off x="3419872" y="594928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400" b="1" baseline="0"/>
          </a:p>
        </p:txBody>
      </p: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3968068" y="5805264"/>
            <a:ext cx="15778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1" baseline="0" dirty="0">
                <a:latin typeface="Franklin Gothic Book" panose="020B0503020102020204" pitchFamily="34" charset="0"/>
                <a:ea typeface="宋体" panose="02010600030101010101" pitchFamily="2" charset="-122"/>
              </a:rPr>
              <a:t>R5 (frame pointer)</a:t>
            </a:r>
          </a:p>
        </p:txBody>
      </p:sp>
      <p:grpSp>
        <p:nvGrpSpPr>
          <p:cNvPr id="117" name="组合 116"/>
          <p:cNvGrpSpPr/>
          <p:nvPr/>
        </p:nvGrpSpPr>
        <p:grpSpPr>
          <a:xfrm>
            <a:off x="5796136" y="3749550"/>
            <a:ext cx="2592288" cy="2847802"/>
            <a:chOff x="5508104" y="3140968"/>
            <a:chExt cx="2592288" cy="2847802"/>
          </a:xfrm>
        </p:grpSpPr>
        <p:sp>
          <p:nvSpPr>
            <p:cNvPr id="99" name="Line 15"/>
            <p:cNvSpPr>
              <a:spLocks noChangeShapeType="1"/>
            </p:cNvSpPr>
            <p:nvPr/>
          </p:nvSpPr>
          <p:spPr bwMode="auto">
            <a:xfrm>
              <a:off x="7092280" y="458112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0" name="Text Box 14"/>
            <p:cNvSpPr txBox="1">
              <a:spLocks noChangeArrowheads="1"/>
            </p:cNvSpPr>
            <p:nvPr/>
          </p:nvSpPr>
          <p:spPr bwMode="auto">
            <a:xfrm>
              <a:off x="7640476" y="443711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R5 </a:t>
              </a:r>
            </a:p>
          </p:txBody>
        </p:sp>
        <p:sp>
          <p:nvSpPr>
            <p:cNvPr id="101" name="文本框 37"/>
            <p:cNvSpPr txBox="1">
              <a:spLocks noChangeArrowheads="1"/>
            </p:cNvSpPr>
            <p:nvPr/>
          </p:nvSpPr>
          <p:spPr bwMode="auto">
            <a:xfrm>
              <a:off x="5652120" y="3933056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ea typeface="宋体" panose="02010600030101010101" pitchFamily="2" charset="-122"/>
                </a:rPr>
                <a:t>Function2</a:t>
              </a:r>
            </a:p>
          </p:txBody>
        </p:sp>
        <p:sp>
          <p:nvSpPr>
            <p:cNvPr id="102" name="Line 17"/>
            <p:cNvSpPr>
              <a:spLocks noChangeShapeType="1"/>
            </p:cNvSpPr>
            <p:nvPr/>
          </p:nvSpPr>
          <p:spPr bwMode="auto">
            <a:xfrm>
              <a:off x="7092280" y="4077072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3" name="Text Box 14"/>
            <p:cNvSpPr txBox="1">
              <a:spLocks noChangeArrowheads="1"/>
            </p:cNvSpPr>
            <p:nvPr/>
          </p:nvSpPr>
          <p:spPr bwMode="auto">
            <a:xfrm>
              <a:off x="7654436" y="3913311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R6 </a:t>
              </a:r>
            </a:p>
          </p:txBody>
        </p:sp>
        <p:sp>
          <p:nvSpPr>
            <p:cNvPr id="104" name="Line 15"/>
            <p:cNvSpPr>
              <a:spLocks noChangeShapeType="1"/>
            </p:cNvSpPr>
            <p:nvPr/>
          </p:nvSpPr>
          <p:spPr bwMode="auto">
            <a:xfrm>
              <a:off x="7092280" y="3861048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5" name="Text Box 14"/>
            <p:cNvSpPr txBox="1">
              <a:spLocks noChangeArrowheads="1"/>
            </p:cNvSpPr>
            <p:nvPr/>
          </p:nvSpPr>
          <p:spPr bwMode="auto">
            <a:xfrm>
              <a:off x="7640476" y="3645024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R5 </a:t>
              </a:r>
            </a:p>
          </p:txBody>
        </p:sp>
        <p:sp>
          <p:nvSpPr>
            <p:cNvPr id="106" name="Line 17"/>
            <p:cNvSpPr>
              <a:spLocks noChangeShapeType="1"/>
            </p:cNvSpPr>
            <p:nvPr/>
          </p:nvSpPr>
          <p:spPr bwMode="auto">
            <a:xfrm>
              <a:off x="7092280" y="3284984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07" name="Text Box 14"/>
            <p:cNvSpPr txBox="1">
              <a:spLocks noChangeArrowheads="1"/>
            </p:cNvSpPr>
            <p:nvPr/>
          </p:nvSpPr>
          <p:spPr bwMode="auto">
            <a:xfrm>
              <a:off x="7654436" y="3140968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R6 </a:t>
              </a:r>
            </a:p>
          </p:txBody>
        </p:sp>
        <p:sp>
          <p:nvSpPr>
            <p:cNvPr id="109" name="任意多边形 41"/>
            <p:cNvSpPr>
              <a:spLocks/>
            </p:cNvSpPr>
            <p:nvPr/>
          </p:nvSpPr>
          <p:spPr bwMode="auto">
            <a:xfrm>
              <a:off x="5508104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任意多边形 41"/>
            <p:cNvSpPr>
              <a:spLocks/>
            </p:cNvSpPr>
            <p:nvPr/>
          </p:nvSpPr>
          <p:spPr bwMode="auto">
            <a:xfrm>
              <a:off x="6903367" y="4653136"/>
              <a:ext cx="188913" cy="561975"/>
            </a:xfrm>
            <a:custGeom>
              <a:avLst/>
              <a:gdLst>
                <a:gd name="T0" fmla="*/ 137518 w 188644"/>
                <a:gd name="T1" fmla="*/ 0 h 561315"/>
                <a:gd name="T2" fmla="*/ 553 w 188644"/>
                <a:gd name="T3" fmla="*/ 173232 h 561315"/>
                <a:gd name="T4" fmla="*/ 183171 w 188644"/>
                <a:gd name="T5" fmla="*/ 373818 h 561315"/>
                <a:gd name="T6" fmla="*/ 155778 w 188644"/>
                <a:gd name="T7" fmla="*/ 565287 h 561315"/>
                <a:gd name="T8" fmla="*/ 155778 w 188644"/>
                <a:gd name="T9" fmla="*/ 565287 h 5613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644" h="561315">
                  <a:moveTo>
                    <a:pt x="136349" y="0"/>
                  </a:moveTo>
                  <a:cubicBezTo>
                    <a:pt x="64675" y="55075"/>
                    <a:pt x="-6998" y="110151"/>
                    <a:pt x="547" y="172016"/>
                  </a:cubicBezTo>
                  <a:cubicBezTo>
                    <a:pt x="8092" y="233881"/>
                    <a:pt x="155965" y="306309"/>
                    <a:pt x="181616" y="371192"/>
                  </a:cubicBezTo>
                  <a:cubicBezTo>
                    <a:pt x="207267" y="436075"/>
                    <a:pt x="154455" y="561315"/>
                    <a:pt x="154455" y="561315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文本框 37"/>
            <p:cNvSpPr txBox="1">
              <a:spLocks noChangeArrowheads="1"/>
            </p:cNvSpPr>
            <p:nvPr/>
          </p:nvSpPr>
          <p:spPr bwMode="auto">
            <a:xfrm>
              <a:off x="5652120" y="5231175"/>
              <a:ext cx="1414462" cy="646097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ea typeface="宋体" panose="02010600030101010101" pitchFamily="2" charset="-122"/>
                </a:rPr>
                <a:t>Function3</a:t>
              </a:r>
            </a:p>
          </p:txBody>
        </p:sp>
        <p:sp>
          <p:nvSpPr>
            <p:cNvPr id="112" name="文本框 37"/>
            <p:cNvSpPr txBox="1">
              <a:spLocks noChangeArrowheads="1"/>
            </p:cNvSpPr>
            <p:nvPr/>
          </p:nvSpPr>
          <p:spPr bwMode="auto">
            <a:xfrm>
              <a:off x="5652120" y="3224855"/>
              <a:ext cx="1414462" cy="708201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l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Gungsuh" pitchFamily="18" charset="-127"/>
                <a:buChar char="-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16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 baseline="0" dirty="0">
                  <a:ea typeface="宋体" panose="02010600030101010101" pitchFamily="2" charset="-122"/>
                </a:rPr>
                <a:t>Function1</a:t>
              </a:r>
            </a:p>
          </p:txBody>
        </p:sp>
        <p:sp>
          <p:nvSpPr>
            <p:cNvPr id="113" name="Line 15"/>
            <p:cNvSpPr>
              <a:spLocks noChangeShapeType="1"/>
            </p:cNvSpPr>
            <p:nvPr/>
          </p:nvSpPr>
          <p:spPr bwMode="auto">
            <a:xfrm>
              <a:off x="7092280" y="5825009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14" name="Text Box 14"/>
            <p:cNvSpPr txBox="1">
              <a:spLocks noChangeArrowheads="1"/>
            </p:cNvSpPr>
            <p:nvPr/>
          </p:nvSpPr>
          <p:spPr bwMode="auto">
            <a:xfrm>
              <a:off x="7640476" y="5680993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R5 </a:t>
              </a:r>
            </a:p>
          </p:txBody>
        </p:sp>
        <p:sp>
          <p:nvSpPr>
            <p:cNvPr id="115" name="Line 17"/>
            <p:cNvSpPr>
              <a:spLocks noChangeShapeType="1"/>
            </p:cNvSpPr>
            <p:nvPr/>
          </p:nvSpPr>
          <p:spPr bwMode="auto">
            <a:xfrm>
              <a:off x="7092280" y="5320953"/>
              <a:ext cx="533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 b="1" baseline="0"/>
            </a:p>
          </p:txBody>
        </p:sp>
        <p:sp>
          <p:nvSpPr>
            <p:cNvPr id="116" name="Text Box 14"/>
            <p:cNvSpPr txBox="1">
              <a:spLocks noChangeArrowheads="1"/>
            </p:cNvSpPr>
            <p:nvPr/>
          </p:nvSpPr>
          <p:spPr bwMode="auto">
            <a:xfrm>
              <a:off x="7654436" y="5157192"/>
              <a:ext cx="445956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1" baseline="0" dirty="0">
                  <a:latin typeface="Franklin Gothic Book" panose="020B0503020102020204" pitchFamily="34" charset="0"/>
                  <a:ea typeface="宋体" panose="02010600030101010101" pitchFamily="2" charset="-122"/>
                </a:rPr>
                <a:t>R6 </a:t>
              </a:r>
            </a:p>
          </p:txBody>
        </p:sp>
      </p:grpSp>
      <p:cxnSp>
        <p:nvCxnSpPr>
          <p:cNvPr id="119" name="直接连接符 118"/>
          <p:cNvCxnSpPr/>
          <p:nvPr/>
        </p:nvCxnSpPr>
        <p:spPr bwMode="auto">
          <a:xfrm flipV="1">
            <a:off x="3419872" y="3850635"/>
            <a:ext cx="2505484" cy="18106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直接连接符 119"/>
          <p:cNvCxnSpPr/>
          <p:nvPr/>
        </p:nvCxnSpPr>
        <p:spPr bwMode="auto">
          <a:xfrm>
            <a:off x="3430674" y="6131330"/>
            <a:ext cx="2480017" cy="3612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62681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 Movement</a:t>
            </a: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Instructions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205410" y="980728"/>
            <a:ext cx="8813178" cy="5556597"/>
            <a:chOff x="3635896" y="1484784"/>
            <a:chExt cx="5019154" cy="4363111"/>
          </a:xfrm>
        </p:grpSpPr>
        <p:sp>
          <p:nvSpPr>
            <p:cNvPr id="104" name="矩形 103"/>
            <p:cNvSpPr/>
            <p:nvPr/>
          </p:nvSpPr>
          <p:spPr bwMode="auto">
            <a:xfrm>
              <a:off x="3635896" y="1484784"/>
              <a:ext cx="5019154" cy="4363111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002878" y="2019651"/>
              <a:ext cx="4510297" cy="1632989"/>
              <a:chOff x="833366" y="4427663"/>
              <a:chExt cx="3539683" cy="1449519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1502926" y="4427663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179" name="组合 178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197" name="矩形 196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20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20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98" name="矩形 197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20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20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99" name="矩形 198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="1" baseline="0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sz="20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00" name="矩形 199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="1" baseline="0" dirty="0">
                        <a:solidFill>
                          <a:schemeClr val="bg1"/>
                        </a:solidFill>
                        <a:latin typeface="Arial" charset="0"/>
                      </a:rPr>
                      <a:t>0</a:t>
                    </a:r>
                    <a:endParaRPr kumimoji="0" lang="zh-CN" altLang="en-US" sz="20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01" name="矩形 200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DR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02" name="矩形 201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PCoffset9</a:t>
                    </a:r>
                    <a:r>
                      <a: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 </a:t>
                    </a:r>
                  </a:p>
                </p:txBody>
              </p:sp>
            </p:grpSp>
            <p:grpSp>
              <p:nvGrpSpPr>
                <p:cNvPr id="180" name="组合 179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81" name="矩形 180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15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2" name="矩形 181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14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3" name="矩形 182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13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4" name="矩形 183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12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5" name="矩形 184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11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6" name="矩形 185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10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7" name="矩形 186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9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8" name="矩形 187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8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89" name="矩形 188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7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90" name="矩形 189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6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91" name="矩形 190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5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92" name="矩形 191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4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93" name="矩形 192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3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94" name="矩形 193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2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95" name="矩形 194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96" name="矩形 195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53" name="组合 152"/>
              <p:cNvGrpSpPr/>
              <p:nvPr/>
            </p:nvGrpSpPr>
            <p:grpSpPr>
              <a:xfrm>
                <a:off x="1502926" y="4958852"/>
                <a:ext cx="2865890" cy="288000"/>
                <a:chOff x="381000" y="3212976"/>
                <a:chExt cx="2865890" cy="288000"/>
              </a:xfrm>
            </p:grpSpPr>
            <p:sp>
              <p:nvSpPr>
                <p:cNvPr id="172" name="矩形 17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6" name="矩形 175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>
                      <a:latin typeface="Arial" charset="0"/>
                    </a:rPr>
                    <a:t>DR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 err="1">
                      <a:latin typeface="Arial" charset="0"/>
                    </a:rPr>
                    <a:t>BaseR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sz="2000" baseline="0" dirty="0">
                      <a:latin typeface="Arial" charset="0"/>
                    </a:rPr>
                    <a:t>PCoffset6</a:t>
                  </a:r>
                  <a:endParaRPr lang="zh-CN" altLang="en-US" sz="2000" baseline="0" dirty="0">
                    <a:latin typeface="Arial" charset="0"/>
                  </a:endParaRPr>
                </a:p>
              </p:txBody>
            </p:sp>
          </p:grpSp>
          <p:grpSp>
            <p:nvGrpSpPr>
              <p:cNvPr id="154" name="组合 153"/>
              <p:cNvGrpSpPr/>
              <p:nvPr/>
            </p:nvGrpSpPr>
            <p:grpSpPr>
              <a:xfrm>
                <a:off x="1502926" y="5274017"/>
                <a:ext cx="2870123" cy="288000"/>
                <a:chOff x="381000" y="3212976"/>
                <a:chExt cx="2870123" cy="288000"/>
              </a:xfrm>
            </p:grpSpPr>
            <p:sp>
              <p:nvSpPr>
                <p:cNvPr id="166" name="矩形 16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8" name="矩形 16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>
                      <a:latin typeface="Arial" charset="0"/>
                    </a:rPr>
                    <a:t>DR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sz="2000" baseline="0" dirty="0">
                      <a:latin typeface="Arial" charset="0"/>
                    </a:rPr>
                    <a:t>PCoffset9</a:t>
                  </a:r>
                  <a:r>
                    <a:rPr lang="zh-CN" altLang="en-US" sz="2000" baseline="0" dirty="0">
                      <a:latin typeface="Arial" charset="0"/>
                    </a:rPr>
                    <a:t> </a:t>
                  </a:r>
                </a:p>
              </p:txBody>
            </p:sp>
          </p:grpSp>
          <p:grpSp>
            <p:nvGrpSpPr>
              <p:cNvPr id="155" name="组合 154"/>
              <p:cNvGrpSpPr/>
              <p:nvPr/>
            </p:nvGrpSpPr>
            <p:grpSpPr>
              <a:xfrm>
                <a:off x="1502926" y="5589182"/>
                <a:ext cx="2870123" cy="288000"/>
                <a:chOff x="381000" y="3212976"/>
                <a:chExt cx="2870123" cy="288000"/>
              </a:xfrm>
            </p:grpSpPr>
            <p:sp>
              <p:nvSpPr>
                <p:cNvPr id="160" name="矩形 15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1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0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>
                      <a:latin typeface="Arial" charset="0"/>
                    </a:rPr>
                    <a:t>DR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sz="2000" baseline="0" dirty="0">
                      <a:latin typeface="Arial" charset="0"/>
                    </a:rPr>
                    <a:t>PCoffset9</a:t>
                  </a:r>
                  <a:r>
                    <a:rPr lang="zh-CN" altLang="en-US" sz="2000" baseline="0" dirty="0">
                      <a:latin typeface="Arial" charset="0"/>
                    </a:rPr>
                    <a:t> </a:t>
                  </a:r>
                </a:p>
              </p:txBody>
            </p:sp>
          </p:grpSp>
          <p:sp>
            <p:nvSpPr>
              <p:cNvPr id="156" name="矩形 155"/>
              <p:cNvSpPr/>
              <p:nvPr/>
            </p:nvSpPr>
            <p:spPr bwMode="auto">
              <a:xfrm>
                <a:off x="833366" y="46409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LD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7" name="矩形 156"/>
              <p:cNvSpPr/>
              <p:nvPr/>
            </p:nvSpPr>
            <p:spPr bwMode="auto">
              <a:xfrm>
                <a:off x="833366" y="527236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LDI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8" name="矩形 157"/>
              <p:cNvSpPr/>
              <p:nvPr/>
            </p:nvSpPr>
            <p:spPr bwMode="auto">
              <a:xfrm>
                <a:off x="833366" y="5588080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LEA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9" name="矩形 158"/>
              <p:cNvSpPr/>
              <p:nvPr/>
            </p:nvSpPr>
            <p:spPr bwMode="auto">
              <a:xfrm>
                <a:off x="833366" y="49613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LDR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3927565" y="4402763"/>
              <a:ext cx="4602050" cy="1277932"/>
              <a:chOff x="5326485" y="4443852"/>
              <a:chExt cx="3611691" cy="1134354"/>
            </a:xfrm>
          </p:grpSpPr>
          <p:grpSp>
            <p:nvGrpSpPr>
              <p:cNvPr id="109" name="组合 108"/>
              <p:cNvGrpSpPr/>
              <p:nvPr/>
            </p:nvGrpSpPr>
            <p:grpSpPr>
              <a:xfrm>
                <a:off x="6068053" y="4443852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128" name="组合 127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146" name="矩形 145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20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20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47" name="矩形 146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200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200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48" name="矩形 147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="1" baseline="0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sz="20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49" name="矩形 148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="1" baseline="0" dirty="0">
                        <a:solidFill>
                          <a:schemeClr val="bg1"/>
                        </a:solidFill>
                        <a:latin typeface="Arial" charset="0"/>
                      </a:rPr>
                      <a:t>1</a:t>
                    </a:r>
                    <a:endParaRPr kumimoji="0" lang="zh-CN" altLang="en-US" sz="20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0" name="矩形 149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SR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1" name="矩形 15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PCoffset9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29" name="组合 128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15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14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13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3" name="矩形 132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12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4" name="矩形 133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11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5" name="矩形 134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10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6" name="矩形 135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9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7" name="矩形 136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8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8" name="矩形 137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7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9" name="矩形 138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6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40" name="矩形 139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5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41" name="矩形 140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4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42" name="矩形 141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3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43" name="矩形 142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2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44" name="矩形 143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en-US" altLang="zh-CN" sz="2000" baseline="0" dirty="0">
                        <a:latin typeface="Arial" charset="0"/>
                      </a:rPr>
                      <a:t>1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45" name="矩形 144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rPr>
                      <a:t>0</a:t>
                    </a:r>
                    <a:endParaRPr kumimoji="0" lang="zh-CN" altLang="en-US" sz="2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</p:grpSp>
          </p:grpSp>
          <p:grpSp>
            <p:nvGrpSpPr>
              <p:cNvPr id="110" name="组合 109"/>
              <p:cNvGrpSpPr/>
              <p:nvPr/>
            </p:nvGrpSpPr>
            <p:grpSpPr>
              <a:xfrm>
                <a:off x="6068053" y="4975041"/>
                <a:ext cx="2865890" cy="288000"/>
                <a:chOff x="381000" y="3212976"/>
                <a:chExt cx="2865890" cy="288000"/>
              </a:xfrm>
            </p:grpSpPr>
            <p:sp>
              <p:nvSpPr>
                <p:cNvPr id="121" name="矩形 1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3" name="矩形 1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5" name="矩形 124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>
                      <a:latin typeface="Arial" charset="0"/>
                    </a:rPr>
                    <a:t>SR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 err="1">
                      <a:latin typeface="Arial" charset="0"/>
                    </a:rPr>
                    <a:t>BaseR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27" name="矩形 126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sz="2000" baseline="0" dirty="0">
                      <a:latin typeface="Arial" charset="0"/>
                    </a:rPr>
                    <a:t>PCoffset6</a:t>
                  </a:r>
                  <a:endParaRPr lang="zh-CN" altLang="en-US" sz="2000" baseline="0" dirty="0">
                    <a:latin typeface="Arial" charset="0"/>
                  </a:endParaRPr>
                </a:p>
              </p:txBody>
            </p:sp>
          </p:grpSp>
          <p:grpSp>
            <p:nvGrpSpPr>
              <p:cNvPr id="111" name="组合 110"/>
              <p:cNvGrpSpPr/>
              <p:nvPr/>
            </p:nvGrpSpPr>
            <p:grpSpPr>
              <a:xfrm>
                <a:off x="6068053" y="5290206"/>
                <a:ext cx="2870123" cy="288000"/>
                <a:chOff x="381000" y="3212976"/>
                <a:chExt cx="2870123" cy="288000"/>
              </a:xfrm>
            </p:grpSpPr>
            <p:sp>
              <p:nvSpPr>
                <p:cNvPr id="115" name="矩形 11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6" name="矩形 11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altLang="zh-CN" sz="2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ea typeface="宋体" pitchFamily="2" charset="-122"/>
                    </a:rPr>
                    <a:t>0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17" name="矩形 11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8" name="矩形 11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="1" baseline="0" dirty="0">
                      <a:solidFill>
                        <a:schemeClr val="bg1"/>
                      </a:solidFill>
                      <a:latin typeface="Arial" charset="0"/>
                    </a:rPr>
                    <a:t>1</a:t>
                  </a:r>
                  <a:endParaRPr kumimoji="0" lang="zh-CN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9" name="矩形 11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altLang="zh-CN" sz="2000" baseline="0" dirty="0">
                      <a:latin typeface="Arial" charset="0"/>
                    </a:rPr>
                    <a:t>SR</a:t>
                  </a:r>
                  <a:endPara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en-US" altLang="zh-CN" sz="2000" baseline="0" dirty="0">
                      <a:latin typeface="Arial" charset="0"/>
                    </a:rPr>
                    <a:t>PCoffset9</a:t>
                  </a:r>
                  <a:endParaRPr lang="zh-CN" altLang="en-US" sz="2000" baseline="0" dirty="0">
                    <a:latin typeface="Arial" charset="0"/>
                  </a:endParaRPr>
                </a:p>
              </p:txBody>
            </p:sp>
          </p:grpSp>
          <p:sp>
            <p:nvSpPr>
              <p:cNvPr id="112" name="矩形 111"/>
              <p:cNvSpPr/>
              <p:nvPr/>
            </p:nvSpPr>
            <p:spPr bwMode="auto">
              <a:xfrm>
                <a:off x="5326485" y="46571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ST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 bwMode="auto">
              <a:xfrm>
                <a:off x="5326485" y="528855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STI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 bwMode="auto">
              <a:xfrm>
                <a:off x="5326485" y="49775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STR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5793993" y="1589599"/>
              <a:ext cx="689437" cy="31417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b="1" baseline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取数指令</a:t>
              </a: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5795640" y="3946299"/>
              <a:ext cx="689437" cy="31417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zh-CN" altLang="en-US" sz="2000" b="1" baseline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存数指令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4538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966428-474C-4AD4-A877-FD8BB3DD2D1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59D2C2-4DC8-4E1E-8AC9-64A3D9BAE83E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Data Movement Instructions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80728"/>
            <a:ext cx="8763000" cy="53340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Load -- read data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from memory to </a:t>
            </a:r>
            <a:r>
              <a:rPr lang="en-US" altLang="zh-CN" i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register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</a:rPr>
              <a:t>LD:</a:t>
            </a:r>
            <a:r>
              <a:rPr lang="en-US" altLang="zh-CN" dirty="0"/>
              <a:t> PC-relative mode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</a:rPr>
              <a:t>LDR:</a:t>
            </a:r>
            <a:r>
              <a:rPr lang="en-US" altLang="zh-CN" dirty="0"/>
              <a:t> </a:t>
            </a:r>
            <a:r>
              <a:rPr lang="en-US" altLang="zh-CN" dirty="0" err="1"/>
              <a:t>base+offset</a:t>
            </a:r>
            <a:r>
              <a:rPr lang="en-US" altLang="zh-CN" dirty="0"/>
              <a:t> mode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</a:rPr>
              <a:t>LDI:</a:t>
            </a:r>
            <a:r>
              <a:rPr lang="en-US" altLang="zh-CN" dirty="0"/>
              <a:t> indirect mode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Store -- write data </a:t>
            </a: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from register to memory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</a:rPr>
              <a:t>ST:</a:t>
            </a:r>
            <a:r>
              <a:rPr lang="en-US" altLang="zh-CN" dirty="0"/>
              <a:t> PC-relative mode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</a:rPr>
              <a:t>STR:</a:t>
            </a:r>
            <a:r>
              <a:rPr lang="en-US" altLang="zh-CN" dirty="0"/>
              <a:t> </a:t>
            </a:r>
            <a:r>
              <a:rPr lang="en-US" altLang="zh-CN" dirty="0" err="1"/>
              <a:t>base+offset</a:t>
            </a:r>
            <a:r>
              <a:rPr lang="en-US" altLang="zh-CN" dirty="0"/>
              <a:t> mode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</a:rPr>
              <a:t>STI:</a:t>
            </a:r>
            <a:r>
              <a:rPr lang="en-US" altLang="zh-CN" dirty="0"/>
              <a:t> indirect mode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Load effective address -- compute address,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save in register</a:t>
            </a:r>
          </a:p>
          <a:p>
            <a:pPr marL="576263" lvl="1" indent="-234950"/>
            <a:r>
              <a:rPr lang="en-US" altLang="zh-CN" dirty="0">
                <a:solidFill>
                  <a:srgbClr val="CE0000"/>
                </a:solidFill>
              </a:rPr>
              <a:t>LEA:</a:t>
            </a:r>
            <a:r>
              <a:rPr lang="en-US" altLang="zh-CN" dirty="0"/>
              <a:t> immediate mode</a:t>
            </a:r>
          </a:p>
          <a:p>
            <a:pPr marL="576263" lvl="1" indent="-234950"/>
            <a:r>
              <a:rPr lang="en-US" altLang="zh-CN" i="1" dirty="0">
                <a:solidFill>
                  <a:srgbClr val="FF0000"/>
                </a:solidFill>
              </a:rPr>
              <a:t>does not access memory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6CE41B-66BD-44AF-888E-64BA767B5EE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5701F6-2C51-4A55-8FCB-84DE3FC8F9DA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PC-Relative Addressing Mode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908050"/>
            <a:ext cx="8686800" cy="5486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Want to specify address directly in the instruction</a:t>
            </a:r>
          </a:p>
          <a:p>
            <a:pPr marL="576263" lvl="1" indent="-234950"/>
            <a:r>
              <a:rPr lang="en-US" altLang="zh-CN" dirty="0"/>
              <a:t>But an address is 16 bits, and so is an instruction!</a:t>
            </a:r>
          </a:p>
          <a:p>
            <a:pPr marL="576263" lvl="1" indent="-234950"/>
            <a:r>
              <a:rPr lang="en-US" altLang="zh-CN" dirty="0"/>
              <a:t>After subtracting 4 bits for opcode and 3 bits for register, we have </a:t>
            </a:r>
            <a:r>
              <a:rPr lang="en-US" altLang="zh-CN" u="sng" dirty="0"/>
              <a:t>9 bits</a:t>
            </a:r>
            <a:r>
              <a:rPr lang="en-US" altLang="zh-CN" dirty="0"/>
              <a:t> available for address.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9900"/>
                </a:solidFill>
                <a:ea typeface="宋体" panose="02010600030101010101" pitchFamily="2" charset="-122"/>
              </a:rPr>
              <a:t>Solution:</a:t>
            </a:r>
          </a:p>
          <a:p>
            <a:pPr marL="576263" lvl="1" indent="-234950"/>
            <a:r>
              <a:rPr lang="en-US" altLang="zh-CN" dirty="0">
                <a:solidFill>
                  <a:srgbClr val="009900"/>
                </a:solidFill>
              </a:rPr>
              <a:t>Use the 9 bits as a </a:t>
            </a:r>
            <a:r>
              <a:rPr lang="en-US" altLang="zh-CN" i="1" u="sng" dirty="0">
                <a:solidFill>
                  <a:srgbClr val="009900"/>
                </a:solidFill>
              </a:rPr>
              <a:t>signed offset</a:t>
            </a:r>
            <a:r>
              <a:rPr lang="en-US" altLang="zh-CN" dirty="0">
                <a:solidFill>
                  <a:srgbClr val="009900"/>
                </a:solidFill>
              </a:rPr>
              <a:t> from the current PC.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9 bits: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Can form any address X, such that: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Remember that PC is incremented as part of the FETCH phase;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This is done </a:t>
            </a:r>
            <a:r>
              <a:rPr lang="en-US" altLang="zh-CN" sz="2000" u="sng" dirty="0">
                <a:ea typeface="宋体" panose="02010600030101010101" pitchFamily="2" charset="-122"/>
              </a:rPr>
              <a:t>before</a:t>
            </a:r>
            <a:r>
              <a:rPr lang="en-US" altLang="zh-CN" sz="2000" dirty="0">
                <a:ea typeface="宋体" panose="02010600030101010101" pitchFamily="2" charset="-122"/>
              </a:rPr>
              <a:t> the EVALUATE ADDRESS stage.</a:t>
            </a:r>
          </a:p>
        </p:txBody>
      </p:sp>
      <p:graphicFrame>
        <p:nvGraphicFramePr>
          <p:cNvPr id="27654" name="Object 4"/>
          <p:cNvGraphicFramePr>
            <a:graphicFrameLocks noChangeAspect="1"/>
          </p:cNvGraphicFramePr>
          <p:nvPr/>
        </p:nvGraphicFramePr>
        <p:xfrm>
          <a:off x="1452563" y="4152900"/>
          <a:ext cx="2832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3" imgW="2832100" imgH="355600" progId="Equation.3">
                  <p:embed/>
                </p:oleObj>
              </mc:Choice>
              <mc:Fallback>
                <p:oleObj name="Equation" r:id="rId3" imgW="2832100" imgH="355600" progId="Equation.3">
                  <p:embed/>
                  <p:pic>
                    <p:nvPicPr>
                      <p:cNvPr id="2765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4152900"/>
                        <a:ext cx="2832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5"/>
          <p:cNvGraphicFramePr>
            <a:graphicFrameLocks noChangeAspect="1"/>
          </p:cNvGraphicFramePr>
          <p:nvPr/>
        </p:nvGraphicFramePr>
        <p:xfrm>
          <a:off x="5626100" y="4581525"/>
          <a:ext cx="3213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5" imgW="3213100" imgH="355600" progId="Equation.3">
                  <p:embed/>
                </p:oleObj>
              </mc:Choice>
              <mc:Fallback>
                <p:oleObj name="Equation" r:id="rId5" imgW="3213100" imgH="355600" progId="Equation.3">
                  <p:embed/>
                  <p:pic>
                    <p:nvPicPr>
                      <p:cNvPr id="2765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4581525"/>
                        <a:ext cx="32131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E78A4B-DA4C-4EBE-ACA3-083620340CA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4D1E73-FC21-47FC-9662-8C5624187C94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LD (PC-Relative)    LD DR, PCoffset9</a:t>
            </a:r>
          </a:p>
        </p:txBody>
      </p:sp>
      <p:pic>
        <p:nvPicPr>
          <p:cNvPr id="28677" name="Picture 3" descr="ch05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21201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4" descr="ch05-12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38350"/>
            <a:ext cx="7431088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 bwMode="auto">
          <a:xfrm>
            <a:off x="3491952" y="4806950"/>
            <a:ext cx="648000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36951" y="4847431"/>
            <a:ext cx="554037" cy="4619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LD</a:t>
            </a:r>
            <a:endParaRPr lang="zh-CN" altLang="en-US" sz="2400" b="1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28681" name="等腰三角形 8"/>
          <p:cNvSpPr>
            <a:spLocks noChangeArrowheads="1"/>
          </p:cNvSpPr>
          <p:nvPr/>
        </p:nvSpPr>
        <p:spPr bwMode="auto">
          <a:xfrm rot="5400000" flipH="1">
            <a:off x="4037807" y="4758531"/>
            <a:ext cx="106362" cy="9842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 bwMode="auto">
          <a:xfrm>
            <a:off x="3214118" y="3933056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x4019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9" name="矩形 238"/>
          <p:cNvSpPr/>
          <p:nvPr/>
        </p:nvSpPr>
        <p:spPr bwMode="auto">
          <a:xfrm>
            <a:off x="6541053" y="3641392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x3FC8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6" name="矩形 125"/>
          <p:cNvSpPr/>
          <p:nvPr/>
        </p:nvSpPr>
        <p:spPr bwMode="auto">
          <a:xfrm>
            <a:off x="7183259" y="2215151"/>
            <a:ext cx="1781229" cy="328135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5" name="矩形 144"/>
          <p:cNvSpPr/>
          <p:nvPr/>
        </p:nvSpPr>
        <p:spPr bwMode="auto">
          <a:xfrm>
            <a:off x="687716" y="3247570"/>
            <a:ext cx="149450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IR[8:0]=110101111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4" name="矩形 143"/>
          <p:cNvSpPr/>
          <p:nvPr/>
        </p:nvSpPr>
        <p:spPr bwMode="auto">
          <a:xfrm>
            <a:off x="187227" y="3838629"/>
            <a:ext cx="2008509" cy="4544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200" b="1" baseline="0" dirty="0">
                <a:solidFill>
                  <a:srgbClr val="FF0000"/>
                </a:solidFill>
                <a:latin typeface="Arial" charset="0"/>
              </a:rPr>
              <a:t>1111111</a:t>
            </a:r>
            <a:r>
              <a:rPr lang="en-US" altLang="zh-CN" sz="1200" baseline="0" dirty="0">
                <a:latin typeface="Arial" charset="0"/>
              </a:rPr>
              <a:t>110101111 = </a:t>
            </a:r>
            <a:r>
              <a:rPr lang="en-US" altLang="zh-CN" sz="1200" baseline="0" dirty="0" err="1">
                <a:latin typeface="Arial" charset="0"/>
              </a:rPr>
              <a:t>xFFAF</a:t>
            </a:r>
            <a:endParaRPr lang="zh-CN" altLang="en-US" sz="1200" baseline="0" dirty="0">
              <a:latin typeface="Arial" charset="0"/>
            </a:endParaRPr>
          </a:p>
        </p:txBody>
      </p:sp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9A8222-020F-4230-ADAA-5A08CB55491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7E0EDB-A1EF-4E3E-9F94-FDEEB523578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LD (PC-Relative) : LD R1, x1AF</a:t>
            </a:r>
          </a:p>
        </p:txBody>
      </p:sp>
      <p:grpSp>
        <p:nvGrpSpPr>
          <p:cNvPr id="17452" name="组合 17451"/>
          <p:cNvGrpSpPr/>
          <p:nvPr/>
        </p:nvGrpSpPr>
        <p:grpSpPr>
          <a:xfrm>
            <a:off x="1763688" y="4200361"/>
            <a:ext cx="1773164" cy="552752"/>
            <a:chOff x="3551400" y="5066709"/>
            <a:chExt cx="1773164" cy="552752"/>
          </a:xfrm>
        </p:grpSpPr>
        <p:grpSp>
          <p:nvGrpSpPr>
            <p:cNvPr id="17416" name="组合 17415"/>
            <p:cNvGrpSpPr/>
            <p:nvPr/>
          </p:nvGrpSpPr>
          <p:grpSpPr>
            <a:xfrm>
              <a:off x="3551400" y="5125351"/>
              <a:ext cx="1773164" cy="494110"/>
              <a:chOff x="4671044" y="5013176"/>
              <a:chExt cx="1485948" cy="494110"/>
            </a:xfrm>
          </p:grpSpPr>
          <p:sp>
            <p:nvSpPr>
              <p:cNvPr id="8" name="流程图: 手动操作 7"/>
              <p:cNvSpPr/>
              <p:nvPr/>
            </p:nvSpPr>
            <p:spPr bwMode="auto">
              <a:xfrm>
                <a:off x="4671044" y="5013176"/>
                <a:ext cx="1485948" cy="494110"/>
              </a:xfrm>
              <a:prstGeom prst="flowChartManualOperation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+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7408" name="组合 17407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9" name="流程图: 合并 8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cxnSp>
              <p:nvCxnSpPr>
                <p:cNvPr id="374" name="直接连接符 373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1" name="直接连接符 390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7451" name="文本框 17450"/>
            <p:cNvSpPr txBox="1"/>
            <p:nvPr/>
          </p:nvSpPr>
          <p:spPr>
            <a:xfrm>
              <a:off x="3708678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A</a:t>
              </a:r>
              <a:endParaRPr lang="zh-CN" altLang="en-US" sz="1200" baseline="0" dirty="0"/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4860032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B</a:t>
              </a:r>
              <a:endParaRPr lang="zh-CN" altLang="en-US" sz="1200" baseline="0" dirty="0"/>
            </a:p>
          </p:txBody>
        </p:sp>
      </p:grpSp>
      <p:sp>
        <p:nvSpPr>
          <p:cNvPr id="440" name="文本框 439"/>
          <p:cNvSpPr txBox="1"/>
          <p:nvPr/>
        </p:nvSpPr>
        <p:spPr>
          <a:xfrm>
            <a:off x="2616689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②</a:t>
            </a:r>
            <a:endParaRPr lang="zh-CN" altLang="en-US" baseline="0" dirty="0"/>
          </a:p>
        </p:txBody>
      </p:sp>
      <p:sp>
        <p:nvSpPr>
          <p:cNvPr id="118" name="文本框 117"/>
          <p:cNvSpPr txBox="1"/>
          <p:nvPr/>
        </p:nvSpPr>
        <p:spPr>
          <a:xfrm>
            <a:off x="3193583" y="3185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①</a:t>
            </a:r>
            <a:endParaRPr lang="zh-CN" altLang="en-US" baseline="0" dirty="0"/>
          </a:p>
        </p:txBody>
      </p:sp>
      <p:sp>
        <p:nvSpPr>
          <p:cNvPr id="101" name="矩形 100"/>
          <p:cNvSpPr/>
          <p:nvPr/>
        </p:nvSpPr>
        <p:spPr bwMode="auto">
          <a:xfrm>
            <a:off x="1516201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26870" y="2904217"/>
            <a:ext cx="996179" cy="228935"/>
            <a:chOff x="1626870" y="2636912"/>
            <a:chExt cx="996179" cy="228935"/>
          </a:xfrm>
        </p:grpSpPr>
        <p:sp>
          <p:nvSpPr>
            <p:cNvPr id="102" name="矩形 101"/>
            <p:cNvSpPr/>
            <p:nvPr/>
          </p:nvSpPr>
          <p:spPr bwMode="auto">
            <a:xfrm>
              <a:off x="1626870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3" name="矩形 102"/>
            <p:cNvSpPr/>
            <p:nvPr/>
          </p:nvSpPr>
          <p:spPr bwMode="auto">
            <a:xfrm>
              <a:off x="1737539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4" name="矩形 103"/>
            <p:cNvSpPr/>
            <p:nvPr/>
          </p:nvSpPr>
          <p:spPr bwMode="auto">
            <a:xfrm>
              <a:off x="1848207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5" name="矩形 104"/>
            <p:cNvSpPr/>
            <p:nvPr/>
          </p:nvSpPr>
          <p:spPr bwMode="auto">
            <a:xfrm>
              <a:off x="1958876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06" name="矩形 105"/>
            <p:cNvSpPr/>
            <p:nvPr/>
          </p:nvSpPr>
          <p:spPr bwMode="auto">
            <a:xfrm>
              <a:off x="2069544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7" name="矩形 106"/>
            <p:cNvSpPr/>
            <p:nvPr/>
          </p:nvSpPr>
          <p:spPr bwMode="auto">
            <a:xfrm>
              <a:off x="2180213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8" name="矩形 107"/>
            <p:cNvSpPr/>
            <p:nvPr/>
          </p:nvSpPr>
          <p:spPr bwMode="auto">
            <a:xfrm>
              <a:off x="2290881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401550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512216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11" name="矩形 110"/>
          <p:cNvSpPr/>
          <p:nvPr/>
        </p:nvSpPr>
        <p:spPr bwMode="auto">
          <a:xfrm>
            <a:off x="852190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2" name="矩形 111"/>
          <p:cNvSpPr/>
          <p:nvPr/>
        </p:nvSpPr>
        <p:spPr bwMode="auto">
          <a:xfrm>
            <a:off x="962859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1073527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1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1184196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1294864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1405533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539552" y="2908793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IR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0" name="矩形 119"/>
          <p:cNvSpPr/>
          <p:nvPr/>
        </p:nvSpPr>
        <p:spPr bwMode="auto">
          <a:xfrm>
            <a:off x="1832256" y="3641392"/>
            <a:ext cx="579504" cy="2709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SEXT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9" name="直接箭头连接符 38"/>
          <p:cNvCxnSpPr/>
          <p:nvPr/>
        </p:nvCxnSpPr>
        <p:spPr bwMode="auto">
          <a:xfrm flipH="1">
            <a:off x="2123728" y="3146504"/>
            <a:ext cx="1" cy="504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17" name="矩形 17416"/>
          <p:cNvSpPr/>
          <p:nvPr/>
        </p:nvSpPr>
        <p:spPr bwMode="auto">
          <a:xfrm>
            <a:off x="4455840" y="2184137"/>
            <a:ext cx="1781229" cy="18360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32" name="矩形 231"/>
          <p:cNvSpPr/>
          <p:nvPr/>
        </p:nvSpPr>
        <p:spPr bwMode="auto">
          <a:xfrm>
            <a:off x="4457325" y="2184137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9" name="矩形 248"/>
          <p:cNvSpPr/>
          <p:nvPr/>
        </p:nvSpPr>
        <p:spPr bwMode="auto">
          <a:xfrm>
            <a:off x="4457325" y="2642058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7" name="矩形 316"/>
          <p:cNvSpPr/>
          <p:nvPr/>
        </p:nvSpPr>
        <p:spPr bwMode="auto">
          <a:xfrm>
            <a:off x="4457325" y="3099979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4" name="矩形 333"/>
          <p:cNvSpPr/>
          <p:nvPr/>
        </p:nvSpPr>
        <p:spPr bwMode="auto">
          <a:xfrm>
            <a:off x="4457325" y="355790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1" name="矩形 350"/>
          <p:cNvSpPr/>
          <p:nvPr/>
        </p:nvSpPr>
        <p:spPr bwMode="auto">
          <a:xfrm>
            <a:off x="4457325" y="378686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4139952" y="2184163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6" name="矩形 375"/>
          <p:cNvSpPr/>
          <p:nvPr/>
        </p:nvSpPr>
        <p:spPr bwMode="auto">
          <a:xfrm>
            <a:off x="4139952" y="264208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R2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7" name="矩形 376"/>
          <p:cNvSpPr/>
          <p:nvPr/>
        </p:nvSpPr>
        <p:spPr bwMode="auto">
          <a:xfrm>
            <a:off x="4139952" y="332896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R5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8" name="矩形 377"/>
          <p:cNvSpPr/>
          <p:nvPr/>
        </p:nvSpPr>
        <p:spPr bwMode="auto">
          <a:xfrm>
            <a:off x="4139952" y="241312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R1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79" name="矩形 378"/>
          <p:cNvSpPr/>
          <p:nvPr/>
        </p:nvSpPr>
        <p:spPr bwMode="auto">
          <a:xfrm>
            <a:off x="4139952" y="287104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R3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矩形 379"/>
          <p:cNvSpPr/>
          <p:nvPr/>
        </p:nvSpPr>
        <p:spPr bwMode="auto">
          <a:xfrm>
            <a:off x="4139952" y="310000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R4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1" name="矩形 380"/>
          <p:cNvSpPr/>
          <p:nvPr/>
        </p:nvSpPr>
        <p:spPr bwMode="auto">
          <a:xfrm>
            <a:off x="4139952" y="355792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R6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2" name="矩形 381"/>
          <p:cNvSpPr/>
          <p:nvPr/>
        </p:nvSpPr>
        <p:spPr bwMode="auto">
          <a:xfrm>
            <a:off x="4139952" y="378688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R7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57325" y="2413124"/>
            <a:ext cx="1770859" cy="228935"/>
            <a:chOff x="3695735" y="2204864"/>
            <a:chExt cx="1770859" cy="228935"/>
          </a:xfrm>
        </p:grpSpPr>
        <p:sp>
          <p:nvSpPr>
            <p:cNvPr id="81" name="矩形 80"/>
            <p:cNvSpPr/>
            <p:nvPr/>
          </p:nvSpPr>
          <p:spPr bwMode="auto">
            <a:xfrm>
              <a:off x="435974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auto">
            <a:xfrm>
              <a:off x="447041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3" name="矩形 82"/>
            <p:cNvSpPr/>
            <p:nvPr/>
          </p:nvSpPr>
          <p:spPr bwMode="auto">
            <a:xfrm>
              <a:off x="458108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auto">
            <a:xfrm>
              <a:off x="469175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5" name="矩形 84"/>
            <p:cNvSpPr/>
            <p:nvPr/>
          </p:nvSpPr>
          <p:spPr bwMode="auto">
            <a:xfrm>
              <a:off x="480242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6" name="矩形 85"/>
            <p:cNvSpPr/>
            <p:nvPr/>
          </p:nvSpPr>
          <p:spPr bwMode="auto">
            <a:xfrm>
              <a:off x="491308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7" name="矩形 86"/>
            <p:cNvSpPr/>
            <p:nvPr/>
          </p:nvSpPr>
          <p:spPr bwMode="auto">
            <a:xfrm>
              <a:off x="502375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8" name="矩形 87"/>
            <p:cNvSpPr/>
            <p:nvPr/>
          </p:nvSpPr>
          <p:spPr bwMode="auto">
            <a:xfrm>
              <a:off x="513442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9" name="矩形 88"/>
            <p:cNvSpPr/>
            <p:nvPr/>
          </p:nvSpPr>
          <p:spPr bwMode="auto">
            <a:xfrm>
              <a:off x="524509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0" name="矩形 89"/>
            <p:cNvSpPr/>
            <p:nvPr/>
          </p:nvSpPr>
          <p:spPr bwMode="auto">
            <a:xfrm>
              <a:off x="535576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矩形 90"/>
            <p:cNvSpPr/>
            <p:nvPr/>
          </p:nvSpPr>
          <p:spPr bwMode="auto">
            <a:xfrm>
              <a:off x="369573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80640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3" name="矩形 92"/>
            <p:cNvSpPr/>
            <p:nvPr/>
          </p:nvSpPr>
          <p:spPr bwMode="auto">
            <a:xfrm>
              <a:off x="391707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4" name="矩形 93"/>
            <p:cNvSpPr/>
            <p:nvPr/>
          </p:nvSpPr>
          <p:spPr bwMode="auto">
            <a:xfrm>
              <a:off x="402774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矩形 94"/>
            <p:cNvSpPr/>
            <p:nvPr/>
          </p:nvSpPr>
          <p:spPr bwMode="auto">
            <a:xfrm>
              <a:off x="413840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矩形 95"/>
            <p:cNvSpPr/>
            <p:nvPr/>
          </p:nvSpPr>
          <p:spPr bwMode="auto">
            <a:xfrm>
              <a:off x="424907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00" name="矩形 299"/>
          <p:cNvSpPr/>
          <p:nvPr/>
        </p:nvSpPr>
        <p:spPr bwMode="auto">
          <a:xfrm>
            <a:off x="4457325" y="2874537"/>
            <a:ext cx="1771200" cy="2254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19" name="Picture 3" descr="ch05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31" y="980728"/>
            <a:ext cx="721201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529868" y="2289613"/>
            <a:ext cx="2083497" cy="233511"/>
            <a:chOff x="428719" y="4926337"/>
            <a:chExt cx="2083497" cy="233511"/>
          </a:xfrm>
        </p:grpSpPr>
        <p:sp>
          <p:nvSpPr>
            <p:cNvPr id="181" name="矩形 180"/>
            <p:cNvSpPr/>
            <p:nvPr/>
          </p:nvSpPr>
          <p:spPr bwMode="auto">
            <a:xfrm>
              <a:off x="1405368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151603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1626706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737374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84804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6" name="矩形 185"/>
            <p:cNvSpPr/>
            <p:nvPr/>
          </p:nvSpPr>
          <p:spPr bwMode="auto">
            <a:xfrm>
              <a:off x="1958711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8" name="矩形 187"/>
            <p:cNvSpPr/>
            <p:nvPr/>
          </p:nvSpPr>
          <p:spPr bwMode="auto">
            <a:xfrm>
              <a:off x="2069380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9" name="矩形 188"/>
            <p:cNvSpPr/>
            <p:nvPr/>
          </p:nvSpPr>
          <p:spPr bwMode="auto">
            <a:xfrm>
              <a:off x="2180048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0" name="矩形 189"/>
            <p:cNvSpPr/>
            <p:nvPr/>
          </p:nvSpPr>
          <p:spPr bwMode="auto">
            <a:xfrm>
              <a:off x="229071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1" name="矩形 190"/>
            <p:cNvSpPr/>
            <p:nvPr/>
          </p:nvSpPr>
          <p:spPr bwMode="auto">
            <a:xfrm>
              <a:off x="240138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2" name="矩形 191"/>
            <p:cNvSpPr/>
            <p:nvPr/>
          </p:nvSpPr>
          <p:spPr bwMode="auto">
            <a:xfrm>
              <a:off x="74135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3" name="矩形 192"/>
            <p:cNvSpPr/>
            <p:nvPr/>
          </p:nvSpPr>
          <p:spPr bwMode="auto">
            <a:xfrm>
              <a:off x="852026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4" name="矩形 193"/>
            <p:cNvSpPr/>
            <p:nvPr/>
          </p:nvSpPr>
          <p:spPr bwMode="auto">
            <a:xfrm>
              <a:off x="962694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5" name="矩形 194"/>
            <p:cNvSpPr/>
            <p:nvPr/>
          </p:nvSpPr>
          <p:spPr bwMode="auto">
            <a:xfrm>
              <a:off x="107336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6" name="矩形 195"/>
            <p:cNvSpPr/>
            <p:nvPr/>
          </p:nvSpPr>
          <p:spPr bwMode="auto">
            <a:xfrm>
              <a:off x="1184031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7" name="矩形 196"/>
            <p:cNvSpPr/>
            <p:nvPr/>
          </p:nvSpPr>
          <p:spPr bwMode="auto">
            <a:xfrm>
              <a:off x="1294700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8" name="矩形 197"/>
            <p:cNvSpPr/>
            <p:nvPr/>
          </p:nvSpPr>
          <p:spPr bwMode="auto">
            <a:xfrm>
              <a:off x="428719" y="493091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PC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199" name="肘形连接符 198"/>
          <p:cNvCxnSpPr>
            <a:stCxn id="191" idx="3"/>
            <a:endCxn id="433" idx="0"/>
          </p:cNvCxnSpPr>
          <p:nvPr/>
        </p:nvCxnSpPr>
        <p:spPr bwMode="auto">
          <a:xfrm>
            <a:off x="2613365" y="2404081"/>
            <a:ext cx="602584" cy="179628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2" name="直接箭头连接符 201"/>
          <p:cNvCxnSpPr/>
          <p:nvPr/>
        </p:nvCxnSpPr>
        <p:spPr bwMode="auto">
          <a:xfrm flipH="1">
            <a:off x="2123728" y="3912409"/>
            <a:ext cx="1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肘形连接符 202"/>
          <p:cNvCxnSpPr>
            <a:stCxn id="200" idx="3"/>
            <a:endCxn id="126" idx="1"/>
          </p:cNvCxnSpPr>
          <p:nvPr/>
        </p:nvCxnSpPr>
        <p:spPr bwMode="auto">
          <a:xfrm flipV="1">
            <a:off x="6198397" y="3855828"/>
            <a:ext cx="984862" cy="171241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" name="矩形 203"/>
          <p:cNvSpPr/>
          <p:nvPr/>
        </p:nvSpPr>
        <p:spPr bwMode="auto">
          <a:xfrm>
            <a:off x="7183259" y="3699261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428" name="肘形连接符 17427"/>
          <p:cNvCxnSpPr/>
          <p:nvPr/>
        </p:nvCxnSpPr>
        <p:spPr bwMode="auto">
          <a:xfrm rot="5400000" flipH="1" flipV="1">
            <a:off x="5939961" y="4102829"/>
            <a:ext cx="2336708" cy="2031418"/>
          </a:xfrm>
          <a:prstGeom prst="bentConnector3">
            <a:avLst>
              <a:gd name="adj1" fmla="val -13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" name="矩形 204"/>
          <p:cNvSpPr/>
          <p:nvPr/>
        </p:nvSpPr>
        <p:spPr bwMode="auto">
          <a:xfrm>
            <a:off x="4756207" y="5695159"/>
            <a:ext cx="115212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MAR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6" name="矩形 205"/>
          <p:cNvSpPr/>
          <p:nvPr/>
        </p:nvSpPr>
        <p:spPr bwMode="auto">
          <a:xfrm>
            <a:off x="4749458" y="6422144"/>
            <a:ext cx="115212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MDR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1" name="肘形连接符 130"/>
          <p:cNvCxnSpPr>
            <a:stCxn id="201" idx="1"/>
            <a:endCxn id="378" idx="3"/>
          </p:cNvCxnSpPr>
          <p:nvPr/>
        </p:nvCxnSpPr>
        <p:spPr bwMode="auto">
          <a:xfrm rot="10800000">
            <a:off x="4407094" y="2527592"/>
            <a:ext cx="53930" cy="3759298"/>
          </a:xfrm>
          <a:prstGeom prst="bentConnector3">
            <a:avLst>
              <a:gd name="adj1" fmla="val 84478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肘形连接符 206"/>
          <p:cNvCxnSpPr>
            <a:stCxn id="8" idx="2"/>
          </p:cNvCxnSpPr>
          <p:nvPr/>
        </p:nvCxnSpPr>
        <p:spPr bwMode="auto">
          <a:xfrm rot="16200000" flipH="1">
            <a:off x="3190270" y="4200247"/>
            <a:ext cx="828000" cy="190800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4" name="组合 213"/>
          <p:cNvGrpSpPr/>
          <p:nvPr/>
        </p:nvGrpSpPr>
        <p:grpSpPr>
          <a:xfrm>
            <a:off x="7183259" y="3699125"/>
            <a:ext cx="1770859" cy="228935"/>
            <a:chOff x="3695735" y="2204864"/>
            <a:chExt cx="1770859" cy="228935"/>
          </a:xfrm>
        </p:grpSpPr>
        <p:sp>
          <p:nvSpPr>
            <p:cNvPr id="215" name="矩形 214"/>
            <p:cNvSpPr/>
            <p:nvPr/>
          </p:nvSpPr>
          <p:spPr bwMode="auto">
            <a:xfrm>
              <a:off x="435974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447041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458108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469175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480242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491308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1" name="矩形 220"/>
            <p:cNvSpPr/>
            <p:nvPr/>
          </p:nvSpPr>
          <p:spPr bwMode="auto">
            <a:xfrm>
              <a:off x="502375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2" name="矩形 221"/>
            <p:cNvSpPr/>
            <p:nvPr/>
          </p:nvSpPr>
          <p:spPr bwMode="auto">
            <a:xfrm>
              <a:off x="513442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3" name="矩形 222"/>
            <p:cNvSpPr/>
            <p:nvPr/>
          </p:nvSpPr>
          <p:spPr bwMode="auto">
            <a:xfrm>
              <a:off x="524509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535576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5" name="矩形 224"/>
            <p:cNvSpPr/>
            <p:nvPr/>
          </p:nvSpPr>
          <p:spPr bwMode="auto">
            <a:xfrm>
              <a:off x="369573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6" name="矩形 225"/>
            <p:cNvSpPr/>
            <p:nvPr/>
          </p:nvSpPr>
          <p:spPr bwMode="auto">
            <a:xfrm>
              <a:off x="380640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7" name="矩形 226"/>
            <p:cNvSpPr/>
            <p:nvPr/>
          </p:nvSpPr>
          <p:spPr bwMode="auto">
            <a:xfrm>
              <a:off x="391707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8" name="矩形 227"/>
            <p:cNvSpPr/>
            <p:nvPr/>
          </p:nvSpPr>
          <p:spPr bwMode="auto">
            <a:xfrm>
              <a:off x="402774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9" name="矩形 228"/>
            <p:cNvSpPr/>
            <p:nvPr/>
          </p:nvSpPr>
          <p:spPr bwMode="auto">
            <a:xfrm>
              <a:off x="413840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0" name="矩形 229"/>
            <p:cNvSpPr/>
            <p:nvPr/>
          </p:nvSpPr>
          <p:spPr bwMode="auto">
            <a:xfrm>
              <a:off x="424907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31" name="矩形 230"/>
          <p:cNvSpPr/>
          <p:nvPr/>
        </p:nvSpPr>
        <p:spPr bwMode="auto">
          <a:xfrm>
            <a:off x="420570" y="4811754"/>
            <a:ext cx="2081961" cy="13606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PC     = x4018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PC+1 = x4019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X4019 + </a:t>
            </a:r>
            <a:r>
              <a:rPr lang="en-US" altLang="zh-CN" sz="1200" baseline="0" dirty="0" err="1">
                <a:latin typeface="Arial" charset="0"/>
              </a:rPr>
              <a:t>xFFAF</a:t>
            </a:r>
            <a:r>
              <a:rPr lang="en-US" altLang="zh-CN" sz="1200" baseline="0" dirty="0">
                <a:latin typeface="Arial" charset="0"/>
              </a:rPr>
              <a:t> = x3FC8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3978964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④</a:t>
            </a:r>
            <a:endParaRPr lang="zh-CN" altLang="en-US" baseline="0" dirty="0"/>
          </a:p>
        </p:txBody>
      </p:sp>
      <p:sp>
        <p:nvSpPr>
          <p:cNvPr id="234" name="文本框 233"/>
          <p:cNvSpPr txBox="1"/>
          <p:nvPr/>
        </p:nvSpPr>
        <p:spPr>
          <a:xfrm>
            <a:off x="6235405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③</a:t>
            </a:r>
            <a:endParaRPr lang="zh-CN" altLang="en-US" baseline="0" dirty="0"/>
          </a:p>
        </p:txBody>
      </p:sp>
      <p:sp>
        <p:nvSpPr>
          <p:cNvPr id="235" name="文本框 234"/>
          <p:cNvSpPr txBox="1"/>
          <p:nvPr/>
        </p:nvSpPr>
        <p:spPr>
          <a:xfrm>
            <a:off x="6948264" y="59492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③</a:t>
            </a:r>
            <a:endParaRPr lang="zh-CN" altLang="en-US" baseline="0" dirty="0"/>
          </a:p>
        </p:txBody>
      </p:sp>
      <p:sp>
        <p:nvSpPr>
          <p:cNvPr id="236" name="文本框 235"/>
          <p:cNvSpPr txBox="1"/>
          <p:nvPr/>
        </p:nvSpPr>
        <p:spPr>
          <a:xfrm>
            <a:off x="2069544" y="3185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①</a:t>
            </a:r>
            <a:endParaRPr lang="zh-CN" altLang="en-US" baseline="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4427538" y="5414829"/>
            <a:ext cx="1770859" cy="306836"/>
            <a:chOff x="4427538" y="5414829"/>
            <a:chExt cx="1770859" cy="306836"/>
          </a:xfrm>
        </p:grpSpPr>
        <p:sp>
          <p:nvSpPr>
            <p:cNvPr id="238" name="矩形 237"/>
            <p:cNvSpPr/>
            <p:nvPr/>
          </p:nvSpPr>
          <p:spPr bwMode="auto">
            <a:xfrm>
              <a:off x="4994066" y="5414829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x3FC8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0" name="矩形 199"/>
            <p:cNvSpPr/>
            <p:nvPr/>
          </p:nvSpPr>
          <p:spPr bwMode="auto">
            <a:xfrm>
              <a:off x="4427538" y="5453767"/>
              <a:ext cx="1770859" cy="22896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40" name="矩形 239"/>
          <p:cNvSpPr/>
          <p:nvPr/>
        </p:nvSpPr>
        <p:spPr bwMode="auto">
          <a:xfrm>
            <a:off x="5027552" y="6133472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# 5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1" name="矩形 200"/>
          <p:cNvSpPr/>
          <p:nvPr/>
        </p:nvSpPr>
        <p:spPr bwMode="auto">
          <a:xfrm>
            <a:off x="4461024" y="6172410"/>
            <a:ext cx="1770859" cy="2289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1" name="矩形 250"/>
          <p:cNvSpPr/>
          <p:nvPr/>
        </p:nvSpPr>
        <p:spPr bwMode="auto">
          <a:xfrm>
            <a:off x="2662605" y="5165233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x3FC8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2" name="矩形 251"/>
          <p:cNvSpPr/>
          <p:nvPr/>
        </p:nvSpPr>
        <p:spPr bwMode="auto">
          <a:xfrm>
            <a:off x="4701767" y="184482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baseline="0" dirty="0">
                <a:latin typeface="Arial" charset="0"/>
              </a:rPr>
              <a:t>Register File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3" name="矩形 252"/>
          <p:cNvSpPr/>
          <p:nvPr/>
        </p:nvSpPr>
        <p:spPr bwMode="auto">
          <a:xfrm>
            <a:off x="7413411" y="184482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baseline="0" dirty="0">
                <a:latin typeface="Arial" charset="0"/>
              </a:rPr>
              <a:t>Memory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467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7724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7188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4341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3933056"/>
            <a:ext cx="0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1785469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  <a:endParaRPr lang="en-US" sz="1400" baseline="0" dirty="0">
              <a:solidFill>
                <a:schemeClr val="accent2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09692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436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434" name="Text Box 11"/>
          <p:cNvSpPr txBox="1">
            <a:spLocks noChangeArrowheads="1"/>
          </p:cNvSpPr>
          <p:nvPr/>
        </p:nvSpPr>
        <p:spPr bwMode="auto">
          <a:xfrm>
            <a:off x="7505035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cxnSp>
        <p:nvCxnSpPr>
          <p:cNvPr id="437" name="直接连接符 436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14552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2BEC61-222C-4A4B-9CC1-FE93C8963C55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D4B494-026B-4A7A-A383-E0477BDC317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ST (PC-Relative)    ST DR, PCoffset9</a:t>
            </a:r>
          </a:p>
        </p:txBody>
      </p:sp>
      <p:pic>
        <p:nvPicPr>
          <p:cNvPr id="30725" name="Picture 3" descr="ch05-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21201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4" descr="ch05-13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038350"/>
            <a:ext cx="7431088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流程图: 联系 1"/>
          <p:cNvSpPr/>
          <p:nvPr/>
        </p:nvSpPr>
        <p:spPr bwMode="auto">
          <a:xfrm>
            <a:off x="3492500" y="3141663"/>
            <a:ext cx="215900" cy="215900"/>
          </a:xfrm>
          <a:prstGeom prst="flowChartConnector">
            <a:avLst/>
          </a:prstGeom>
          <a:ln w="952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anchor="ctr"/>
          <a:lstStyle/>
          <a:p>
            <a:pPr eaLnBrk="1" hangingPunct="1">
              <a:defRPr/>
            </a:pPr>
            <a:r>
              <a:rPr lang="en-US" altLang="zh-CN" sz="1000" kern="0" baseline="0" dirty="0">
                <a:solidFill>
                  <a:schemeClr val="tx1"/>
                </a:solidFill>
                <a:ea typeface="宋体" pitchFamily="2" charset="-122"/>
              </a:rPr>
              <a:t>4</a:t>
            </a:r>
            <a:endParaRPr lang="zh-CN" altLang="en-US" sz="1000" kern="0" baseline="0" dirty="0">
              <a:solidFill>
                <a:schemeClr val="tx1"/>
              </a:solidFill>
              <a:ea typeface="宋体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3263900" y="4806950"/>
            <a:ext cx="862013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709863" y="4576763"/>
            <a:ext cx="554037" cy="4619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ST</a:t>
            </a:r>
            <a:endParaRPr lang="zh-CN" altLang="en-US" sz="2400" b="1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30730" name="等腰三角形 10"/>
          <p:cNvSpPr>
            <a:spLocks noChangeArrowheads="1"/>
          </p:cNvSpPr>
          <p:nvPr/>
        </p:nvSpPr>
        <p:spPr bwMode="auto">
          <a:xfrm rot="5400000" flipH="1">
            <a:off x="4037807" y="4758531"/>
            <a:ext cx="106362" cy="9842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062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16720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5896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3933056"/>
            <a:ext cx="0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1111269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6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729578" y="5288328"/>
            <a:ext cx="8237015" cy="1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308703" y="-1988326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34" name="Text Box 11"/>
          <p:cNvSpPr txBox="1">
            <a:spLocks noChangeArrowheads="1"/>
          </p:cNvSpPr>
          <p:nvPr/>
        </p:nvSpPr>
        <p:spPr bwMode="auto">
          <a:xfrm>
            <a:off x="7505035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437" name="Text Box 11"/>
          <p:cNvSpPr txBox="1">
            <a:spLocks noChangeArrowheads="1"/>
          </p:cNvSpPr>
          <p:nvPr/>
        </p:nvSpPr>
        <p:spPr bwMode="auto">
          <a:xfrm>
            <a:off x="8297123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400" baseline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  <a:r>
              <a:rPr lang="zh-CN" altLang="en-US" sz="1400" baseline="0">
                <a:solidFill>
                  <a:schemeClr val="accent2"/>
                </a:solidFill>
                <a:latin typeface="Arial" charset="0"/>
                <a:ea typeface="+mn-ea"/>
              </a:rPr>
              <a:t> </a:t>
            </a:r>
            <a:endParaRPr lang="en-US" sz="1400" baseline="0" dirty="0">
              <a:solidFill>
                <a:schemeClr val="accent2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5111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 (PC-Relative)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1" name="Text Box 11"/>
          <p:cNvSpPr txBox="1">
            <a:spLocks noChangeArrowheads="1"/>
          </p:cNvSpPr>
          <p:nvPr/>
        </p:nvSpPr>
        <p:spPr bwMode="auto">
          <a:xfrm>
            <a:off x="7505035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3260652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3" name="TextBox 7">
            <a:extLst>
              <a:ext uri="{FF2B5EF4-FFF2-40B4-BE49-F238E27FC236}">
                <a16:creationId xmlns:a16="http://schemas.microsoft.com/office/drawing/2014/main" id="{8FF97695-E40D-4A06-9022-A4F2FA482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64" name="Text Box 17">
            <a:extLst>
              <a:ext uri="{FF2B5EF4-FFF2-40B4-BE49-F238E27FC236}">
                <a16:creationId xmlns:a16="http://schemas.microsoft.com/office/drawing/2014/main" id="{B2651B73-185C-4A5E-94AD-B248780CE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24523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A64685A-F0CB-4EBF-A966-37511DE73D75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67" name="Text Box 17">
            <a:extLst>
              <a:ext uri="{FF2B5EF4-FFF2-40B4-BE49-F238E27FC236}">
                <a16:creationId xmlns:a16="http://schemas.microsoft.com/office/drawing/2014/main" id="{D023DCD8-AB65-42FC-8E4C-6446EB1F1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solidFill>
            <a:srgbClr val="3E60A5"/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68" name="矩形 17">
            <a:extLst>
              <a:ext uri="{FF2B5EF4-FFF2-40B4-BE49-F238E27FC236}">
                <a16:creationId xmlns:a16="http://schemas.microsoft.com/office/drawing/2014/main" id="{8257235F-71C6-4E17-ABC4-2882ADBA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E6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Indirect,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3E6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Base+offset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3E60A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Load/Store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54C81C4-12C1-4EFD-A446-C472AFF408E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71" name="Text Box 17">
            <a:extLst>
              <a:ext uri="{FF2B5EF4-FFF2-40B4-BE49-F238E27FC236}">
                <a16:creationId xmlns:a16="http://schemas.microsoft.com/office/drawing/2014/main" id="{04C7B0B7-6014-4157-8040-28C515BEA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72" name="矩形 17">
            <a:extLst>
              <a:ext uri="{FF2B5EF4-FFF2-40B4-BE49-F238E27FC236}">
                <a16:creationId xmlns:a16="http://schemas.microsoft.com/office/drawing/2014/main" id="{B2A7C8BA-EF15-4335-85D4-A5C19BF2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PC-Relative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ill Sans MT" panose="020B0502020104020203" pitchFamily="34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Load/Store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C015303-FD7B-41DC-915D-FBFDCBBC7EFF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A7C9C73-4E22-4510-B545-CA8ADF590D98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76" name="Text Box 17">
            <a:extLst>
              <a:ext uri="{FF2B5EF4-FFF2-40B4-BE49-F238E27FC236}">
                <a16:creationId xmlns:a16="http://schemas.microsoft.com/office/drawing/2014/main" id="{630BB9E9-A71E-4AC4-A1FC-62A3F3FA5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77" name="矩形 17">
            <a:extLst>
              <a:ext uri="{FF2B5EF4-FFF2-40B4-BE49-F238E27FC236}">
                <a16:creationId xmlns:a16="http://schemas.microsoft.com/office/drawing/2014/main" id="{C5BCB2B5-4742-4C20-A157-D15D9DC54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CAD0D13-0B2F-48EA-9466-8DEA02B69E29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959522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1B5E00-30AB-4C13-9ADE-21BCFE659179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497BB4-0A2D-413B-9DAC-CD7DE6BAF5EA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Indirect Addressing Mode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With PC-relative mode, can only address data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within 256 words of the instruction.</a:t>
            </a:r>
          </a:p>
          <a:p>
            <a:pPr marL="576263" lvl="1" indent="-234950"/>
            <a:r>
              <a:rPr lang="en-US" altLang="zh-CN"/>
              <a:t>What about the rest of memory?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solidFill>
                <a:srgbClr val="009900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9900"/>
                </a:solidFill>
                <a:ea typeface="宋体" panose="02010600030101010101" pitchFamily="2" charset="-122"/>
              </a:rPr>
              <a:t>Solution #1: </a:t>
            </a:r>
          </a:p>
          <a:p>
            <a:pPr marL="576263" lvl="1" indent="-234950"/>
            <a:r>
              <a:rPr lang="en-US" altLang="zh-CN">
                <a:solidFill>
                  <a:srgbClr val="009900"/>
                </a:solidFill>
              </a:rPr>
              <a:t>Read address from memory location,</a:t>
            </a:r>
            <a:br>
              <a:rPr lang="en-US" altLang="zh-CN">
                <a:solidFill>
                  <a:srgbClr val="009900"/>
                </a:solidFill>
              </a:rPr>
            </a:br>
            <a:r>
              <a:rPr lang="en-US" altLang="zh-CN">
                <a:solidFill>
                  <a:srgbClr val="009900"/>
                </a:solidFill>
              </a:rPr>
              <a:t>then load/store to that address.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solidFill>
                <a:srgbClr val="009900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First address is generated from PC and IR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(just like PC-relative addressing), then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content of that address is used as target for load/store.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59F8D6-6DCC-4D79-8B6C-C4D6426A630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379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9754B7-F808-4FE0-97DB-9822FE319D7B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LDI (Indirect)     LDI  DR, PCoffset9</a:t>
            </a:r>
          </a:p>
        </p:txBody>
      </p:sp>
      <p:pic>
        <p:nvPicPr>
          <p:cNvPr id="33797" name="Picture 3" descr="ch05-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4" descr="ch05-15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7431088" cy="450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 bwMode="auto">
          <a:xfrm>
            <a:off x="3478213" y="4806950"/>
            <a:ext cx="720725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689225" y="4524375"/>
            <a:ext cx="738188" cy="461963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LDI</a:t>
            </a:r>
            <a:endParaRPr lang="zh-CN" altLang="en-US" sz="2400" b="1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33801" name="等腰三角形 8"/>
          <p:cNvSpPr>
            <a:spLocks noChangeArrowheads="1"/>
          </p:cNvSpPr>
          <p:nvPr/>
        </p:nvSpPr>
        <p:spPr bwMode="auto">
          <a:xfrm rot="5400000" flipH="1">
            <a:off x="4110038" y="4759325"/>
            <a:ext cx="106362" cy="96838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/>
          <p:cNvSpPr/>
          <p:nvPr/>
        </p:nvSpPr>
        <p:spPr bwMode="auto">
          <a:xfrm>
            <a:off x="6598494" y="2978148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x2100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7" name="矩形 236"/>
          <p:cNvSpPr/>
          <p:nvPr/>
        </p:nvSpPr>
        <p:spPr bwMode="auto">
          <a:xfrm>
            <a:off x="3214118" y="3933056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x4019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9" name="矩形 238"/>
          <p:cNvSpPr/>
          <p:nvPr/>
        </p:nvSpPr>
        <p:spPr bwMode="auto">
          <a:xfrm>
            <a:off x="6541053" y="3641392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x3FC8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6" name="矩形 125"/>
          <p:cNvSpPr/>
          <p:nvPr/>
        </p:nvSpPr>
        <p:spPr bwMode="auto">
          <a:xfrm>
            <a:off x="7183259" y="2215151"/>
            <a:ext cx="1781229" cy="328135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5" name="矩形 144"/>
          <p:cNvSpPr/>
          <p:nvPr/>
        </p:nvSpPr>
        <p:spPr bwMode="auto">
          <a:xfrm>
            <a:off x="687716" y="3247570"/>
            <a:ext cx="149450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IR[8:0]=110101111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4" name="矩形 143"/>
          <p:cNvSpPr/>
          <p:nvPr/>
        </p:nvSpPr>
        <p:spPr bwMode="auto">
          <a:xfrm>
            <a:off x="187227" y="3838629"/>
            <a:ext cx="2008509" cy="4544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200" b="1" baseline="0" dirty="0">
                <a:solidFill>
                  <a:srgbClr val="FF0000"/>
                </a:solidFill>
                <a:latin typeface="Arial" charset="0"/>
              </a:rPr>
              <a:t>1111111</a:t>
            </a:r>
            <a:r>
              <a:rPr lang="en-US" altLang="zh-CN" sz="1200" baseline="0" dirty="0">
                <a:latin typeface="Arial" charset="0"/>
              </a:rPr>
              <a:t>110101111 = </a:t>
            </a:r>
            <a:r>
              <a:rPr lang="en-US" altLang="zh-CN" sz="1200" baseline="0" dirty="0" err="1">
                <a:latin typeface="Arial" charset="0"/>
              </a:rPr>
              <a:t>xFFAF</a:t>
            </a:r>
            <a:endParaRPr lang="zh-CN" altLang="en-US" sz="1200" baseline="0" dirty="0">
              <a:latin typeface="Arial" charset="0"/>
            </a:endParaRPr>
          </a:p>
        </p:txBody>
      </p:sp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9A8222-020F-4230-ADAA-5A08CB55491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7E0EDB-A1EF-4E3E-9F94-FDEEB523578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LDI (Indirect) : LDI R1, x1AF</a:t>
            </a:r>
          </a:p>
        </p:txBody>
      </p:sp>
      <p:grpSp>
        <p:nvGrpSpPr>
          <p:cNvPr id="17452" name="组合 17451"/>
          <p:cNvGrpSpPr/>
          <p:nvPr/>
        </p:nvGrpSpPr>
        <p:grpSpPr>
          <a:xfrm>
            <a:off x="1763688" y="4200361"/>
            <a:ext cx="1773164" cy="552752"/>
            <a:chOff x="3551400" y="5066709"/>
            <a:chExt cx="1773164" cy="552752"/>
          </a:xfrm>
        </p:grpSpPr>
        <p:grpSp>
          <p:nvGrpSpPr>
            <p:cNvPr id="17416" name="组合 17415"/>
            <p:cNvGrpSpPr/>
            <p:nvPr/>
          </p:nvGrpSpPr>
          <p:grpSpPr>
            <a:xfrm>
              <a:off x="3551400" y="5125351"/>
              <a:ext cx="1773164" cy="494110"/>
              <a:chOff x="4671044" y="5013176"/>
              <a:chExt cx="1485948" cy="494110"/>
            </a:xfrm>
          </p:grpSpPr>
          <p:sp>
            <p:nvSpPr>
              <p:cNvPr id="8" name="流程图: 手动操作 7"/>
              <p:cNvSpPr/>
              <p:nvPr/>
            </p:nvSpPr>
            <p:spPr bwMode="auto">
              <a:xfrm>
                <a:off x="4671044" y="5013176"/>
                <a:ext cx="1485948" cy="494110"/>
              </a:xfrm>
              <a:prstGeom prst="flowChartManualOperation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+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7408" name="组合 17407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9" name="流程图: 合并 8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cxnSp>
              <p:nvCxnSpPr>
                <p:cNvPr id="374" name="直接连接符 373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1" name="直接连接符 390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7451" name="文本框 17450"/>
            <p:cNvSpPr txBox="1"/>
            <p:nvPr/>
          </p:nvSpPr>
          <p:spPr>
            <a:xfrm>
              <a:off x="3708678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A</a:t>
              </a:r>
              <a:endParaRPr lang="zh-CN" altLang="en-US" sz="1200" baseline="0" dirty="0"/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4860032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B</a:t>
              </a:r>
              <a:endParaRPr lang="zh-CN" altLang="en-US" sz="1200" baseline="0" dirty="0"/>
            </a:p>
          </p:txBody>
        </p:sp>
      </p:grpSp>
      <p:sp>
        <p:nvSpPr>
          <p:cNvPr id="440" name="文本框 439"/>
          <p:cNvSpPr txBox="1"/>
          <p:nvPr/>
        </p:nvSpPr>
        <p:spPr>
          <a:xfrm>
            <a:off x="2616689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②</a:t>
            </a:r>
            <a:endParaRPr lang="zh-CN" altLang="en-US" baseline="0" dirty="0"/>
          </a:p>
        </p:txBody>
      </p:sp>
      <p:sp>
        <p:nvSpPr>
          <p:cNvPr id="118" name="文本框 117"/>
          <p:cNvSpPr txBox="1"/>
          <p:nvPr/>
        </p:nvSpPr>
        <p:spPr>
          <a:xfrm>
            <a:off x="3193583" y="3185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①</a:t>
            </a:r>
            <a:endParaRPr lang="zh-CN" altLang="en-US" baseline="0" dirty="0"/>
          </a:p>
        </p:txBody>
      </p:sp>
      <p:sp>
        <p:nvSpPr>
          <p:cNvPr id="101" name="矩形 100"/>
          <p:cNvSpPr/>
          <p:nvPr/>
        </p:nvSpPr>
        <p:spPr bwMode="auto">
          <a:xfrm>
            <a:off x="1516201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26870" y="2904217"/>
            <a:ext cx="996179" cy="228935"/>
            <a:chOff x="1626870" y="2636912"/>
            <a:chExt cx="996179" cy="228935"/>
          </a:xfrm>
        </p:grpSpPr>
        <p:sp>
          <p:nvSpPr>
            <p:cNvPr id="102" name="矩形 101"/>
            <p:cNvSpPr/>
            <p:nvPr/>
          </p:nvSpPr>
          <p:spPr bwMode="auto">
            <a:xfrm>
              <a:off x="1626870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3" name="矩形 102"/>
            <p:cNvSpPr/>
            <p:nvPr/>
          </p:nvSpPr>
          <p:spPr bwMode="auto">
            <a:xfrm>
              <a:off x="1737539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4" name="矩形 103"/>
            <p:cNvSpPr/>
            <p:nvPr/>
          </p:nvSpPr>
          <p:spPr bwMode="auto">
            <a:xfrm>
              <a:off x="1848207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5" name="矩形 104"/>
            <p:cNvSpPr/>
            <p:nvPr/>
          </p:nvSpPr>
          <p:spPr bwMode="auto">
            <a:xfrm>
              <a:off x="1958876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06" name="矩形 105"/>
            <p:cNvSpPr/>
            <p:nvPr/>
          </p:nvSpPr>
          <p:spPr bwMode="auto">
            <a:xfrm>
              <a:off x="2069544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7" name="矩形 106"/>
            <p:cNvSpPr/>
            <p:nvPr/>
          </p:nvSpPr>
          <p:spPr bwMode="auto">
            <a:xfrm>
              <a:off x="2180213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8" name="矩形 107"/>
            <p:cNvSpPr/>
            <p:nvPr/>
          </p:nvSpPr>
          <p:spPr bwMode="auto">
            <a:xfrm>
              <a:off x="2290881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401550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512216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11" name="矩形 110"/>
          <p:cNvSpPr/>
          <p:nvPr/>
        </p:nvSpPr>
        <p:spPr bwMode="auto">
          <a:xfrm>
            <a:off x="852190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1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2" name="矩形 111"/>
          <p:cNvSpPr/>
          <p:nvPr/>
        </p:nvSpPr>
        <p:spPr bwMode="auto">
          <a:xfrm>
            <a:off x="962859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1073527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1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1184196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1294864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1405533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539552" y="2908793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IR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0" name="矩形 119"/>
          <p:cNvSpPr/>
          <p:nvPr/>
        </p:nvSpPr>
        <p:spPr bwMode="auto">
          <a:xfrm>
            <a:off x="1832256" y="3641392"/>
            <a:ext cx="579504" cy="2709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SEXT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9" name="直接箭头连接符 38"/>
          <p:cNvCxnSpPr/>
          <p:nvPr/>
        </p:nvCxnSpPr>
        <p:spPr bwMode="auto">
          <a:xfrm flipH="1">
            <a:off x="2123728" y="3146504"/>
            <a:ext cx="1" cy="504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17" name="矩形 17416"/>
          <p:cNvSpPr/>
          <p:nvPr/>
        </p:nvSpPr>
        <p:spPr bwMode="auto">
          <a:xfrm>
            <a:off x="4455840" y="2184137"/>
            <a:ext cx="1781229" cy="18360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32" name="矩形 231"/>
          <p:cNvSpPr/>
          <p:nvPr/>
        </p:nvSpPr>
        <p:spPr bwMode="auto">
          <a:xfrm>
            <a:off x="4457325" y="2184137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9" name="矩形 248"/>
          <p:cNvSpPr/>
          <p:nvPr/>
        </p:nvSpPr>
        <p:spPr bwMode="auto">
          <a:xfrm>
            <a:off x="4457325" y="2642058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7" name="矩形 316"/>
          <p:cNvSpPr/>
          <p:nvPr/>
        </p:nvSpPr>
        <p:spPr bwMode="auto">
          <a:xfrm>
            <a:off x="4457325" y="3099979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4" name="矩形 333"/>
          <p:cNvSpPr/>
          <p:nvPr/>
        </p:nvSpPr>
        <p:spPr bwMode="auto">
          <a:xfrm>
            <a:off x="4457325" y="355790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1" name="矩形 350"/>
          <p:cNvSpPr/>
          <p:nvPr/>
        </p:nvSpPr>
        <p:spPr bwMode="auto">
          <a:xfrm>
            <a:off x="4457325" y="378686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4139952" y="2184163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6" name="矩形 375"/>
          <p:cNvSpPr/>
          <p:nvPr/>
        </p:nvSpPr>
        <p:spPr bwMode="auto">
          <a:xfrm>
            <a:off x="4139952" y="264208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R2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7" name="矩形 376"/>
          <p:cNvSpPr/>
          <p:nvPr/>
        </p:nvSpPr>
        <p:spPr bwMode="auto">
          <a:xfrm>
            <a:off x="4139952" y="332896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R5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8" name="矩形 377"/>
          <p:cNvSpPr/>
          <p:nvPr/>
        </p:nvSpPr>
        <p:spPr bwMode="auto">
          <a:xfrm>
            <a:off x="4139952" y="241312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R1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79" name="矩形 378"/>
          <p:cNvSpPr/>
          <p:nvPr/>
        </p:nvSpPr>
        <p:spPr bwMode="auto">
          <a:xfrm>
            <a:off x="4139952" y="287104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R3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矩形 379"/>
          <p:cNvSpPr/>
          <p:nvPr/>
        </p:nvSpPr>
        <p:spPr bwMode="auto">
          <a:xfrm>
            <a:off x="4139952" y="310000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R4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1" name="矩形 380"/>
          <p:cNvSpPr/>
          <p:nvPr/>
        </p:nvSpPr>
        <p:spPr bwMode="auto">
          <a:xfrm>
            <a:off x="4139952" y="355792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R6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2" name="矩形 381"/>
          <p:cNvSpPr/>
          <p:nvPr/>
        </p:nvSpPr>
        <p:spPr bwMode="auto">
          <a:xfrm>
            <a:off x="4139952" y="378688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R7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0" name="矩形 299"/>
          <p:cNvSpPr/>
          <p:nvPr/>
        </p:nvSpPr>
        <p:spPr bwMode="auto">
          <a:xfrm>
            <a:off x="4457325" y="2874537"/>
            <a:ext cx="1771200" cy="2254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29868" y="2289613"/>
            <a:ext cx="2083497" cy="233511"/>
            <a:chOff x="428719" y="4926337"/>
            <a:chExt cx="2083497" cy="233511"/>
          </a:xfrm>
        </p:grpSpPr>
        <p:sp>
          <p:nvSpPr>
            <p:cNvPr id="181" name="矩形 180"/>
            <p:cNvSpPr/>
            <p:nvPr/>
          </p:nvSpPr>
          <p:spPr bwMode="auto">
            <a:xfrm>
              <a:off x="1405368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151603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1626706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737374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84804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6" name="矩形 185"/>
            <p:cNvSpPr/>
            <p:nvPr/>
          </p:nvSpPr>
          <p:spPr bwMode="auto">
            <a:xfrm>
              <a:off x="1958711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8" name="矩形 187"/>
            <p:cNvSpPr/>
            <p:nvPr/>
          </p:nvSpPr>
          <p:spPr bwMode="auto">
            <a:xfrm>
              <a:off x="2069380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9" name="矩形 188"/>
            <p:cNvSpPr/>
            <p:nvPr/>
          </p:nvSpPr>
          <p:spPr bwMode="auto">
            <a:xfrm>
              <a:off x="2180048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0" name="矩形 189"/>
            <p:cNvSpPr/>
            <p:nvPr/>
          </p:nvSpPr>
          <p:spPr bwMode="auto">
            <a:xfrm>
              <a:off x="229071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1" name="矩形 190"/>
            <p:cNvSpPr/>
            <p:nvPr/>
          </p:nvSpPr>
          <p:spPr bwMode="auto">
            <a:xfrm>
              <a:off x="240138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2" name="矩形 191"/>
            <p:cNvSpPr/>
            <p:nvPr/>
          </p:nvSpPr>
          <p:spPr bwMode="auto">
            <a:xfrm>
              <a:off x="74135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3" name="矩形 192"/>
            <p:cNvSpPr/>
            <p:nvPr/>
          </p:nvSpPr>
          <p:spPr bwMode="auto">
            <a:xfrm>
              <a:off x="852026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4" name="矩形 193"/>
            <p:cNvSpPr/>
            <p:nvPr/>
          </p:nvSpPr>
          <p:spPr bwMode="auto">
            <a:xfrm>
              <a:off x="962694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5" name="矩形 194"/>
            <p:cNvSpPr/>
            <p:nvPr/>
          </p:nvSpPr>
          <p:spPr bwMode="auto">
            <a:xfrm>
              <a:off x="107336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6" name="矩形 195"/>
            <p:cNvSpPr/>
            <p:nvPr/>
          </p:nvSpPr>
          <p:spPr bwMode="auto">
            <a:xfrm>
              <a:off x="1184031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7" name="矩形 196"/>
            <p:cNvSpPr/>
            <p:nvPr/>
          </p:nvSpPr>
          <p:spPr bwMode="auto">
            <a:xfrm>
              <a:off x="1294700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8" name="矩形 197"/>
            <p:cNvSpPr/>
            <p:nvPr/>
          </p:nvSpPr>
          <p:spPr bwMode="auto">
            <a:xfrm>
              <a:off x="428719" y="493091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PC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199" name="肘形连接符 198"/>
          <p:cNvCxnSpPr>
            <a:stCxn id="191" idx="3"/>
            <a:endCxn id="433" idx="0"/>
          </p:cNvCxnSpPr>
          <p:nvPr/>
        </p:nvCxnSpPr>
        <p:spPr bwMode="auto">
          <a:xfrm>
            <a:off x="2613365" y="2404081"/>
            <a:ext cx="602584" cy="179628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2" name="直接箭头连接符 201"/>
          <p:cNvCxnSpPr/>
          <p:nvPr/>
        </p:nvCxnSpPr>
        <p:spPr bwMode="auto">
          <a:xfrm flipH="1">
            <a:off x="2123728" y="3912409"/>
            <a:ext cx="1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肘形连接符 202"/>
          <p:cNvCxnSpPr/>
          <p:nvPr/>
        </p:nvCxnSpPr>
        <p:spPr bwMode="auto">
          <a:xfrm flipV="1">
            <a:off x="6084168" y="3855827"/>
            <a:ext cx="1116000" cy="169200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" name="矩形 203"/>
          <p:cNvSpPr/>
          <p:nvPr/>
        </p:nvSpPr>
        <p:spPr bwMode="auto">
          <a:xfrm>
            <a:off x="7183259" y="3699261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428" name="肘形连接符 17427"/>
          <p:cNvCxnSpPr/>
          <p:nvPr/>
        </p:nvCxnSpPr>
        <p:spPr bwMode="auto">
          <a:xfrm rot="5400000" flipH="1" flipV="1">
            <a:off x="5939961" y="4102829"/>
            <a:ext cx="2336708" cy="2031418"/>
          </a:xfrm>
          <a:prstGeom prst="bentConnector3">
            <a:avLst>
              <a:gd name="adj1" fmla="val -13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" name="矩形 204"/>
          <p:cNvSpPr/>
          <p:nvPr/>
        </p:nvSpPr>
        <p:spPr bwMode="auto">
          <a:xfrm>
            <a:off x="4756207" y="5695159"/>
            <a:ext cx="115212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MAR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6" name="矩形 205"/>
          <p:cNvSpPr/>
          <p:nvPr/>
        </p:nvSpPr>
        <p:spPr bwMode="auto">
          <a:xfrm>
            <a:off x="4749458" y="6422144"/>
            <a:ext cx="115212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MDR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1" name="肘形连接符 130"/>
          <p:cNvCxnSpPr>
            <a:stCxn id="201" idx="1"/>
            <a:endCxn id="378" idx="3"/>
          </p:cNvCxnSpPr>
          <p:nvPr/>
        </p:nvCxnSpPr>
        <p:spPr bwMode="auto">
          <a:xfrm rot="10800000">
            <a:off x="4407094" y="2527592"/>
            <a:ext cx="53930" cy="3759298"/>
          </a:xfrm>
          <a:prstGeom prst="bentConnector3">
            <a:avLst>
              <a:gd name="adj1" fmla="val 84478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肘形连接符 206"/>
          <p:cNvCxnSpPr>
            <a:stCxn id="8" idx="2"/>
          </p:cNvCxnSpPr>
          <p:nvPr/>
        </p:nvCxnSpPr>
        <p:spPr bwMode="auto">
          <a:xfrm rot="16200000" flipH="1">
            <a:off x="3190270" y="4200247"/>
            <a:ext cx="828000" cy="190800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4" name="组合 213"/>
          <p:cNvGrpSpPr/>
          <p:nvPr/>
        </p:nvGrpSpPr>
        <p:grpSpPr>
          <a:xfrm>
            <a:off x="7183259" y="3699125"/>
            <a:ext cx="1770859" cy="228935"/>
            <a:chOff x="3695735" y="2204864"/>
            <a:chExt cx="1770859" cy="228935"/>
          </a:xfrm>
        </p:grpSpPr>
        <p:sp>
          <p:nvSpPr>
            <p:cNvPr id="215" name="矩形 214"/>
            <p:cNvSpPr/>
            <p:nvPr/>
          </p:nvSpPr>
          <p:spPr bwMode="auto">
            <a:xfrm>
              <a:off x="435974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447041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458108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469175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480242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491308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1" name="矩形 220"/>
            <p:cNvSpPr/>
            <p:nvPr/>
          </p:nvSpPr>
          <p:spPr bwMode="auto">
            <a:xfrm>
              <a:off x="502375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2" name="矩形 221"/>
            <p:cNvSpPr/>
            <p:nvPr/>
          </p:nvSpPr>
          <p:spPr bwMode="auto">
            <a:xfrm>
              <a:off x="513442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3" name="矩形 222"/>
            <p:cNvSpPr/>
            <p:nvPr/>
          </p:nvSpPr>
          <p:spPr bwMode="auto">
            <a:xfrm>
              <a:off x="524509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535576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5" name="矩形 224"/>
            <p:cNvSpPr/>
            <p:nvPr/>
          </p:nvSpPr>
          <p:spPr bwMode="auto">
            <a:xfrm>
              <a:off x="369573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6" name="矩形 225"/>
            <p:cNvSpPr/>
            <p:nvPr/>
          </p:nvSpPr>
          <p:spPr bwMode="auto">
            <a:xfrm>
              <a:off x="380640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7" name="矩形 226"/>
            <p:cNvSpPr/>
            <p:nvPr/>
          </p:nvSpPr>
          <p:spPr bwMode="auto">
            <a:xfrm>
              <a:off x="391707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8" name="矩形 227"/>
            <p:cNvSpPr/>
            <p:nvPr/>
          </p:nvSpPr>
          <p:spPr bwMode="auto">
            <a:xfrm>
              <a:off x="402774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9" name="矩形 228"/>
            <p:cNvSpPr/>
            <p:nvPr/>
          </p:nvSpPr>
          <p:spPr bwMode="auto">
            <a:xfrm>
              <a:off x="413840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0" name="矩形 229"/>
            <p:cNvSpPr/>
            <p:nvPr/>
          </p:nvSpPr>
          <p:spPr bwMode="auto">
            <a:xfrm>
              <a:off x="424907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31" name="矩形 230"/>
          <p:cNvSpPr/>
          <p:nvPr/>
        </p:nvSpPr>
        <p:spPr bwMode="auto">
          <a:xfrm>
            <a:off x="420570" y="4811754"/>
            <a:ext cx="2081961" cy="13606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PC     = x4018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PC+1 = x4019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X4019 + </a:t>
            </a:r>
            <a:r>
              <a:rPr lang="en-US" altLang="zh-CN" sz="1200" baseline="0" dirty="0" err="1">
                <a:latin typeface="Arial" charset="0"/>
              </a:rPr>
              <a:t>xFFAF</a:t>
            </a:r>
            <a:r>
              <a:rPr lang="en-US" altLang="zh-CN" sz="1200" baseline="0" dirty="0">
                <a:latin typeface="Arial" charset="0"/>
              </a:rPr>
              <a:t> = x3FC8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3978964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④</a:t>
            </a:r>
            <a:endParaRPr lang="zh-CN" altLang="en-US" baseline="0" dirty="0"/>
          </a:p>
        </p:txBody>
      </p:sp>
      <p:sp>
        <p:nvSpPr>
          <p:cNvPr id="234" name="文本框 233"/>
          <p:cNvSpPr txBox="1"/>
          <p:nvPr/>
        </p:nvSpPr>
        <p:spPr>
          <a:xfrm>
            <a:off x="6676782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③</a:t>
            </a:r>
            <a:endParaRPr lang="zh-CN" altLang="en-US" baseline="0" dirty="0"/>
          </a:p>
        </p:txBody>
      </p:sp>
      <p:sp>
        <p:nvSpPr>
          <p:cNvPr id="235" name="文本框 234"/>
          <p:cNvSpPr txBox="1"/>
          <p:nvPr/>
        </p:nvSpPr>
        <p:spPr>
          <a:xfrm>
            <a:off x="6948264" y="59492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③</a:t>
            </a:r>
            <a:endParaRPr lang="zh-CN" altLang="en-US" baseline="0" dirty="0"/>
          </a:p>
        </p:txBody>
      </p:sp>
      <p:sp>
        <p:nvSpPr>
          <p:cNvPr id="236" name="文本框 235"/>
          <p:cNvSpPr txBox="1"/>
          <p:nvPr/>
        </p:nvSpPr>
        <p:spPr>
          <a:xfrm>
            <a:off x="2069544" y="3185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①</a:t>
            </a:r>
            <a:endParaRPr lang="zh-CN" altLang="en-US" baseline="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4427538" y="5414829"/>
            <a:ext cx="1770859" cy="306836"/>
            <a:chOff x="4427538" y="5414829"/>
            <a:chExt cx="1770859" cy="306836"/>
          </a:xfrm>
        </p:grpSpPr>
        <p:sp>
          <p:nvSpPr>
            <p:cNvPr id="238" name="矩形 237"/>
            <p:cNvSpPr/>
            <p:nvPr/>
          </p:nvSpPr>
          <p:spPr bwMode="auto">
            <a:xfrm>
              <a:off x="4716016" y="5414829"/>
              <a:ext cx="1094367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x3FC8/ x2100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0" name="矩形 199"/>
            <p:cNvSpPr/>
            <p:nvPr/>
          </p:nvSpPr>
          <p:spPr bwMode="auto">
            <a:xfrm>
              <a:off x="4427538" y="5453767"/>
              <a:ext cx="1770859" cy="22896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40" name="矩形 239"/>
          <p:cNvSpPr/>
          <p:nvPr/>
        </p:nvSpPr>
        <p:spPr bwMode="auto">
          <a:xfrm>
            <a:off x="4789331" y="6133472"/>
            <a:ext cx="1106685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x2100/ # -1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1" name="矩形 200"/>
          <p:cNvSpPr/>
          <p:nvPr/>
        </p:nvSpPr>
        <p:spPr bwMode="auto">
          <a:xfrm>
            <a:off x="4461024" y="6172410"/>
            <a:ext cx="1770859" cy="2289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1" name="矩形 250"/>
          <p:cNvSpPr/>
          <p:nvPr/>
        </p:nvSpPr>
        <p:spPr bwMode="auto">
          <a:xfrm>
            <a:off x="2662605" y="5165233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x3FC8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2" name="矩形 251"/>
          <p:cNvSpPr/>
          <p:nvPr/>
        </p:nvSpPr>
        <p:spPr bwMode="auto">
          <a:xfrm>
            <a:off x="4701767" y="184482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baseline="0" dirty="0">
                <a:latin typeface="Arial" charset="0"/>
              </a:rPr>
              <a:t>Register File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3" name="矩形 252"/>
          <p:cNvSpPr/>
          <p:nvPr/>
        </p:nvSpPr>
        <p:spPr bwMode="auto">
          <a:xfrm>
            <a:off x="7413411" y="184482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baseline="0" dirty="0">
                <a:latin typeface="Arial" charset="0"/>
              </a:rPr>
              <a:t>Memory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2" name="Picture 3" descr="ch05-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53" y="980728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7183259" y="2996952"/>
            <a:ext cx="1770859" cy="229096"/>
            <a:chOff x="7164288" y="2996952"/>
            <a:chExt cx="1770859" cy="229096"/>
          </a:xfrm>
        </p:grpSpPr>
        <p:sp>
          <p:nvSpPr>
            <p:cNvPr id="133" name="矩形 132"/>
            <p:cNvSpPr/>
            <p:nvPr/>
          </p:nvSpPr>
          <p:spPr bwMode="auto">
            <a:xfrm>
              <a:off x="7164288" y="2997088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134" name="组合 133"/>
            <p:cNvGrpSpPr/>
            <p:nvPr/>
          </p:nvGrpSpPr>
          <p:grpSpPr>
            <a:xfrm>
              <a:off x="7164288" y="2996952"/>
              <a:ext cx="1770859" cy="228935"/>
              <a:chOff x="3695735" y="2204864"/>
              <a:chExt cx="1770859" cy="228935"/>
            </a:xfrm>
          </p:grpSpPr>
          <p:sp>
            <p:nvSpPr>
              <p:cNvPr id="135" name="矩形 134"/>
              <p:cNvSpPr/>
              <p:nvPr/>
            </p:nvSpPr>
            <p:spPr bwMode="auto">
              <a:xfrm>
                <a:off x="435974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6" name="矩形 135"/>
              <p:cNvSpPr/>
              <p:nvPr/>
            </p:nvSpPr>
            <p:spPr bwMode="auto">
              <a:xfrm>
                <a:off x="447041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7" name="矩形 136"/>
              <p:cNvSpPr/>
              <p:nvPr/>
            </p:nvSpPr>
            <p:spPr bwMode="auto">
              <a:xfrm>
                <a:off x="458108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8" name="矩形 137"/>
              <p:cNvSpPr/>
              <p:nvPr/>
            </p:nvSpPr>
            <p:spPr bwMode="auto">
              <a:xfrm>
                <a:off x="469175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9" name="矩形 138"/>
              <p:cNvSpPr/>
              <p:nvPr/>
            </p:nvSpPr>
            <p:spPr bwMode="auto">
              <a:xfrm>
                <a:off x="480242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0" name="矩形 139"/>
              <p:cNvSpPr/>
              <p:nvPr/>
            </p:nvSpPr>
            <p:spPr bwMode="auto">
              <a:xfrm>
                <a:off x="491308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1" name="矩形 140"/>
              <p:cNvSpPr/>
              <p:nvPr/>
            </p:nvSpPr>
            <p:spPr bwMode="auto">
              <a:xfrm>
                <a:off x="502375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2" name="矩形 141"/>
              <p:cNvSpPr/>
              <p:nvPr/>
            </p:nvSpPr>
            <p:spPr bwMode="auto">
              <a:xfrm>
                <a:off x="513442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3" name="矩形 142"/>
              <p:cNvSpPr/>
              <p:nvPr/>
            </p:nvSpPr>
            <p:spPr bwMode="auto">
              <a:xfrm>
                <a:off x="524509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 bwMode="auto">
              <a:xfrm>
                <a:off x="535576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 bwMode="auto">
              <a:xfrm>
                <a:off x="369573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8" name="矩形 147"/>
              <p:cNvSpPr/>
              <p:nvPr/>
            </p:nvSpPr>
            <p:spPr bwMode="auto">
              <a:xfrm>
                <a:off x="380640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49" name="矩形 148"/>
              <p:cNvSpPr/>
              <p:nvPr/>
            </p:nvSpPr>
            <p:spPr bwMode="auto">
              <a:xfrm>
                <a:off x="391707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0" name="矩形 149"/>
              <p:cNvSpPr/>
              <p:nvPr/>
            </p:nvSpPr>
            <p:spPr bwMode="auto">
              <a:xfrm>
                <a:off x="402774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1" name="矩形 150"/>
              <p:cNvSpPr/>
              <p:nvPr/>
            </p:nvSpPr>
            <p:spPr bwMode="auto">
              <a:xfrm>
                <a:off x="413840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 bwMode="auto">
              <a:xfrm>
                <a:off x="424907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cxnSp>
        <p:nvCxnSpPr>
          <p:cNvPr id="7" name="直接箭头连接符 6"/>
          <p:cNvCxnSpPr/>
          <p:nvPr/>
        </p:nvCxnSpPr>
        <p:spPr bwMode="auto">
          <a:xfrm flipV="1">
            <a:off x="5908335" y="5568247"/>
            <a:ext cx="0" cy="71864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肘形连接符 154"/>
          <p:cNvCxnSpPr/>
          <p:nvPr/>
        </p:nvCxnSpPr>
        <p:spPr bwMode="auto">
          <a:xfrm rot="5400000" flipH="1" flipV="1">
            <a:off x="5528078" y="3438941"/>
            <a:ext cx="3129804" cy="2836603"/>
          </a:xfrm>
          <a:prstGeom prst="bentConnector3">
            <a:avLst>
              <a:gd name="adj1" fmla="val -7823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4462509" y="2415936"/>
            <a:ext cx="1770859" cy="229096"/>
            <a:chOff x="7164288" y="2996952"/>
            <a:chExt cx="1770859" cy="229096"/>
          </a:xfrm>
        </p:grpSpPr>
        <p:sp>
          <p:nvSpPr>
            <p:cNvPr id="163" name="矩形 162"/>
            <p:cNvSpPr/>
            <p:nvPr/>
          </p:nvSpPr>
          <p:spPr bwMode="auto">
            <a:xfrm>
              <a:off x="7164288" y="2997088"/>
              <a:ext cx="1770859" cy="22896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164" name="组合 163"/>
            <p:cNvGrpSpPr/>
            <p:nvPr/>
          </p:nvGrpSpPr>
          <p:grpSpPr>
            <a:xfrm>
              <a:off x="7164288" y="2996952"/>
              <a:ext cx="1770859" cy="228935"/>
              <a:chOff x="3695735" y="2204864"/>
              <a:chExt cx="1770859" cy="228935"/>
            </a:xfrm>
          </p:grpSpPr>
          <p:sp>
            <p:nvSpPr>
              <p:cNvPr id="165" name="矩形 164"/>
              <p:cNvSpPr/>
              <p:nvPr/>
            </p:nvSpPr>
            <p:spPr bwMode="auto">
              <a:xfrm>
                <a:off x="435974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6" name="矩形 165"/>
              <p:cNvSpPr/>
              <p:nvPr/>
            </p:nvSpPr>
            <p:spPr bwMode="auto">
              <a:xfrm>
                <a:off x="447041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7" name="矩形 166"/>
              <p:cNvSpPr/>
              <p:nvPr/>
            </p:nvSpPr>
            <p:spPr bwMode="auto">
              <a:xfrm>
                <a:off x="458108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8" name="矩形 167"/>
              <p:cNvSpPr/>
              <p:nvPr/>
            </p:nvSpPr>
            <p:spPr bwMode="auto">
              <a:xfrm>
                <a:off x="469175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9" name="矩形 168"/>
              <p:cNvSpPr/>
              <p:nvPr/>
            </p:nvSpPr>
            <p:spPr bwMode="auto">
              <a:xfrm>
                <a:off x="480242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0" name="矩形 169"/>
              <p:cNvSpPr/>
              <p:nvPr/>
            </p:nvSpPr>
            <p:spPr bwMode="auto">
              <a:xfrm>
                <a:off x="491308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 bwMode="auto">
              <a:xfrm>
                <a:off x="502375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2" name="矩形 171"/>
              <p:cNvSpPr/>
              <p:nvPr/>
            </p:nvSpPr>
            <p:spPr bwMode="auto">
              <a:xfrm>
                <a:off x="5134426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 bwMode="auto">
              <a:xfrm>
                <a:off x="524509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 bwMode="auto">
              <a:xfrm>
                <a:off x="535576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 bwMode="auto">
              <a:xfrm>
                <a:off x="3695735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 bwMode="auto">
              <a:xfrm>
                <a:off x="3806404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 bwMode="auto">
              <a:xfrm>
                <a:off x="3917072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 bwMode="auto">
              <a:xfrm>
                <a:off x="4027741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79" name="矩形 178"/>
              <p:cNvSpPr/>
              <p:nvPr/>
            </p:nvSpPr>
            <p:spPr bwMode="auto">
              <a:xfrm>
                <a:off x="4138409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80" name="矩形 179"/>
              <p:cNvSpPr/>
              <p:nvPr/>
            </p:nvSpPr>
            <p:spPr bwMode="auto">
              <a:xfrm>
                <a:off x="4249078" y="2204864"/>
                <a:ext cx="110833" cy="2289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1200" baseline="0" dirty="0">
                    <a:latin typeface="Arial" charset="0"/>
                  </a:rPr>
                  <a:t>1</a:t>
                </a:r>
                <a:endParaRPr kumimoji="0" lang="zh-CN" alt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5908889" y="3140968"/>
            <a:ext cx="804083" cy="2376264"/>
            <a:chOff x="5908889" y="3140968"/>
            <a:chExt cx="804083" cy="2376264"/>
          </a:xfrm>
        </p:grpSpPr>
        <p:cxnSp>
          <p:nvCxnSpPr>
            <p:cNvPr id="187" name="肘形连接符 186"/>
            <p:cNvCxnSpPr/>
            <p:nvPr/>
          </p:nvCxnSpPr>
          <p:spPr bwMode="auto">
            <a:xfrm rot="5400000">
              <a:off x="5026889" y="4023232"/>
              <a:ext cx="2376000" cy="612000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直接箭头连接符 30"/>
            <p:cNvCxnSpPr/>
            <p:nvPr/>
          </p:nvCxnSpPr>
          <p:spPr bwMode="auto">
            <a:xfrm>
              <a:off x="6519248" y="3140968"/>
              <a:ext cx="1937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672831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90470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45815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35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4992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3933056"/>
            <a:ext cx="0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2771614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3" y="-1998925"/>
            <a:ext cx="569418" cy="4942139"/>
            <a:chOff x="7543800" y="1143000"/>
            <a:chExt cx="813269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391" name="Text Box 4"/>
          <p:cNvSpPr txBox="1">
            <a:spLocks noChangeArrowheads="1"/>
          </p:cNvSpPr>
          <p:nvPr/>
        </p:nvSpPr>
        <p:spPr bwMode="auto">
          <a:xfrm>
            <a:off x="5920859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EA</a:t>
            </a:r>
          </a:p>
        </p:txBody>
      </p:sp>
    </p:spTree>
    <p:extLst>
      <p:ext uri="{BB962C8B-B14F-4D97-AF65-F5344CB8AC3E}">
        <p14:creationId xmlns:p14="http://schemas.microsoft.com/office/powerpoint/2010/main" val="3199972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391" name="Text Box 12"/>
          <p:cNvSpPr txBox="1">
            <a:spLocks noChangeArrowheads="1"/>
          </p:cNvSpPr>
          <p:nvPr/>
        </p:nvSpPr>
        <p:spPr bwMode="auto">
          <a:xfrm>
            <a:off x="6712947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3428589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3" y="-1998925"/>
            <a:ext cx="569418" cy="4942139"/>
            <a:chOff x="7543800" y="1143000"/>
            <a:chExt cx="813269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391" name="Text Box 4"/>
          <p:cNvSpPr txBox="1">
            <a:spLocks noChangeArrowheads="1"/>
          </p:cNvSpPr>
          <p:nvPr/>
        </p:nvSpPr>
        <p:spPr bwMode="auto">
          <a:xfrm>
            <a:off x="5920859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EA</a:t>
            </a:r>
          </a:p>
        </p:txBody>
      </p:sp>
    </p:spTree>
    <p:extLst>
      <p:ext uri="{BB962C8B-B14F-4D97-AF65-F5344CB8AC3E}">
        <p14:creationId xmlns:p14="http://schemas.microsoft.com/office/powerpoint/2010/main" val="1261164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729578" y="5288328"/>
            <a:ext cx="8237015" cy="1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436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434" name="Text Box 11"/>
          <p:cNvSpPr txBox="1">
            <a:spLocks noChangeArrowheads="1"/>
          </p:cNvSpPr>
          <p:nvPr/>
        </p:nvSpPr>
        <p:spPr bwMode="auto">
          <a:xfrm>
            <a:off x="7505035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3254921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613475-79BA-453D-9021-E9801D47E5FA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A18E9B-5B1D-4C80-8C0B-2E38F79F7B96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STI (Indirect)     STI  DR, PCoffset9</a:t>
            </a:r>
          </a:p>
        </p:txBody>
      </p:sp>
      <p:pic>
        <p:nvPicPr>
          <p:cNvPr id="35845" name="Picture 3" descr="ch05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4" descr="ch05-16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7431088" cy="450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箭头连接符 7"/>
          <p:cNvCxnSpPr/>
          <p:nvPr/>
        </p:nvCxnSpPr>
        <p:spPr bwMode="auto">
          <a:xfrm>
            <a:off x="3478213" y="4806950"/>
            <a:ext cx="720725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689225" y="4524375"/>
            <a:ext cx="738188" cy="461963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STI</a:t>
            </a:r>
            <a:endParaRPr lang="zh-CN" altLang="en-US" sz="2400" b="1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35849" name="等腰三角形 9"/>
          <p:cNvSpPr>
            <a:spLocks noChangeArrowheads="1"/>
          </p:cNvSpPr>
          <p:nvPr/>
        </p:nvSpPr>
        <p:spPr bwMode="auto">
          <a:xfrm rot="5400000" flipH="1">
            <a:off x="4110038" y="4759325"/>
            <a:ext cx="106362" cy="96838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99425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5571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21600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45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3933056"/>
            <a:ext cx="0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18267067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1" name="Text Box 11"/>
          <p:cNvSpPr txBox="1">
            <a:spLocks noChangeArrowheads="1"/>
          </p:cNvSpPr>
          <p:nvPr/>
        </p:nvSpPr>
        <p:spPr bwMode="auto">
          <a:xfrm>
            <a:off x="4340264" y="206134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81874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391" name="Text Box 12"/>
          <p:cNvSpPr txBox="1">
            <a:spLocks noChangeArrowheads="1"/>
          </p:cNvSpPr>
          <p:nvPr/>
        </p:nvSpPr>
        <p:spPr bwMode="auto">
          <a:xfrm>
            <a:off x="6712947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3608092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729578" y="5288328"/>
            <a:ext cx="8237015" cy="1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122344" y="188640"/>
            <a:ext cx="4942139" cy="578814"/>
            <a:chOff x="4122344" y="188640"/>
            <a:chExt cx="4942139" cy="578814"/>
          </a:xfrm>
        </p:grpSpPr>
        <p:sp>
          <p:nvSpPr>
            <p:cNvPr id="436" name="Text Box 4"/>
            <p:cNvSpPr txBox="1">
              <a:spLocks noChangeArrowheads="1"/>
            </p:cNvSpPr>
            <p:nvPr/>
          </p:nvSpPr>
          <p:spPr bwMode="auto">
            <a:xfrm>
              <a:off x="4355976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grpSp>
          <p:nvGrpSpPr>
            <p:cNvPr id="380" name="组合 379"/>
            <p:cNvGrpSpPr/>
            <p:nvPr/>
          </p:nvGrpSpPr>
          <p:grpSpPr>
            <a:xfrm rot="16200000">
              <a:off x="6308703" y="-1988326"/>
              <a:ext cx="569421" cy="4942139"/>
              <a:chOff x="7543800" y="1143000"/>
              <a:chExt cx="813273" cy="5257800"/>
            </a:xfrm>
          </p:grpSpPr>
          <p:sp>
            <p:nvSpPr>
              <p:cNvPr id="389" name="Line 5"/>
              <p:cNvSpPr>
                <a:spLocks noChangeShapeType="1"/>
              </p:cNvSpPr>
              <p:nvPr/>
            </p:nvSpPr>
            <p:spPr bwMode="auto">
              <a:xfrm>
                <a:off x="8077200" y="19050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0" name="Line 6"/>
              <p:cNvSpPr>
                <a:spLocks noChangeShapeType="1"/>
              </p:cNvSpPr>
              <p:nvPr/>
            </p:nvSpPr>
            <p:spPr bwMode="auto">
              <a:xfrm>
                <a:off x="8101013" y="27432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1" name="Line 7"/>
              <p:cNvSpPr>
                <a:spLocks noChangeShapeType="1"/>
              </p:cNvSpPr>
              <p:nvPr/>
            </p:nvSpPr>
            <p:spPr bwMode="auto">
              <a:xfrm>
                <a:off x="8077200" y="35814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7" name="Line 8"/>
              <p:cNvSpPr>
                <a:spLocks noChangeShapeType="1"/>
              </p:cNvSpPr>
              <p:nvPr/>
            </p:nvSpPr>
            <p:spPr bwMode="auto">
              <a:xfrm>
                <a:off x="8056563" y="44196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8" name="Line 9"/>
              <p:cNvSpPr>
                <a:spLocks noChangeShapeType="1"/>
              </p:cNvSpPr>
              <p:nvPr/>
            </p:nvSpPr>
            <p:spPr bwMode="auto">
              <a:xfrm>
                <a:off x="8070850" y="52578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9" name="Text Box 10"/>
              <p:cNvSpPr txBox="1">
                <a:spLocks noChangeArrowheads="1"/>
              </p:cNvSpPr>
              <p:nvPr/>
            </p:nvSpPr>
            <p:spPr bwMode="auto">
              <a:xfrm rot="5400000">
                <a:off x="7897198" y="31377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EA</a:t>
                </a:r>
              </a:p>
            </p:txBody>
          </p:sp>
          <p:sp>
            <p:nvSpPr>
              <p:cNvPr id="408" name="Text Box 11"/>
              <p:cNvSpPr txBox="1">
                <a:spLocks noChangeArrowheads="1"/>
              </p:cNvSpPr>
              <p:nvPr/>
            </p:nvSpPr>
            <p:spPr bwMode="auto">
              <a:xfrm rot="5400000">
                <a:off x="7897194" y="3975973"/>
                <a:ext cx="480169" cy="439581"/>
              </a:xfrm>
              <a:prstGeom prst="rect">
                <a:avLst/>
              </a:prstGeom>
              <a:solidFill>
                <a:srgbClr val="003399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="1" baseline="0" dirty="0">
                    <a:solidFill>
                      <a:schemeClr val="bg1"/>
                    </a:solidFill>
                    <a:latin typeface="Arial" charset="0"/>
                    <a:ea typeface="+mn-ea"/>
                  </a:rPr>
                  <a:t>OP</a:t>
                </a:r>
              </a:p>
            </p:txBody>
          </p:sp>
          <p:sp>
            <p:nvSpPr>
              <p:cNvPr id="428" name="Line 13"/>
              <p:cNvSpPr>
                <a:spLocks noChangeShapeType="1"/>
              </p:cNvSpPr>
              <p:nvPr/>
            </p:nvSpPr>
            <p:spPr bwMode="auto">
              <a:xfrm>
                <a:off x="8077200" y="6096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29" name="Line 14"/>
              <p:cNvSpPr>
                <a:spLocks noChangeShapeType="1"/>
              </p:cNvSpPr>
              <p:nvPr/>
            </p:nvSpPr>
            <p:spPr bwMode="auto">
              <a:xfrm flipH="1">
                <a:off x="7543800" y="64008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0" name="Line 15"/>
              <p:cNvSpPr>
                <a:spLocks noChangeShapeType="1"/>
              </p:cNvSpPr>
              <p:nvPr/>
            </p:nvSpPr>
            <p:spPr bwMode="auto">
              <a:xfrm flipV="1">
                <a:off x="7543800" y="1143000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1" name="Line 16"/>
              <p:cNvSpPr>
                <a:spLocks noChangeShapeType="1"/>
              </p:cNvSpPr>
              <p:nvPr/>
            </p:nvSpPr>
            <p:spPr bwMode="auto">
              <a:xfrm>
                <a:off x="7543800" y="11430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2" name="Line 17"/>
              <p:cNvSpPr>
                <a:spLocks noChangeShapeType="1"/>
              </p:cNvSpPr>
              <p:nvPr/>
            </p:nvSpPr>
            <p:spPr bwMode="auto">
              <a:xfrm>
                <a:off x="8077200" y="1143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5" name="Text Box 4"/>
              <p:cNvSpPr txBox="1">
                <a:spLocks noChangeArrowheads="1"/>
              </p:cNvSpPr>
              <p:nvPr/>
            </p:nvSpPr>
            <p:spPr bwMode="auto">
              <a:xfrm rot="5400000">
                <a:off x="7897194" y="22995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D</a:t>
                </a:r>
              </a:p>
            </p:txBody>
          </p:sp>
        </p:grpSp>
        <p:sp>
          <p:nvSpPr>
            <p:cNvPr id="434" name="Text Box 11"/>
            <p:cNvSpPr txBox="1">
              <a:spLocks noChangeArrowheads="1"/>
            </p:cNvSpPr>
            <p:nvPr/>
          </p:nvSpPr>
          <p:spPr bwMode="auto">
            <a:xfrm>
              <a:off x="7505035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37" name="Text Box 11"/>
            <p:cNvSpPr txBox="1">
              <a:spLocks noChangeArrowheads="1"/>
            </p:cNvSpPr>
            <p:nvPr/>
          </p:nvSpPr>
          <p:spPr bwMode="auto">
            <a:xfrm>
              <a:off x="8297123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5306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49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STI (Indirect)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436" name="组合 435"/>
          <p:cNvGrpSpPr/>
          <p:nvPr/>
        </p:nvGrpSpPr>
        <p:grpSpPr>
          <a:xfrm>
            <a:off x="4122344" y="188640"/>
            <a:ext cx="4942139" cy="578814"/>
            <a:chOff x="4122344" y="188640"/>
            <a:chExt cx="4942139" cy="578814"/>
          </a:xfrm>
        </p:grpSpPr>
        <p:sp>
          <p:nvSpPr>
            <p:cNvPr id="437" name="Text Box 4"/>
            <p:cNvSpPr txBox="1">
              <a:spLocks noChangeArrowheads="1"/>
            </p:cNvSpPr>
            <p:nvPr/>
          </p:nvSpPr>
          <p:spPr bwMode="auto">
            <a:xfrm>
              <a:off x="4355976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grpSp>
          <p:nvGrpSpPr>
            <p:cNvPr id="452" name="组合 451"/>
            <p:cNvGrpSpPr/>
            <p:nvPr/>
          </p:nvGrpSpPr>
          <p:grpSpPr>
            <a:xfrm rot="16200000">
              <a:off x="6308703" y="-1988326"/>
              <a:ext cx="569421" cy="4942139"/>
              <a:chOff x="7543800" y="1143000"/>
              <a:chExt cx="813273" cy="5257800"/>
            </a:xfrm>
          </p:grpSpPr>
          <p:sp>
            <p:nvSpPr>
              <p:cNvPr id="456" name="Line 5"/>
              <p:cNvSpPr>
                <a:spLocks noChangeShapeType="1"/>
              </p:cNvSpPr>
              <p:nvPr/>
            </p:nvSpPr>
            <p:spPr bwMode="auto">
              <a:xfrm>
                <a:off x="8077200" y="19050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7" name="Line 6"/>
              <p:cNvSpPr>
                <a:spLocks noChangeShapeType="1"/>
              </p:cNvSpPr>
              <p:nvPr/>
            </p:nvSpPr>
            <p:spPr bwMode="auto">
              <a:xfrm>
                <a:off x="8101013" y="27432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8" name="Line 7"/>
              <p:cNvSpPr>
                <a:spLocks noChangeShapeType="1"/>
              </p:cNvSpPr>
              <p:nvPr/>
            </p:nvSpPr>
            <p:spPr bwMode="auto">
              <a:xfrm>
                <a:off x="8077200" y="35814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9" name="Line 8"/>
              <p:cNvSpPr>
                <a:spLocks noChangeShapeType="1"/>
              </p:cNvSpPr>
              <p:nvPr/>
            </p:nvSpPr>
            <p:spPr bwMode="auto">
              <a:xfrm>
                <a:off x="8056563" y="44196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0" name="Line 9"/>
              <p:cNvSpPr>
                <a:spLocks noChangeShapeType="1"/>
              </p:cNvSpPr>
              <p:nvPr/>
            </p:nvSpPr>
            <p:spPr bwMode="auto">
              <a:xfrm>
                <a:off x="8070850" y="52578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1" name="Text Box 10"/>
              <p:cNvSpPr txBox="1">
                <a:spLocks noChangeArrowheads="1"/>
              </p:cNvSpPr>
              <p:nvPr/>
            </p:nvSpPr>
            <p:spPr bwMode="auto">
              <a:xfrm rot="5400000">
                <a:off x="7897198" y="31377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EA</a:t>
                </a:r>
              </a:p>
            </p:txBody>
          </p:sp>
          <p:sp>
            <p:nvSpPr>
              <p:cNvPr id="463" name="Line 13"/>
              <p:cNvSpPr>
                <a:spLocks noChangeShapeType="1"/>
              </p:cNvSpPr>
              <p:nvPr/>
            </p:nvSpPr>
            <p:spPr bwMode="auto">
              <a:xfrm>
                <a:off x="8077200" y="6096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4" name="Line 14"/>
              <p:cNvSpPr>
                <a:spLocks noChangeShapeType="1"/>
              </p:cNvSpPr>
              <p:nvPr/>
            </p:nvSpPr>
            <p:spPr bwMode="auto">
              <a:xfrm flipH="1">
                <a:off x="7543800" y="64008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5" name="Line 15"/>
              <p:cNvSpPr>
                <a:spLocks noChangeShapeType="1"/>
              </p:cNvSpPr>
              <p:nvPr/>
            </p:nvSpPr>
            <p:spPr bwMode="auto">
              <a:xfrm flipV="1">
                <a:off x="7543800" y="1143000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6" name="Line 16"/>
              <p:cNvSpPr>
                <a:spLocks noChangeShapeType="1"/>
              </p:cNvSpPr>
              <p:nvPr/>
            </p:nvSpPr>
            <p:spPr bwMode="auto">
              <a:xfrm>
                <a:off x="7543800" y="11430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7" name="Line 17"/>
              <p:cNvSpPr>
                <a:spLocks noChangeShapeType="1"/>
              </p:cNvSpPr>
              <p:nvPr/>
            </p:nvSpPr>
            <p:spPr bwMode="auto">
              <a:xfrm>
                <a:off x="8077200" y="1143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8" name="Text Box 4"/>
              <p:cNvSpPr txBox="1">
                <a:spLocks noChangeArrowheads="1"/>
              </p:cNvSpPr>
              <p:nvPr/>
            </p:nvSpPr>
            <p:spPr bwMode="auto">
              <a:xfrm rot="5400000">
                <a:off x="7897194" y="22995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D</a:t>
                </a:r>
              </a:p>
            </p:txBody>
          </p:sp>
        </p:grpSp>
        <p:sp>
          <p:nvSpPr>
            <p:cNvPr id="455" name="Text Box 11"/>
            <p:cNvSpPr txBox="1">
              <a:spLocks noChangeArrowheads="1"/>
            </p:cNvSpPr>
            <p:nvPr/>
          </p:nvSpPr>
          <p:spPr bwMode="auto">
            <a:xfrm>
              <a:off x="8297123" y="188640"/>
              <a:ext cx="451341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</p:grpSp>
      <p:sp>
        <p:nvSpPr>
          <p:cNvPr id="469" name="Text Box 11"/>
          <p:cNvSpPr txBox="1">
            <a:spLocks noChangeArrowheads="1"/>
          </p:cNvSpPr>
          <p:nvPr/>
        </p:nvSpPr>
        <p:spPr bwMode="auto">
          <a:xfrm>
            <a:off x="6751657" y="188639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80" name="Text Box 11"/>
          <p:cNvSpPr txBox="1">
            <a:spLocks noChangeArrowheads="1"/>
          </p:cNvSpPr>
          <p:nvPr/>
        </p:nvSpPr>
        <p:spPr bwMode="auto">
          <a:xfrm>
            <a:off x="7524328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2049629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840A50-411F-4073-82C3-DB525CE0B70E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E02ACB-9575-41AA-8A9E-4F2F31518443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Base + Offset Addressing Mode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With PC-relative mode, can only address data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within 256 words of the instruction.</a:t>
            </a:r>
          </a:p>
          <a:p>
            <a:pPr marL="576263" lvl="1" indent="-234950"/>
            <a:r>
              <a:rPr lang="en-US" altLang="zh-CN"/>
              <a:t>What about the rest of memory?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9900"/>
                </a:solidFill>
                <a:ea typeface="宋体" panose="02010600030101010101" pitchFamily="2" charset="-122"/>
              </a:rPr>
              <a:t>Solution #2:</a:t>
            </a:r>
          </a:p>
          <a:p>
            <a:pPr marL="576263" lvl="1" indent="-234950"/>
            <a:r>
              <a:rPr lang="en-US" altLang="zh-CN">
                <a:solidFill>
                  <a:srgbClr val="009900"/>
                </a:solidFill>
              </a:rPr>
              <a:t>Use a register to generate a full 16-bit address.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>
              <a:solidFill>
                <a:srgbClr val="009900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4 bits for opcode, 3 for src/dest register,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3 bits for </a:t>
            </a:r>
            <a:r>
              <a:rPr lang="en-US" altLang="zh-CN" i="1">
                <a:solidFill>
                  <a:srgbClr val="CE0000"/>
                </a:solidFill>
                <a:ea typeface="宋体" panose="02010600030101010101" pitchFamily="2" charset="-122"/>
              </a:rPr>
              <a:t>base</a:t>
            </a:r>
            <a:r>
              <a:rPr lang="en-US" altLang="zh-CN">
                <a:ea typeface="宋体" panose="02010600030101010101" pitchFamily="2" charset="-122"/>
              </a:rPr>
              <a:t> register -- remaining 6 bits are used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as a </a:t>
            </a:r>
            <a:r>
              <a:rPr lang="en-US" altLang="zh-CN" i="1" u="sng">
                <a:solidFill>
                  <a:srgbClr val="CE0000"/>
                </a:solidFill>
                <a:ea typeface="宋体" panose="02010600030101010101" pitchFamily="2" charset="-122"/>
              </a:rPr>
              <a:t>signed offset</a:t>
            </a:r>
            <a:r>
              <a:rPr lang="en-US" altLang="zh-CN">
                <a:ea typeface="宋体" panose="02010600030101010101" pitchFamily="2" charset="-122"/>
              </a:rPr>
              <a:t>.</a:t>
            </a:r>
          </a:p>
          <a:p>
            <a:pPr marL="576263" lvl="1" indent="-234950">
              <a:spcBef>
                <a:spcPct val="60000"/>
              </a:spcBef>
            </a:pPr>
            <a:r>
              <a:rPr lang="en-US" altLang="zh-CN" b="0"/>
              <a:t>Offset is </a:t>
            </a:r>
            <a:r>
              <a:rPr lang="en-US" altLang="zh-CN" b="0" i="1"/>
              <a:t>sign-extended</a:t>
            </a:r>
            <a:r>
              <a:rPr lang="en-US" altLang="zh-CN" b="0"/>
              <a:t> before adding to base register.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C1C8F9-D951-448D-AA1E-E44DF157104F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891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8ABF8F-ED7C-421B-93F8-0E76C86978B1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LDR (</a:t>
            </a:r>
            <a:r>
              <a:rPr lang="en-US" altLang="zh-CN" dirty="0" err="1">
                <a:ea typeface="宋体" panose="02010600030101010101" pitchFamily="2" charset="-122"/>
              </a:rPr>
              <a:t>Base+Offset</a:t>
            </a:r>
            <a:r>
              <a:rPr lang="en-US" altLang="zh-CN" dirty="0">
                <a:ea typeface="宋体" panose="02010600030101010101" pitchFamily="2" charset="-122"/>
              </a:rPr>
              <a:t>)   LDR  DR, </a:t>
            </a:r>
            <a:r>
              <a:rPr lang="en-US" altLang="zh-CN" dirty="0" err="1">
                <a:ea typeface="宋体" panose="02010600030101010101" pitchFamily="2" charset="-122"/>
              </a:rPr>
              <a:t>BaseR</a:t>
            </a:r>
            <a:r>
              <a:rPr lang="en-US" altLang="zh-CN" dirty="0">
                <a:ea typeface="宋体" panose="02010600030101010101" pitchFamily="2" charset="-122"/>
              </a:rPr>
              <a:t>, offset6</a:t>
            </a:r>
          </a:p>
        </p:txBody>
      </p:sp>
      <p:pic>
        <p:nvPicPr>
          <p:cNvPr id="38917" name="Picture 3" descr="ch05-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5" y="980728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4" descr="ch05-18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7431088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 bwMode="auto">
          <a:xfrm>
            <a:off x="3563960" y="4806950"/>
            <a:ext cx="648000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518866" y="4913312"/>
            <a:ext cx="738188" cy="461963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LDR</a:t>
            </a:r>
            <a:endParaRPr lang="zh-CN" altLang="en-US" sz="2400" b="1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38921" name="等腰三角形 8"/>
          <p:cNvSpPr>
            <a:spLocks noChangeArrowheads="1"/>
          </p:cNvSpPr>
          <p:nvPr/>
        </p:nvSpPr>
        <p:spPr bwMode="auto">
          <a:xfrm rot="5400000" flipH="1">
            <a:off x="4110038" y="4759325"/>
            <a:ext cx="106362" cy="96838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 250"/>
          <p:cNvSpPr/>
          <p:nvPr/>
        </p:nvSpPr>
        <p:spPr bwMode="auto">
          <a:xfrm>
            <a:off x="2566046" y="5210396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x2362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9" name="矩形 238"/>
          <p:cNvSpPr/>
          <p:nvPr/>
        </p:nvSpPr>
        <p:spPr bwMode="auto">
          <a:xfrm>
            <a:off x="6541053" y="3641392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x2362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6" name="矩形 125"/>
          <p:cNvSpPr/>
          <p:nvPr/>
        </p:nvSpPr>
        <p:spPr bwMode="auto">
          <a:xfrm>
            <a:off x="7183259" y="2215151"/>
            <a:ext cx="1781229" cy="328135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5" name="矩形 144"/>
          <p:cNvSpPr/>
          <p:nvPr/>
        </p:nvSpPr>
        <p:spPr bwMode="auto">
          <a:xfrm>
            <a:off x="687716" y="3247570"/>
            <a:ext cx="149450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IR[5:0]=011101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4" name="矩形 143"/>
          <p:cNvSpPr/>
          <p:nvPr/>
        </p:nvSpPr>
        <p:spPr bwMode="auto">
          <a:xfrm>
            <a:off x="187227" y="3838629"/>
            <a:ext cx="2008509" cy="4544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200" b="1" baseline="0" dirty="0">
                <a:solidFill>
                  <a:srgbClr val="FF0000"/>
                </a:solidFill>
                <a:latin typeface="Arial" charset="0"/>
              </a:rPr>
              <a:t>0000000000</a:t>
            </a:r>
            <a:r>
              <a:rPr lang="en-US" altLang="zh-CN" sz="1200" baseline="0" dirty="0">
                <a:latin typeface="Arial" charset="0"/>
              </a:rPr>
              <a:t>011101 = x1D</a:t>
            </a:r>
            <a:endParaRPr lang="zh-CN" altLang="en-US" sz="1200" baseline="0" dirty="0">
              <a:latin typeface="Arial" charset="0"/>
            </a:endParaRPr>
          </a:p>
        </p:txBody>
      </p:sp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9A8222-020F-4230-ADAA-5A08CB55491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7E0EDB-A1EF-4E3E-9F94-FDEEB523578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LDR (</a:t>
            </a:r>
            <a:r>
              <a:rPr lang="en-US" altLang="zh-CN" dirty="0" err="1">
                <a:ea typeface="宋体" panose="02010600030101010101" pitchFamily="2" charset="-122"/>
              </a:rPr>
              <a:t>Base+Offset</a:t>
            </a:r>
            <a:r>
              <a:rPr lang="en-US" altLang="zh-CN" dirty="0">
                <a:ea typeface="宋体" panose="02010600030101010101" pitchFamily="2" charset="-122"/>
              </a:rPr>
              <a:t>) : LD R1, R3, x1D</a:t>
            </a:r>
          </a:p>
        </p:txBody>
      </p:sp>
      <p:grpSp>
        <p:nvGrpSpPr>
          <p:cNvPr id="17452" name="组合 17451"/>
          <p:cNvGrpSpPr/>
          <p:nvPr/>
        </p:nvGrpSpPr>
        <p:grpSpPr>
          <a:xfrm>
            <a:off x="1763688" y="4200361"/>
            <a:ext cx="1773164" cy="552752"/>
            <a:chOff x="3551400" y="5066709"/>
            <a:chExt cx="1773164" cy="552752"/>
          </a:xfrm>
        </p:grpSpPr>
        <p:grpSp>
          <p:nvGrpSpPr>
            <p:cNvPr id="17416" name="组合 17415"/>
            <p:cNvGrpSpPr/>
            <p:nvPr/>
          </p:nvGrpSpPr>
          <p:grpSpPr>
            <a:xfrm>
              <a:off x="3551400" y="5125351"/>
              <a:ext cx="1773164" cy="494110"/>
              <a:chOff x="4671044" y="5013176"/>
              <a:chExt cx="1485948" cy="494110"/>
            </a:xfrm>
          </p:grpSpPr>
          <p:sp>
            <p:nvSpPr>
              <p:cNvPr id="8" name="流程图: 手动操作 7"/>
              <p:cNvSpPr/>
              <p:nvPr/>
            </p:nvSpPr>
            <p:spPr bwMode="auto">
              <a:xfrm>
                <a:off x="4671044" y="5013176"/>
                <a:ext cx="1485948" cy="494110"/>
              </a:xfrm>
              <a:prstGeom prst="flowChartManualOperation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+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7408" name="组合 17407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9" name="流程图: 合并 8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cxnSp>
              <p:nvCxnSpPr>
                <p:cNvPr id="374" name="直接连接符 373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1" name="直接连接符 390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7451" name="文本框 17450"/>
            <p:cNvSpPr txBox="1"/>
            <p:nvPr/>
          </p:nvSpPr>
          <p:spPr>
            <a:xfrm>
              <a:off x="3708678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A</a:t>
              </a:r>
              <a:endParaRPr lang="zh-CN" altLang="en-US" sz="1200" baseline="0" dirty="0"/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4860032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B</a:t>
              </a:r>
              <a:endParaRPr lang="zh-CN" altLang="en-US" sz="1200" baseline="0" dirty="0"/>
            </a:p>
          </p:txBody>
        </p:sp>
      </p:grpSp>
      <p:sp>
        <p:nvSpPr>
          <p:cNvPr id="440" name="文本框 439"/>
          <p:cNvSpPr txBox="1"/>
          <p:nvPr/>
        </p:nvSpPr>
        <p:spPr>
          <a:xfrm>
            <a:off x="2616689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②</a:t>
            </a:r>
            <a:endParaRPr lang="zh-CN" altLang="en-US" baseline="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395536" y="2904217"/>
            <a:ext cx="2083497" cy="233511"/>
            <a:chOff x="539552" y="2904217"/>
            <a:chExt cx="2083497" cy="233511"/>
          </a:xfrm>
        </p:grpSpPr>
        <p:sp>
          <p:nvSpPr>
            <p:cNvPr id="101" name="矩形 100"/>
            <p:cNvSpPr/>
            <p:nvPr/>
          </p:nvSpPr>
          <p:spPr bwMode="auto">
            <a:xfrm>
              <a:off x="1516201" y="2904217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2" name="矩形 101"/>
            <p:cNvSpPr/>
            <p:nvPr/>
          </p:nvSpPr>
          <p:spPr bwMode="auto">
            <a:xfrm>
              <a:off x="1626870" y="2904217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3" name="矩形 102"/>
            <p:cNvSpPr/>
            <p:nvPr/>
          </p:nvSpPr>
          <p:spPr bwMode="auto">
            <a:xfrm>
              <a:off x="1737539" y="2904217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4" name="矩形 103"/>
            <p:cNvSpPr/>
            <p:nvPr/>
          </p:nvSpPr>
          <p:spPr bwMode="auto">
            <a:xfrm>
              <a:off x="1848207" y="2904217"/>
              <a:ext cx="110833" cy="22893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5" name="矩形 104"/>
            <p:cNvSpPr/>
            <p:nvPr/>
          </p:nvSpPr>
          <p:spPr bwMode="auto">
            <a:xfrm>
              <a:off x="1958876" y="290421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06" name="矩形 105"/>
            <p:cNvSpPr/>
            <p:nvPr/>
          </p:nvSpPr>
          <p:spPr bwMode="auto">
            <a:xfrm>
              <a:off x="2069544" y="290421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7" name="矩形 106"/>
            <p:cNvSpPr/>
            <p:nvPr/>
          </p:nvSpPr>
          <p:spPr bwMode="auto">
            <a:xfrm>
              <a:off x="2180213" y="290421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8" name="矩形 107"/>
            <p:cNvSpPr/>
            <p:nvPr/>
          </p:nvSpPr>
          <p:spPr bwMode="auto">
            <a:xfrm>
              <a:off x="2290881" y="290421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401550" y="290421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512216" y="2904217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1" name="矩形 110"/>
            <p:cNvSpPr/>
            <p:nvPr/>
          </p:nvSpPr>
          <p:spPr bwMode="auto">
            <a:xfrm>
              <a:off x="852190" y="2904217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2" name="矩形 111"/>
            <p:cNvSpPr/>
            <p:nvPr/>
          </p:nvSpPr>
          <p:spPr bwMode="auto">
            <a:xfrm>
              <a:off x="962859" y="2904217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3" name="矩形 112"/>
            <p:cNvSpPr/>
            <p:nvPr/>
          </p:nvSpPr>
          <p:spPr bwMode="auto">
            <a:xfrm>
              <a:off x="1073527" y="2904217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4" name="矩形 113"/>
            <p:cNvSpPr/>
            <p:nvPr/>
          </p:nvSpPr>
          <p:spPr bwMode="auto">
            <a:xfrm>
              <a:off x="1184196" y="2904217"/>
              <a:ext cx="110833" cy="22893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15" name="矩形 114"/>
            <p:cNvSpPr/>
            <p:nvPr/>
          </p:nvSpPr>
          <p:spPr bwMode="auto">
            <a:xfrm>
              <a:off x="1294864" y="2904217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6" name="矩形 115"/>
            <p:cNvSpPr/>
            <p:nvPr/>
          </p:nvSpPr>
          <p:spPr bwMode="auto">
            <a:xfrm>
              <a:off x="1405533" y="2904217"/>
              <a:ext cx="110833" cy="228935"/>
            </a:xfrm>
            <a:prstGeom prst="rect">
              <a:avLst/>
            </a:prstGeom>
            <a:solidFill>
              <a:srgbClr val="FF99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7" name="矩形 116"/>
            <p:cNvSpPr/>
            <p:nvPr/>
          </p:nvSpPr>
          <p:spPr bwMode="auto">
            <a:xfrm>
              <a:off x="539552" y="290879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IR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20" name="矩形 119"/>
          <p:cNvSpPr/>
          <p:nvPr/>
        </p:nvSpPr>
        <p:spPr bwMode="auto">
          <a:xfrm>
            <a:off x="1832256" y="3641392"/>
            <a:ext cx="579504" cy="2709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SEXT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9" name="直接箭头连接符 38"/>
          <p:cNvCxnSpPr/>
          <p:nvPr/>
        </p:nvCxnSpPr>
        <p:spPr bwMode="auto">
          <a:xfrm flipH="1">
            <a:off x="2123728" y="3146504"/>
            <a:ext cx="1" cy="504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17" name="矩形 17416"/>
          <p:cNvSpPr/>
          <p:nvPr/>
        </p:nvSpPr>
        <p:spPr bwMode="auto">
          <a:xfrm>
            <a:off x="4455840" y="2184137"/>
            <a:ext cx="1781229" cy="18360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32" name="矩形 231"/>
          <p:cNvSpPr/>
          <p:nvPr/>
        </p:nvSpPr>
        <p:spPr bwMode="auto">
          <a:xfrm>
            <a:off x="4457325" y="2184137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9" name="矩形 248"/>
          <p:cNvSpPr/>
          <p:nvPr/>
        </p:nvSpPr>
        <p:spPr bwMode="auto">
          <a:xfrm>
            <a:off x="4457325" y="2642058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7" name="矩形 316"/>
          <p:cNvSpPr/>
          <p:nvPr/>
        </p:nvSpPr>
        <p:spPr bwMode="auto">
          <a:xfrm>
            <a:off x="4457325" y="3099979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4" name="矩形 333"/>
          <p:cNvSpPr/>
          <p:nvPr/>
        </p:nvSpPr>
        <p:spPr bwMode="auto">
          <a:xfrm>
            <a:off x="4457325" y="355790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1" name="矩形 350"/>
          <p:cNvSpPr/>
          <p:nvPr/>
        </p:nvSpPr>
        <p:spPr bwMode="auto">
          <a:xfrm>
            <a:off x="4457325" y="378686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4139952" y="2184163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6" name="矩形 375"/>
          <p:cNvSpPr/>
          <p:nvPr/>
        </p:nvSpPr>
        <p:spPr bwMode="auto">
          <a:xfrm>
            <a:off x="4139952" y="264208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R2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7" name="矩形 376"/>
          <p:cNvSpPr/>
          <p:nvPr/>
        </p:nvSpPr>
        <p:spPr bwMode="auto">
          <a:xfrm>
            <a:off x="4139952" y="332896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R5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8" name="矩形 377"/>
          <p:cNvSpPr/>
          <p:nvPr/>
        </p:nvSpPr>
        <p:spPr bwMode="auto">
          <a:xfrm>
            <a:off x="4139952" y="241312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R1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79" name="矩形 378"/>
          <p:cNvSpPr/>
          <p:nvPr/>
        </p:nvSpPr>
        <p:spPr bwMode="auto">
          <a:xfrm>
            <a:off x="4139952" y="287104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R3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矩形 379"/>
          <p:cNvSpPr/>
          <p:nvPr/>
        </p:nvSpPr>
        <p:spPr bwMode="auto">
          <a:xfrm>
            <a:off x="4139952" y="310000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R4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1" name="矩形 380"/>
          <p:cNvSpPr/>
          <p:nvPr/>
        </p:nvSpPr>
        <p:spPr bwMode="auto">
          <a:xfrm>
            <a:off x="4139952" y="355792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R6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2" name="矩形 381"/>
          <p:cNvSpPr/>
          <p:nvPr/>
        </p:nvSpPr>
        <p:spPr bwMode="auto">
          <a:xfrm>
            <a:off x="4139952" y="378688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R7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57325" y="2413124"/>
            <a:ext cx="1770859" cy="228935"/>
            <a:chOff x="3695735" y="2204864"/>
            <a:chExt cx="1770859" cy="228935"/>
          </a:xfrm>
        </p:grpSpPr>
        <p:sp>
          <p:nvSpPr>
            <p:cNvPr id="81" name="矩形 80"/>
            <p:cNvSpPr/>
            <p:nvPr/>
          </p:nvSpPr>
          <p:spPr bwMode="auto">
            <a:xfrm>
              <a:off x="435974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auto">
            <a:xfrm>
              <a:off x="447041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3" name="矩形 82"/>
            <p:cNvSpPr/>
            <p:nvPr/>
          </p:nvSpPr>
          <p:spPr bwMode="auto">
            <a:xfrm>
              <a:off x="458108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auto">
            <a:xfrm>
              <a:off x="469175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5" name="矩形 84"/>
            <p:cNvSpPr/>
            <p:nvPr/>
          </p:nvSpPr>
          <p:spPr bwMode="auto">
            <a:xfrm>
              <a:off x="480242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6" name="矩形 85"/>
            <p:cNvSpPr/>
            <p:nvPr/>
          </p:nvSpPr>
          <p:spPr bwMode="auto">
            <a:xfrm>
              <a:off x="491308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7" name="矩形 86"/>
            <p:cNvSpPr/>
            <p:nvPr/>
          </p:nvSpPr>
          <p:spPr bwMode="auto">
            <a:xfrm>
              <a:off x="502375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8" name="矩形 87"/>
            <p:cNvSpPr/>
            <p:nvPr/>
          </p:nvSpPr>
          <p:spPr bwMode="auto">
            <a:xfrm>
              <a:off x="513442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9" name="矩形 88"/>
            <p:cNvSpPr/>
            <p:nvPr/>
          </p:nvSpPr>
          <p:spPr bwMode="auto">
            <a:xfrm>
              <a:off x="524509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0" name="矩形 89"/>
            <p:cNvSpPr/>
            <p:nvPr/>
          </p:nvSpPr>
          <p:spPr bwMode="auto">
            <a:xfrm>
              <a:off x="535576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矩形 90"/>
            <p:cNvSpPr/>
            <p:nvPr/>
          </p:nvSpPr>
          <p:spPr bwMode="auto">
            <a:xfrm>
              <a:off x="369573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80640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3" name="矩形 92"/>
            <p:cNvSpPr/>
            <p:nvPr/>
          </p:nvSpPr>
          <p:spPr bwMode="auto">
            <a:xfrm>
              <a:off x="391707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4" name="矩形 93"/>
            <p:cNvSpPr/>
            <p:nvPr/>
          </p:nvSpPr>
          <p:spPr bwMode="auto">
            <a:xfrm>
              <a:off x="402774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矩形 94"/>
            <p:cNvSpPr/>
            <p:nvPr/>
          </p:nvSpPr>
          <p:spPr bwMode="auto">
            <a:xfrm>
              <a:off x="413840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矩形 95"/>
            <p:cNvSpPr/>
            <p:nvPr/>
          </p:nvSpPr>
          <p:spPr bwMode="auto">
            <a:xfrm>
              <a:off x="424907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00" name="矩形 299"/>
          <p:cNvSpPr/>
          <p:nvPr/>
        </p:nvSpPr>
        <p:spPr bwMode="auto">
          <a:xfrm>
            <a:off x="4457325" y="2874537"/>
            <a:ext cx="1771200" cy="2254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2" name="直接箭头连接符 201"/>
          <p:cNvCxnSpPr/>
          <p:nvPr/>
        </p:nvCxnSpPr>
        <p:spPr bwMode="auto">
          <a:xfrm flipH="1">
            <a:off x="2123728" y="3912409"/>
            <a:ext cx="1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肘形连接符 202"/>
          <p:cNvCxnSpPr>
            <a:stCxn id="200" idx="3"/>
            <a:endCxn id="126" idx="1"/>
          </p:cNvCxnSpPr>
          <p:nvPr/>
        </p:nvCxnSpPr>
        <p:spPr bwMode="auto">
          <a:xfrm flipV="1">
            <a:off x="6198397" y="3855828"/>
            <a:ext cx="984862" cy="171241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" name="矩形 203"/>
          <p:cNvSpPr/>
          <p:nvPr/>
        </p:nvSpPr>
        <p:spPr bwMode="auto">
          <a:xfrm>
            <a:off x="7183259" y="3699261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428" name="肘形连接符 17427"/>
          <p:cNvCxnSpPr/>
          <p:nvPr/>
        </p:nvCxnSpPr>
        <p:spPr bwMode="auto">
          <a:xfrm rot="5400000" flipH="1" flipV="1">
            <a:off x="5939961" y="4102829"/>
            <a:ext cx="2336708" cy="2031418"/>
          </a:xfrm>
          <a:prstGeom prst="bentConnector3">
            <a:avLst>
              <a:gd name="adj1" fmla="val -13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" name="矩形 204"/>
          <p:cNvSpPr/>
          <p:nvPr/>
        </p:nvSpPr>
        <p:spPr bwMode="auto">
          <a:xfrm>
            <a:off x="4756207" y="5695159"/>
            <a:ext cx="115212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MAR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6" name="矩形 205"/>
          <p:cNvSpPr/>
          <p:nvPr/>
        </p:nvSpPr>
        <p:spPr bwMode="auto">
          <a:xfrm>
            <a:off x="4749458" y="6422144"/>
            <a:ext cx="115212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MDR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1" name="肘形连接符 130"/>
          <p:cNvCxnSpPr>
            <a:stCxn id="201" idx="1"/>
            <a:endCxn id="378" idx="3"/>
          </p:cNvCxnSpPr>
          <p:nvPr/>
        </p:nvCxnSpPr>
        <p:spPr bwMode="auto">
          <a:xfrm rot="10800000">
            <a:off x="4407094" y="2527592"/>
            <a:ext cx="53930" cy="3759298"/>
          </a:xfrm>
          <a:prstGeom prst="bentConnector3">
            <a:avLst>
              <a:gd name="adj1" fmla="val 844780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肘形连接符 206"/>
          <p:cNvCxnSpPr>
            <a:stCxn id="8" idx="2"/>
          </p:cNvCxnSpPr>
          <p:nvPr/>
        </p:nvCxnSpPr>
        <p:spPr bwMode="auto">
          <a:xfrm rot="16200000" flipH="1">
            <a:off x="3190270" y="4200247"/>
            <a:ext cx="828000" cy="190800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4" name="组合 213"/>
          <p:cNvGrpSpPr/>
          <p:nvPr/>
        </p:nvGrpSpPr>
        <p:grpSpPr>
          <a:xfrm>
            <a:off x="7183259" y="3699125"/>
            <a:ext cx="1770859" cy="228935"/>
            <a:chOff x="3695735" y="2204864"/>
            <a:chExt cx="1770859" cy="228935"/>
          </a:xfrm>
        </p:grpSpPr>
        <p:sp>
          <p:nvSpPr>
            <p:cNvPr id="215" name="矩形 214"/>
            <p:cNvSpPr/>
            <p:nvPr/>
          </p:nvSpPr>
          <p:spPr bwMode="auto">
            <a:xfrm>
              <a:off x="435974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447041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458108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469175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480242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491308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1" name="矩形 220"/>
            <p:cNvSpPr/>
            <p:nvPr/>
          </p:nvSpPr>
          <p:spPr bwMode="auto">
            <a:xfrm>
              <a:off x="502375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2" name="矩形 221"/>
            <p:cNvSpPr/>
            <p:nvPr/>
          </p:nvSpPr>
          <p:spPr bwMode="auto">
            <a:xfrm>
              <a:off x="513442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3" name="矩形 222"/>
            <p:cNvSpPr/>
            <p:nvPr/>
          </p:nvSpPr>
          <p:spPr bwMode="auto">
            <a:xfrm>
              <a:off x="524509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4" name="矩形 223"/>
            <p:cNvSpPr/>
            <p:nvPr/>
          </p:nvSpPr>
          <p:spPr bwMode="auto">
            <a:xfrm>
              <a:off x="535576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5" name="矩形 224"/>
            <p:cNvSpPr/>
            <p:nvPr/>
          </p:nvSpPr>
          <p:spPr bwMode="auto">
            <a:xfrm>
              <a:off x="369573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6" name="矩形 225"/>
            <p:cNvSpPr/>
            <p:nvPr/>
          </p:nvSpPr>
          <p:spPr bwMode="auto">
            <a:xfrm>
              <a:off x="380640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7" name="矩形 226"/>
            <p:cNvSpPr/>
            <p:nvPr/>
          </p:nvSpPr>
          <p:spPr bwMode="auto">
            <a:xfrm>
              <a:off x="391707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8" name="矩形 227"/>
            <p:cNvSpPr/>
            <p:nvPr/>
          </p:nvSpPr>
          <p:spPr bwMode="auto">
            <a:xfrm>
              <a:off x="402774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9" name="矩形 228"/>
            <p:cNvSpPr/>
            <p:nvPr/>
          </p:nvSpPr>
          <p:spPr bwMode="auto">
            <a:xfrm>
              <a:off x="413840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0" name="矩形 229"/>
            <p:cNvSpPr/>
            <p:nvPr/>
          </p:nvSpPr>
          <p:spPr bwMode="auto">
            <a:xfrm>
              <a:off x="424907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31" name="矩形 230"/>
          <p:cNvSpPr/>
          <p:nvPr/>
        </p:nvSpPr>
        <p:spPr bwMode="auto">
          <a:xfrm>
            <a:off x="420570" y="4811754"/>
            <a:ext cx="2081961" cy="13606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PC     = x4018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PC+1 = x4019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x1D + x2345 = x2362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3" name="文本框 232"/>
          <p:cNvSpPr txBox="1"/>
          <p:nvPr/>
        </p:nvSpPr>
        <p:spPr>
          <a:xfrm>
            <a:off x="3978964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④</a:t>
            </a:r>
            <a:endParaRPr lang="zh-CN" altLang="en-US" baseline="0" dirty="0"/>
          </a:p>
        </p:txBody>
      </p:sp>
      <p:sp>
        <p:nvSpPr>
          <p:cNvPr id="234" name="文本框 233"/>
          <p:cNvSpPr txBox="1"/>
          <p:nvPr/>
        </p:nvSpPr>
        <p:spPr>
          <a:xfrm>
            <a:off x="6235405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③</a:t>
            </a:r>
            <a:endParaRPr lang="zh-CN" altLang="en-US" baseline="0" dirty="0"/>
          </a:p>
        </p:txBody>
      </p:sp>
      <p:sp>
        <p:nvSpPr>
          <p:cNvPr id="235" name="文本框 234"/>
          <p:cNvSpPr txBox="1"/>
          <p:nvPr/>
        </p:nvSpPr>
        <p:spPr>
          <a:xfrm>
            <a:off x="6948264" y="59492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③</a:t>
            </a:r>
            <a:endParaRPr lang="zh-CN" altLang="en-US" baseline="0" dirty="0"/>
          </a:p>
        </p:txBody>
      </p:sp>
      <p:sp>
        <p:nvSpPr>
          <p:cNvPr id="236" name="文本框 235"/>
          <p:cNvSpPr txBox="1"/>
          <p:nvPr/>
        </p:nvSpPr>
        <p:spPr>
          <a:xfrm>
            <a:off x="2069544" y="3185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①</a:t>
            </a:r>
            <a:endParaRPr lang="zh-CN" altLang="en-US" baseline="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4427538" y="5414829"/>
            <a:ext cx="1770859" cy="306836"/>
            <a:chOff x="4427538" y="5414829"/>
            <a:chExt cx="1770859" cy="306836"/>
          </a:xfrm>
        </p:grpSpPr>
        <p:sp>
          <p:nvSpPr>
            <p:cNvPr id="238" name="矩形 237"/>
            <p:cNvSpPr/>
            <p:nvPr/>
          </p:nvSpPr>
          <p:spPr bwMode="auto">
            <a:xfrm>
              <a:off x="4994066" y="5414829"/>
              <a:ext cx="637802" cy="30683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x2362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0" name="矩形 199"/>
            <p:cNvSpPr/>
            <p:nvPr/>
          </p:nvSpPr>
          <p:spPr bwMode="auto">
            <a:xfrm>
              <a:off x="4427538" y="5453767"/>
              <a:ext cx="1770859" cy="22896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40" name="矩形 239"/>
          <p:cNvSpPr/>
          <p:nvPr/>
        </p:nvSpPr>
        <p:spPr bwMode="auto">
          <a:xfrm>
            <a:off x="5027552" y="6133472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# 5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1" name="矩形 200"/>
          <p:cNvSpPr/>
          <p:nvPr/>
        </p:nvSpPr>
        <p:spPr bwMode="auto">
          <a:xfrm>
            <a:off x="4461024" y="6172410"/>
            <a:ext cx="1770859" cy="2289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2" name="矩形 251"/>
          <p:cNvSpPr/>
          <p:nvPr/>
        </p:nvSpPr>
        <p:spPr bwMode="auto">
          <a:xfrm>
            <a:off x="4701767" y="184482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baseline="0" dirty="0">
                <a:latin typeface="Arial" charset="0"/>
              </a:rPr>
              <a:t>Register File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3" name="矩形 252"/>
          <p:cNvSpPr/>
          <p:nvPr/>
        </p:nvSpPr>
        <p:spPr bwMode="auto">
          <a:xfrm>
            <a:off x="7413411" y="184482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baseline="0" dirty="0">
                <a:latin typeface="Arial" charset="0"/>
              </a:rPr>
              <a:t>Memory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2" name="Picture 3" descr="ch05-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5" y="980728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" name="组合 132"/>
          <p:cNvGrpSpPr/>
          <p:nvPr/>
        </p:nvGrpSpPr>
        <p:grpSpPr>
          <a:xfrm>
            <a:off x="4457325" y="2852936"/>
            <a:ext cx="1770859" cy="228935"/>
            <a:chOff x="3695735" y="2204864"/>
            <a:chExt cx="1770859" cy="228935"/>
          </a:xfrm>
        </p:grpSpPr>
        <p:sp>
          <p:nvSpPr>
            <p:cNvPr id="134" name="矩形 133"/>
            <p:cNvSpPr/>
            <p:nvPr/>
          </p:nvSpPr>
          <p:spPr bwMode="auto">
            <a:xfrm>
              <a:off x="435974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447041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6" name="矩形 135"/>
            <p:cNvSpPr/>
            <p:nvPr/>
          </p:nvSpPr>
          <p:spPr bwMode="auto">
            <a:xfrm>
              <a:off x="458108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469175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480242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491308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502375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513442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524509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535576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369573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380640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391707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402774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0" name="矩形 149"/>
            <p:cNvSpPr/>
            <p:nvPr/>
          </p:nvSpPr>
          <p:spPr bwMode="auto">
            <a:xfrm>
              <a:off x="413840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424907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152" name="肘形连接符 151"/>
          <p:cNvCxnSpPr>
            <a:stCxn id="433" idx="0"/>
          </p:cNvCxnSpPr>
          <p:nvPr/>
        </p:nvCxnSpPr>
        <p:spPr bwMode="auto">
          <a:xfrm rot="5400000" flipH="1" flipV="1">
            <a:off x="3234052" y="2967412"/>
            <a:ext cx="1214847" cy="1251052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0" name="矩形 159"/>
          <p:cNvSpPr/>
          <p:nvPr/>
        </p:nvSpPr>
        <p:spPr bwMode="auto">
          <a:xfrm>
            <a:off x="3229461" y="3914252"/>
            <a:ext cx="568270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x2345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258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53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38645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54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1895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55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7350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56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4221160"/>
            <a:ext cx="0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862153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57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Text Box 4"/>
          <p:cNvSpPr txBox="1">
            <a:spLocks noChangeArrowheads="1"/>
          </p:cNvSpPr>
          <p:nvPr/>
        </p:nvSpPr>
        <p:spPr bwMode="auto">
          <a:xfrm>
            <a:off x="4336683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>
                <a:solidFill>
                  <a:schemeClr val="accent2"/>
                </a:solidFill>
                <a:latin typeface="Arial" charset="0"/>
                <a:ea typeface="+mn-ea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5692315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58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729578" y="5288328"/>
            <a:ext cx="8237015" cy="1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LDR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436" name="Text Box 4"/>
          <p:cNvSpPr txBox="1">
            <a:spLocks noChangeArrowheads="1"/>
          </p:cNvSpPr>
          <p:nvPr/>
        </p:nvSpPr>
        <p:spPr bwMode="auto">
          <a:xfrm>
            <a:off x="4355976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F</a:t>
            </a:r>
          </a:p>
        </p:txBody>
      </p:sp>
      <p:sp>
        <p:nvSpPr>
          <p:cNvPr id="434" name="Text Box 11"/>
          <p:cNvSpPr txBox="1">
            <a:spLocks noChangeArrowheads="1"/>
          </p:cNvSpPr>
          <p:nvPr/>
        </p:nvSpPr>
        <p:spPr bwMode="auto">
          <a:xfrm>
            <a:off x="7505035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8170839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1B766E-C5FC-4B65-B30A-643BC753DAD3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E887E6-2765-4E63-BB91-FCFDEC43067A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STR (</a:t>
            </a:r>
            <a:r>
              <a:rPr lang="en-US" altLang="zh-CN" dirty="0" err="1">
                <a:ea typeface="宋体" panose="02010600030101010101" pitchFamily="2" charset="-122"/>
              </a:rPr>
              <a:t>Base+Offset</a:t>
            </a:r>
            <a:r>
              <a:rPr lang="en-US" altLang="zh-CN" dirty="0">
                <a:ea typeface="宋体" panose="02010600030101010101" pitchFamily="2" charset="-122"/>
              </a:rPr>
              <a:t>)  STR  DR, </a:t>
            </a:r>
            <a:r>
              <a:rPr lang="en-US" altLang="zh-CN" dirty="0" err="1">
                <a:ea typeface="宋体" panose="02010600030101010101" pitchFamily="2" charset="-122"/>
              </a:rPr>
              <a:t>BaseR</a:t>
            </a:r>
            <a:r>
              <a:rPr lang="en-US" altLang="zh-CN" dirty="0">
                <a:ea typeface="宋体" panose="02010600030101010101" pitchFamily="2" charset="-122"/>
              </a:rPr>
              <a:t>, offset6</a:t>
            </a:r>
          </a:p>
        </p:txBody>
      </p:sp>
      <p:pic>
        <p:nvPicPr>
          <p:cNvPr id="40965" name="Picture 3" descr="ch05-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4" descr="ch05-19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7" y="2008262"/>
            <a:ext cx="7431088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直接箭头连接符 7"/>
          <p:cNvCxnSpPr/>
          <p:nvPr/>
        </p:nvCxnSpPr>
        <p:spPr bwMode="auto">
          <a:xfrm>
            <a:off x="3419475" y="4806950"/>
            <a:ext cx="720725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408543" y="4904221"/>
            <a:ext cx="738187" cy="461963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STR</a:t>
            </a:r>
            <a:endParaRPr lang="zh-CN" altLang="en-US" sz="2400" b="1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40969" name="等腰三角形 9"/>
          <p:cNvSpPr>
            <a:spLocks noChangeArrowheads="1"/>
          </p:cNvSpPr>
          <p:nvPr/>
        </p:nvSpPr>
        <p:spPr bwMode="auto">
          <a:xfrm rot="5400000" flipH="1">
            <a:off x="4063207" y="4758531"/>
            <a:ext cx="106362" cy="9842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60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09702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61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56594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9591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63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5" name="组合 374"/>
          <p:cNvGrpSpPr/>
          <p:nvPr/>
        </p:nvGrpSpPr>
        <p:grpSpPr>
          <a:xfrm>
            <a:off x="4101216" y="187435"/>
            <a:ext cx="4863271" cy="569420"/>
            <a:chOff x="3706688" y="187435"/>
            <a:chExt cx="5257800" cy="569420"/>
          </a:xfrm>
        </p:grpSpPr>
        <p:sp>
          <p:nvSpPr>
            <p:cNvPr id="380" name="Line 5"/>
            <p:cNvSpPr>
              <a:spLocks noChangeShapeType="1"/>
            </p:cNvSpPr>
            <p:nvPr/>
          </p:nvSpPr>
          <p:spPr bwMode="auto">
            <a:xfrm rot="16200000">
              <a:off x="46591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9" name="Line 6"/>
            <p:cNvSpPr>
              <a:spLocks noChangeShapeType="1"/>
            </p:cNvSpPr>
            <p:nvPr/>
          </p:nvSpPr>
          <p:spPr bwMode="auto">
            <a:xfrm rot="16200000">
              <a:off x="5497388" y="176217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6" name="Line 7"/>
            <p:cNvSpPr>
              <a:spLocks noChangeShapeType="1"/>
            </p:cNvSpPr>
            <p:nvPr/>
          </p:nvSpPr>
          <p:spPr bwMode="auto">
            <a:xfrm rot="16200000">
              <a:off x="6335588" y="19289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8"/>
            <p:cNvSpPr>
              <a:spLocks noChangeShapeType="1"/>
            </p:cNvSpPr>
            <p:nvPr/>
          </p:nvSpPr>
          <p:spPr bwMode="auto">
            <a:xfrm rot="16200000">
              <a:off x="7173788" y="207339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9"/>
            <p:cNvSpPr>
              <a:spLocks noChangeShapeType="1"/>
            </p:cNvSpPr>
            <p:nvPr/>
          </p:nvSpPr>
          <p:spPr bwMode="auto">
            <a:xfrm rot="16200000">
              <a:off x="8011988" y="197336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Text Box 10"/>
            <p:cNvSpPr txBox="1">
              <a:spLocks noChangeArrowheads="1"/>
            </p:cNvSpPr>
            <p:nvPr/>
          </p:nvSpPr>
          <p:spPr bwMode="auto">
            <a:xfrm>
              <a:off x="5681168" y="187435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Line 13"/>
            <p:cNvSpPr>
              <a:spLocks noChangeShapeType="1"/>
            </p:cNvSpPr>
            <p:nvPr/>
          </p:nvSpPr>
          <p:spPr bwMode="auto">
            <a:xfrm rot="16200000">
              <a:off x="8812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5" name="Line 14"/>
            <p:cNvSpPr>
              <a:spLocks noChangeShapeType="1"/>
            </p:cNvSpPr>
            <p:nvPr/>
          </p:nvSpPr>
          <p:spPr bwMode="auto">
            <a:xfrm rot="16200000" flipH="1">
              <a:off x="87777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6" name="Line 15"/>
            <p:cNvSpPr>
              <a:spLocks noChangeShapeType="1"/>
            </p:cNvSpPr>
            <p:nvPr/>
          </p:nvSpPr>
          <p:spPr bwMode="auto">
            <a:xfrm rot="16200000" flipV="1">
              <a:off x="6335588" y="-1872045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6"/>
            <p:cNvSpPr>
              <a:spLocks noChangeShapeType="1"/>
            </p:cNvSpPr>
            <p:nvPr/>
          </p:nvSpPr>
          <p:spPr bwMode="auto">
            <a:xfrm rot="16200000">
              <a:off x="3519955" y="570122"/>
              <a:ext cx="37346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7"/>
            <p:cNvSpPr>
              <a:spLocks noChangeShapeType="1"/>
            </p:cNvSpPr>
            <p:nvPr/>
          </p:nvSpPr>
          <p:spPr bwMode="auto">
            <a:xfrm rot="16200000">
              <a:off x="3859088" y="23099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Text Box 4"/>
            <p:cNvSpPr txBox="1">
              <a:spLocks noChangeArrowheads="1"/>
            </p:cNvSpPr>
            <p:nvPr/>
          </p:nvSpPr>
          <p:spPr bwMode="auto">
            <a:xfrm>
              <a:off x="4842967" y="187437"/>
              <a:ext cx="48016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>
                  <a:solidFill>
                    <a:schemeClr val="bg1"/>
                  </a:solidFill>
                  <a:latin typeface="Arial" charset="0"/>
                  <a:ea typeface="+mn-ea"/>
                </a:rPr>
                <a:t>D</a:t>
              </a:r>
            </a:p>
          </p:txBody>
        </p:sp>
        <p:sp>
          <p:nvSpPr>
            <p:cNvPr id="451" name="Text Box 10"/>
            <p:cNvSpPr txBox="1">
              <a:spLocks noChangeArrowheads="1"/>
            </p:cNvSpPr>
            <p:nvPr/>
          </p:nvSpPr>
          <p:spPr bwMode="auto">
            <a:xfrm>
              <a:off x="3995239" y="189333"/>
              <a:ext cx="48016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</p:grpSp>
      <p:sp>
        <p:nvSpPr>
          <p:cNvPr id="355" name="Text Box 10"/>
          <p:cNvSpPr txBox="1">
            <a:spLocks noChangeArrowheads="1"/>
          </p:cNvSpPr>
          <p:nvPr/>
        </p:nvSpPr>
        <p:spPr bwMode="auto">
          <a:xfrm>
            <a:off x="671701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sp>
        <p:nvSpPr>
          <p:cNvPr id="390" name="Text Box 10"/>
          <p:cNvSpPr txBox="1">
            <a:spLocks noChangeArrowheads="1"/>
          </p:cNvSpPr>
          <p:nvPr/>
        </p:nvSpPr>
        <p:spPr bwMode="auto">
          <a:xfrm>
            <a:off x="747094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  <p:sp>
        <p:nvSpPr>
          <p:cNvPr id="391" name="Text Box 10"/>
          <p:cNvSpPr txBox="1">
            <a:spLocks noChangeArrowheads="1"/>
          </p:cNvSpPr>
          <p:nvPr/>
        </p:nvSpPr>
        <p:spPr bwMode="auto">
          <a:xfrm>
            <a:off x="8251832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S</a:t>
            </a: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7" name="直接连接符 396"/>
          <p:cNvCxnSpPr/>
          <p:nvPr/>
        </p:nvCxnSpPr>
        <p:spPr bwMode="auto">
          <a:xfrm>
            <a:off x="1218173" y="4244104"/>
            <a:ext cx="0" cy="480952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376794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等腰三角形 54"/>
          <p:cNvSpPr/>
          <p:nvPr/>
        </p:nvSpPr>
        <p:spPr bwMode="auto">
          <a:xfrm>
            <a:off x="2784736" y="5360400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6" name="直接连接符 55"/>
          <p:cNvCxnSpPr/>
          <p:nvPr/>
        </p:nvCxnSpPr>
        <p:spPr bwMode="auto">
          <a:xfrm>
            <a:off x="2875220" y="5508000"/>
            <a:ext cx="0" cy="1944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4" name="组合 403"/>
          <p:cNvGrpSpPr/>
          <p:nvPr/>
        </p:nvGrpSpPr>
        <p:grpSpPr>
          <a:xfrm>
            <a:off x="2379486" y="5380464"/>
            <a:ext cx="407011" cy="134715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519972" y="5333967"/>
            <a:ext cx="952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761765" y="5000876"/>
            <a:ext cx="448053" cy="243552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693498" y="5378888"/>
            <a:ext cx="448053" cy="243552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64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09058" y="4994483"/>
            <a:ext cx="134717" cy="150500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 flipH="1">
            <a:off x="7533473" y="5144344"/>
            <a:ext cx="225" cy="162787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20469" y="5000295"/>
            <a:ext cx="204578" cy="168051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586947" y="4951513"/>
            <a:ext cx="9389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flipH="1">
            <a:off x="5754997" y="5069233"/>
            <a:ext cx="156354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 flipV="1">
            <a:off x="729578" y="5288328"/>
            <a:ext cx="8237015" cy="1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3" name="直接连接符 262"/>
          <p:cNvCxnSpPr/>
          <p:nvPr/>
        </p:nvCxnSpPr>
        <p:spPr bwMode="auto">
          <a:xfrm rot="10800000">
            <a:off x="3366482" y="3960000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286351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3977270" y="4941168"/>
            <a:ext cx="785704" cy="359746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" name="组合 13"/>
          <p:cNvGrpSpPr/>
          <p:nvPr/>
        </p:nvGrpSpPr>
        <p:grpSpPr>
          <a:xfrm>
            <a:off x="4122344" y="188640"/>
            <a:ext cx="4942139" cy="578814"/>
            <a:chOff x="4122344" y="188640"/>
            <a:chExt cx="4942139" cy="578814"/>
          </a:xfrm>
        </p:grpSpPr>
        <p:sp>
          <p:nvSpPr>
            <p:cNvPr id="436" name="Text Box 4"/>
            <p:cNvSpPr txBox="1">
              <a:spLocks noChangeArrowheads="1"/>
            </p:cNvSpPr>
            <p:nvPr/>
          </p:nvSpPr>
          <p:spPr bwMode="auto">
            <a:xfrm>
              <a:off x="4355976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grpSp>
          <p:nvGrpSpPr>
            <p:cNvPr id="380" name="组合 379"/>
            <p:cNvGrpSpPr/>
            <p:nvPr/>
          </p:nvGrpSpPr>
          <p:grpSpPr>
            <a:xfrm rot="16200000">
              <a:off x="6308703" y="-1988326"/>
              <a:ext cx="569421" cy="4942139"/>
              <a:chOff x="7543800" y="1143000"/>
              <a:chExt cx="813273" cy="5257800"/>
            </a:xfrm>
          </p:grpSpPr>
          <p:sp>
            <p:nvSpPr>
              <p:cNvPr id="389" name="Line 5"/>
              <p:cNvSpPr>
                <a:spLocks noChangeShapeType="1"/>
              </p:cNvSpPr>
              <p:nvPr/>
            </p:nvSpPr>
            <p:spPr bwMode="auto">
              <a:xfrm>
                <a:off x="8077200" y="19050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0" name="Line 6"/>
              <p:cNvSpPr>
                <a:spLocks noChangeShapeType="1"/>
              </p:cNvSpPr>
              <p:nvPr/>
            </p:nvSpPr>
            <p:spPr bwMode="auto">
              <a:xfrm>
                <a:off x="8101013" y="27432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1" name="Line 7"/>
              <p:cNvSpPr>
                <a:spLocks noChangeShapeType="1"/>
              </p:cNvSpPr>
              <p:nvPr/>
            </p:nvSpPr>
            <p:spPr bwMode="auto">
              <a:xfrm>
                <a:off x="8077200" y="35814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7" name="Line 8"/>
              <p:cNvSpPr>
                <a:spLocks noChangeShapeType="1"/>
              </p:cNvSpPr>
              <p:nvPr/>
            </p:nvSpPr>
            <p:spPr bwMode="auto">
              <a:xfrm>
                <a:off x="8056563" y="44196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8" name="Line 9"/>
              <p:cNvSpPr>
                <a:spLocks noChangeShapeType="1"/>
              </p:cNvSpPr>
              <p:nvPr/>
            </p:nvSpPr>
            <p:spPr bwMode="auto">
              <a:xfrm>
                <a:off x="8070850" y="52578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99" name="Text Box 10"/>
              <p:cNvSpPr txBox="1">
                <a:spLocks noChangeArrowheads="1"/>
              </p:cNvSpPr>
              <p:nvPr/>
            </p:nvSpPr>
            <p:spPr bwMode="auto">
              <a:xfrm rot="5400000">
                <a:off x="7897198" y="31377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EA</a:t>
                </a:r>
              </a:p>
            </p:txBody>
          </p:sp>
          <p:sp>
            <p:nvSpPr>
              <p:cNvPr id="408" name="Text Box 11"/>
              <p:cNvSpPr txBox="1">
                <a:spLocks noChangeArrowheads="1"/>
              </p:cNvSpPr>
              <p:nvPr/>
            </p:nvSpPr>
            <p:spPr bwMode="auto">
              <a:xfrm rot="5400000">
                <a:off x="7897194" y="3975973"/>
                <a:ext cx="480169" cy="439581"/>
              </a:xfrm>
              <a:prstGeom prst="rect">
                <a:avLst/>
              </a:prstGeom>
              <a:solidFill>
                <a:srgbClr val="003399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="1" baseline="0" dirty="0">
                    <a:solidFill>
                      <a:schemeClr val="bg1"/>
                    </a:solidFill>
                    <a:latin typeface="Arial" charset="0"/>
                    <a:ea typeface="+mn-ea"/>
                  </a:rPr>
                  <a:t>OP</a:t>
                </a:r>
              </a:p>
            </p:txBody>
          </p:sp>
          <p:sp>
            <p:nvSpPr>
              <p:cNvPr id="428" name="Line 13"/>
              <p:cNvSpPr>
                <a:spLocks noChangeShapeType="1"/>
              </p:cNvSpPr>
              <p:nvPr/>
            </p:nvSpPr>
            <p:spPr bwMode="auto">
              <a:xfrm>
                <a:off x="8077200" y="6096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29" name="Line 14"/>
              <p:cNvSpPr>
                <a:spLocks noChangeShapeType="1"/>
              </p:cNvSpPr>
              <p:nvPr/>
            </p:nvSpPr>
            <p:spPr bwMode="auto">
              <a:xfrm flipH="1">
                <a:off x="7543800" y="64008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0" name="Line 15"/>
              <p:cNvSpPr>
                <a:spLocks noChangeShapeType="1"/>
              </p:cNvSpPr>
              <p:nvPr/>
            </p:nvSpPr>
            <p:spPr bwMode="auto">
              <a:xfrm flipV="1">
                <a:off x="7543800" y="1143000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1" name="Line 16"/>
              <p:cNvSpPr>
                <a:spLocks noChangeShapeType="1"/>
              </p:cNvSpPr>
              <p:nvPr/>
            </p:nvSpPr>
            <p:spPr bwMode="auto">
              <a:xfrm>
                <a:off x="7543800" y="11430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2" name="Line 17"/>
              <p:cNvSpPr>
                <a:spLocks noChangeShapeType="1"/>
              </p:cNvSpPr>
              <p:nvPr/>
            </p:nvSpPr>
            <p:spPr bwMode="auto">
              <a:xfrm>
                <a:off x="8077200" y="1143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5" name="Text Box 4"/>
              <p:cNvSpPr txBox="1">
                <a:spLocks noChangeArrowheads="1"/>
              </p:cNvSpPr>
              <p:nvPr/>
            </p:nvSpPr>
            <p:spPr bwMode="auto">
              <a:xfrm rot="5400000">
                <a:off x="7897194" y="22995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D</a:t>
                </a:r>
              </a:p>
            </p:txBody>
          </p:sp>
        </p:grpSp>
        <p:sp>
          <p:nvSpPr>
            <p:cNvPr id="434" name="Text Box 11"/>
            <p:cNvSpPr txBox="1">
              <a:spLocks noChangeArrowheads="1"/>
            </p:cNvSpPr>
            <p:nvPr/>
          </p:nvSpPr>
          <p:spPr bwMode="auto">
            <a:xfrm>
              <a:off x="7505035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37" name="Text Box 11"/>
            <p:cNvSpPr txBox="1">
              <a:spLocks noChangeArrowheads="1"/>
            </p:cNvSpPr>
            <p:nvPr/>
          </p:nvSpPr>
          <p:spPr bwMode="auto">
            <a:xfrm>
              <a:off x="8297123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</p:grp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4" name="直接连接符 193"/>
          <p:cNvCxnSpPr/>
          <p:nvPr/>
        </p:nvCxnSpPr>
        <p:spPr bwMode="auto">
          <a:xfrm rot="16200000">
            <a:off x="2711171" y="3950750"/>
            <a:ext cx="1726" cy="59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7" name="直接连接符 426"/>
          <p:cNvCxnSpPr/>
          <p:nvPr/>
        </p:nvCxnSpPr>
        <p:spPr bwMode="auto">
          <a:xfrm>
            <a:off x="1224000" y="4237200"/>
            <a:ext cx="1726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782090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STR (</a:t>
            </a:r>
            <a:r>
              <a:rPr lang="en-US" altLang="zh-CN" baseline="0" dirty="0" err="1">
                <a:ea typeface="宋体" panose="02010600030101010101" pitchFamily="2" charset="-122"/>
              </a:rPr>
              <a:t>Base+Offset</a:t>
            </a:r>
            <a:r>
              <a:rPr lang="en-US" altLang="zh-CN" baseline="0" dirty="0">
                <a:ea typeface="宋体" panose="02010600030101010101" pitchFamily="2" charset="-122"/>
              </a:rPr>
              <a:t>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436" name="组合 435"/>
          <p:cNvGrpSpPr/>
          <p:nvPr/>
        </p:nvGrpSpPr>
        <p:grpSpPr>
          <a:xfrm>
            <a:off x="4122344" y="188640"/>
            <a:ext cx="4942139" cy="578814"/>
            <a:chOff x="4122344" y="188640"/>
            <a:chExt cx="4942139" cy="578814"/>
          </a:xfrm>
        </p:grpSpPr>
        <p:sp>
          <p:nvSpPr>
            <p:cNvPr id="437" name="Text Box 4"/>
            <p:cNvSpPr txBox="1">
              <a:spLocks noChangeArrowheads="1"/>
            </p:cNvSpPr>
            <p:nvPr/>
          </p:nvSpPr>
          <p:spPr bwMode="auto">
            <a:xfrm>
              <a:off x="4355976" y="188640"/>
              <a:ext cx="451341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grpSp>
          <p:nvGrpSpPr>
            <p:cNvPr id="452" name="组合 451"/>
            <p:cNvGrpSpPr/>
            <p:nvPr/>
          </p:nvGrpSpPr>
          <p:grpSpPr>
            <a:xfrm rot="16200000">
              <a:off x="6308703" y="-1988326"/>
              <a:ext cx="569421" cy="4942139"/>
              <a:chOff x="7543800" y="1143000"/>
              <a:chExt cx="813273" cy="5257800"/>
            </a:xfrm>
          </p:grpSpPr>
          <p:sp>
            <p:nvSpPr>
              <p:cNvPr id="456" name="Line 5"/>
              <p:cNvSpPr>
                <a:spLocks noChangeShapeType="1"/>
              </p:cNvSpPr>
              <p:nvPr/>
            </p:nvSpPr>
            <p:spPr bwMode="auto">
              <a:xfrm>
                <a:off x="8077200" y="19050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7" name="Line 6"/>
              <p:cNvSpPr>
                <a:spLocks noChangeShapeType="1"/>
              </p:cNvSpPr>
              <p:nvPr/>
            </p:nvSpPr>
            <p:spPr bwMode="auto">
              <a:xfrm>
                <a:off x="8101013" y="27432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8" name="Line 7"/>
              <p:cNvSpPr>
                <a:spLocks noChangeShapeType="1"/>
              </p:cNvSpPr>
              <p:nvPr/>
            </p:nvSpPr>
            <p:spPr bwMode="auto">
              <a:xfrm>
                <a:off x="8077200" y="35814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9" name="Line 8"/>
              <p:cNvSpPr>
                <a:spLocks noChangeShapeType="1"/>
              </p:cNvSpPr>
              <p:nvPr/>
            </p:nvSpPr>
            <p:spPr bwMode="auto">
              <a:xfrm>
                <a:off x="8056563" y="44196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0" name="Line 9"/>
              <p:cNvSpPr>
                <a:spLocks noChangeShapeType="1"/>
              </p:cNvSpPr>
              <p:nvPr/>
            </p:nvSpPr>
            <p:spPr bwMode="auto">
              <a:xfrm>
                <a:off x="8070850" y="525780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1" name="Text Box 10"/>
              <p:cNvSpPr txBox="1">
                <a:spLocks noChangeArrowheads="1"/>
              </p:cNvSpPr>
              <p:nvPr/>
            </p:nvSpPr>
            <p:spPr bwMode="auto">
              <a:xfrm rot="5400000">
                <a:off x="7897198" y="31377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EA</a:t>
                </a:r>
              </a:p>
            </p:txBody>
          </p:sp>
          <p:sp>
            <p:nvSpPr>
              <p:cNvPr id="463" name="Line 13"/>
              <p:cNvSpPr>
                <a:spLocks noChangeShapeType="1"/>
              </p:cNvSpPr>
              <p:nvPr/>
            </p:nvSpPr>
            <p:spPr bwMode="auto">
              <a:xfrm>
                <a:off x="8077200" y="6096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4" name="Line 14"/>
              <p:cNvSpPr>
                <a:spLocks noChangeShapeType="1"/>
              </p:cNvSpPr>
              <p:nvPr/>
            </p:nvSpPr>
            <p:spPr bwMode="auto">
              <a:xfrm flipH="1">
                <a:off x="7543800" y="64008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5" name="Line 15"/>
              <p:cNvSpPr>
                <a:spLocks noChangeShapeType="1"/>
              </p:cNvSpPr>
              <p:nvPr/>
            </p:nvSpPr>
            <p:spPr bwMode="auto">
              <a:xfrm flipV="1">
                <a:off x="7543800" y="1143000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6" name="Line 16"/>
              <p:cNvSpPr>
                <a:spLocks noChangeShapeType="1"/>
              </p:cNvSpPr>
              <p:nvPr/>
            </p:nvSpPr>
            <p:spPr bwMode="auto">
              <a:xfrm>
                <a:off x="7543800" y="1143000"/>
                <a:ext cx="533400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7" name="Line 17"/>
              <p:cNvSpPr>
                <a:spLocks noChangeShapeType="1"/>
              </p:cNvSpPr>
              <p:nvPr/>
            </p:nvSpPr>
            <p:spPr bwMode="auto">
              <a:xfrm>
                <a:off x="8077200" y="114300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68" name="Text Box 4"/>
              <p:cNvSpPr txBox="1">
                <a:spLocks noChangeArrowheads="1"/>
              </p:cNvSpPr>
              <p:nvPr/>
            </p:nvSpPr>
            <p:spPr bwMode="auto">
              <a:xfrm rot="5400000">
                <a:off x="7897194" y="2299573"/>
                <a:ext cx="480169" cy="43958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D</a:t>
                </a:r>
              </a:p>
            </p:txBody>
          </p:sp>
        </p:grpSp>
        <p:sp>
          <p:nvSpPr>
            <p:cNvPr id="455" name="Text Box 11"/>
            <p:cNvSpPr txBox="1">
              <a:spLocks noChangeArrowheads="1"/>
            </p:cNvSpPr>
            <p:nvPr/>
          </p:nvSpPr>
          <p:spPr bwMode="auto">
            <a:xfrm>
              <a:off x="8297123" y="188640"/>
              <a:ext cx="451341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</p:grpSp>
      <p:sp>
        <p:nvSpPr>
          <p:cNvPr id="469" name="Text Box 11"/>
          <p:cNvSpPr txBox="1">
            <a:spLocks noChangeArrowheads="1"/>
          </p:cNvSpPr>
          <p:nvPr/>
        </p:nvSpPr>
        <p:spPr bwMode="auto">
          <a:xfrm>
            <a:off x="6751657" y="188639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OP</a:t>
            </a: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0" name="Text Box 11"/>
          <p:cNvSpPr txBox="1">
            <a:spLocks noChangeArrowheads="1"/>
          </p:cNvSpPr>
          <p:nvPr/>
        </p:nvSpPr>
        <p:spPr bwMode="auto">
          <a:xfrm>
            <a:off x="7524328" y="188640"/>
            <a:ext cx="451341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3984286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CB13A2-9CEE-4D29-A528-3466DE22D29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9CC57F-72C1-416C-A5F3-CECF608B1F30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Load Effective Address</a:t>
            </a: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11430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Computes address like PC-relative (PC plus signed offset) and </a:t>
            </a:r>
            <a:r>
              <a:rPr lang="en-US" altLang="zh-CN" dirty="0">
                <a:solidFill>
                  <a:srgbClr val="CE0000"/>
                </a:solidFill>
                <a:ea typeface="宋体" panose="02010600030101010101" pitchFamily="2" charset="-122"/>
              </a:rPr>
              <a:t>stores the result into a register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1143000" algn="l"/>
              </a:tabLst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tabLst>
                <a:tab pos="1143000" algn="l"/>
              </a:tabLst>
            </a:pPr>
            <a:r>
              <a:rPr lang="en-US" altLang="zh-CN" dirty="0">
                <a:ea typeface="宋体" panose="02010600030101010101" pitchFamily="2" charset="-122"/>
              </a:rPr>
              <a:t>Note: 	The </a:t>
            </a:r>
            <a:r>
              <a:rPr lang="en-US" altLang="zh-CN" i="1" u="sng" dirty="0">
                <a:ea typeface="宋体" panose="02010600030101010101" pitchFamily="2" charset="-122"/>
              </a:rPr>
              <a:t>address</a:t>
            </a:r>
            <a:r>
              <a:rPr lang="en-US" altLang="zh-CN" dirty="0">
                <a:ea typeface="宋体" panose="02010600030101010101" pitchFamily="2" charset="-122"/>
              </a:rPr>
              <a:t> is stored in the register,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	not the contents of the memory location.</a:t>
            </a:r>
          </a:p>
          <a:p>
            <a:pPr marL="0" indent="0">
              <a:buFont typeface="Wingdings" panose="05000000000000000000" pitchFamily="2" charset="2"/>
              <a:buNone/>
              <a:tabLst>
                <a:tab pos="1143000" algn="l"/>
              </a:tabLst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58C529-4E40-479B-BD54-1316D94E0698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403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3FA183-E14C-482D-B20B-946249A7C50F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LEA (Immediate)    LD DR, PCoffset9</a:t>
            </a:r>
          </a:p>
        </p:txBody>
      </p:sp>
      <p:pic>
        <p:nvPicPr>
          <p:cNvPr id="44037" name="Picture 3" descr="ch05-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5" y="980728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4" descr="ch05-21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09800"/>
            <a:ext cx="4927600" cy="349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箭头连接符 6"/>
          <p:cNvCxnSpPr/>
          <p:nvPr/>
        </p:nvCxnSpPr>
        <p:spPr bwMode="auto">
          <a:xfrm>
            <a:off x="4557713" y="4978400"/>
            <a:ext cx="720725" cy="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549775" y="5040788"/>
            <a:ext cx="736600" cy="46196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riam Fixed" panose="020B0509050101010101" pitchFamily="49" charset="-79"/>
                <a:ea typeface="MingLiU" panose="02020509000000000000" pitchFamily="49" charset="-120"/>
                <a:cs typeface="Miriam Fixed" panose="020B0509050101010101" pitchFamily="49" charset="-79"/>
              </a:rPr>
              <a:t>LEA</a:t>
            </a:r>
            <a:endParaRPr lang="zh-CN" altLang="en-US" sz="2400" b="1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riam Fixed" panose="020B0509050101010101" pitchFamily="49" charset="-79"/>
              <a:ea typeface="MingLiU" panose="02020509000000000000" pitchFamily="49" charset="-120"/>
              <a:cs typeface="Miriam Fixed" panose="020B0509050101010101" pitchFamily="49" charset="-79"/>
            </a:endParaRPr>
          </a:p>
        </p:txBody>
      </p:sp>
      <p:sp>
        <p:nvSpPr>
          <p:cNvPr id="44041" name="等腰三角形 8"/>
          <p:cNvSpPr>
            <a:spLocks noChangeArrowheads="1"/>
          </p:cNvSpPr>
          <p:nvPr/>
        </p:nvSpPr>
        <p:spPr bwMode="auto">
          <a:xfrm rot="5400000" flipH="1">
            <a:off x="5190332" y="4929981"/>
            <a:ext cx="106362" cy="9842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 bwMode="auto">
          <a:xfrm>
            <a:off x="3214118" y="3933056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x4019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5" name="矩形 144"/>
          <p:cNvSpPr/>
          <p:nvPr/>
        </p:nvSpPr>
        <p:spPr bwMode="auto">
          <a:xfrm>
            <a:off x="687716" y="3247570"/>
            <a:ext cx="1494508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IR[8:0]=110101111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4" name="矩形 143"/>
          <p:cNvSpPr/>
          <p:nvPr/>
        </p:nvSpPr>
        <p:spPr bwMode="auto">
          <a:xfrm>
            <a:off x="187227" y="3838629"/>
            <a:ext cx="2008509" cy="4544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200" b="1" baseline="0" dirty="0">
                <a:solidFill>
                  <a:srgbClr val="FF0000"/>
                </a:solidFill>
                <a:latin typeface="Arial" charset="0"/>
              </a:rPr>
              <a:t>1111111</a:t>
            </a:r>
            <a:r>
              <a:rPr lang="en-US" altLang="zh-CN" sz="1200" baseline="0" dirty="0">
                <a:latin typeface="Arial" charset="0"/>
              </a:rPr>
              <a:t>110101111 = </a:t>
            </a:r>
            <a:r>
              <a:rPr lang="en-US" altLang="zh-CN" sz="1200" baseline="0" dirty="0" err="1">
                <a:latin typeface="Arial" charset="0"/>
              </a:rPr>
              <a:t>xFFAF</a:t>
            </a:r>
            <a:endParaRPr lang="zh-CN" altLang="en-US" sz="1200" baseline="0" dirty="0">
              <a:latin typeface="Arial" charset="0"/>
            </a:endParaRPr>
          </a:p>
        </p:txBody>
      </p:sp>
      <p:sp>
        <p:nvSpPr>
          <p:cNvPr id="17410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9A8222-020F-4230-ADAA-5A08CB554917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7E0EDB-A1EF-4E3E-9F94-FDEEB5235787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1400" b="0" dirty="0">
              <a:ea typeface="宋体" panose="02010600030101010101" pitchFamily="2" charset="-122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LEA (Immediate): LEA R1, x1AF</a:t>
            </a:r>
          </a:p>
        </p:txBody>
      </p:sp>
      <p:grpSp>
        <p:nvGrpSpPr>
          <p:cNvPr id="17452" name="组合 17451"/>
          <p:cNvGrpSpPr/>
          <p:nvPr/>
        </p:nvGrpSpPr>
        <p:grpSpPr>
          <a:xfrm>
            <a:off x="1763688" y="4200361"/>
            <a:ext cx="1773164" cy="552752"/>
            <a:chOff x="3551400" y="5066709"/>
            <a:chExt cx="1773164" cy="552752"/>
          </a:xfrm>
        </p:grpSpPr>
        <p:grpSp>
          <p:nvGrpSpPr>
            <p:cNvPr id="17416" name="组合 17415"/>
            <p:cNvGrpSpPr/>
            <p:nvPr/>
          </p:nvGrpSpPr>
          <p:grpSpPr>
            <a:xfrm>
              <a:off x="3551400" y="5125351"/>
              <a:ext cx="1773164" cy="494110"/>
              <a:chOff x="4671044" y="5013176"/>
              <a:chExt cx="1485948" cy="494110"/>
            </a:xfrm>
          </p:grpSpPr>
          <p:sp>
            <p:nvSpPr>
              <p:cNvPr id="8" name="流程图: 手动操作 7"/>
              <p:cNvSpPr/>
              <p:nvPr/>
            </p:nvSpPr>
            <p:spPr bwMode="auto">
              <a:xfrm>
                <a:off x="4671044" y="5013176"/>
                <a:ext cx="1485948" cy="494110"/>
              </a:xfrm>
              <a:prstGeom prst="flowChartManualOperation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08000" tIns="14400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+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grpSp>
            <p:nvGrpSpPr>
              <p:cNvPr id="17408" name="组合 17407"/>
              <p:cNvGrpSpPr/>
              <p:nvPr/>
            </p:nvGrpSpPr>
            <p:grpSpPr>
              <a:xfrm>
                <a:off x="5252018" y="5013176"/>
                <a:ext cx="324000" cy="144000"/>
                <a:chOff x="6012160" y="4581128"/>
                <a:chExt cx="360040" cy="216024"/>
              </a:xfrm>
            </p:grpSpPr>
            <p:sp>
              <p:nvSpPr>
                <p:cNvPr id="9" name="流程图: 合并 8"/>
                <p:cNvSpPr/>
                <p:nvPr/>
              </p:nvSpPr>
              <p:spPr bwMode="auto">
                <a:xfrm>
                  <a:off x="6012160" y="4581128"/>
                  <a:ext cx="360040" cy="216024"/>
                </a:xfrm>
                <a:prstGeom prst="flowChartMerge">
                  <a:avLst/>
                </a:prstGeom>
                <a:solidFill>
                  <a:schemeClr val="bg1"/>
                </a:solidFill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cxnSp>
              <p:nvCxnSpPr>
                <p:cNvPr id="374" name="直接连接符 373"/>
                <p:cNvCxnSpPr/>
                <p:nvPr/>
              </p:nvCxnSpPr>
              <p:spPr bwMode="auto">
                <a:xfrm>
                  <a:off x="601216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91" name="直接连接符 390"/>
                <p:cNvCxnSpPr/>
                <p:nvPr/>
              </p:nvCxnSpPr>
              <p:spPr bwMode="auto">
                <a:xfrm flipH="1">
                  <a:off x="6192180" y="4581128"/>
                  <a:ext cx="180020" cy="216024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17451" name="文本框 17450"/>
            <p:cNvSpPr txBox="1"/>
            <p:nvPr/>
          </p:nvSpPr>
          <p:spPr>
            <a:xfrm>
              <a:off x="3708678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A</a:t>
              </a:r>
              <a:endParaRPr lang="zh-CN" altLang="en-US" sz="1200" baseline="0" dirty="0"/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4860032" y="5066709"/>
              <a:ext cx="2872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aseline="0" dirty="0"/>
                <a:t>B</a:t>
              </a:r>
              <a:endParaRPr lang="zh-CN" altLang="en-US" sz="1200" baseline="0" dirty="0"/>
            </a:p>
          </p:txBody>
        </p:sp>
      </p:grpSp>
      <p:sp>
        <p:nvSpPr>
          <p:cNvPr id="440" name="文本框 439"/>
          <p:cNvSpPr txBox="1"/>
          <p:nvPr/>
        </p:nvSpPr>
        <p:spPr>
          <a:xfrm>
            <a:off x="2616689" y="48598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②</a:t>
            </a:r>
            <a:endParaRPr lang="zh-CN" altLang="en-US" baseline="0" dirty="0"/>
          </a:p>
        </p:txBody>
      </p:sp>
      <p:sp>
        <p:nvSpPr>
          <p:cNvPr id="118" name="文本框 117"/>
          <p:cNvSpPr txBox="1"/>
          <p:nvPr/>
        </p:nvSpPr>
        <p:spPr>
          <a:xfrm>
            <a:off x="3193583" y="3185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①</a:t>
            </a:r>
            <a:endParaRPr lang="zh-CN" altLang="en-US" baseline="0" dirty="0"/>
          </a:p>
        </p:txBody>
      </p:sp>
      <p:sp>
        <p:nvSpPr>
          <p:cNvPr id="101" name="矩形 100"/>
          <p:cNvSpPr/>
          <p:nvPr/>
        </p:nvSpPr>
        <p:spPr bwMode="auto">
          <a:xfrm>
            <a:off x="1516201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26870" y="2904217"/>
            <a:ext cx="996179" cy="228935"/>
            <a:chOff x="1626870" y="2636912"/>
            <a:chExt cx="996179" cy="228935"/>
          </a:xfrm>
        </p:grpSpPr>
        <p:sp>
          <p:nvSpPr>
            <p:cNvPr id="102" name="矩形 101"/>
            <p:cNvSpPr/>
            <p:nvPr/>
          </p:nvSpPr>
          <p:spPr bwMode="auto">
            <a:xfrm>
              <a:off x="1626870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3" name="矩形 102"/>
            <p:cNvSpPr/>
            <p:nvPr/>
          </p:nvSpPr>
          <p:spPr bwMode="auto">
            <a:xfrm>
              <a:off x="1737539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4" name="矩形 103"/>
            <p:cNvSpPr/>
            <p:nvPr/>
          </p:nvSpPr>
          <p:spPr bwMode="auto">
            <a:xfrm>
              <a:off x="1848207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5" name="矩形 104"/>
            <p:cNvSpPr/>
            <p:nvPr/>
          </p:nvSpPr>
          <p:spPr bwMode="auto">
            <a:xfrm>
              <a:off x="1958876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06" name="矩形 105"/>
            <p:cNvSpPr/>
            <p:nvPr/>
          </p:nvSpPr>
          <p:spPr bwMode="auto">
            <a:xfrm>
              <a:off x="2069544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7" name="矩形 106"/>
            <p:cNvSpPr/>
            <p:nvPr/>
          </p:nvSpPr>
          <p:spPr bwMode="auto">
            <a:xfrm>
              <a:off x="2180213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8" name="矩形 107"/>
            <p:cNvSpPr/>
            <p:nvPr/>
          </p:nvSpPr>
          <p:spPr bwMode="auto">
            <a:xfrm>
              <a:off x="2290881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401550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512216" y="2636912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11" name="矩形 110"/>
          <p:cNvSpPr/>
          <p:nvPr/>
        </p:nvSpPr>
        <p:spPr bwMode="auto">
          <a:xfrm>
            <a:off x="852190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2" name="矩形 111"/>
          <p:cNvSpPr/>
          <p:nvPr/>
        </p:nvSpPr>
        <p:spPr bwMode="auto">
          <a:xfrm>
            <a:off x="962859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1073527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1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1184196" y="2904217"/>
            <a:ext cx="110833" cy="22893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solidFill>
                  <a:schemeClr val="bg1"/>
                </a:solidFill>
                <a:latin typeface="Arial" charset="0"/>
              </a:rPr>
              <a:t>0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1294864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1405533" y="2904217"/>
            <a:ext cx="110833" cy="228935"/>
          </a:xfrm>
          <a:prstGeom prst="rect">
            <a:avLst/>
          </a:prstGeom>
          <a:solidFill>
            <a:srgbClr val="FF99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539552" y="2908793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IR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0" name="矩形 119"/>
          <p:cNvSpPr/>
          <p:nvPr/>
        </p:nvSpPr>
        <p:spPr bwMode="auto">
          <a:xfrm>
            <a:off x="1832256" y="3641392"/>
            <a:ext cx="579504" cy="2709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SEXT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9" name="直接箭头连接符 38"/>
          <p:cNvCxnSpPr/>
          <p:nvPr/>
        </p:nvCxnSpPr>
        <p:spPr bwMode="auto">
          <a:xfrm flipH="1">
            <a:off x="2123728" y="3146504"/>
            <a:ext cx="1" cy="504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17" name="矩形 17416"/>
          <p:cNvSpPr/>
          <p:nvPr/>
        </p:nvSpPr>
        <p:spPr bwMode="auto">
          <a:xfrm>
            <a:off x="4455840" y="2184137"/>
            <a:ext cx="1781229" cy="18360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32" name="矩形 231"/>
          <p:cNvSpPr/>
          <p:nvPr/>
        </p:nvSpPr>
        <p:spPr bwMode="auto">
          <a:xfrm>
            <a:off x="4457325" y="2184137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9" name="矩形 248"/>
          <p:cNvSpPr/>
          <p:nvPr/>
        </p:nvSpPr>
        <p:spPr bwMode="auto">
          <a:xfrm>
            <a:off x="4457325" y="2642058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7" name="矩形 316"/>
          <p:cNvSpPr/>
          <p:nvPr/>
        </p:nvSpPr>
        <p:spPr bwMode="auto">
          <a:xfrm>
            <a:off x="4457325" y="3099979"/>
            <a:ext cx="1770859" cy="22896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4" name="矩形 333"/>
          <p:cNvSpPr/>
          <p:nvPr/>
        </p:nvSpPr>
        <p:spPr bwMode="auto">
          <a:xfrm>
            <a:off x="4457325" y="355790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1" name="矩形 350"/>
          <p:cNvSpPr/>
          <p:nvPr/>
        </p:nvSpPr>
        <p:spPr bwMode="auto">
          <a:xfrm>
            <a:off x="4457325" y="3786862"/>
            <a:ext cx="1770859" cy="22896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5" name="矩形 374"/>
          <p:cNvSpPr/>
          <p:nvPr/>
        </p:nvSpPr>
        <p:spPr bwMode="auto">
          <a:xfrm>
            <a:off x="4139952" y="2184163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R0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6" name="矩形 375"/>
          <p:cNvSpPr/>
          <p:nvPr/>
        </p:nvSpPr>
        <p:spPr bwMode="auto">
          <a:xfrm>
            <a:off x="4139952" y="264208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R2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7" name="矩形 376"/>
          <p:cNvSpPr/>
          <p:nvPr/>
        </p:nvSpPr>
        <p:spPr bwMode="auto">
          <a:xfrm>
            <a:off x="4139952" y="332896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R5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8" name="矩形 377"/>
          <p:cNvSpPr/>
          <p:nvPr/>
        </p:nvSpPr>
        <p:spPr bwMode="auto">
          <a:xfrm>
            <a:off x="4139952" y="241312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R1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79" name="矩形 378"/>
          <p:cNvSpPr/>
          <p:nvPr/>
        </p:nvSpPr>
        <p:spPr bwMode="auto">
          <a:xfrm>
            <a:off x="4139952" y="2871044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R3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0" name="矩形 379"/>
          <p:cNvSpPr/>
          <p:nvPr/>
        </p:nvSpPr>
        <p:spPr bwMode="auto">
          <a:xfrm>
            <a:off x="4139952" y="3100005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R4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1" name="矩形 380"/>
          <p:cNvSpPr/>
          <p:nvPr/>
        </p:nvSpPr>
        <p:spPr bwMode="auto">
          <a:xfrm>
            <a:off x="4139952" y="355792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R6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2" name="矩形 381"/>
          <p:cNvSpPr/>
          <p:nvPr/>
        </p:nvSpPr>
        <p:spPr bwMode="auto">
          <a:xfrm>
            <a:off x="4139952" y="3786886"/>
            <a:ext cx="267142" cy="22893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R7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57325" y="2413124"/>
            <a:ext cx="1770859" cy="228935"/>
            <a:chOff x="3695735" y="2204864"/>
            <a:chExt cx="1770859" cy="228935"/>
          </a:xfrm>
        </p:grpSpPr>
        <p:sp>
          <p:nvSpPr>
            <p:cNvPr id="81" name="矩形 80"/>
            <p:cNvSpPr/>
            <p:nvPr/>
          </p:nvSpPr>
          <p:spPr bwMode="auto">
            <a:xfrm>
              <a:off x="435974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2" name="矩形 81"/>
            <p:cNvSpPr/>
            <p:nvPr/>
          </p:nvSpPr>
          <p:spPr bwMode="auto">
            <a:xfrm>
              <a:off x="447041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3" name="矩形 82"/>
            <p:cNvSpPr/>
            <p:nvPr/>
          </p:nvSpPr>
          <p:spPr bwMode="auto">
            <a:xfrm>
              <a:off x="458108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4" name="矩形 83"/>
            <p:cNvSpPr/>
            <p:nvPr/>
          </p:nvSpPr>
          <p:spPr bwMode="auto">
            <a:xfrm>
              <a:off x="469175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5" name="矩形 84"/>
            <p:cNvSpPr/>
            <p:nvPr/>
          </p:nvSpPr>
          <p:spPr bwMode="auto">
            <a:xfrm>
              <a:off x="480242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6" name="矩形 85"/>
            <p:cNvSpPr/>
            <p:nvPr/>
          </p:nvSpPr>
          <p:spPr bwMode="auto">
            <a:xfrm>
              <a:off x="491308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7" name="矩形 86"/>
            <p:cNvSpPr/>
            <p:nvPr/>
          </p:nvSpPr>
          <p:spPr bwMode="auto">
            <a:xfrm>
              <a:off x="502375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8" name="矩形 87"/>
            <p:cNvSpPr/>
            <p:nvPr/>
          </p:nvSpPr>
          <p:spPr bwMode="auto">
            <a:xfrm>
              <a:off x="5134426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9" name="矩形 88"/>
            <p:cNvSpPr/>
            <p:nvPr/>
          </p:nvSpPr>
          <p:spPr bwMode="auto">
            <a:xfrm>
              <a:off x="524509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0" name="矩形 89"/>
            <p:cNvSpPr/>
            <p:nvPr/>
          </p:nvSpPr>
          <p:spPr bwMode="auto">
            <a:xfrm>
              <a:off x="535576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矩形 90"/>
            <p:cNvSpPr/>
            <p:nvPr/>
          </p:nvSpPr>
          <p:spPr bwMode="auto">
            <a:xfrm>
              <a:off x="3695735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2" name="矩形 91"/>
            <p:cNvSpPr/>
            <p:nvPr/>
          </p:nvSpPr>
          <p:spPr bwMode="auto">
            <a:xfrm>
              <a:off x="3806404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0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3" name="矩形 92"/>
            <p:cNvSpPr/>
            <p:nvPr/>
          </p:nvSpPr>
          <p:spPr bwMode="auto">
            <a:xfrm>
              <a:off x="3917072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4" name="矩形 93"/>
            <p:cNvSpPr/>
            <p:nvPr/>
          </p:nvSpPr>
          <p:spPr bwMode="auto">
            <a:xfrm>
              <a:off x="4027741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矩形 94"/>
            <p:cNvSpPr/>
            <p:nvPr/>
          </p:nvSpPr>
          <p:spPr bwMode="auto">
            <a:xfrm>
              <a:off x="4138409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6" name="矩形 95"/>
            <p:cNvSpPr/>
            <p:nvPr/>
          </p:nvSpPr>
          <p:spPr bwMode="auto">
            <a:xfrm>
              <a:off x="4249078" y="2204864"/>
              <a:ext cx="110833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1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00" name="矩形 299"/>
          <p:cNvSpPr/>
          <p:nvPr/>
        </p:nvSpPr>
        <p:spPr bwMode="auto">
          <a:xfrm>
            <a:off x="4457325" y="2874537"/>
            <a:ext cx="1771200" cy="2254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29868" y="2289613"/>
            <a:ext cx="2083497" cy="233511"/>
            <a:chOff x="428719" y="4926337"/>
            <a:chExt cx="2083497" cy="233511"/>
          </a:xfrm>
        </p:grpSpPr>
        <p:sp>
          <p:nvSpPr>
            <p:cNvPr id="181" name="矩形 180"/>
            <p:cNvSpPr/>
            <p:nvPr/>
          </p:nvSpPr>
          <p:spPr bwMode="auto">
            <a:xfrm>
              <a:off x="1405368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151603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1626706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737374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84804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6" name="矩形 185"/>
            <p:cNvSpPr/>
            <p:nvPr/>
          </p:nvSpPr>
          <p:spPr bwMode="auto">
            <a:xfrm>
              <a:off x="1958711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8" name="矩形 187"/>
            <p:cNvSpPr/>
            <p:nvPr/>
          </p:nvSpPr>
          <p:spPr bwMode="auto">
            <a:xfrm>
              <a:off x="2069380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89" name="矩形 188"/>
            <p:cNvSpPr/>
            <p:nvPr/>
          </p:nvSpPr>
          <p:spPr bwMode="auto">
            <a:xfrm>
              <a:off x="2180048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0" name="矩形 189"/>
            <p:cNvSpPr/>
            <p:nvPr/>
          </p:nvSpPr>
          <p:spPr bwMode="auto">
            <a:xfrm>
              <a:off x="229071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1" name="矩形 190"/>
            <p:cNvSpPr/>
            <p:nvPr/>
          </p:nvSpPr>
          <p:spPr bwMode="auto">
            <a:xfrm>
              <a:off x="240138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2" name="矩形 191"/>
            <p:cNvSpPr/>
            <p:nvPr/>
          </p:nvSpPr>
          <p:spPr bwMode="auto">
            <a:xfrm>
              <a:off x="741357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0" u="none" strike="noStrike" cap="none" normalizeH="0" baseline="0" dirty="0">
                  <a:ln>
                    <a:noFill/>
                  </a:ln>
                  <a:effectLst/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3" name="矩形 192"/>
            <p:cNvSpPr/>
            <p:nvPr/>
          </p:nvSpPr>
          <p:spPr bwMode="auto">
            <a:xfrm>
              <a:off x="852026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1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4" name="矩形 193"/>
            <p:cNvSpPr/>
            <p:nvPr/>
          </p:nvSpPr>
          <p:spPr bwMode="auto">
            <a:xfrm>
              <a:off x="962694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5" name="矩形 194"/>
            <p:cNvSpPr/>
            <p:nvPr/>
          </p:nvSpPr>
          <p:spPr bwMode="auto">
            <a:xfrm>
              <a:off x="1073363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6" name="矩形 195"/>
            <p:cNvSpPr/>
            <p:nvPr/>
          </p:nvSpPr>
          <p:spPr bwMode="auto">
            <a:xfrm>
              <a:off x="1184031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7" name="矩形 196"/>
            <p:cNvSpPr/>
            <p:nvPr/>
          </p:nvSpPr>
          <p:spPr bwMode="auto">
            <a:xfrm>
              <a:off x="1294700" y="4926337"/>
              <a:ext cx="110833" cy="22893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0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98" name="矩形 197"/>
            <p:cNvSpPr/>
            <p:nvPr/>
          </p:nvSpPr>
          <p:spPr bwMode="auto">
            <a:xfrm>
              <a:off x="428719" y="4930913"/>
              <a:ext cx="267142" cy="22893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aseline="0" dirty="0">
                  <a:latin typeface="Arial" charset="0"/>
                </a:rPr>
                <a:t>PC</a:t>
              </a:r>
              <a:endPara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cxnSp>
        <p:nvCxnSpPr>
          <p:cNvPr id="199" name="肘形连接符 198"/>
          <p:cNvCxnSpPr>
            <a:stCxn id="191" idx="3"/>
            <a:endCxn id="433" idx="0"/>
          </p:cNvCxnSpPr>
          <p:nvPr/>
        </p:nvCxnSpPr>
        <p:spPr bwMode="auto">
          <a:xfrm>
            <a:off x="2613365" y="2404081"/>
            <a:ext cx="602584" cy="179628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2" name="直接箭头连接符 201"/>
          <p:cNvCxnSpPr/>
          <p:nvPr/>
        </p:nvCxnSpPr>
        <p:spPr bwMode="auto">
          <a:xfrm flipH="1">
            <a:off x="2123728" y="3912409"/>
            <a:ext cx="1" cy="3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肘形连接符 206"/>
          <p:cNvCxnSpPr>
            <a:stCxn id="8" idx="2"/>
          </p:cNvCxnSpPr>
          <p:nvPr/>
        </p:nvCxnSpPr>
        <p:spPr bwMode="auto">
          <a:xfrm rot="5400000" flipH="1" flipV="1">
            <a:off x="3328674" y="1844719"/>
            <a:ext cx="2229989" cy="3586799"/>
          </a:xfrm>
          <a:prstGeom prst="bentConnector4">
            <a:avLst>
              <a:gd name="adj1" fmla="val -34170"/>
              <a:gd name="adj2" fmla="val 125296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1" name="矩形 230"/>
          <p:cNvSpPr/>
          <p:nvPr/>
        </p:nvSpPr>
        <p:spPr bwMode="auto">
          <a:xfrm>
            <a:off x="420570" y="4811754"/>
            <a:ext cx="2081961" cy="13606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PC     = x4018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PC+1 = x4019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X4019 + </a:t>
            </a:r>
            <a:r>
              <a:rPr lang="en-US" altLang="zh-CN" sz="1200" baseline="0" dirty="0" err="1">
                <a:latin typeface="Arial" charset="0"/>
              </a:rPr>
              <a:t>xFFAF</a:t>
            </a:r>
            <a:r>
              <a:rPr lang="en-US" altLang="zh-CN" sz="1200" baseline="0" dirty="0">
                <a:latin typeface="Arial" charset="0"/>
              </a:rPr>
              <a:t> = x3FC8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2069544" y="31850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aseline="0" dirty="0">
                <a:latin typeface="宋体" panose="02010600030101010101" pitchFamily="2" charset="-122"/>
              </a:rPr>
              <a:t>①</a:t>
            </a:r>
            <a:endParaRPr lang="zh-CN" altLang="en-US" baseline="0" dirty="0"/>
          </a:p>
        </p:txBody>
      </p:sp>
      <p:sp>
        <p:nvSpPr>
          <p:cNvPr id="251" name="矩形 250"/>
          <p:cNvSpPr/>
          <p:nvPr/>
        </p:nvSpPr>
        <p:spPr bwMode="auto">
          <a:xfrm>
            <a:off x="2662605" y="5165233"/>
            <a:ext cx="637802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aseline="0" dirty="0">
                <a:latin typeface="Arial" charset="0"/>
              </a:rPr>
              <a:t>x3FC8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2" name="矩形 251"/>
          <p:cNvSpPr/>
          <p:nvPr/>
        </p:nvSpPr>
        <p:spPr bwMode="auto">
          <a:xfrm>
            <a:off x="4701767" y="1844824"/>
            <a:ext cx="1310393" cy="3068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b="1" baseline="0" dirty="0">
                <a:latin typeface="Arial" charset="0"/>
              </a:rPr>
              <a:t>Register File</a:t>
            </a:r>
            <a:endParaRPr kumimoji="0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2" name="Picture 3" descr="ch05-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5" y="980728"/>
            <a:ext cx="7459663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11579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LEA (Immediate)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89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0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1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7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8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08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27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28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9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1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2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3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34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35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21743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b="1" baseline="0" dirty="0">
                  <a:latin typeface="Arial" charset="0"/>
                </a:rPr>
                <a:t>SEXT</a:t>
              </a:r>
              <a:endPara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70</a:t>
            </a:fld>
            <a:endParaRPr lang="en-US" altLang="zh-CN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sp>
        <p:nvSpPr>
          <p:cNvPr id="375" name="矩形 374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cxnSp>
        <p:nvCxnSpPr>
          <p:cNvPr id="379" name="直接连接符 378"/>
          <p:cNvCxnSpPr/>
          <p:nvPr/>
        </p:nvCxnSpPr>
        <p:spPr bwMode="auto">
          <a:xfrm flipV="1">
            <a:off x="4644008" y="1448792"/>
            <a:ext cx="1726" cy="10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LEA (Immediate)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80" name="组合 37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438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39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0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1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2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3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4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45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46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9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0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1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2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3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  <p:sp>
        <p:nvSpPr>
          <p:cNvPr id="390" name="椭圆 389"/>
          <p:cNvSpPr/>
          <p:nvPr/>
        </p:nvSpPr>
        <p:spPr bwMode="auto">
          <a:xfrm>
            <a:off x="4622400" y="1412776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43844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组合 358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8" name="组合 367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70" name="等腰三角形 369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75" name="直接连接符 374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9" name="文本框 368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grpSp>
        <p:nvGrpSpPr>
          <p:cNvPr id="379" name="组合 37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80" name="组合 379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91" name="等腰三角形 39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97" name="直接连接符 396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90" name="文本框 38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398" name="组合 397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399" name="直接连接符 398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7" name="直接连接符 426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71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等腰三角形 86"/>
          <p:cNvSpPr/>
          <p:nvPr/>
        </p:nvSpPr>
        <p:spPr bwMode="auto">
          <a:xfrm rot="5400000">
            <a:off x="6677446" y="39131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 rot="5400000">
            <a:off x="6184465" y="3501034"/>
            <a:ext cx="0" cy="972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389" name="矩形 388"/>
          <p:cNvSpPr/>
          <p:nvPr/>
        </p:nvSpPr>
        <p:spPr bwMode="auto">
          <a:xfrm>
            <a:off x="5731200" y="4283503"/>
            <a:ext cx="501327" cy="10694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sp>
        <p:nvSpPr>
          <p:cNvPr id="42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LEA (Immediate)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360" name="组合 359"/>
          <p:cNvGrpSpPr/>
          <p:nvPr/>
        </p:nvGrpSpPr>
        <p:grpSpPr>
          <a:xfrm rot="16200000">
            <a:off x="6262811" y="-1998928"/>
            <a:ext cx="569421" cy="4942139"/>
            <a:chOff x="7543800" y="1143000"/>
            <a:chExt cx="813273" cy="5257800"/>
          </a:xfrm>
        </p:grpSpPr>
        <p:sp>
          <p:nvSpPr>
            <p:cNvPr id="361" name="Line 5"/>
            <p:cNvSpPr>
              <a:spLocks noChangeShapeType="1"/>
            </p:cNvSpPr>
            <p:nvPr/>
          </p:nvSpPr>
          <p:spPr bwMode="auto">
            <a:xfrm>
              <a:off x="8077200" y="19050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2" name="Line 6"/>
            <p:cNvSpPr>
              <a:spLocks noChangeShapeType="1"/>
            </p:cNvSpPr>
            <p:nvPr/>
          </p:nvSpPr>
          <p:spPr bwMode="auto">
            <a:xfrm>
              <a:off x="8101013" y="27432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3" name="Line 7"/>
            <p:cNvSpPr>
              <a:spLocks noChangeShapeType="1"/>
            </p:cNvSpPr>
            <p:nvPr/>
          </p:nvSpPr>
          <p:spPr bwMode="auto">
            <a:xfrm>
              <a:off x="8077200" y="35814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28" name="Line 8"/>
            <p:cNvSpPr>
              <a:spLocks noChangeShapeType="1"/>
            </p:cNvSpPr>
            <p:nvPr/>
          </p:nvSpPr>
          <p:spPr bwMode="auto">
            <a:xfrm>
              <a:off x="8056563" y="44196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7" name="Line 9"/>
            <p:cNvSpPr>
              <a:spLocks noChangeShapeType="1"/>
            </p:cNvSpPr>
            <p:nvPr/>
          </p:nvSpPr>
          <p:spPr bwMode="auto">
            <a:xfrm>
              <a:off x="8070850" y="5257800"/>
              <a:ext cx="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48" name="Text Box 10"/>
            <p:cNvSpPr txBox="1">
              <a:spLocks noChangeArrowheads="1"/>
            </p:cNvSpPr>
            <p:nvPr/>
          </p:nvSpPr>
          <p:spPr bwMode="auto">
            <a:xfrm rot="5400000">
              <a:off x="7897198" y="31377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  <p:sp>
          <p:nvSpPr>
            <p:cNvPr id="449" name="Text Box 11"/>
            <p:cNvSpPr txBox="1">
              <a:spLocks noChangeArrowheads="1"/>
            </p:cNvSpPr>
            <p:nvPr/>
          </p:nvSpPr>
          <p:spPr bwMode="auto">
            <a:xfrm rot="5400000">
              <a:off x="7897194" y="39759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450" name="Text Box 12"/>
            <p:cNvSpPr txBox="1">
              <a:spLocks noChangeArrowheads="1"/>
            </p:cNvSpPr>
            <p:nvPr/>
          </p:nvSpPr>
          <p:spPr bwMode="auto">
            <a:xfrm rot="5400000">
              <a:off x="7897194" y="48141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EX</a:t>
              </a:r>
            </a:p>
          </p:txBody>
        </p:sp>
        <p:sp>
          <p:nvSpPr>
            <p:cNvPr id="451" name="Line 13"/>
            <p:cNvSpPr>
              <a:spLocks noChangeShapeType="1"/>
            </p:cNvSpPr>
            <p:nvPr/>
          </p:nvSpPr>
          <p:spPr bwMode="auto">
            <a:xfrm>
              <a:off x="8077200" y="6096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2" name="Line 14"/>
            <p:cNvSpPr>
              <a:spLocks noChangeShapeType="1"/>
            </p:cNvSpPr>
            <p:nvPr/>
          </p:nvSpPr>
          <p:spPr bwMode="auto">
            <a:xfrm flipH="1">
              <a:off x="7543800" y="64008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3" name="Line 15"/>
            <p:cNvSpPr>
              <a:spLocks noChangeShapeType="1"/>
            </p:cNvSpPr>
            <p:nvPr/>
          </p:nvSpPr>
          <p:spPr bwMode="auto">
            <a:xfrm flipV="1">
              <a:off x="7543800" y="1143000"/>
              <a:ext cx="0" cy="5257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4" name="Line 16"/>
            <p:cNvSpPr>
              <a:spLocks noChangeShapeType="1"/>
            </p:cNvSpPr>
            <p:nvPr/>
          </p:nvSpPr>
          <p:spPr bwMode="auto">
            <a:xfrm>
              <a:off x="7543800" y="11430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5" name="Line 17"/>
            <p:cNvSpPr>
              <a:spLocks noChangeShapeType="1"/>
            </p:cNvSpPr>
            <p:nvPr/>
          </p:nvSpPr>
          <p:spPr bwMode="auto">
            <a:xfrm>
              <a:off x="8077200" y="1143000"/>
              <a:ext cx="0" cy="3048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456" name="Text Box 18"/>
            <p:cNvSpPr txBox="1">
              <a:spLocks noChangeArrowheads="1"/>
            </p:cNvSpPr>
            <p:nvPr/>
          </p:nvSpPr>
          <p:spPr bwMode="auto">
            <a:xfrm rot="5400000">
              <a:off x="7897194" y="5652372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457" name="Text Box 19"/>
            <p:cNvSpPr txBox="1">
              <a:spLocks noChangeArrowheads="1"/>
            </p:cNvSpPr>
            <p:nvPr/>
          </p:nvSpPr>
          <p:spPr bwMode="auto">
            <a:xfrm rot="5400000">
              <a:off x="7897194" y="1461372"/>
              <a:ext cx="480169" cy="4395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F</a:t>
              </a:r>
            </a:p>
          </p:txBody>
        </p:sp>
        <p:sp>
          <p:nvSpPr>
            <p:cNvPr id="458" name="Text Box 4"/>
            <p:cNvSpPr txBox="1">
              <a:spLocks noChangeArrowheads="1"/>
            </p:cNvSpPr>
            <p:nvPr/>
          </p:nvSpPr>
          <p:spPr bwMode="auto">
            <a:xfrm rot="5400000">
              <a:off x="7897194" y="2299573"/>
              <a:ext cx="480169" cy="4395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>
                  <a:solidFill>
                    <a:schemeClr val="accent2"/>
                  </a:solidFill>
                  <a:latin typeface="Arial" charset="0"/>
                  <a:ea typeface="+mn-ea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8231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6" name="直接连接符 355"/>
          <p:cNvCxnSpPr/>
          <p:nvPr/>
        </p:nvCxnSpPr>
        <p:spPr bwMode="auto">
          <a:xfrm>
            <a:off x="4836233" y="5342400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72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baseline="0" dirty="0">
                <a:ea typeface="宋体" panose="02010600030101010101" pitchFamily="2" charset="-122"/>
              </a:rPr>
              <a:t>LEA (Immediate)</a:t>
            </a:r>
            <a:endParaRPr lang="en-US" altLang="zh-CN" kern="0" baseline="0" dirty="0">
              <a:ea typeface="宋体" panose="02010600030101010101" pitchFamily="2" charset="-122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ALUK</a:t>
            </a:r>
            <a:endParaRPr lang="zh-CN" altLang="en-US" sz="1000" baseline="0" dirty="0"/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397" name="直接连接符 396"/>
          <p:cNvCxnSpPr/>
          <p:nvPr/>
        </p:nvCxnSpPr>
        <p:spPr bwMode="auto">
          <a:xfrm>
            <a:off x="1218173" y="3933056"/>
            <a:ext cx="0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8" name="直接连接符 397"/>
          <p:cNvCxnSpPr/>
          <p:nvPr/>
        </p:nvCxnSpPr>
        <p:spPr bwMode="auto">
          <a:xfrm flipV="1">
            <a:off x="4644008" y="1418400"/>
            <a:ext cx="1726" cy="12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101216" y="187437"/>
            <a:ext cx="4863271" cy="569418"/>
            <a:chOff x="4101216" y="187437"/>
            <a:chExt cx="4863271" cy="569418"/>
          </a:xfrm>
        </p:grpSpPr>
        <p:grpSp>
          <p:nvGrpSpPr>
            <p:cNvPr id="375" name="组合 374"/>
            <p:cNvGrpSpPr/>
            <p:nvPr/>
          </p:nvGrpSpPr>
          <p:grpSpPr>
            <a:xfrm>
              <a:off x="4101216" y="187437"/>
              <a:ext cx="4863271" cy="569418"/>
              <a:chOff x="3706688" y="187437"/>
              <a:chExt cx="5257800" cy="569418"/>
            </a:xfrm>
          </p:grpSpPr>
          <p:sp>
            <p:nvSpPr>
              <p:cNvPr id="380" name="Line 5"/>
              <p:cNvSpPr>
                <a:spLocks noChangeShapeType="1"/>
              </p:cNvSpPr>
              <p:nvPr/>
            </p:nvSpPr>
            <p:spPr bwMode="auto">
              <a:xfrm rot="16200000">
                <a:off x="46591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389" name="Line 6"/>
              <p:cNvSpPr>
                <a:spLocks noChangeShapeType="1"/>
              </p:cNvSpPr>
              <p:nvPr/>
            </p:nvSpPr>
            <p:spPr bwMode="auto">
              <a:xfrm rot="16200000">
                <a:off x="5497388" y="176217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6" name="Line 7"/>
              <p:cNvSpPr>
                <a:spLocks noChangeShapeType="1"/>
              </p:cNvSpPr>
              <p:nvPr/>
            </p:nvSpPr>
            <p:spPr bwMode="auto">
              <a:xfrm rot="16200000">
                <a:off x="6335588" y="192890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39" name="Line 8"/>
              <p:cNvSpPr>
                <a:spLocks noChangeShapeType="1"/>
              </p:cNvSpPr>
              <p:nvPr/>
            </p:nvSpPr>
            <p:spPr bwMode="auto">
              <a:xfrm rot="16200000">
                <a:off x="7173788" y="207339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40" name="Line 9"/>
              <p:cNvSpPr>
                <a:spLocks noChangeShapeType="1"/>
              </p:cNvSpPr>
              <p:nvPr/>
            </p:nvSpPr>
            <p:spPr bwMode="auto">
              <a:xfrm rot="16200000">
                <a:off x="8011988" y="197336"/>
                <a:ext cx="0" cy="3810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44" name="Line 13"/>
              <p:cNvSpPr>
                <a:spLocks noChangeShapeType="1"/>
              </p:cNvSpPr>
              <p:nvPr/>
            </p:nvSpPr>
            <p:spPr bwMode="auto">
              <a:xfrm rot="16200000">
                <a:off x="8812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45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87777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46" name="Line 15"/>
              <p:cNvSpPr>
                <a:spLocks noChangeShapeType="1"/>
              </p:cNvSpPr>
              <p:nvPr/>
            </p:nvSpPr>
            <p:spPr bwMode="auto">
              <a:xfrm rot="16200000" flipV="1">
                <a:off x="6335588" y="-1872045"/>
                <a:ext cx="0" cy="5257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47" name="Line 16"/>
              <p:cNvSpPr>
                <a:spLocks noChangeShapeType="1"/>
              </p:cNvSpPr>
              <p:nvPr/>
            </p:nvSpPr>
            <p:spPr bwMode="auto">
              <a:xfrm rot="16200000">
                <a:off x="3519955" y="570122"/>
                <a:ext cx="373465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48" name="Line 17"/>
              <p:cNvSpPr>
                <a:spLocks noChangeShapeType="1"/>
              </p:cNvSpPr>
              <p:nvPr/>
            </p:nvSpPr>
            <p:spPr bwMode="auto">
              <a:xfrm rot="16200000">
                <a:off x="3859088" y="230990"/>
                <a:ext cx="0" cy="30480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450" name="Text Box 4"/>
              <p:cNvSpPr txBox="1">
                <a:spLocks noChangeArrowheads="1"/>
              </p:cNvSpPr>
              <p:nvPr/>
            </p:nvSpPr>
            <p:spPr bwMode="auto">
              <a:xfrm>
                <a:off x="4842967" y="187437"/>
                <a:ext cx="480169" cy="307777"/>
              </a:xfrm>
              <a:prstGeom prst="rect">
                <a:avLst/>
              </a:prstGeom>
              <a:solidFill>
                <a:srgbClr val="003399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="1" baseline="0">
                    <a:solidFill>
                      <a:schemeClr val="bg1"/>
                    </a:solidFill>
                    <a:latin typeface="Arial" charset="0"/>
                    <a:ea typeface="+mn-ea"/>
                  </a:rPr>
                  <a:t>D</a:t>
                </a:r>
              </a:p>
            </p:txBody>
          </p:sp>
          <p:sp>
            <p:nvSpPr>
              <p:cNvPr id="451" name="Text Box 10"/>
              <p:cNvSpPr txBox="1">
                <a:spLocks noChangeArrowheads="1"/>
              </p:cNvSpPr>
              <p:nvPr/>
            </p:nvSpPr>
            <p:spPr bwMode="auto">
              <a:xfrm>
                <a:off x="3995239" y="189333"/>
                <a:ext cx="480169" cy="307777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336699"/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1400" baseline="0" dirty="0">
                    <a:solidFill>
                      <a:schemeClr val="accent2"/>
                    </a:solidFill>
                    <a:latin typeface="Arial" charset="0"/>
                    <a:ea typeface="+mn-ea"/>
                  </a:rPr>
                  <a:t>F</a:t>
                </a:r>
              </a:p>
            </p:txBody>
          </p:sp>
        </p:grpSp>
        <p:sp>
          <p:nvSpPr>
            <p:cNvPr id="355" name="Text Box 10"/>
            <p:cNvSpPr txBox="1">
              <a:spLocks noChangeArrowheads="1"/>
            </p:cNvSpPr>
            <p:nvPr/>
          </p:nvSpPr>
          <p:spPr bwMode="auto">
            <a:xfrm>
              <a:off x="6717019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OP</a:t>
              </a:r>
            </a:p>
          </p:txBody>
        </p:sp>
        <p:sp>
          <p:nvSpPr>
            <p:cNvPr id="391" name="Text Box 10"/>
            <p:cNvSpPr txBox="1">
              <a:spLocks noChangeArrowheads="1"/>
            </p:cNvSpPr>
            <p:nvPr/>
          </p:nvSpPr>
          <p:spPr bwMode="auto">
            <a:xfrm>
              <a:off x="8251832" y="188640"/>
              <a:ext cx="444139" cy="307777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="1" baseline="0" dirty="0">
                  <a:solidFill>
                    <a:schemeClr val="bg1"/>
                  </a:solidFill>
                  <a:latin typeface="Arial" charset="0"/>
                  <a:ea typeface="+mn-ea"/>
                </a:rPr>
                <a:t>S</a:t>
              </a:r>
            </a:p>
          </p:txBody>
        </p:sp>
        <p:sp>
          <p:nvSpPr>
            <p:cNvPr id="399" name="Text Box 10"/>
            <p:cNvSpPr txBox="1">
              <a:spLocks noChangeArrowheads="1"/>
            </p:cNvSpPr>
            <p:nvPr/>
          </p:nvSpPr>
          <p:spPr bwMode="auto">
            <a:xfrm>
              <a:off x="5929836" y="188640"/>
              <a:ext cx="444139" cy="30777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336699"/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400" baseline="0" dirty="0">
                  <a:solidFill>
                    <a:schemeClr val="accent2"/>
                  </a:solidFill>
                  <a:latin typeface="Arial" charset="0"/>
                  <a:ea typeface="+mn-ea"/>
                </a:rPr>
                <a:t>EA</a:t>
              </a:r>
            </a:p>
          </p:txBody>
        </p:sp>
      </p:grpSp>
      <p:sp>
        <p:nvSpPr>
          <p:cNvPr id="427" name="Text Box 10"/>
          <p:cNvSpPr txBox="1">
            <a:spLocks noChangeArrowheads="1"/>
          </p:cNvSpPr>
          <p:nvPr/>
        </p:nvSpPr>
        <p:spPr bwMode="auto">
          <a:xfrm>
            <a:off x="7440229" y="188640"/>
            <a:ext cx="444139" cy="30777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  <a:effectLst>
            <a:outerShdw dist="35921" dir="2700000" algn="ctr" rotWithShape="0">
              <a:srgbClr val="336699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aseline="0" dirty="0">
                <a:solidFill>
                  <a:schemeClr val="accent2"/>
                </a:solidFill>
                <a:latin typeface="Arial" charset="0"/>
                <a:ea typeface="+mn-ea"/>
              </a:rPr>
              <a:t>EX</a:t>
            </a:r>
          </a:p>
        </p:txBody>
      </p:sp>
    </p:spTree>
    <p:extLst>
      <p:ext uri="{BB962C8B-B14F-4D97-AF65-F5344CB8AC3E}">
        <p14:creationId xmlns:p14="http://schemas.microsoft.com/office/powerpoint/2010/main" val="1848992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7AF58B-024C-4661-86BA-E635491E6F5B}" type="datetime1">
              <a:rPr lang="zh-CN" altLang="en-US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2023/11/3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608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51535A-96C7-4B96-AF51-774F04C11F2F}" type="slidenum">
              <a:rPr lang="en-US" altLang="zh-CN" sz="1400" b="0" smtClean="0"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1400" b="0">
              <a:ea typeface="宋体" panose="02010600030101010101" pitchFamily="2" charset="-122"/>
            </a:endParaRPr>
          </a:p>
        </p:txBody>
      </p:sp>
      <p:sp>
        <p:nvSpPr>
          <p:cNvPr id="46084" name="Rectangle 2"/>
          <p:cNvSpPr>
            <a:spLocks noChangeArrowheads="1"/>
          </p:cNvSpPr>
          <p:nvPr/>
        </p:nvSpPr>
        <p:spPr bwMode="auto">
          <a:xfrm>
            <a:off x="1600200" y="1676400"/>
            <a:ext cx="1143000" cy="4495800"/>
          </a:xfrm>
          <a:prstGeom prst="rect">
            <a:avLst/>
          </a:prstGeom>
          <a:solidFill>
            <a:srgbClr val="66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 b="0" baseline="0">
              <a:ea typeface="宋体" panose="02010600030101010101" pitchFamily="2" charset="-122"/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Example</a:t>
            </a:r>
          </a:p>
        </p:txBody>
      </p:sp>
      <p:graphicFrame>
        <p:nvGraphicFramePr>
          <p:cNvPr id="15360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03429"/>
              </p:ext>
            </p:extLst>
          </p:nvPr>
        </p:nvGraphicFramePr>
        <p:xfrm>
          <a:off x="381000" y="1295400"/>
          <a:ext cx="8610600" cy="5053056"/>
        </p:xfrm>
        <a:graphic>
          <a:graphicData uri="http://schemas.openxmlformats.org/drawingml/2006/table">
            <a:tbl>
              <a:tblPr/>
              <a:tblGrid>
                <a:gridCol w="113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Instruction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Comments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x30F6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1 1 1 0 0 0 1 1 1 1 1 1 1 1 0 1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R1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PC – 3 = x30F4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x30F7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0 0 0 1 0 1 0 0 0 1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 0 1 1 1 0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R2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R1 + 14 = x3102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x30F8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0 0 1 1 0 1 0 1 1 1 1 1 1 0 1 1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M[PC - 5]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R2; i.e.</a:t>
                      </a:r>
                      <a:b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M[x30F4]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x3102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x30F9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0 1 0 1 0 1 0 0 1 0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0 0 0 0 0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R2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0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1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x30FA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0 0 0 1 0 1 0 0 1 0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 0 0 1 0 1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R2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R2 + 5 = 5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0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x30FB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0 1 1 1 0 1 0 0 0 1 0 0 1 1 1 0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M[R1+14]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R2; i.e.</a:t>
                      </a:r>
                      <a:b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</a:b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M[x3102]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5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446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x30FC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PS" pitchFamily="49" charset="0"/>
                          <a:ea typeface="宋体" pitchFamily="2" charset="-122"/>
                        </a:rPr>
                        <a:t>1 0 1 0 0 1 1 1 1 1 1 1 0 1 1 1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R3 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  <a:sym typeface="Symbol" pitchFamily="18" charset="2"/>
                        </a:rPr>
                        <a:t></a:t>
                      </a: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M[M[PC-9]]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    = M[M[x30F4]]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    = M[x3102]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CE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      = 5</a:t>
                      </a:r>
                    </a:p>
                  </a:txBody>
                  <a:tcPr marR="0" marT="91407" marB="91407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119" name="Text Box 55"/>
          <p:cNvSpPr txBox="1">
            <a:spLocks noChangeArrowheads="1"/>
          </p:cNvSpPr>
          <p:nvPr/>
        </p:nvSpPr>
        <p:spPr bwMode="auto">
          <a:xfrm>
            <a:off x="1763713" y="6261100"/>
            <a:ext cx="8493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itchFamily="18" charset="-127"/>
              <a:buChar char="-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0" i="1" baseline="0">
                <a:solidFill>
                  <a:schemeClr val="accent2"/>
                </a:solidFill>
                <a:latin typeface="Franklin Gothic Book" panose="020B0503020102020204" pitchFamily="34" charset="0"/>
                <a:ea typeface="宋体" panose="02010600030101010101" pitchFamily="2" charset="-122"/>
              </a:rPr>
              <a:t>opcode</a:t>
            </a:r>
          </a:p>
        </p:txBody>
      </p:sp>
      <p:sp>
        <p:nvSpPr>
          <p:cNvPr id="46120" name="Line 56"/>
          <p:cNvSpPr>
            <a:spLocks noChangeShapeType="1"/>
          </p:cNvSpPr>
          <p:nvPr/>
        </p:nvSpPr>
        <p:spPr bwMode="auto">
          <a:xfrm>
            <a:off x="2895600" y="2100263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1" name="Line 57"/>
          <p:cNvSpPr>
            <a:spLocks noChangeShapeType="1"/>
          </p:cNvSpPr>
          <p:nvPr/>
        </p:nvSpPr>
        <p:spPr bwMode="auto">
          <a:xfrm>
            <a:off x="3810000" y="2101850"/>
            <a:ext cx="2514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2" name="Line 58"/>
          <p:cNvSpPr>
            <a:spLocks noChangeShapeType="1"/>
          </p:cNvSpPr>
          <p:nvPr/>
        </p:nvSpPr>
        <p:spPr bwMode="auto">
          <a:xfrm>
            <a:off x="2895600" y="25908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3" name="Line 59"/>
          <p:cNvSpPr>
            <a:spLocks noChangeShapeType="1"/>
          </p:cNvSpPr>
          <p:nvPr/>
        </p:nvSpPr>
        <p:spPr bwMode="auto">
          <a:xfrm>
            <a:off x="2895600" y="3171825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4" name="Line 60"/>
          <p:cNvSpPr>
            <a:spLocks noChangeShapeType="1"/>
          </p:cNvSpPr>
          <p:nvPr/>
        </p:nvSpPr>
        <p:spPr bwMode="auto">
          <a:xfrm>
            <a:off x="2895600" y="375285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5" name="Line 61"/>
          <p:cNvSpPr>
            <a:spLocks noChangeShapeType="1"/>
          </p:cNvSpPr>
          <p:nvPr/>
        </p:nvSpPr>
        <p:spPr bwMode="auto">
          <a:xfrm>
            <a:off x="2895600" y="42672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6" name="Line 62"/>
          <p:cNvSpPr>
            <a:spLocks noChangeShapeType="1"/>
          </p:cNvSpPr>
          <p:nvPr/>
        </p:nvSpPr>
        <p:spPr bwMode="auto">
          <a:xfrm>
            <a:off x="2895600" y="481965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7" name="Line 63"/>
          <p:cNvSpPr>
            <a:spLocks noChangeShapeType="1"/>
          </p:cNvSpPr>
          <p:nvPr/>
        </p:nvSpPr>
        <p:spPr bwMode="auto">
          <a:xfrm>
            <a:off x="2895600" y="5805488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8" name="Line 64"/>
          <p:cNvSpPr>
            <a:spLocks noChangeShapeType="1"/>
          </p:cNvSpPr>
          <p:nvPr/>
        </p:nvSpPr>
        <p:spPr bwMode="auto">
          <a:xfrm>
            <a:off x="3810000" y="25908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9" name="Line 65"/>
          <p:cNvSpPr>
            <a:spLocks noChangeShapeType="1"/>
          </p:cNvSpPr>
          <p:nvPr/>
        </p:nvSpPr>
        <p:spPr bwMode="auto">
          <a:xfrm>
            <a:off x="3810000" y="375285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0" name="Line 66"/>
          <p:cNvSpPr>
            <a:spLocks noChangeShapeType="1"/>
          </p:cNvSpPr>
          <p:nvPr/>
        </p:nvSpPr>
        <p:spPr bwMode="auto">
          <a:xfrm>
            <a:off x="3810000" y="426720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1" name="Line 67"/>
          <p:cNvSpPr>
            <a:spLocks noChangeShapeType="1"/>
          </p:cNvSpPr>
          <p:nvPr/>
        </p:nvSpPr>
        <p:spPr bwMode="auto">
          <a:xfrm>
            <a:off x="3810000" y="4819650"/>
            <a:ext cx="685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2" name="Line 68"/>
          <p:cNvSpPr>
            <a:spLocks noChangeShapeType="1"/>
          </p:cNvSpPr>
          <p:nvPr/>
        </p:nvSpPr>
        <p:spPr bwMode="auto">
          <a:xfrm>
            <a:off x="5029200" y="2590800"/>
            <a:ext cx="1295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3" name="Line 69"/>
          <p:cNvSpPr>
            <a:spLocks noChangeShapeType="1"/>
          </p:cNvSpPr>
          <p:nvPr/>
        </p:nvSpPr>
        <p:spPr bwMode="auto">
          <a:xfrm>
            <a:off x="5029200" y="3752850"/>
            <a:ext cx="1295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4" name="Line 70"/>
          <p:cNvSpPr>
            <a:spLocks noChangeShapeType="1"/>
          </p:cNvSpPr>
          <p:nvPr/>
        </p:nvSpPr>
        <p:spPr bwMode="auto">
          <a:xfrm>
            <a:off x="5029200" y="4257675"/>
            <a:ext cx="1295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5" name="Line 71"/>
          <p:cNvSpPr>
            <a:spLocks noChangeShapeType="1"/>
          </p:cNvSpPr>
          <p:nvPr/>
        </p:nvSpPr>
        <p:spPr bwMode="auto">
          <a:xfrm>
            <a:off x="3810000" y="3171825"/>
            <a:ext cx="2514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6" name="Line 72"/>
          <p:cNvSpPr>
            <a:spLocks noChangeShapeType="1"/>
          </p:cNvSpPr>
          <p:nvPr/>
        </p:nvSpPr>
        <p:spPr bwMode="auto">
          <a:xfrm>
            <a:off x="3810000" y="5805488"/>
            <a:ext cx="2514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7" name="Line 73"/>
          <p:cNvSpPr>
            <a:spLocks noChangeShapeType="1"/>
          </p:cNvSpPr>
          <p:nvPr/>
        </p:nvSpPr>
        <p:spPr bwMode="auto">
          <a:xfrm>
            <a:off x="4724400" y="4819650"/>
            <a:ext cx="1600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s_2">
            <a:extLst>
              <a:ext uri="{FF2B5EF4-FFF2-40B4-BE49-F238E27FC236}">
                <a16:creationId xmlns:a16="http://schemas.microsoft.com/office/drawing/2014/main" id="{9056126C-8529-435C-A5C5-25B6DCFEACB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798" y="224843"/>
            <a:ext cx="202302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Outline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3" name="TextBox 7">
            <a:extLst>
              <a:ext uri="{FF2B5EF4-FFF2-40B4-BE49-F238E27FC236}">
                <a16:creationId xmlns:a16="http://schemas.microsoft.com/office/drawing/2014/main" id="{8FF97695-E40D-4A06-9022-A4F2FA482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912" y="1861642"/>
            <a:ext cx="7418983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Review</a:t>
            </a:r>
          </a:p>
        </p:txBody>
      </p:sp>
      <p:sp>
        <p:nvSpPr>
          <p:cNvPr id="64" name="Text Box 17">
            <a:extLst>
              <a:ext uri="{FF2B5EF4-FFF2-40B4-BE49-F238E27FC236}">
                <a16:creationId xmlns:a16="http://schemas.microsoft.com/office/drawing/2014/main" id="{B2651B73-185C-4A5E-94AD-B248780CE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52" y="1724523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A64685A-F0CB-4EBF-A966-37511DE73D75}"/>
              </a:ext>
            </a:extLst>
          </p:cNvPr>
          <p:cNvCxnSpPr/>
          <p:nvPr/>
        </p:nvCxnSpPr>
        <p:spPr>
          <a:xfrm>
            <a:off x="474181" y="2415697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67" name="Text Box 17">
            <a:extLst>
              <a:ext uri="{FF2B5EF4-FFF2-40B4-BE49-F238E27FC236}">
                <a16:creationId xmlns:a16="http://schemas.microsoft.com/office/drawing/2014/main" id="{D023DCD8-AB65-42FC-8E4C-6446EB1F1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3351456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3</a:t>
            </a:r>
          </a:p>
        </p:txBody>
      </p:sp>
      <p:sp>
        <p:nvSpPr>
          <p:cNvPr id="68" name="矩形 17">
            <a:extLst>
              <a:ext uri="{FF2B5EF4-FFF2-40B4-BE49-F238E27FC236}">
                <a16:creationId xmlns:a16="http://schemas.microsoft.com/office/drawing/2014/main" id="{8257235F-71C6-4E17-ABC4-2882ADBA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3444422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Indirect,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Base+offset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 Load/Store</a:t>
            </a: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54C81C4-12C1-4EFD-A446-C472AFF408E3}"/>
              </a:ext>
            </a:extLst>
          </p:cNvPr>
          <p:cNvCxnSpPr/>
          <p:nvPr/>
        </p:nvCxnSpPr>
        <p:spPr>
          <a:xfrm>
            <a:off x="438669" y="4005064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71" name="Text Box 17">
            <a:extLst>
              <a:ext uri="{FF2B5EF4-FFF2-40B4-BE49-F238E27FC236}">
                <a16:creationId xmlns:a16="http://schemas.microsoft.com/office/drawing/2014/main" id="{04C7B0B7-6014-4157-8040-28C515BEA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2554177"/>
            <a:ext cx="611764" cy="624357"/>
          </a:xfrm>
          <a:prstGeom prst="rect">
            <a:avLst/>
          </a:prstGeom>
          <a:gradFill flip="none" rotWithShape="1">
            <a:gsLst>
              <a:gs pos="0">
                <a:srgbClr val="003399">
                  <a:tint val="66000"/>
                  <a:satMod val="160000"/>
                </a:srgbClr>
              </a:gs>
              <a:gs pos="50000">
                <a:srgbClr val="003399">
                  <a:tint val="44500"/>
                  <a:satMod val="160000"/>
                </a:srgbClr>
              </a:gs>
              <a:gs pos="100000">
                <a:srgbClr val="003399">
                  <a:tint val="23500"/>
                  <a:satMod val="160000"/>
                </a:srgbClr>
              </a:gs>
            </a:gsLst>
            <a:lin ang="189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</a:t>
            </a:r>
          </a:p>
        </p:txBody>
      </p:sp>
      <p:sp>
        <p:nvSpPr>
          <p:cNvPr id="72" name="矩形 17">
            <a:extLst>
              <a:ext uri="{FF2B5EF4-FFF2-40B4-BE49-F238E27FC236}">
                <a16:creationId xmlns:a16="http://schemas.microsoft.com/office/drawing/2014/main" id="{B2A7C8BA-EF15-4335-85D4-A5C19BF2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2647143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LC-3 PC-Relative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ill Sans MT" panose="020B0502020104020203" pitchFamily="34" charset="0"/>
                <a:ea typeface="宋体" panose="02010600030101010101" pitchFamily="2" charset="-122"/>
                <a:cs typeface="+mn-cs"/>
                <a:sym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Load/Store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C015303-FD7B-41DC-915D-FBFDCBBC7EFF}"/>
              </a:ext>
            </a:extLst>
          </p:cNvPr>
          <p:cNvCxnSpPr/>
          <p:nvPr/>
        </p:nvCxnSpPr>
        <p:spPr>
          <a:xfrm>
            <a:off x="438669" y="3207785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CA7C9C73-4E22-4510-B545-CA8ADF590D98}"/>
              </a:ext>
            </a:extLst>
          </p:cNvPr>
          <p:cNvCxnSpPr/>
          <p:nvPr/>
        </p:nvCxnSpPr>
        <p:spPr>
          <a:xfrm>
            <a:off x="474181" y="3212976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76" name="Text Box 17">
            <a:extLst>
              <a:ext uri="{FF2B5EF4-FFF2-40B4-BE49-F238E27FC236}">
                <a16:creationId xmlns:a16="http://schemas.microsoft.com/office/drawing/2014/main" id="{630BB9E9-A71E-4AC4-A1FC-62A3F3FA5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92" y="4143544"/>
            <a:ext cx="611764" cy="624357"/>
          </a:xfrm>
          <a:prstGeom prst="rect">
            <a:avLst/>
          </a:prstGeom>
          <a:solidFill>
            <a:srgbClr val="003399">
              <a:alpha val="67000"/>
            </a:srgbClr>
          </a:solidFill>
          <a:ln w="9525">
            <a:noFill/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 anchorCtr="1"/>
          <a:lstStyle>
            <a:lvl1pPr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895350"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895350" fontAlgn="base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4</a:t>
            </a:r>
          </a:p>
        </p:txBody>
      </p:sp>
      <p:sp>
        <p:nvSpPr>
          <p:cNvPr id="77" name="矩形 17">
            <a:extLst>
              <a:ext uri="{FF2B5EF4-FFF2-40B4-BE49-F238E27FC236}">
                <a16:creationId xmlns:a16="http://schemas.microsoft.com/office/drawing/2014/main" id="{C5BCB2B5-4742-4C20-A157-D15D9DC54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236510"/>
            <a:ext cx="7344816" cy="438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105000" tIns="52500" rIns="105000" bIns="52500" anchor="ctr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1pPr>
            <a:lvl2pPr marL="742950" indent="-2857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2pPr>
            <a:lvl3pPr marL="1143000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3pPr>
            <a:lvl4pPr marL="1600200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4pPr>
            <a:lvl5pPr marL="20574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微软雅黑" panose="020B0503020204020204" pitchFamily="34" charset="-122"/>
                <a:sym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76000"/>
              <a:buFont typeface="Wingdings 3" panose="05040102010807070707" pitchFamily="18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Times New Roman" panose="02020603050405020304" pitchFamily="18" charset="0"/>
              </a:rPr>
              <a:t>Summary</a:t>
            </a: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3CAD0D13-0B2F-48EA-9466-8DEA02B69E29}"/>
              </a:ext>
            </a:extLst>
          </p:cNvPr>
          <p:cNvCxnSpPr/>
          <p:nvPr/>
        </p:nvCxnSpPr>
        <p:spPr>
          <a:xfrm>
            <a:off x="438669" y="4797152"/>
            <a:ext cx="8130267" cy="0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862687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="">
      <p:transition spd="slow" advTm="0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3399"/>
                </a:solidFill>
              </a:rPr>
              <a:t>Today</a:t>
            </a: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Data Movement</a:t>
            </a:r>
            <a:r>
              <a:rPr lang="zh-CN" altLang="en-US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Instructions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1CBB7B-8F77-4532-AF3B-692F6833BD27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2023/11/3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441A33-B750-4E2E-A7AE-D936BE1FEF48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5410" y="980728"/>
            <a:ext cx="8813178" cy="5556597"/>
            <a:chOff x="3635896" y="1484784"/>
            <a:chExt cx="5019154" cy="4363111"/>
          </a:xfrm>
        </p:grpSpPr>
        <p:sp>
          <p:nvSpPr>
            <p:cNvPr id="104" name="矩形 103"/>
            <p:cNvSpPr/>
            <p:nvPr/>
          </p:nvSpPr>
          <p:spPr bwMode="auto">
            <a:xfrm>
              <a:off x="3635896" y="1484784"/>
              <a:ext cx="5019154" cy="4363111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grpSp>
          <p:nvGrpSpPr>
            <p:cNvPr id="105" name="组合 104"/>
            <p:cNvGrpSpPr/>
            <p:nvPr/>
          </p:nvGrpSpPr>
          <p:grpSpPr>
            <a:xfrm>
              <a:off x="4002878" y="2019651"/>
              <a:ext cx="4510297" cy="1632989"/>
              <a:chOff x="833366" y="4427663"/>
              <a:chExt cx="3539683" cy="1449519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1502926" y="4427663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179" name="组合 178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197" name="矩形 196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98" name="矩形 197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99" name="矩形 198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0" name="矩形 199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0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1" name="矩形 200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DR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2" name="矩形 201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PCoffset9</a:t>
                    </a:r>
                    <a:r>
                      <a:rPr kumimoji="0" lang="zh-CN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 </a:t>
                    </a:r>
                  </a:p>
                </p:txBody>
              </p:sp>
            </p:grpSp>
            <p:grpSp>
              <p:nvGrpSpPr>
                <p:cNvPr id="180" name="组合 179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81" name="矩形 180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2" name="矩形 181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3" name="矩形 182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4" name="矩形 183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5" name="矩形 184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6" name="矩形 185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7" name="矩形 186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8" name="矩形 187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89" name="矩形 188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0" name="矩形 189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1" name="矩形 190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2" name="矩形 191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3" name="矩形 192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4" name="矩形 193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" name="矩形 194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6" name="矩形 195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53" name="组合 152"/>
              <p:cNvGrpSpPr/>
              <p:nvPr/>
            </p:nvGrpSpPr>
            <p:grpSpPr>
              <a:xfrm>
                <a:off x="1502926" y="4958852"/>
                <a:ext cx="2865890" cy="288000"/>
                <a:chOff x="381000" y="3212976"/>
                <a:chExt cx="2865890" cy="288000"/>
              </a:xfrm>
            </p:grpSpPr>
            <p:sp>
              <p:nvSpPr>
                <p:cNvPr id="172" name="矩形 171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6" name="矩形 175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54" name="组合 153"/>
              <p:cNvGrpSpPr/>
              <p:nvPr/>
            </p:nvGrpSpPr>
            <p:grpSpPr>
              <a:xfrm>
                <a:off x="1502926" y="5274017"/>
                <a:ext cx="2870123" cy="288000"/>
                <a:chOff x="381000" y="3212976"/>
                <a:chExt cx="2870123" cy="288000"/>
              </a:xfrm>
            </p:grpSpPr>
            <p:sp>
              <p:nvSpPr>
                <p:cNvPr id="166" name="矩形 165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7" name="矩形 166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8" name="矩形 167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grpSp>
            <p:nvGrpSpPr>
              <p:cNvPr id="155" name="组合 154"/>
              <p:cNvGrpSpPr/>
              <p:nvPr/>
            </p:nvGrpSpPr>
            <p:grpSpPr>
              <a:xfrm>
                <a:off x="1502926" y="5589182"/>
                <a:ext cx="2870123" cy="288000"/>
                <a:chOff x="381000" y="3212976"/>
                <a:chExt cx="2870123" cy="288000"/>
              </a:xfrm>
            </p:grpSpPr>
            <p:sp>
              <p:nvSpPr>
                <p:cNvPr id="160" name="矩形 159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DR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r>
                    <a: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 </a:t>
                  </a:r>
                </a:p>
              </p:txBody>
            </p:sp>
          </p:grpSp>
          <p:sp>
            <p:nvSpPr>
              <p:cNvPr id="156" name="矩形 155"/>
              <p:cNvSpPr/>
              <p:nvPr/>
            </p:nvSpPr>
            <p:spPr bwMode="auto">
              <a:xfrm>
                <a:off x="833366" y="46409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7" name="矩形 156"/>
              <p:cNvSpPr/>
              <p:nvPr/>
            </p:nvSpPr>
            <p:spPr bwMode="auto">
              <a:xfrm>
                <a:off x="833366" y="527236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LDI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8" name="矩形 157"/>
              <p:cNvSpPr/>
              <p:nvPr/>
            </p:nvSpPr>
            <p:spPr bwMode="auto">
              <a:xfrm>
                <a:off x="833366" y="5588080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LEA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9" name="矩形 158"/>
              <p:cNvSpPr/>
              <p:nvPr/>
            </p:nvSpPr>
            <p:spPr bwMode="auto">
              <a:xfrm>
                <a:off x="833366" y="4961335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44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LDR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3927565" y="4402763"/>
              <a:ext cx="4602050" cy="1277932"/>
              <a:chOff x="5326485" y="4443852"/>
              <a:chExt cx="3611691" cy="1134354"/>
            </a:xfrm>
          </p:grpSpPr>
          <p:grpSp>
            <p:nvGrpSpPr>
              <p:cNvPr id="109" name="组合 108"/>
              <p:cNvGrpSpPr/>
              <p:nvPr/>
            </p:nvGrpSpPr>
            <p:grpSpPr>
              <a:xfrm>
                <a:off x="6068053" y="4443852"/>
                <a:ext cx="2870123" cy="504024"/>
                <a:chOff x="345016" y="2996952"/>
                <a:chExt cx="2870123" cy="504024"/>
              </a:xfrm>
            </p:grpSpPr>
            <p:grpSp>
              <p:nvGrpSpPr>
                <p:cNvPr id="128" name="组合 127"/>
                <p:cNvGrpSpPr/>
                <p:nvPr/>
              </p:nvGrpSpPr>
              <p:grpSpPr>
                <a:xfrm>
                  <a:off x="345016" y="3212976"/>
                  <a:ext cx="2870123" cy="288000"/>
                  <a:chOff x="381000" y="3212976"/>
                  <a:chExt cx="2870123" cy="288000"/>
                </a:xfrm>
              </p:grpSpPr>
              <p:sp>
                <p:nvSpPr>
                  <p:cNvPr id="146" name="矩形 145"/>
                  <p:cNvSpPr/>
                  <p:nvPr/>
                </p:nvSpPr>
                <p:spPr bwMode="auto">
                  <a:xfrm>
                    <a:off x="381000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47" name="矩形 146"/>
                  <p:cNvSpPr/>
                  <p:nvPr/>
                </p:nvSpPr>
                <p:spPr bwMode="auto">
                  <a:xfrm>
                    <a:off x="559589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  <p:sp>
                <p:nvSpPr>
                  <p:cNvPr id="148" name="矩形 147"/>
                  <p:cNvSpPr/>
                  <p:nvPr/>
                </p:nvSpPr>
                <p:spPr bwMode="auto">
                  <a:xfrm>
                    <a:off x="738178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9" name="矩形 148"/>
                  <p:cNvSpPr/>
                  <p:nvPr/>
                </p:nvSpPr>
                <p:spPr bwMode="auto">
                  <a:xfrm>
                    <a:off x="916767" y="3212976"/>
                    <a:ext cx="180000" cy="288000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50" name="矩形 149"/>
                  <p:cNvSpPr/>
                  <p:nvPr/>
                </p:nvSpPr>
                <p:spPr bwMode="auto">
                  <a:xfrm>
                    <a:off x="1095356" y="3212976"/>
                    <a:ext cx="540000" cy="288000"/>
                  </a:xfrm>
                  <a:prstGeom prst="rect">
                    <a:avLst/>
                  </a:prstGeom>
                  <a:solidFill>
                    <a:srgbClr val="FFC000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SR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51" name="矩形 150"/>
                  <p:cNvSpPr/>
                  <p:nvPr/>
                </p:nvSpPr>
                <p:spPr bwMode="auto">
                  <a:xfrm>
                    <a:off x="1631123" y="3212976"/>
                    <a:ext cx="162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PCoffset9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29" name="组合 128"/>
                <p:cNvGrpSpPr/>
                <p:nvPr/>
              </p:nvGrpSpPr>
              <p:grpSpPr>
                <a:xfrm>
                  <a:off x="345016" y="2996952"/>
                  <a:ext cx="2858832" cy="201861"/>
                  <a:chOff x="395536" y="2924976"/>
                  <a:chExt cx="2858832" cy="288000"/>
                </a:xfrm>
              </p:grpSpPr>
              <p:sp>
                <p:nvSpPr>
                  <p:cNvPr id="130" name="矩形 129"/>
                  <p:cNvSpPr/>
                  <p:nvPr/>
                </p:nvSpPr>
                <p:spPr bwMode="auto">
                  <a:xfrm>
                    <a:off x="39553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1" name="矩形 130"/>
                  <p:cNvSpPr/>
                  <p:nvPr/>
                </p:nvSpPr>
                <p:spPr bwMode="auto">
                  <a:xfrm>
                    <a:off x="57412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2" name="矩形 131"/>
                  <p:cNvSpPr/>
                  <p:nvPr/>
                </p:nvSpPr>
                <p:spPr bwMode="auto">
                  <a:xfrm>
                    <a:off x="75271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3" name="矩形 132"/>
                  <p:cNvSpPr/>
                  <p:nvPr/>
                </p:nvSpPr>
                <p:spPr bwMode="auto">
                  <a:xfrm>
                    <a:off x="93130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4" name="矩形 133"/>
                  <p:cNvSpPr/>
                  <p:nvPr/>
                </p:nvSpPr>
                <p:spPr bwMode="auto">
                  <a:xfrm>
                    <a:off x="110989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5" name="矩形 134"/>
                  <p:cNvSpPr/>
                  <p:nvPr/>
                </p:nvSpPr>
                <p:spPr bwMode="auto">
                  <a:xfrm>
                    <a:off x="1288481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6" name="矩形 135"/>
                  <p:cNvSpPr/>
                  <p:nvPr/>
                </p:nvSpPr>
                <p:spPr bwMode="auto">
                  <a:xfrm>
                    <a:off x="1467070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9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7" name="矩形 136"/>
                  <p:cNvSpPr/>
                  <p:nvPr/>
                </p:nvSpPr>
                <p:spPr bwMode="auto">
                  <a:xfrm>
                    <a:off x="1645659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8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8" name="矩形 137"/>
                  <p:cNvSpPr/>
                  <p:nvPr/>
                </p:nvSpPr>
                <p:spPr bwMode="auto">
                  <a:xfrm>
                    <a:off x="182424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7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39" name="矩形 138"/>
                  <p:cNvSpPr/>
                  <p:nvPr/>
                </p:nvSpPr>
                <p:spPr bwMode="auto">
                  <a:xfrm>
                    <a:off x="2002837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6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0" name="矩形 139"/>
                  <p:cNvSpPr/>
                  <p:nvPr/>
                </p:nvSpPr>
                <p:spPr bwMode="auto">
                  <a:xfrm>
                    <a:off x="2181426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5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1" name="矩形 140"/>
                  <p:cNvSpPr/>
                  <p:nvPr/>
                </p:nvSpPr>
                <p:spPr bwMode="auto">
                  <a:xfrm>
                    <a:off x="2360015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4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2" name="矩形 141"/>
                  <p:cNvSpPr/>
                  <p:nvPr/>
                </p:nvSpPr>
                <p:spPr bwMode="auto">
                  <a:xfrm>
                    <a:off x="2538604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3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3" name="矩形 142"/>
                  <p:cNvSpPr/>
                  <p:nvPr/>
                </p:nvSpPr>
                <p:spPr bwMode="auto">
                  <a:xfrm>
                    <a:off x="2717193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2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4" name="矩形 143"/>
                  <p:cNvSpPr/>
                  <p:nvPr/>
                </p:nvSpPr>
                <p:spPr bwMode="auto">
                  <a:xfrm>
                    <a:off x="2895782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anose="02010600030101010101" pitchFamily="2" charset="-122"/>
                        <a:cs typeface="+mn-cs"/>
                      </a:rPr>
                      <a:t>1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45" name="矩形 144"/>
                  <p:cNvSpPr/>
                  <p:nvPr/>
                </p:nvSpPr>
                <p:spPr bwMode="auto">
                  <a:xfrm>
                    <a:off x="3074368" y="2924976"/>
                    <a:ext cx="180000" cy="2880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0" tIns="0" rIns="0" bIns="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宋体" pitchFamily="2" charset="-122"/>
                        <a:cs typeface="+mn-cs"/>
                      </a:rPr>
                      <a:t>0</a:t>
                    </a:r>
                    <a:endParaRPr kumimoji="0" lang="zh-CN" alt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10" name="组合 109"/>
              <p:cNvGrpSpPr/>
              <p:nvPr/>
            </p:nvGrpSpPr>
            <p:grpSpPr>
              <a:xfrm>
                <a:off x="6068053" y="4975041"/>
                <a:ext cx="2865890" cy="288000"/>
                <a:chOff x="381000" y="3212976"/>
                <a:chExt cx="2865890" cy="288000"/>
              </a:xfrm>
            </p:grpSpPr>
            <p:sp>
              <p:nvSpPr>
                <p:cNvPr id="121" name="矩形 120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" name="矩形 122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5" name="矩形 124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 bwMode="auto">
                <a:xfrm>
                  <a:off x="1631123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BaseR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27" name="矩形 126"/>
                <p:cNvSpPr/>
                <p:nvPr/>
              </p:nvSpPr>
              <p:spPr bwMode="auto">
                <a:xfrm>
                  <a:off x="2166890" y="3212976"/>
                  <a:ext cx="108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PCoffset6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1" name="组合 110"/>
              <p:cNvGrpSpPr/>
              <p:nvPr/>
            </p:nvGrpSpPr>
            <p:grpSpPr>
              <a:xfrm>
                <a:off x="6068053" y="5290206"/>
                <a:ext cx="2870123" cy="288000"/>
                <a:chOff x="381000" y="3212976"/>
                <a:chExt cx="2870123" cy="288000"/>
              </a:xfrm>
            </p:grpSpPr>
            <p:sp>
              <p:nvSpPr>
                <p:cNvPr id="115" name="矩形 114"/>
                <p:cNvSpPr/>
                <p:nvPr/>
              </p:nvSpPr>
              <p:spPr bwMode="auto">
                <a:xfrm>
                  <a:off x="381000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6" name="矩形 115"/>
                <p:cNvSpPr/>
                <p:nvPr/>
              </p:nvSpPr>
              <p:spPr bwMode="auto">
                <a:xfrm>
                  <a:off x="559589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itchFamily="2" charset="-122"/>
                      <a:cs typeface="+mn-cs"/>
                    </a:rPr>
                    <a:t>0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endParaRPr>
                </a:p>
              </p:txBody>
            </p:sp>
            <p:sp>
              <p:nvSpPr>
                <p:cNvPr id="117" name="矩形 116"/>
                <p:cNvSpPr/>
                <p:nvPr/>
              </p:nvSpPr>
              <p:spPr bwMode="auto">
                <a:xfrm>
                  <a:off x="738178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8" name="矩形 117"/>
                <p:cNvSpPr/>
                <p:nvPr/>
              </p:nvSpPr>
              <p:spPr bwMode="auto">
                <a:xfrm>
                  <a:off x="916767" y="3212976"/>
                  <a:ext cx="180000" cy="288000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endPara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9" name="矩形 118"/>
                <p:cNvSpPr/>
                <p:nvPr/>
              </p:nvSpPr>
              <p:spPr bwMode="auto">
                <a:xfrm>
                  <a:off x="1095356" y="3212976"/>
                  <a:ext cx="540000" cy="288000"/>
                </a:xfrm>
                <a:prstGeom prst="rect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SR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 bwMode="auto">
                <a:xfrm>
                  <a:off x="1631123" y="3212976"/>
                  <a:ext cx="1620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0" tIns="0" rIns="0" bIns="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宋体" panose="02010600030101010101" pitchFamily="2" charset="-122"/>
                      <a:cs typeface="+mn-cs"/>
                    </a:rPr>
                    <a:t>PCoffset9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12" name="矩形 111"/>
              <p:cNvSpPr/>
              <p:nvPr/>
            </p:nvSpPr>
            <p:spPr bwMode="auto">
              <a:xfrm>
                <a:off x="5326485" y="46571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 bwMode="auto">
              <a:xfrm>
                <a:off x="5326485" y="528855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STI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 bwMode="auto">
              <a:xfrm>
                <a:off x="5326485" y="4977524"/>
                <a:ext cx="634282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8000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anose="02010600030101010101" pitchFamily="2" charset="-122"/>
                    <a:cs typeface="+mn-cs"/>
                  </a:rPr>
                  <a:t>STR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5793993" y="1589599"/>
              <a:ext cx="689437" cy="31417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取数指令</a:t>
              </a: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5795640" y="3946299"/>
              <a:ext cx="689437" cy="31417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存数指令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11824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OUTPUT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ADDR2MUX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ADDR1MUX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</a:t>
              </a:r>
              <a:endParaRPr kumimoji="0" lang="zh-CN" alt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86" name="直接连接符 185"/>
          <p:cNvCxnSpPr/>
          <p:nvPr/>
        </p:nvCxnSpPr>
        <p:spPr bwMode="auto">
          <a:xfrm rot="10800000">
            <a:off x="1218173" y="2638432"/>
            <a:ext cx="1726" cy="2073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[7:0]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[10:0]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SEXT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[8:0]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[5:0]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GateMARMUX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" name="矩形 388">
            <a:extLst>
              <a:ext uri="{FF2B5EF4-FFF2-40B4-BE49-F238E27FC236}">
                <a16:creationId xmlns:a16="http://schemas.microsoft.com/office/drawing/2014/main" id="{D9853F59-A185-4466-AB33-FFBFDE46518B}"/>
              </a:ext>
            </a:extLst>
          </p:cNvPr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8217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3138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[4:0]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226294" y="3740160"/>
            <a:ext cx="5750850" cy="900072"/>
            <a:chOff x="1226294" y="3740160"/>
            <a:chExt cx="5750850" cy="900072"/>
          </a:xfrm>
        </p:grpSpPr>
        <p:cxnSp>
          <p:nvCxnSpPr>
            <p:cNvPr id="200" name="直接连接符 199"/>
            <p:cNvCxnSpPr/>
            <p:nvPr/>
          </p:nvCxnSpPr>
          <p:spPr bwMode="auto">
            <a:xfrm rot="16200000">
              <a:off x="5086281" y="1859144"/>
              <a:ext cx="1726" cy="37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5" name="直接连接符 174"/>
            <p:cNvCxnSpPr/>
            <p:nvPr/>
          </p:nvCxnSpPr>
          <p:spPr bwMode="auto">
            <a:xfrm>
              <a:off x="6956208" y="3740176"/>
              <a:ext cx="2289" cy="180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9" name="矩形 148"/>
            <p:cNvSpPr/>
            <p:nvPr/>
          </p:nvSpPr>
          <p:spPr bwMode="auto">
            <a:xfrm>
              <a:off x="1733276" y="4424232"/>
              <a:ext cx="677722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0" rIns="9144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SEXT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99" name="直接连接符 198"/>
            <p:cNvCxnSpPr/>
            <p:nvPr/>
          </p:nvCxnSpPr>
          <p:spPr bwMode="auto">
            <a:xfrm rot="10800000">
              <a:off x="3214082" y="3740160"/>
              <a:ext cx="1726" cy="792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7" name="直接连接符 246"/>
            <p:cNvCxnSpPr/>
            <p:nvPr/>
          </p:nvCxnSpPr>
          <p:spPr bwMode="auto">
            <a:xfrm rot="16200000">
              <a:off x="1477431" y="4280232"/>
              <a:ext cx="1726" cy="504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8" name="直接连接符 197"/>
            <p:cNvCxnSpPr/>
            <p:nvPr/>
          </p:nvCxnSpPr>
          <p:spPr bwMode="auto">
            <a:xfrm rot="16200000">
              <a:off x="2822531" y="4130832"/>
              <a:ext cx="1726" cy="8028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MEM.EN,R,W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MAR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LD.MAR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PC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55" name="直接连接符 354"/>
          <p:cNvCxnSpPr/>
          <p:nvPr/>
        </p:nvCxnSpPr>
        <p:spPr bwMode="auto">
          <a:xfrm>
            <a:off x="4649268" y="1060966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E9E528-1FB2-4ADD-81AD-0CADE8E681E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MEMORY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MDR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…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PCMUX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+1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LD.PC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MUX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MIO.EN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GateMDR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ALU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200" b="1" i="0" u="none" strike="noStrike" kern="1200" cap="none" spc="0" normalizeH="0" baseline="-25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6420017" y="4250019"/>
            <a:ext cx="547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ALUK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FINITE STATE MACHINE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N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Z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rPr>
                <a:t>P</a:t>
              </a:r>
              <a:endPara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3358097" y="4004728"/>
            <a:ext cx="1368000" cy="828000"/>
            <a:chOff x="3358097" y="4004728"/>
            <a:chExt cx="1368000" cy="828000"/>
          </a:xfrm>
        </p:grpSpPr>
        <p:cxnSp>
          <p:nvCxnSpPr>
            <p:cNvPr id="263" name="直接连接符 262"/>
            <p:cNvCxnSpPr/>
            <p:nvPr/>
          </p:nvCxnSpPr>
          <p:spPr bwMode="auto">
            <a:xfrm rot="10800000">
              <a:off x="3366482" y="4004728"/>
              <a:ext cx="1726" cy="82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4" name="直接连接符 263"/>
            <p:cNvCxnSpPr/>
            <p:nvPr/>
          </p:nvCxnSpPr>
          <p:spPr bwMode="auto">
            <a:xfrm rot="16200000">
              <a:off x="4041234" y="3321927"/>
              <a:ext cx="1726" cy="1368000"/>
            </a:xfrm>
            <a:prstGeom prst="line">
              <a:avLst/>
            </a:prstGeom>
            <a:solidFill>
              <a:schemeClr val="accent1"/>
            </a:solidFill>
            <a:ln w="412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RUN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LD.IR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IR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直接连接符 59"/>
          <p:cNvCxnSpPr/>
          <p:nvPr/>
        </p:nvCxnSpPr>
        <p:spPr bwMode="auto">
          <a:xfrm flipH="1">
            <a:off x="7530770" y="1111864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LD.REG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REG FILE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OUT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GateALU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SR1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LOGIC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16</a:t>
              </a:r>
              <a:endParaRPr kumimoji="0" lang="zh-CN" altLang="en-US" sz="1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LD.CC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80" name="标题 1"/>
          <p:cNvSpPr txBox="1">
            <a:spLocks/>
          </p:cNvSpPr>
          <p:nvPr/>
        </p:nvSpPr>
        <p:spPr>
          <a:xfrm>
            <a:off x="179388" y="71438"/>
            <a:ext cx="8839200" cy="765175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LC-3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Data Path After </a:t>
            </a:r>
            <a:r>
              <a:rPr lang="en-US" altLang="zh-CN" kern="0" baseline="0" dirty="0">
                <a:solidFill>
                  <a:srgbClr val="333399"/>
                </a:solidFill>
                <a:latin typeface="Arial"/>
                <a:ea typeface="黑体"/>
              </a:rPr>
              <a:t>O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perate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黑体"/>
                <a:cs typeface="+mj-cs"/>
              </a:rPr>
              <a:t> Instruction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黑体"/>
              <a:cs typeface="+mj-cs"/>
            </a:endParaRPr>
          </a:p>
        </p:txBody>
      </p: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4906ED09-C9B5-4E99-B912-0A57E47DF2FE}"/>
              </a:ext>
            </a:extLst>
          </p:cNvPr>
          <p:cNvCxnSpPr/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915090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组合 276"/>
          <p:cNvGrpSpPr/>
          <p:nvPr/>
        </p:nvGrpSpPr>
        <p:grpSpPr>
          <a:xfrm>
            <a:off x="2511649" y="3398698"/>
            <a:ext cx="396344" cy="215444"/>
            <a:chOff x="7272000" y="2565484"/>
            <a:chExt cx="396344" cy="215444"/>
          </a:xfrm>
        </p:grpSpPr>
        <p:cxnSp>
          <p:nvCxnSpPr>
            <p:cNvPr id="278" name="直接连接符 277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9" name="文本框 278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82" name="矩形 181"/>
          <p:cNvSpPr/>
          <p:nvPr/>
        </p:nvSpPr>
        <p:spPr bwMode="auto">
          <a:xfrm>
            <a:off x="1731563" y="35601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5" name="矩形 184"/>
          <p:cNvSpPr/>
          <p:nvPr/>
        </p:nvSpPr>
        <p:spPr bwMode="auto">
          <a:xfrm>
            <a:off x="1731563" y="255204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1197857" y="2419041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[7:0]</a:t>
            </a:r>
            <a:endParaRPr lang="zh-CN" altLang="en-US" sz="1200" b="1" baseline="0" dirty="0"/>
          </a:p>
        </p:txBody>
      </p:sp>
      <p:grpSp>
        <p:nvGrpSpPr>
          <p:cNvPr id="322" name="组合 321"/>
          <p:cNvGrpSpPr/>
          <p:nvPr/>
        </p:nvGrpSpPr>
        <p:grpSpPr>
          <a:xfrm>
            <a:off x="1983416" y="2176846"/>
            <a:ext cx="396344" cy="215444"/>
            <a:chOff x="7272000" y="2565484"/>
            <a:chExt cx="396344" cy="215444"/>
          </a:xfrm>
        </p:grpSpPr>
        <p:cxnSp>
          <p:nvCxnSpPr>
            <p:cNvPr id="323" name="直接连接符 32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4" name="文本框 32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78" name="直接连接符 177"/>
          <p:cNvCxnSpPr/>
          <p:nvPr/>
        </p:nvCxnSpPr>
        <p:spPr bwMode="auto">
          <a:xfrm flipV="1">
            <a:off x="2595659" y="327212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0" name="直接连接符 189"/>
          <p:cNvCxnSpPr/>
          <p:nvPr/>
        </p:nvCxnSpPr>
        <p:spPr bwMode="auto">
          <a:xfrm rot="16200000">
            <a:off x="1478644" y="3416136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2" name="直接连接符 191"/>
          <p:cNvCxnSpPr/>
          <p:nvPr/>
        </p:nvCxnSpPr>
        <p:spPr bwMode="auto">
          <a:xfrm rot="16200000">
            <a:off x="2513171" y="3570936"/>
            <a:ext cx="1726" cy="19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1" name="直接连接符 190"/>
          <p:cNvCxnSpPr/>
          <p:nvPr/>
        </p:nvCxnSpPr>
        <p:spPr bwMode="auto">
          <a:xfrm rot="16200000">
            <a:off x="1478644" y="240804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8" name="组合 337"/>
          <p:cNvGrpSpPr/>
          <p:nvPr/>
        </p:nvGrpSpPr>
        <p:grpSpPr>
          <a:xfrm>
            <a:off x="2080239" y="3105493"/>
            <a:ext cx="360039" cy="119168"/>
            <a:chOff x="5292080" y="3452075"/>
            <a:chExt cx="360039" cy="119168"/>
          </a:xfrm>
        </p:grpSpPr>
        <p:sp>
          <p:nvSpPr>
            <p:cNvPr id="339" name="等腰三角形 33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40" name="直接连接符 33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41" name="文本框 340"/>
          <p:cNvSpPr txBox="1"/>
          <p:nvPr/>
        </p:nvSpPr>
        <p:spPr>
          <a:xfrm>
            <a:off x="1136717" y="3046345"/>
            <a:ext cx="991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ADDR2MUX</a:t>
            </a:r>
            <a:endParaRPr lang="zh-CN" altLang="en-US" sz="1000" baseline="0" dirty="0"/>
          </a:p>
        </p:txBody>
      </p:sp>
      <p:sp>
        <p:nvSpPr>
          <p:cNvPr id="266" name="文本框 265"/>
          <p:cNvSpPr txBox="1"/>
          <p:nvPr/>
        </p:nvSpPr>
        <p:spPr>
          <a:xfrm>
            <a:off x="1197857" y="3427153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[10:0]</a:t>
            </a:r>
            <a:endParaRPr lang="zh-CN" altLang="en-US" sz="1200" b="1" baseline="0" dirty="0"/>
          </a:p>
        </p:txBody>
      </p:sp>
      <p:cxnSp>
        <p:nvCxnSpPr>
          <p:cNvPr id="195" name="直接连接符 194"/>
          <p:cNvCxnSpPr/>
          <p:nvPr/>
        </p:nvCxnSpPr>
        <p:spPr bwMode="auto">
          <a:xfrm rot="10800000">
            <a:off x="2061954" y="2047944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8" name="矩形 407"/>
          <p:cNvSpPr/>
          <p:nvPr/>
        </p:nvSpPr>
        <p:spPr bwMode="auto">
          <a:xfrm>
            <a:off x="168480" y="692696"/>
            <a:ext cx="8896977" cy="6089104"/>
          </a:xfrm>
          <a:prstGeom prst="rect">
            <a:avLst/>
          </a:prstGeom>
          <a:solidFill>
            <a:schemeClr val="bg1">
              <a:alpha val="9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6670466" y="2543542"/>
            <a:ext cx="360039" cy="119168"/>
            <a:chOff x="5292080" y="3452075"/>
            <a:chExt cx="360039" cy="119168"/>
          </a:xfrm>
        </p:grpSpPr>
        <p:sp>
          <p:nvSpPr>
            <p:cNvPr id="158" name="等腰三角形 157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9" name="直接连接符 158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3" name="文本框 292"/>
          <p:cNvSpPr txBox="1"/>
          <p:nvPr/>
        </p:nvSpPr>
        <p:spPr>
          <a:xfrm>
            <a:off x="6310425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  <a:endParaRPr lang="zh-CN" altLang="en-US" sz="1000" baseline="0" dirty="0"/>
          </a:p>
        </p:txBody>
      </p:sp>
      <p:grpSp>
        <p:nvGrpSpPr>
          <p:cNvPr id="346" name="组合 345"/>
          <p:cNvGrpSpPr/>
          <p:nvPr/>
        </p:nvGrpSpPr>
        <p:grpSpPr>
          <a:xfrm>
            <a:off x="6670553" y="2547150"/>
            <a:ext cx="360000" cy="221857"/>
            <a:chOff x="5898218" y="3494595"/>
            <a:chExt cx="360000" cy="221857"/>
          </a:xfrm>
        </p:grpSpPr>
        <p:cxnSp>
          <p:nvCxnSpPr>
            <p:cNvPr id="347" name="直接连接符 34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8" name="文本框 34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7137865" y="3056080"/>
            <a:ext cx="396344" cy="215444"/>
            <a:chOff x="7272000" y="2565484"/>
            <a:chExt cx="396344" cy="215444"/>
          </a:xfrm>
        </p:grpSpPr>
        <p:sp>
          <p:nvSpPr>
            <p:cNvPr id="164" name="文本框 16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163" name="直接连接符 16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" name="直接连接符 37"/>
          <p:cNvCxnSpPr/>
          <p:nvPr/>
        </p:nvCxnSpPr>
        <p:spPr bwMode="auto">
          <a:xfrm>
            <a:off x="7202786" y="2768048"/>
            <a:ext cx="1726" cy="11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0" name="组合 279"/>
          <p:cNvGrpSpPr/>
          <p:nvPr/>
        </p:nvGrpSpPr>
        <p:grpSpPr>
          <a:xfrm>
            <a:off x="2710025" y="3398698"/>
            <a:ext cx="396344" cy="215444"/>
            <a:chOff x="7272000" y="2565484"/>
            <a:chExt cx="396344" cy="215444"/>
          </a:xfrm>
        </p:grpSpPr>
        <p:cxnSp>
          <p:nvCxnSpPr>
            <p:cNvPr id="281" name="直接连接符 28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2" name="文本框 28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45" name="直接连接符 144"/>
          <p:cNvCxnSpPr/>
          <p:nvPr/>
        </p:nvCxnSpPr>
        <p:spPr bwMode="auto">
          <a:xfrm flipV="1">
            <a:off x="2926049" y="2975144"/>
            <a:ext cx="1726" cy="100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/>
          <p:cNvCxnSpPr/>
          <p:nvPr/>
        </p:nvCxnSpPr>
        <p:spPr bwMode="auto">
          <a:xfrm flipV="1">
            <a:off x="4870265" y="209970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/>
          <p:cNvCxnSpPr/>
          <p:nvPr/>
        </p:nvCxnSpPr>
        <p:spPr bwMode="auto">
          <a:xfrm flipV="1">
            <a:off x="4436491" y="2108560"/>
            <a:ext cx="1726" cy="19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/>
          <p:cNvCxnSpPr/>
          <p:nvPr/>
        </p:nvCxnSpPr>
        <p:spPr bwMode="auto">
          <a:xfrm flipV="1">
            <a:off x="4652515" y="2108560"/>
            <a:ext cx="1726" cy="313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/>
          <p:cNvCxnSpPr/>
          <p:nvPr/>
        </p:nvCxnSpPr>
        <p:spPr bwMode="auto">
          <a:xfrm flipV="1">
            <a:off x="3790145" y="2386600"/>
            <a:ext cx="1726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椭圆 147"/>
          <p:cNvSpPr/>
          <p:nvPr/>
        </p:nvSpPr>
        <p:spPr bwMode="auto">
          <a:xfrm>
            <a:off x="3775881" y="2359138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1" name="组合 270"/>
          <p:cNvGrpSpPr/>
          <p:nvPr/>
        </p:nvGrpSpPr>
        <p:grpSpPr>
          <a:xfrm>
            <a:off x="5661476" y="2176846"/>
            <a:ext cx="396344" cy="215444"/>
            <a:chOff x="7272000" y="2565484"/>
            <a:chExt cx="396344" cy="215444"/>
          </a:xfrm>
        </p:grpSpPr>
        <p:cxnSp>
          <p:nvCxnSpPr>
            <p:cNvPr id="272" name="直接连接符 27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3" name="文本框 27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4" name="直接连接符 133"/>
          <p:cNvCxnSpPr/>
          <p:nvPr/>
        </p:nvCxnSpPr>
        <p:spPr bwMode="auto">
          <a:xfrm rot="16200000">
            <a:off x="5122241" y="213714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3" name="组合 312"/>
          <p:cNvGrpSpPr/>
          <p:nvPr/>
        </p:nvGrpSpPr>
        <p:grpSpPr>
          <a:xfrm>
            <a:off x="5313792" y="2176846"/>
            <a:ext cx="396344" cy="215444"/>
            <a:chOff x="7272000" y="2565484"/>
            <a:chExt cx="396344" cy="215444"/>
          </a:xfrm>
        </p:grpSpPr>
        <p:cxnSp>
          <p:nvCxnSpPr>
            <p:cNvPr id="314" name="直接连接符 3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5" name="文本框 3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38" name="直接连接符 137"/>
          <p:cNvCxnSpPr/>
          <p:nvPr/>
        </p:nvCxnSpPr>
        <p:spPr bwMode="auto">
          <a:xfrm rot="16200000">
            <a:off x="3901881" y="1747544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/>
          <p:cNvCxnSpPr/>
          <p:nvPr/>
        </p:nvCxnSpPr>
        <p:spPr bwMode="auto">
          <a:xfrm rot="16200000">
            <a:off x="3091881" y="1717129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/>
          <p:cNvCxnSpPr/>
          <p:nvPr/>
        </p:nvCxnSpPr>
        <p:spPr bwMode="auto">
          <a:xfrm rot="16200000">
            <a:off x="4221282" y="1969129"/>
            <a:ext cx="1726" cy="86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5" name="组合 324"/>
          <p:cNvGrpSpPr/>
          <p:nvPr/>
        </p:nvGrpSpPr>
        <p:grpSpPr>
          <a:xfrm>
            <a:off x="4585967" y="2176846"/>
            <a:ext cx="396344" cy="215444"/>
            <a:chOff x="7272000" y="2565484"/>
            <a:chExt cx="396344" cy="215444"/>
          </a:xfrm>
        </p:grpSpPr>
        <p:cxnSp>
          <p:nvCxnSpPr>
            <p:cNvPr id="326" name="直接连接符 32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7" name="文本框 32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2926049" y="3398698"/>
            <a:ext cx="396344" cy="215444"/>
            <a:chOff x="7272000" y="2565484"/>
            <a:chExt cx="396344" cy="215444"/>
          </a:xfrm>
        </p:grpSpPr>
        <p:cxnSp>
          <p:nvCxnSpPr>
            <p:cNvPr id="284" name="直接连接符 28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5" name="文本框 28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181" name="直接连接符 180"/>
          <p:cNvCxnSpPr/>
          <p:nvPr/>
        </p:nvCxnSpPr>
        <p:spPr bwMode="auto">
          <a:xfrm flipV="1">
            <a:off x="3212355" y="3272104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梯形 94"/>
          <p:cNvSpPr/>
          <p:nvPr/>
        </p:nvSpPr>
        <p:spPr bwMode="auto">
          <a:xfrm>
            <a:off x="2421993" y="3056080"/>
            <a:ext cx="972000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6" name="梯形 95"/>
          <p:cNvSpPr/>
          <p:nvPr/>
        </p:nvSpPr>
        <p:spPr bwMode="auto">
          <a:xfrm>
            <a:off x="3664802" y="3056080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44" name="直接连接符 143"/>
          <p:cNvCxnSpPr/>
          <p:nvPr/>
        </p:nvCxnSpPr>
        <p:spPr bwMode="auto">
          <a:xfrm flipV="1">
            <a:off x="4076451" y="2804080"/>
            <a:ext cx="1726" cy="2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3" name="直接连接符 172"/>
          <p:cNvCxnSpPr/>
          <p:nvPr/>
        </p:nvCxnSpPr>
        <p:spPr bwMode="auto">
          <a:xfrm flipV="1">
            <a:off x="3790145" y="3272104"/>
            <a:ext cx="1726" cy="32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6" name="直接连接符 175"/>
          <p:cNvCxnSpPr/>
          <p:nvPr/>
        </p:nvCxnSpPr>
        <p:spPr bwMode="auto">
          <a:xfrm flipV="1">
            <a:off x="3500387" y="2804072"/>
            <a:ext cx="1726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7" name="直接连接符 176"/>
          <p:cNvCxnSpPr/>
          <p:nvPr/>
        </p:nvCxnSpPr>
        <p:spPr bwMode="auto">
          <a:xfrm rot="16200000">
            <a:off x="3210681" y="2684409"/>
            <a:ext cx="1726" cy="597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1" name="组合 260"/>
          <p:cNvGrpSpPr/>
          <p:nvPr/>
        </p:nvGrpSpPr>
        <p:grpSpPr>
          <a:xfrm>
            <a:off x="3286201" y="2595651"/>
            <a:ext cx="1008000" cy="244405"/>
            <a:chOff x="2843920" y="2392507"/>
            <a:chExt cx="1008000" cy="244405"/>
          </a:xfrm>
        </p:grpSpPr>
        <p:sp>
          <p:nvSpPr>
            <p:cNvPr id="94" name="梯形 93"/>
            <p:cNvSpPr/>
            <p:nvPr/>
          </p:nvSpPr>
          <p:spPr bwMode="auto">
            <a:xfrm>
              <a:off x="2843920" y="2392507"/>
              <a:ext cx="1008000" cy="232989"/>
            </a:xfrm>
            <a:prstGeom prst="trapezoid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216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dirty="0">
                  <a:solidFill>
                    <a:schemeClr val="bg1"/>
                  </a:solidFill>
                  <a:latin typeface="Arial" charset="0"/>
                </a:rPr>
                <a:t>+</a:t>
              </a:r>
              <a:endParaRPr kumimoji="0" lang="zh-CN" altLang="en-US" sz="2000" b="1" i="0" u="none" strike="noStrike" cap="none" normalizeH="0" baseline="-2500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 bwMode="auto">
            <a:xfrm>
              <a:off x="3249397" y="2545331"/>
              <a:ext cx="197047" cy="91581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9" name="直接连接符 258"/>
            <p:cNvCxnSpPr/>
            <p:nvPr/>
          </p:nvCxnSpPr>
          <p:spPr bwMode="auto">
            <a:xfrm flipV="1">
              <a:off x="3249397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0" name="直接连接符 259"/>
            <p:cNvCxnSpPr/>
            <p:nvPr/>
          </p:nvCxnSpPr>
          <p:spPr bwMode="auto">
            <a:xfrm flipH="1" flipV="1">
              <a:off x="3347864" y="2545331"/>
              <a:ext cx="98524" cy="9158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6" name="组合 285"/>
          <p:cNvGrpSpPr/>
          <p:nvPr/>
        </p:nvGrpSpPr>
        <p:grpSpPr>
          <a:xfrm>
            <a:off x="3142073" y="3398698"/>
            <a:ext cx="396344" cy="215444"/>
            <a:chOff x="7272000" y="2565484"/>
            <a:chExt cx="396344" cy="215444"/>
          </a:xfrm>
        </p:grpSpPr>
        <p:cxnSp>
          <p:nvCxnSpPr>
            <p:cNvPr id="287" name="直接连接符 28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8" name="文本框 28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3709468" y="3371360"/>
            <a:ext cx="396344" cy="215444"/>
            <a:chOff x="7272000" y="2565484"/>
            <a:chExt cx="396344" cy="215444"/>
          </a:xfrm>
        </p:grpSpPr>
        <p:cxnSp>
          <p:nvCxnSpPr>
            <p:cNvPr id="311" name="直接连接符 310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2" name="文本框 311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34" name="文本框 333"/>
          <p:cNvSpPr txBox="1"/>
          <p:nvPr/>
        </p:nvSpPr>
        <p:spPr>
          <a:xfrm>
            <a:off x="4717064" y="3032135"/>
            <a:ext cx="9137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ADDR1MUX</a:t>
            </a:r>
            <a:endParaRPr lang="zh-CN" altLang="en-US" sz="1000" baseline="0" dirty="0"/>
          </a:p>
        </p:txBody>
      </p:sp>
      <p:grpSp>
        <p:nvGrpSpPr>
          <p:cNvPr id="335" name="组合 334"/>
          <p:cNvGrpSpPr/>
          <p:nvPr/>
        </p:nvGrpSpPr>
        <p:grpSpPr>
          <a:xfrm flipH="1">
            <a:off x="4419247" y="3101884"/>
            <a:ext cx="360039" cy="119168"/>
            <a:chOff x="5292080" y="3452075"/>
            <a:chExt cx="360039" cy="119168"/>
          </a:xfrm>
        </p:grpSpPr>
        <p:sp>
          <p:nvSpPr>
            <p:cNvPr id="336" name="等腰三角形 3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37" name="直接连接符 3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1" name="直接连接符 170"/>
          <p:cNvCxnSpPr/>
          <p:nvPr/>
        </p:nvCxnSpPr>
        <p:spPr bwMode="auto">
          <a:xfrm rot="16200000">
            <a:off x="5014281" y="2749264"/>
            <a:ext cx="1726" cy="14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2" name="直接连接符 171"/>
          <p:cNvCxnSpPr/>
          <p:nvPr/>
        </p:nvCxnSpPr>
        <p:spPr bwMode="auto">
          <a:xfrm flipV="1">
            <a:off x="4292475" y="3272104"/>
            <a:ext cx="1726" cy="21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6" name="直接连接符 185"/>
          <p:cNvCxnSpPr>
            <a:cxnSpLocks/>
          </p:cNvCxnSpPr>
          <p:nvPr/>
        </p:nvCxnSpPr>
        <p:spPr bwMode="auto">
          <a:xfrm flipV="1">
            <a:off x="1219899" y="3970961"/>
            <a:ext cx="7780" cy="74107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9" name="直接连接符 178"/>
          <p:cNvCxnSpPr/>
          <p:nvPr/>
        </p:nvCxnSpPr>
        <p:spPr bwMode="auto">
          <a:xfrm flipV="1">
            <a:off x="2801224" y="3272104"/>
            <a:ext cx="1726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0" name="直接连接符 179"/>
          <p:cNvCxnSpPr/>
          <p:nvPr/>
        </p:nvCxnSpPr>
        <p:spPr bwMode="auto">
          <a:xfrm flipV="1">
            <a:off x="3006789" y="3272104"/>
            <a:ext cx="1726" cy="97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矩形 182"/>
          <p:cNvSpPr/>
          <p:nvPr/>
        </p:nvSpPr>
        <p:spPr bwMode="auto">
          <a:xfrm>
            <a:off x="1733276" y="384991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4" name="矩形 183"/>
          <p:cNvSpPr/>
          <p:nvPr/>
        </p:nvSpPr>
        <p:spPr bwMode="auto">
          <a:xfrm>
            <a:off x="1733276" y="4137950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 rot="16200000">
            <a:off x="1477431" y="3993950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9" name="直接连接符 188"/>
          <p:cNvCxnSpPr/>
          <p:nvPr/>
        </p:nvCxnSpPr>
        <p:spPr bwMode="auto">
          <a:xfrm rot="16200000">
            <a:off x="1478644" y="3705918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3" name="直接连接符 192"/>
          <p:cNvCxnSpPr/>
          <p:nvPr/>
        </p:nvCxnSpPr>
        <p:spPr bwMode="auto">
          <a:xfrm rot="16200000">
            <a:off x="2621171" y="3752718"/>
            <a:ext cx="1726" cy="410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" name="直接连接符 193"/>
          <p:cNvCxnSpPr/>
          <p:nvPr/>
        </p:nvCxnSpPr>
        <p:spPr bwMode="auto">
          <a:xfrm rot="16200000">
            <a:off x="2721971" y="3939950"/>
            <a:ext cx="1726" cy="61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7" name="文本框 266"/>
          <p:cNvSpPr txBox="1"/>
          <p:nvPr/>
        </p:nvSpPr>
        <p:spPr>
          <a:xfrm>
            <a:off x="1197857" y="3715185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[8:0]</a:t>
            </a:r>
            <a:endParaRPr lang="zh-CN" altLang="en-US" sz="1200" b="1" baseline="0" dirty="0"/>
          </a:p>
        </p:txBody>
      </p:sp>
      <p:sp>
        <p:nvSpPr>
          <p:cNvPr id="268" name="文本框 267"/>
          <p:cNvSpPr txBox="1"/>
          <p:nvPr/>
        </p:nvSpPr>
        <p:spPr>
          <a:xfrm>
            <a:off x="1197857" y="4003217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[5:0]</a:t>
            </a:r>
            <a:endParaRPr lang="zh-CN" altLang="en-US" sz="1200" b="1" baseline="0" dirty="0"/>
          </a:p>
        </p:txBody>
      </p:sp>
      <p:grpSp>
        <p:nvGrpSpPr>
          <p:cNvPr id="6" name="组合 5"/>
          <p:cNvGrpSpPr/>
          <p:nvPr/>
        </p:nvGrpSpPr>
        <p:grpSpPr>
          <a:xfrm>
            <a:off x="66045" y="4705522"/>
            <a:ext cx="794285" cy="246221"/>
            <a:chOff x="66045" y="4705522"/>
            <a:chExt cx="794285" cy="246221"/>
          </a:xfrm>
        </p:grpSpPr>
        <p:grpSp>
          <p:nvGrpSpPr>
            <p:cNvPr id="381" name="组合 380"/>
            <p:cNvGrpSpPr/>
            <p:nvPr/>
          </p:nvGrpSpPr>
          <p:grpSpPr>
            <a:xfrm>
              <a:off x="500291" y="4760252"/>
              <a:ext cx="360039" cy="119168"/>
              <a:chOff x="5292080" y="3452075"/>
              <a:chExt cx="360039" cy="119168"/>
            </a:xfrm>
          </p:grpSpPr>
          <p:sp>
            <p:nvSpPr>
              <p:cNvPr id="382" name="等腰三角形 381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83" name="直接连接符 382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84" name="文本框 383"/>
            <p:cNvSpPr txBox="1"/>
            <p:nvPr/>
          </p:nvSpPr>
          <p:spPr>
            <a:xfrm>
              <a:off x="66045" y="4705522"/>
              <a:ext cx="5204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LD.IR</a:t>
              </a:r>
              <a:endParaRPr lang="zh-CN" altLang="en-US" sz="1000" baseline="0" dirty="0"/>
            </a:p>
          </p:txBody>
        </p:sp>
      </p:grpSp>
      <p:cxnSp>
        <p:nvCxnSpPr>
          <p:cNvPr id="203" name="直接连接符 202"/>
          <p:cNvCxnSpPr/>
          <p:nvPr/>
        </p:nvCxnSpPr>
        <p:spPr bwMode="auto">
          <a:xfrm flipV="1">
            <a:off x="1218173" y="4928288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/>
          <p:cNvCxnSpPr/>
          <p:nvPr/>
        </p:nvCxnSpPr>
        <p:spPr bwMode="auto">
          <a:xfrm rot="5400000">
            <a:off x="5812482" y="1553144"/>
            <a:ext cx="1726" cy="408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/>
          <p:cNvCxnSpPr/>
          <p:nvPr/>
        </p:nvCxnSpPr>
        <p:spPr bwMode="auto">
          <a:xfrm>
            <a:off x="8110625" y="5360336"/>
            <a:ext cx="0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/>
          <p:cNvCxnSpPr/>
          <p:nvPr/>
        </p:nvCxnSpPr>
        <p:spPr bwMode="auto">
          <a:xfrm>
            <a:off x="7030505" y="5324336"/>
            <a:ext cx="0" cy="57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矩形 66"/>
          <p:cNvSpPr/>
          <p:nvPr/>
        </p:nvSpPr>
        <p:spPr bwMode="auto">
          <a:xfrm>
            <a:off x="6512153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INPUT</a:t>
            </a:r>
            <a:endParaRPr lang="zh-CN" altLang="en-US" sz="1200" b="1" baseline="0" dirty="0"/>
          </a:p>
        </p:txBody>
      </p:sp>
      <p:cxnSp>
        <p:nvCxnSpPr>
          <p:cNvPr id="358" name="直接连接符 357"/>
          <p:cNvCxnSpPr/>
          <p:nvPr/>
        </p:nvCxnSpPr>
        <p:spPr bwMode="auto">
          <a:xfrm>
            <a:off x="4836233" y="5919928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7" name="直接连接符 356"/>
          <p:cNvCxnSpPr/>
          <p:nvPr/>
        </p:nvCxnSpPr>
        <p:spPr bwMode="auto">
          <a:xfrm rot="16200000">
            <a:off x="4600265" y="5968436"/>
            <a:ext cx="0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5" name="组合 384"/>
          <p:cNvGrpSpPr/>
          <p:nvPr/>
        </p:nvGrpSpPr>
        <p:grpSpPr>
          <a:xfrm flipH="1">
            <a:off x="4370149" y="6565995"/>
            <a:ext cx="360039" cy="119168"/>
            <a:chOff x="5292080" y="3452075"/>
            <a:chExt cx="360039" cy="119168"/>
          </a:xfrm>
        </p:grpSpPr>
        <p:sp>
          <p:nvSpPr>
            <p:cNvPr id="386" name="等腰三角形 38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87" name="直接连接符 38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8" name="文本框 387"/>
          <p:cNvSpPr txBox="1"/>
          <p:nvPr/>
        </p:nvSpPr>
        <p:spPr>
          <a:xfrm>
            <a:off x="4665830" y="6517650"/>
            <a:ext cx="995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MEM.EN,R,W</a:t>
            </a:r>
            <a:endParaRPr lang="zh-CN" altLang="en-US" sz="1000" baseline="0" dirty="0"/>
          </a:p>
        </p:txBody>
      </p:sp>
      <p:grpSp>
        <p:nvGrpSpPr>
          <p:cNvPr id="418" name="组合 417"/>
          <p:cNvGrpSpPr/>
          <p:nvPr/>
        </p:nvGrpSpPr>
        <p:grpSpPr>
          <a:xfrm>
            <a:off x="4745207" y="5930003"/>
            <a:ext cx="396344" cy="215444"/>
            <a:chOff x="7272000" y="2565484"/>
            <a:chExt cx="396344" cy="215444"/>
          </a:xfrm>
        </p:grpSpPr>
        <p:cxnSp>
          <p:nvCxnSpPr>
            <p:cNvPr id="419" name="直接连接符 41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0" name="文本框 41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105" name="矩形 104"/>
          <p:cNvSpPr/>
          <p:nvPr/>
        </p:nvSpPr>
        <p:spPr bwMode="auto">
          <a:xfrm>
            <a:off x="4514169" y="5684384"/>
            <a:ext cx="676800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MAR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56" name="直接连接符 355"/>
          <p:cNvCxnSpPr/>
          <p:nvPr/>
        </p:nvCxnSpPr>
        <p:spPr bwMode="auto">
          <a:xfrm>
            <a:off x="4836233" y="5360336"/>
            <a:ext cx="0" cy="35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1" name="组合 370"/>
          <p:cNvGrpSpPr/>
          <p:nvPr/>
        </p:nvGrpSpPr>
        <p:grpSpPr>
          <a:xfrm flipH="1">
            <a:off x="5230306" y="5732800"/>
            <a:ext cx="360039" cy="119168"/>
            <a:chOff x="5292080" y="3452075"/>
            <a:chExt cx="360039" cy="119168"/>
          </a:xfrm>
        </p:grpSpPr>
        <p:sp>
          <p:nvSpPr>
            <p:cNvPr id="372" name="等腰三角形 37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73" name="直接连接符 37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5" name="组合 414"/>
          <p:cNvGrpSpPr/>
          <p:nvPr/>
        </p:nvGrpSpPr>
        <p:grpSpPr>
          <a:xfrm>
            <a:off x="4745207" y="5378888"/>
            <a:ext cx="396344" cy="215444"/>
            <a:chOff x="7272000" y="2565484"/>
            <a:chExt cx="396344" cy="215444"/>
          </a:xfrm>
        </p:grpSpPr>
        <p:cxnSp>
          <p:nvCxnSpPr>
            <p:cNvPr id="416" name="直接连接符 415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7" name="文本框 416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4" name="文本框 373"/>
          <p:cNvSpPr txBox="1"/>
          <p:nvPr/>
        </p:nvSpPr>
        <p:spPr>
          <a:xfrm>
            <a:off x="5587295" y="5669274"/>
            <a:ext cx="723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LD.MAR</a:t>
            </a:r>
            <a:endParaRPr lang="zh-CN" altLang="en-US" sz="1000" baseline="0" dirty="0"/>
          </a:p>
        </p:txBody>
      </p:sp>
      <p:cxnSp>
        <p:nvCxnSpPr>
          <p:cNvPr id="137" name="直接连接符 136"/>
          <p:cNvCxnSpPr/>
          <p:nvPr/>
        </p:nvCxnSpPr>
        <p:spPr bwMode="auto">
          <a:xfrm flipV="1">
            <a:off x="4654241" y="17485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51" name="组合 150"/>
          <p:cNvGrpSpPr/>
          <p:nvPr/>
        </p:nvGrpSpPr>
        <p:grpSpPr>
          <a:xfrm>
            <a:off x="3934162" y="1941680"/>
            <a:ext cx="360039" cy="119168"/>
            <a:chOff x="5292080" y="3452075"/>
            <a:chExt cx="360039" cy="119168"/>
          </a:xfrm>
        </p:grpSpPr>
        <p:sp>
          <p:nvSpPr>
            <p:cNvPr id="152" name="等腰三角形 1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3" name="直接连接符 1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54" name="组合 153"/>
          <p:cNvGrpSpPr/>
          <p:nvPr/>
        </p:nvGrpSpPr>
        <p:grpSpPr>
          <a:xfrm>
            <a:off x="3934161" y="1592352"/>
            <a:ext cx="360039" cy="119168"/>
            <a:chOff x="5292080" y="3452075"/>
            <a:chExt cx="360039" cy="119168"/>
          </a:xfrm>
        </p:grpSpPr>
        <p:sp>
          <p:nvSpPr>
            <p:cNvPr id="155" name="等腰三角形 1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1" name="组合 50"/>
          <p:cNvGrpSpPr/>
          <p:nvPr/>
        </p:nvGrpSpPr>
        <p:grpSpPr>
          <a:xfrm>
            <a:off x="4563756" y="1213012"/>
            <a:ext cx="180969" cy="402036"/>
            <a:chOff x="2185214" y="1412776"/>
            <a:chExt cx="180969" cy="402036"/>
          </a:xfrm>
        </p:grpSpPr>
        <p:sp>
          <p:nvSpPr>
            <p:cNvPr id="52" name="等腰三角形 51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4" name="矩形 103"/>
          <p:cNvSpPr/>
          <p:nvPr/>
        </p:nvSpPr>
        <p:spPr bwMode="auto">
          <a:xfrm>
            <a:off x="4294201" y="1543936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PC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4222194" y="1255880"/>
            <a:ext cx="360039" cy="119168"/>
            <a:chOff x="5292080" y="3452075"/>
            <a:chExt cx="360039" cy="119168"/>
          </a:xfrm>
        </p:grpSpPr>
        <p:sp>
          <p:nvSpPr>
            <p:cNvPr id="255" name="等腰三角形 25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6" name="直接连接符 25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7" name="文本框 306"/>
          <p:cNvSpPr txBox="1"/>
          <p:nvPr/>
        </p:nvSpPr>
        <p:spPr>
          <a:xfrm>
            <a:off x="3569657" y="1209382"/>
            <a:ext cx="6986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GatePC</a:t>
            </a:r>
            <a:endParaRPr lang="zh-CN" altLang="en-US" sz="1000" baseline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322257" y="6537325"/>
            <a:ext cx="2743200" cy="244475"/>
          </a:xfrm>
        </p:spPr>
        <p:txBody>
          <a:bodyPr/>
          <a:lstStyle/>
          <a:p>
            <a:pPr>
              <a:defRPr/>
            </a:pPr>
            <a:fld id="{0DE9E528-1FB2-4ADD-81AD-0CADE8E681E0}" type="slidenum">
              <a:rPr lang="en-US" altLang="zh-CN" smtClean="0"/>
              <a:pPr>
                <a:defRPr/>
              </a:pPr>
              <a:t>77</a:t>
            </a:fld>
            <a:endParaRPr lang="en-US" altLang="zh-CN" dirty="0"/>
          </a:p>
        </p:txBody>
      </p:sp>
      <p:grpSp>
        <p:nvGrpSpPr>
          <p:cNvPr id="54" name="组合 53"/>
          <p:cNvGrpSpPr/>
          <p:nvPr/>
        </p:nvGrpSpPr>
        <p:grpSpPr>
          <a:xfrm>
            <a:off x="2784736" y="5347152"/>
            <a:ext cx="180969" cy="402036"/>
            <a:chOff x="2185214" y="1412776"/>
            <a:chExt cx="180969" cy="402036"/>
          </a:xfrm>
        </p:grpSpPr>
        <p:sp>
          <p:nvSpPr>
            <p:cNvPr id="55" name="等腰三角形 54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8" name="矩形 67"/>
          <p:cNvSpPr/>
          <p:nvPr/>
        </p:nvSpPr>
        <p:spPr bwMode="auto">
          <a:xfrm>
            <a:off x="7632180" y="5900336"/>
            <a:ext cx="950400" cy="57606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OUTPUT</a:t>
            </a:r>
            <a:endParaRPr lang="zh-CN" altLang="en-US" sz="1200" b="1" baseline="0" dirty="0"/>
          </a:p>
        </p:txBody>
      </p:sp>
      <p:sp>
        <p:nvSpPr>
          <p:cNvPr id="69" name="矩形 68"/>
          <p:cNvSpPr/>
          <p:nvPr/>
        </p:nvSpPr>
        <p:spPr bwMode="auto">
          <a:xfrm>
            <a:off x="3392528" y="5651906"/>
            <a:ext cx="950400" cy="1101059"/>
          </a:xfrm>
          <a:prstGeom prst="rect">
            <a:avLst/>
          </a:prstGeom>
          <a:solidFill>
            <a:srgbClr val="FF9900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/>
              <a:t>MEMORY</a:t>
            </a:r>
            <a:endParaRPr lang="zh-CN" altLang="en-US" sz="1200" b="1" baseline="0" dirty="0"/>
          </a:p>
        </p:txBody>
      </p:sp>
      <p:sp>
        <p:nvSpPr>
          <p:cNvPr id="106" name="矩形 105"/>
          <p:cNvSpPr/>
          <p:nvPr/>
        </p:nvSpPr>
        <p:spPr bwMode="auto">
          <a:xfrm>
            <a:off x="2536359" y="568438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36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MDR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0" name="直接连接符 139"/>
          <p:cNvCxnSpPr/>
          <p:nvPr/>
        </p:nvCxnSpPr>
        <p:spPr bwMode="auto">
          <a:xfrm rot="10800000">
            <a:off x="3358098" y="1075872"/>
            <a:ext cx="1726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8" name="矩形 227"/>
          <p:cNvSpPr/>
          <p:nvPr/>
        </p:nvSpPr>
        <p:spPr bwMode="auto">
          <a:xfrm>
            <a:off x="5806369" y="4712264"/>
            <a:ext cx="360040" cy="3456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10800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b="1" dirty="0">
                <a:latin typeface="Arial" charset="0"/>
              </a:rPr>
              <a:t>…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9" name="直接连接符 238"/>
          <p:cNvCxnSpPr/>
          <p:nvPr/>
        </p:nvCxnSpPr>
        <p:spPr bwMode="auto">
          <a:xfrm>
            <a:off x="2672447" y="5908126"/>
            <a:ext cx="0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1" name="直接连接符 240"/>
          <p:cNvCxnSpPr/>
          <p:nvPr/>
        </p:nvCxnSpPr>
        <p:spPr bwMode="auto">
          <a:xfrm flipV="1">
            <a:off x="2854041" y="6368472"/>
            <a:ext cx="0" cy="21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直接连接符 241"/>
          <p:cNvCxnSpPr/>
          <p:nvPr/>
        </p:nvCxnSpPr>
        <p:spPr bwMode="auto">
          <a:xfrm rot="16200000">
            <a:off x="3106281" y="6315335"/>
            <a:ext cx="1726" cy="54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1" name="组合 330"/>
          <p:cNvGrpSpPr/>
          <p:nvPr/>
        </p:nvGrpSpPr>
        <p:grpSpPr>
          <a:xfrm>
            <a:off x="1154425" y="5000296"/>
            <a:ext cx="396344" cy="215444"/>
            <a:chOff x="7272000" y="2565484"/>
            <a:chExt cx="396344" cy="215444"/>
          </a:xfrm>
        </p:grpSpPr>
        <p:cxnSp>
          <p:nvCxnSpPr>
            <p:cNvPr id="332" name="直接连接符 33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3" name="文本框 33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343" name="组合 342"/>
          <p:cNvGrpSpPr/>
          <p:nvPr/>
        </p:nvGrpSpPr>
        <p:grpSpPr>
          <a:xfrm>
            <a:off x="3895814" y="1945790"/>
            <a:ext cx="360000" cy="217408"/>
            <a:chOff x="5898218" y="3494595"/>
            <a:chExt cx="360000" cy="217408"/>
          </a:xfrm>
        </p:grpSpPr>
        <p:cxnSp>
          <p:nvCxnSpPr>
            <p:cNvPr id="344" name="直接连接符 343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45" name="文本框 344"/>
            <p:cNvSpPr txBox="1"/>
            <p:nvPr/>
          </p:nvSpPr>
          <p:spPr>
            <a:xfrm>
              <a:off x="5898218" y="3496559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sp>
        <p:nvSpPr>
          <p:cNvPr id="93" name="梯形 92"/>
          <p:cNvSpPr/>
          <p:nvPr/>
        </p:nvSpPr>
        <p:spPr bwMode="auto">
          <a:xfrm>
            <a:off x="4240866" y="1892536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72000" rIns="91440" bIns="72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PC</a:t>
            </a: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1" name="直接连接符 130"/>
          <p:cNvCxnSpPr/>
          <p:nvPr/>
        </p:nvCxnSpPr>
        <p:spPr bwMode="auto">
          <a:xfrm>
            <a:off x="5366663" y="1424500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矩形 131"/>
          <p:cNvSpPr/>
          <p:nvPr/>
        </p:nvSpPr>
        <p:spPr bwMode="auto">
          <a:xfrm>
            <a:off x="5233467" y="1831944"/>
            <a:ext cx="356878" cy="198522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Arial" charset="0"/>
              </a:rPr>
              <a:t>+1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cxnSp>
        <p:nvCxnSpPr>
          <p:cNvPr id="133" name="直接连接符 132"/>
          <p:cNvCxnSpPr/>
          <p:nvPr/>
        </p:nvCxnSpPr>
        <p:spPr bwMode="auto">
          <a:xfrm rot="16200000">
            <a:off x="5025024" y="1084719"/>
            <a:ext cx="1726" cy="72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/>
          <p:cNvCxnSpPr/>
          <p:nvPr/>
        </p:nvCxnSpPr>
        <p:spPr bwMode="auto">
          <a:xfrm>
            <a:off x="5374321" y="2012008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椭圆 167"/>
          <p:cNvSpPr/>
          <p:nvPr/>
        </p:nvSpPr>
        <p:spPr bwMode="auto">
          <a:xfrm>
            <a:off x="5328602" y="1423034"/>
            <a:ext cx="45719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69016" y="1429908"/>
            <a:ext cx="180969" cy="402036"/>
            <a:chOff x="2185214" y="1412776"/>
            <a:chExt cx="180969" cy="402036"/>
          </a:xfrm>
        </p:grpSpPr>
        <p:sp>
          <p:nvSpPr>
            <p:cNvPr id="47" name="等腰三角形 46"/>
            <p:cNvSpPr/>
            <p:nvPr/>
          </p:nvSpPr>
          <p:spPr bwMode="auto">
            <a:xfrm>
              <a:off x="2185214" y="1412776"/>
              <a:ext cx="180969" cy="148657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2275698" y="1561433"/>
              <a:ext cx="0" cy="25337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2" name="梯形 91"/>
          <p:cNvSpPr/>
          <p:nvPr/>
        </p:nvSpPr>
        <p:spPr bwMode="auto">
          <a:xfrm>
            <a:off x="1750396" y="1820528"/>
            <a:ext cx="988993" cy="236862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MARMUX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69" name="直接连接符 168"/>
          <p:cNvCxnSpPr/>
          <p:nvPr/>
        </p:nvCxnSpPr>
        <p:spPr bwMode="auto">
          <a:xfrm rot="16200000">
            <a:off x="5554281" y="1246719"/>
            <a:ext cx="1726" cy="396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0" name="直接连接符 169"/>
          <p:cNvCxnSpPr/>
          <p:nvPr/>
        </p:nvCxnSpPr>
        <p:spPr bwMode="auto">
          <a:xfrm rot="10800000">
            <a:off x="5734361" y="1436127"/>
            <a:ext cx="1726" cy="205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48" name="组合 247"/>
          <p:cNvGrpSpPr/>
          <p:nvPr/>
        </p:nvGrpSpPr>
        <p:grpSpPr>
          <a:xfrm>
            <a:off x="1413881" y="1878792"/>
            <a:ext cx="360039" cy="119168"/>
            <a:chOff x="5292080" y="3452075"/>
            <a:chExt cx="360039" cy="119168"/>
          </a:xfrm>
        </p:grpSpPr>
        <p:sp>
          <p:nvSpPr>
            <p:cNvPr id="249" name="等腰三角形 24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0" name="直接连接符 24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1" name="组合 250"/>
          <p:cNvGrpSpPr/>
          <p:nvPr/>
        </p:nvGrpSpPr>
        <p:grpSpPr>
          <a:xfrm>
            <a:off x="1845930" y="1424744"/>
            <a:ext cx="360039" cy="119168"/>
            <a:chOff x="5292080" y="3452075"/>
            <a:chExt cx="360039" cy="119168"/>
          </a:xfrm>
        </p:grpSpPr>
        <p:sp>
          <p:nvSpPr>
            <p:cNvPr id="252" name="等腰三角形 251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53" name="直接连接符 252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8" name="文本框 307"/>
          <p:cNvSpPr txBox="1"/>
          <p:nvPr/>
        </p:nvSpPr>
        <p:spPr>
          <a:xfrm>
            <a:off x="787257" y="1369699"/>
            <a:ext cx="1130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GateMARMUX</a:t>
            </a:r>
            <a:endParaRPr lang="zh-CN" altLang="en-US" sz="1000" baseline="0" dirty="0"/>
          </a:p>
        </p:txBody>
      </p:sp>
      <p:sp>
        <p:nvSpPr>
          <p:cNvPr id="309" name="文本框 308"/>
          <p:cNvSpPr txBox="1"/>
          <p:nvPr/>
        </p:nvSpPr>
        <p:spPr>
          <a:xfrm>
            <a:off x="3311140" y="154690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/>
              <a:t>LD.PC</a:t>
            </a:r>
            <a:endParaRPr lang="zh-CN" altLang="en-US" sz="1000" baseline="0" dirty="0"/>
          </a:p>
        </p:txBody>
      </p:sp>
      <p:grpSp>
        <p:nvGrpSpPr>
          <p:cNvPr id="316" name="组合 315"/>
          <p:cNvGrpSpPr/>
          <p:nvPr/>
        </p:nvGrpSpPr>
        <p:grpSpPr>
          <a:xfrm>
            <a:off x="3281052" y="2014654"/>
            <a:ext cx="396344" cy="215444"/>
            <a:chOff x="7272000" y="2565484"/>
            <a:chExt cx="396344" cy="215444"/>
          </a:xfrm>
        </p:grpSpPr>
        <p:cxnSp>
          <p:nvCxnSpPr>
            <p:cNvPr id="317" name="直接连接符 316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8" name="文本框 317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92" name="梯形 391"/>
          <p:cNvSpPr/>
          <p:nvPr/>
        </p:nvSpPr>
        <p:spPr bwMode="auto">
          <a:xfrm>
            <a:off x="2187064" y="6122668"/>
            <a:ext cx="773415" cy="227440"/>
          </a:xfrm>
          <a:prstGeom prst="trapezoid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rPr>
              <a:t>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395" name="直接连接符 394"/>
          <p:cNvCxnSpPr/>
          <p:nvPr/>
        </p:nvCxnSpPr>
        <p:spPr bwMode="auto">
          <a:xfrm>
            <a:off x="3104495" y="5904000"/>
            <a:ext cx="0" cy="3096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6" name="直接连接符 395"/>
          <p:cNvCxnSpPr/>
          <p:nvPr/>
        </p:nvCxnSpPr>
        <p:spPr bwMode="auto">
          <a:xfrm rot="5400000" flipH="1">
            <a:off x="3248479" y="6058435"/>
            <a:ext cx="0" cy="28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4" name="组合 403"/>
          <p:cNvGrpSpPr/>
          <p:nvPr/>
        </p:nvGrpSpPr>
        <p:grpSpPr>
          <a:xfrm>
            <a:off x="2426458" y="5380465"/>
            <a:ext cx="360039" cy="119168"/>
            <a:chOff x="5292080" y="3452075"/>
            <a:chExt cx="360039" cy="119168"/>
          </a:xfrm>
        </p:grpSpPr>
        <p:sp>
          <p:nvSpPr>
            <p:cNvPr id="405" name="等腰三角形 40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6" name="直接连接符 40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12" name="组合 411"/>
          <p:cNvGrpSpPr/>
          <p:nvPr/>
        </p:nvGrpSpPr>
        <p:grpSpPr>
          <a:xfrm>
            <a:off x="2174743" y="1170445"/>
            <a:ext cx="396344" cy="215444"/>
            <a:chOff x="7272000" y="2565484"/>
            <a:chExt cx="396344" cy="215444"/>
          </a:xfrm>
        </p:grpSpPr>
        <p:cxnSp>
          <p:nvCxnSpPr>
            <p:cNvPr id="413" name="直接连接符 412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4" name="文本框 413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424" name="组合 423"/>
          <p:cNvGrpSpPr/>
          <p:nvPr/>
        </p:nvGrpSpPr>
        <p:grpSpPr>
          <a:xfrm>
            <a:off x="2978204" y="6542014"/>
            <a:ext cx="360000" cy="221857"/>
            <a:chOff x="5898218" y="3494595"/>
            <a:chExt cx="360000" cy="221857"/>
          </a:xfrm>
        </p:grpSpPr>
        <p:cxnSp>
          <p:nvCxnSpPr>
            <p:cNvPr id="425" name="直接连接符 424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6" name="文本框 425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42" name="直接连接符 41"/>
          <p:cNvCxnSpPr/>
          <p:nvPr/>
        </p:nvCxnSpPr>
        <p:spPr bwMode="auto">
          <a:xfrm>
            <a:off x="622673" y="1039856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直接连接符 43"/>
          <p:cNvCxnSpPr/>
          <p:nvPr/>
        </p:nvCxnSpPr>
        <p:spPr bwMode="auto">
          <a:xfrm>
            <a:off x="8971840" y="980728"/>
            <a:ext cx="2881" cy="437040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连接符 42"/>
          <p:cNvCxnSpPr/>
          <p:nvPr/>
        </p:nvCxnSpPr>
        <p:spPr bwMode="auto">
          <a:xfrm>
            <a:off x="621793" y="5288328"/>
            <a:ext cx="8344800" cy="0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流程图: 手动操作 4"/>
          <p:cNvSpPr/>
          <p:nvPr/>
        </p:nvSpPr>
        <p:spPr bwMode="auto">
          <a:xfrm>
            <a:off x="6994561" y="4289586"/>
            <a:ext cx="1080000" cy="390640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144000" rIns="91440" bIns="14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 bwMode="auto">
          <a:xfrm>
            <a:off x="4746598" y="3915536"/>
            <a:ext cx="950556" cy="1233418"/>
          </a:xfrm>
          <a:prstGeom prst="rect">
            <a:avLst/>
          </a:prstGeom>
          <a:solidFill>
            <a:srgbClr val="CC0000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2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FINITE STATE MACHINE</a:t>
            </a:r>
            <a:endParaRPr lang="zh-CN" altLang="en-US" sz="12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3" name="直接连接符 262"/>
          <p:cNvCxnSpPr/>
          <p:nvPr/>
        </p:nvCxnSpPr>
        <p:spPr bwMode="auto">
          <a:xfrm rot="10800000">
            <a:off x="3366482" y="3988800"/>
            <a:ext cx="1726" cy="84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4" name="直接连接符 263"/>
          <p:cNvCxnSpPr/>
          <p:nvPr/>
        </p:nvCxnSpPr>
        <p:spPr bwMode="auto">
          <a:xfrm rot="16200000">
            <a:off x="4041234" y="3321927"/>
            <a:ext cx="1726" cy="13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8" name="组合 7"/>
          <p:cNvGrpSpPr/>
          <p:nvPr/>
        </p:nvGrpSpPr>
        <p:grpSpPr>
          <a:xfrm>
            <a:off x="4067944" y="4941168"/>
            <a:ext cx="695029" cy="318229"/>
            <a:chOff x="4067944" y="4941168"/>
            <a:chExt cx="695029" cy="318229"/>
          </a:xfrm>
        </p:grpSpPr>
        <p:grpSp>
          <p:nvGrpSpPr>
            <p:cNvPr id="360" name="组合 359"/>
            <p:cNvGrpSpPr/>
            <p:nvPr/>
          </p:nvGrpSpPr>
          <p:grpSpPr>
            <a:xfrm>
              <a:off x="4349249" y="4941168"/>
              <a:ext cx="360039" cy="119168"/>
              <a:chOff x="5292080" y="3452075"/>
              <a:chExt cx="360039" cy="119168"/>
            </a:xfrm>
          </p:grpSpPr>
          <p:sp>
            <p:nvSpPr>
              <p:cNvPr id="361" name="等腰三角形 360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2" name="直接连接符 361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63" name="文本框 362"/>
            <p:cNvSpPr txBox="1"/>
            <p:nvPr/>
          </p:nvSpPr>
          <p:spPr>
            <a:xfrm>
              <a:off x="4067944" y="5013176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RUN</a:t>
              </a:r>
              <a:endParaRPr lang="zh-CN" altLang="en-US" sz="1000" baseline="0" dirty="0"/>
            </a:p>
          </p:txBody>
        </p:sp>
      </p:grpSp>
      <p:cxnSp>
        <p:nvCxnSpPr>
          <p:cNvPr id="262" name="直接连接符 261"/>
          <p:cNvCxnSpPr/>
          <p:nvPr/>
        </p:nvCxnSpPr>
        <p:spPr bwMode="auto">
          <a:xfrm rot="16200000">
            <a:off x="2464347" y="3913064"/>
            <a:ext cx="1726" cy="1814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矩形 106"/>
          <p:cNvSpPr/>
          <p:nvPr/>
        </p:nvSpPr>
        <p:spPr bwMode="auto">
          <a:xfrm>
            <a:off x="880175" y="4712264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IR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0" name="直接连接符 59"/>
          <p:cNvCxnSpPr/>
          <p:nvPr/>
        </p:nvCxnSpPr>
        <p:spPr bwMode="auto">
          <a:xfrm flipH="1">
            <a:off x="7530770" y="1088792"/>
            <a:ext cx="7582" cy="468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9" name="组合 408"/>
          <p:cNvGrpSpPr/>
          <p:nvPr/>
        </p:nvGrpSpPr>
        <p:grpSpPr>
          <a:xfrm>
            <a:off x="7462553" y="1111864"/>
            <a:ext cx="396344" cy="215444"/>
            <a:chOff x="7272000" y="2565484"/>
            <a:chExt cx="396344" cy="215444"/>
          </a:xfrm>
        </p:grpSpPr>
        <p:cxnSp>
          <p:nvCxnSpPr>
            <p:cNvPr id="410" name="直接连接符 40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11" name="文本框 41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59" name="直接连接符 58"/>
          <p:cNvCxnSpPr/>
          <p:nvPr/>
        </p:nvCxnSpPr>
        <p:spPr bwMode="auto">
          <a:xfrm flipV="1">
            <a:off x="7534561" y="4676296"/>
            <a:ext cx="0" cy="324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0" name="等腰三角形 209"/>
          <p:cNvSpPr/>
          <p:nvPr/>
        </p:nvSpPr>
        <p:spPr bwMode="auto">
          <a:xfrm rot="5400000">
            <a:off x="7325518" y="4995394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208" name="直接连接符 207"/>
          <p:cNvCxnSpPr/>
          <p:nvPr/>
        </p:nvCxnSpPr>
        <p:spPr bwMode="auto">
          <a:xfrm>
            <a:off x="7533698" y="5144344"/>
            <a:ext cx="1726" cy="14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等腰三角形 57"/>
          <p:cNvSpPr/>
          <p:nvPr/>
        </p:nvSpPr>
        <p:spPr bwMode="auto">
          <a:xfrm flipV="1">
            <a:off x="7444077" y="5000296"/>
            <a:ext cx="180969" cy="148657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274" name="组合 273"/>
          <p:cNvGrpSpPr/>
          <p:nvPr/>
        </p:nvGrpSpPr>
        <p:grpSpPr>
          <a:xfrm>
            <a:off x="7462553" y="4712844"/>
            <a:ext cx="396344" cy="215444"/>
            <a:chOff x="7272000" y="2565484"/>
            <a:chExt cx="396344" cy="215444"/>
          </a:xfrm>
        </p:grpSpPr>
        <p:cxnSp>
          <p:nvCxnSpPr>
            <p:cNvPr id="275" name="直接连接符 274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6" name="文本框 275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06" name="文本框 305"/>
          <p:cNvSpPr txBox="1"/>
          <p:nvPr/>
        </p:nvSpPr>
        <p:spPr>
          <a:xfrm>
            <a:off x="7695313" y="4951513"/>
            <a:ext cx="8306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 err="1"/>
              <a:t>GateALU</a:t>
            </a:r>
            <a:endParaRPr lang="zh-CN" altLang="en-US" sz="1000" baseline="0" dirty="0"/>
          </a:p>
        </p:txBody>
      </p:sp>
      <p:cxnSp>
        <p:nvCxnSpPr>
          <p:cNvPr id="211" name="直接连接符 210"/>
          <p:cNvCxnSpPr/>
          <p:nvPr/>
        </p:nvCxnSpPr>
        <p:spPr bwMode="auto">
          <a:xfrm rot="5400000">
            <a:off x="6526537" y="4277233"/>
            <a:ext cx="0" cy="158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2" name="矩形 111"/>
          <p:cNvSpPr/>
          <p:nvPr/>
        </p:nvSpPr>
        <p:spPr bwMode="auto">
          <a:xfrm>
            <a:off x="3544471" y="4712288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7200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100" b="1" baseline="0" dirty="0">
                <a:latin typeface="Arial" charset="0"/>
              </a:rPr>
              <a:t>LOGIC</a:t>
            </a:r>
            <a:endParaRPr kumimoji="0" lang="zh-CN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5" name="直接连接符 204"/>
          <p:cNvCxnSpPr/>
          <p:nvPr/>
        </p:nvCxnSpPr>
        <p:spPr bwMode="auto">
          <a:xfrm flipV="1">
            <a:off x="3882469" y="4919128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28" name="组合 327"/>
          <p:cNvGrpSpPr/>
          <p:nvPr/>
        </p:nvGrpSpPr>
        <p:grpSpPr>
          <a:xfrm>
            <a:off x="3813474" y="5000876"/>
            <a:ext cx="396344" cy="215444"/>
            <a:chOff x="7272000" y="2565484"/>
            <a:chExt cx="396344" cy="215444"/>
          </a:xfrm>
        </p:grpSpPr>
        <p:cxnSp>
          <p:nvCxnSpPr>
            <p:cNvPr id="329" name="直接连接符 328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0" name="文本框 329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sp>
        <p:nvSpPr>
          <p:cNvPr id="379" name="Rectangle 2"/>
          <p:cNvSpPr txBox="1">
            <a:spLocks noChangeArrowheads="1"/>
          </p:cNvSpPr>
          <p:nvPr/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2"/>
                </a:solidFill>
                <a:latin typeface="Arial" charset="0"/>
                <a:ea typeface="黑体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baseline="0" dirty="0">
                <a:solidFill>
                  <a:srgbClr val="003399"/>
                </a:solidFill>
                <a:latin typeface="微软雅黑" panose="020B0503020204020204" pitchFamily="34" charset="-122"/>
              </a:rPr>
              <a:t>LC-3  Data Path After Load/Store Instruction</a:t>
            </a:r>
          </a:p>
        </p:txBody>
      </p:sp>
      <p:sp>
        <p:nvSpPr>
          <p:cNvPr id="10" name="等腰三角形 9"/>
          <p:cNvSpPr/>
          <p:nvPr/>
        </p:nvSpPr>
        <p:spPr bwMode="auto">
          <a:xfrm flipV="1">
            <a:off x="7391088" y="4289586"/>
            <a:ext cx="199657" cy="139368"/>
          </a:xfrm>
          <a:prstGeom prst="triangle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86742" y="428021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19344" y="4289554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B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7390425" y="4298836"/>
            <a:ext cx="99828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连接符 23"/>
          <p:cNvCxnSpPr/>
          <p:nvPr/>
        </p:nvCxnSpPr>
        <p:spPr bwMode="auto">
          <a:xfrm flipH="1">
            <a:off x="7497834" y="4298836"/>
            <a:ext cx="92793" cy="13936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等腰三角形 221"/>
          <p:cNvSpPr/>
          <p:nvPr/>
        </p:nvSpPr>
        <p:spPr bwMode="auto">
          <a:xfrm rot="5400000">
            <a:off x="6965478" y="4370395"/>
            <a:ext cx="119168" cy="133129"/>
          </a:xfrm>
          <a:prstGeom prst="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59361" y="1543912"/>
            <a:ext cx="950400" cy="1209906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40" name="直接连接符 39"/>
          <p:cNvCxnSpPr/>
          <p:nvPr/>
        </p:nvCxnSpPr>
        <p:spPr bwMode="auto">
          <a:xfrm>
            <a:off x="7866941" y="2768136"/>
            <a:ext cx="1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1" name="组合 160"/>
          <p:cNvGrpSpPr/>
          <p:nvPr/>
        </p:nvGrpSpPr>
        <p:grpSpPr>
          <a:xfrm>
            <a:off x="7786289" y="3056080"/>
            <a:ext cx="396344" cy="215444"/>
            <a:chOff x="7272000" y="2565484"/>
            <a:chExt cx="396344" cy="215444"/>
          </a:xfrm>
        </p:grpSpPr>
        <p:cxnSp>
          <p:nvCxnSpPr>
            <p:cNvPr id="114" name="直接连接符 113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5" name="文本框 114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grpSp>
        <p:nvGrpSpPr>
          <p:cNvPr id="229" name="组合 228"/>
          <p:cNvGrpSpPr/>
          <p:nvPr/>
        </p:nvGrpSpPr>
        <p:grpSpPr>
          <a:xfrm>
            <a:off x="6703212" y="2153305"/>
            <a:ext cx="360039" cy="119168"/>
            <a:chOff x="5292080" y="3452075"/>
            <a:chExt cx="360039" cy="119168"/>
          </a:xfrm>
        </p:grpSpPr>
        <p:sp>
          <p:nvSpPr>
            <p:cNvPr id="230" name="等腰三角形 229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1" name="直接连接符 230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2" name="组合 231"/>
          <p:cNvGrpSpPr/>
          <p:nvPr/>
        </p:nvGrpSpPr>
        <p:grpSpPr>
          <a:xfrm>
            <a:off x="6703212" y="1615920"/>
            <a:ext cx="360039" cy="119168"/>
            <a:chOff x="5292080" y="3452075"/>
            <a:chExt cx="360039" cy="119168"/>
          </a:xfrm>
        </p:grpSpPr>
        <p:sp>
          <p:nvSpPr>
            <p:cNvPr id="233" name="等腰三角形 23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4" name="直接连接符 23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35" name="组合 234"/>
          <p:cNvGrpSpPr/>
          <p:nvPr/>
        </p:nvGrpSpPr>
        <p:grpSpPr>
          <a:xfrm flipH="1">
            <a:off x="8019245" y="2552024"/>
            <a:ext cx="360039" cy="119168"/>
            <a:chOff x="5292080" y="3452075"/>
            <a:chExt cx="360039" cy="119168"/>
          </a:xfrm>
        </p:grpSpPr>
        <p:sp>
          <p:nvSpPr>
            <p:cNvPr id="236" name="等腰三角形 235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1" name="文本框 290"/>
          <p:cNvSpPr txBox="1"/>
          <p:nvPr/>
        </p:nvSpPr>
        <p:spPr>
          <a:xfrm>
            <a:off x="6382433" y="1572499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DR</a:t>
            </a:r>
            <a:endParaRPr lang="zh-CN" altLang="en-US" sz="1000" baseline="0" dirty="0"/>
          </a:p>
        </p:txBody>
      </p:sp>
      <p:sp>
        <p:nvSpPr>
          <p:cNvPr id="292" name="文本框 291"/>
          <p:cNvSpPr txBox="1"/>
          <p:nvPr/>
        </p:nvSpPr>
        <p:spPr>
          <a:xfrm>
            <a:off x="6094401" y="2089779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LD.REG</a:t>
            </a:r>
            <a:endParaRPr lang="zh-CN" altLang="en-US" sz="1000" baseline="0" dirty="0"/>
          </a:p>
        </p:txBody>
      </p:sp>
      <p:sp>
        <p:nvSpPr>
          <p:cNvPr id="296" name="文本框 295"/>
          <p:cNvSpPr txBox="1"/>
          <p:nvPr/>
        </p:nvSpPr>
        <p:spPr>
          <a:xfrm>
            <a:off x="7282873" y="1705103"/>
            <a:ext cx="58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baseline="0" dirty="0"/>
              <a:t>REG FILE</a:t>
            </a:r>
            <a:endParaRPr lang="zh-CN" altLang="en-US" sz="1200" b="1" baseline="0" dirty="0"/>
          </a:p>
        </p:txBody>
      </p:sp>
      <p:sp>
        <p:nvSpPr>
          <p:cNvPr id="297" name="文本框 296"/>
          <p:cNvSpPr txBox="1"/>
          <p:nvPr/>
        </p:nvSpPr>
        <p:spPr>
          <a:xfrm>
            <a:off x="7606569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sp>
        <p:nvSpPr>
          <p:cNvPr id="298" name="文本框 297"/>
          <p:cNvSpPr txBox="1"/>
          <p:nvPr/>
        </p:nvSpPr>
        <p:spPr>
          <a:xfrm>
            <a:off x="7078792" y="2408008"/>
            <a:ext cx="527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SR2</a:t>
            </a:r>
          </a:p>
          <a:p>
            <a:r>
              <a:rPr lang="en-US" altLang="zh-CN" sz="1000" baseline="0" dirty="0"/>
              <a:t>OUT</a:t>
            </a:r>
            <a:endParaRPr lang="zh-CN" altLang="en-US" sz="1000" baseline="0" dirty="0"/>
          </a:p>
        </p:txBody>
      </p:sp>
      <p:grpSp>
        <p:nvGrpSpPr>
          <p:cNvPr id="349" name="组合 348"/>
          <p:cNvGrpSpPr/>
          <p:nvPr/>
        </p:nvGrpSpPr>
        <p:grpSpPr>
          <a:xfrm>
            <a:off x="8110665" y="2557773"/>
            <a:ext cx="360000" cy="221857"/>
            <a:chOff x="5898218" y="3494595"/>
            <a:chExt cx="360000" cy="221857"/>
          </a:xfrm>
        </p:grpSpPr>
        <p:cxnSp>
          <p:nvCxnSpPr>
            <p:cNvPr id="350" name="直接连接符 349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1" name="文本框 350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6695955" y="1625004"/>
            <a:ext cx="360000" cy="221857"/>
            <a:chOff x="5898218" y="3494595"/>
            <a:chExt cx="360000" cy="221857"/>
          </a:xfrm>
        </p:grpSpPr>
        <p:cxnSp>
          <p:nvCxnSpPr>
            <p:cNvPr id="353" name="直接连接符 35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4" name="文本框 35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3</a:t>
              </a:r>
              <a:endParaRPr lang="zh-CN" altLang="en-US" sz="1200" dirty="0"/>
            </a:p>
          </p:txBody>
        </p:sp>
      </p:grpSp>
      <p:sp>
        <p:nvSpPr>
          <p:cNvPr id="294" name="文本框 293"/>
          <p:cNvSpPr txBox="1"/>
          <p:nvPr/>
        </p:nvSpPr>
        <p:spPr>
          <a:xfrm>
            <a:off x="8326649" y="2480016"/>
            <a:ext cx="44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SR1</a:t>
            </a:r>
            <a:endParaRPr lang="zh-CN" altLang="en-US" sz="1000" baseline="0" dirty="0"/>
          </a:p>
        </p:txBody>
      </p:sp>
      <p:sp>
        <p:nvSpPr>
          <p:cNvPr id="28" name="流程图: 手动操作 27"/>
          <p:cNvSpPr/>
          <p:nvPr/>
        </p:nvSpPr>
        <p:spPr bwMode="auto">
          <a:xfrm>
            <a:off x="6742473" y="3892235"/>
            <a:ext cx="684016" cy="184837"/>
          </a:xfrm>
          <a:prstGeom prst="flowChartManualOperation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baseline="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SR2MUX</a:t>
            </a:r>
            <a:endParaRPr kumimoji="0" lang="zh-CN" alt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9" name="直接连接符 98"/>
          <p:cNvCxnSpPr/>
          <p:nvPr/>
        </p:nvCxnSpPr>
        <p:spPr bwMode="auto">
          <a:xfrm>
            <a:off x="7172232" y="4064192"/>
            <a:ext cx="2289" cy="242621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9" name="组合 298"/>
          <p:cNvGrpSpPr/>
          <p:nvPr/>
        </p:nvGrpSpPr>
        <p:grpSpPr>
          <a:xfrm>
            <a:off x="7091627" y="4017787"/>
            <a:ext cx="396344" cy="215444"/>
            <a:chOff x="7272000" y="2565484"/>
            <a:chExt cx="396344" cy="215444"/>
          </a:xfrm>
        </p:grpSpPr>
        <p:cxnSp>
          <p:nvCxnSpPr>
            <p:cNvPr id="300" name="直接连接符 29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1" name="文本框 30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35" name="直接连接符 34"/>
          <p:cNvCxnSpPr/>
          <p:nvPr/>
        </p:nvCxnSpPr>
        <p:spPr bwMode="auto">
          <a:xfrm>
            <a:off x="7866941" y="3613228"/>
            <a:ext cx="1" cy="68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4" name="椭圆 123"/>
          <p:cNvSpPr/>
          <p:nvPr/>
        </p:nvSpPr>
        <p:spPr bwMode="auto">
          <a:xfrm>
            <a:off x="7839281" y="3562247"/>
            <a:ext cx="55320" cy="48870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pSp>
        <p:nvGrpSpPr>
          <p:cNvPr id="342" name="组合 341"/>
          <p:cNvGrpSpPr/>
          <p:nvPr/>
        </p:nvGrpSpPr>
        <p:grpSpPr>
          <a:xfrm>
            <a:off x="6340499" y="3697739"/>
            <a:ext cx="360000" cy="221857"/>
            <a:chOff x="5898218" y="3494595"/>
            <a:chExt cx="360000" cy="221857"/>
          </a:xfrm>
        </p:grpSpPr>
        <p:sp>
          <p:nvSpPr>
            <p:cNvPr id="304" name="文本框 303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303" name="直接连接符 302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75" name="直接连接符 174"/>
          <p:cNvCxnSpPr/>
          <p:nvPr/>
        </p:nvCxnSpPr>
        <p:spPr bwMode="auto">
          <a:xfrm>
            <a:off x="6956208" y="3740176"/>
            <a:ext cx="2289" cy="1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7" name="直接连接符 206"/>
          <p:cNvCxnSpPr/>
          <p:nvPr/>
        </p:nvCxnSpPr>
        <p:spPr bwMode="auto">
          <a:xfrm rot="16200000">
            <a:off x="4408514" y="4021887"/>
            <a:ext cx="1726" cy="6624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/>
          <p:cNvCxnSpPr/>
          <p:nvPr/>
        </p:nvCxnSpPr>
        <p:spPr bwMode="auto">
          <a:xfrm rot="16200000">
            <a:off x="5086281" y="1859144"/>
            <a:ext cx="1726" cy="37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9" name="矩形 148"/>
          <p:cNvSpPr/>
          <p:nvPr/>
        </p:nvSpPr>
        <p:spPr bwMode="auto">
          <a:xfrm>
            <a:off x="1733276" y="4424232"/>
            <a:ext cx="677722" cy="21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b="1" baseline="0" dirty="0">
                <a:latin typeface="Arial" charset="0"/>
              </a:rPr>
              <a:t>SEXT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9" name="直接连接符 198"/>
          <p:cNvCxnSpPr/>
          <p:nvPr/>
        </p:nvCxnSpPr>
        <p:spPr bwMode="auto">
          <a:xfrm rot="10800000">
            <a:off x="3214082" y="3740160"/>
            <a:ext cx="1726" cy="792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文本框 268"/>
          <p:cNvSpPr txBox="1"/>
          <p:nvPr/>
        </p:nvSpPr>
        <p:spPr>
          <a:xfrm>
            <a:off x="1197857" y="4291249"/>
            <a:ext cx="6103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baseline="0" dirty="0"/>
              <a:t>[4:0]</a:t>
            </a:r>
            <a:endParaRPr lang="zh-CN" altLang="en-US" sz="1200" b="1" baseline="0" dirty="0"/>
          </a:p>
        </p:txBody>
      </p:sp>
      <p:cxnSp>
        <p:nvCxnSpPr>
          <p:cNvPr id="247" name="直接连接符 246"/>
          <p:cNvCxnSpPr/>
          <p:nvPr/>
        </p:nvCxnSpPr>
        <p:spPr bwMode="auto">
          <a:xfrm rot="16200000">
            <a:off x="1477431" y="4280232"/>
            <a:ext cx="1726" cy="50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8" name="直接连接符 197"/>
          <p:cNvCxnSpPr/>
          <p:nvPr/>
        </p:nvCxnSpPr>
        <p:spPr bwMode="auto">
          <a:xfrm rot="16200000">
            <a:off x="2822531" y="4130832"/>
            <a:ext cx="1726" cy="802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6" name="组合 375"/>
          <p:cNvGrpSpPr/>
          <p:nvPr/>
        </p:nvGrpSpPr>
        <p:grpSpPr>
          <a:xfrm>
            <a:off x="6258090" y="4397737"/>
            <a:ext cx="360000" cy="221857"/>
            <a:chOff x="5898218" y="3494595"/>
            <a:chExt cx="360000" cy="221857"/>
          </a:xfrm>
        </p:grpSpPr>
        <p:cxnSp>
          <p:nvCxnSpPr>
            <p:cNvPr id="377" name="直接连接符 376"/>
            <p:cNvCxnSpPr/>
            <p:nvPr/>
          </p:nvCxnSpPr>
          <p:spPr bwMode="auto">
            <a:xfrm flipH="1">
              <a:off x="5959620" y="3494595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78" name="文本框 377"/>
            <p:cNvSpPr txBox="1"/>
            <p:nvPr/>
          </p:nvSpPr>
          <p:spPr>
            <a:xfrm>
              <a:off x="5898218" y="3501008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2</a:t>
              </a:r>
              <a:endParaRPr lang="zh-CN" altLang="en-US" sz="1200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683425" y="4218423"/>
            <a:ext cx="394752" cy="277817"/>
            <a:chOff x="2731971" y="4365104"/>
            <a:chExt cx="327861" cy="216000"/>
          </a:xfrm>
        </p:grpSpPr>
        <p:sp>
          <p:nvSpPr>
            <p:cNvPr id="108" name="矩形 107"/>
            <p:cNvSpPr/>
            <p:nvPr/>
          </p:nvSpPr>
          <p:spPr bwMode="auto">
            <a:xfrm>
              <a:off x="2731971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N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2839983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Z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2947995" y="4365104"/>
              <a:ext cx="111837" cy="216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08000" tIns="7200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P</a:t>
              </a:r>
              <a:endParaRPr kumimoji="0" lang="zh-CN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cxnSp>
        <p:nvCxnSpPr>
          <p:cNvPr id="206" name="直接连接符 205"/>
          <p:cNvCxnSpPr/>
          <p:nvPr/>
        </p:nvCxnSpPr>
        <p:spPr bwMode="auto">
          <a:xfrm flipV="1">
            <a:off x="3883332" y="4472728"/>
            <a:ext cx="0" cy="244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18" name="组合 217"/>
          <p:cNvGrpSpPr/>
          <p:nvPr/>
        </p:nvGrpSpPr>
        <p:grpSpPr>
          <a:xfrm>
            <a:off x="5734361" y="4224976"/>
            <a:ext cx="360039" cy="119168"/>
            <a:chOff x="5292080" y="3452075"/>
            <a:chExt cx="360039" cy="119168"/>
          </a:xfrm>
        </p:grpSpPr>
        <p:sp>
          <p:nvSpPr>
            <p:cNvPr id="219" name="等腰三角形 218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0" name="直接连接符 219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3" name="直接连接符 222"/>
          <p:cNvCxnSpPr/>
          <p:nvPr/>
        </p:nvCxnSpPr>
        <p:spPr bwMode="auto">
          <a:xfrm rot="5400000">
            <a:off x="6346497" y="3832234"/>
            <a:ext cx="0" cy="1224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组合 223"/>
          <p:cNvGrpSpPr/>
          <p:nvPr/>
        </p:nvGrpSpPr>
        <p:grpSpPr>
          <a:xfrm>
            <a:off x="5734361" y="4529776"/>
            <a:ext cx="360039" cy="119168"/>
            <a:chOff x="5292080" y="3452075"/>
            <a:chExt cx="360039" cy="119168"/>
          </a:xfrm>
        </p:grpSpPr>
        <p:sp>
          <p:nvSpPr>
            <p:cNvPr id="225" name="等腰三角形 22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26" name="直接连接符 22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3707904" y="3717032"/>
            <a:ext cx="695029" cy="504055"/>
            <a:chOff x="3707904" y="3717032"/>
            <a:chExt cx="695029" cy="504055"/>
          </a:xfrm>
        </p:grpSpPr>
        <p:grpSp>
          <p:nvGrpSpPr>
            <p:cNvPr id="359" name="组合 358"/>
            <p:cNvGrpSpPr/>
            <p:nvPr/>
          </p:nvGrpSpPr>
          <p:grpSpPr>
            <a:xfrm rot="5400000" flipV="1">
              <a:off x="3684324" y="3981484"/>
              <a:ext cx="360039" cy="119168"/>
              <a:chOff x="5292080" y="3452075"/>
              <a:chExt cx="360039" cy="119168"/>
            </a:xfrm>
          </p:grpSpPr>
          <p:sp>
            <p:nvSpPr>
              <p:cNvPr id="368" name="等腰三角形 367"/>
              <p:cNvSpPr/>
              <p:nvPr/>
            </p:nvSpPr>
            <p:spPr bwMode="auto">
              <a:xfrm rot="5400000">
                <a:off x="5525971" y="3445094"/>
                <a:ext cx="119168" cy="133129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cxnSp>
            <p:nvCxnSpPr>
              <p:cNvPr id="369" name="直接连接符 368"/>
              <p:cNvCxnSpPr/>
              <p:nvPr/>
            </p:nvCxnSpPr>
            <p:spPr bwMode="auto">
              <a:xfrm rot="5400000">
                <a:off x="5405536" y="3405478"/>
                <a:ext cx="0" cy="226911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70" name="文本框 369"/>
            <p:cNvSpPr txBox="1"/>
            <p:nvPr/>
          </p:nvSpPr>
          <p:spPr>
            <a:xfrm>
              <a:off x="3707904" y="3717032"/>
              <a:ext cx="6950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000" baseline="0" dirty="0"/>
                <a:t>LD.CC</a:t>
              </a:r>
              <a:endParaRPr lang="zh-CN" altLang="en-US" sz="1000" baseline="0" dirty="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698465" y="3920177"/>
            <a:ext cx="1105129" cy="119168"/>
            <a:chOff x="5698465" y="3920177"/>
            <a:chExt cx="1105129" cy="119168"/>
          </a:xfrm>
        </p:grpSpPr>
        <p:cxnSp>
          <p:nvCxnSpPr>
            <p:cNvPr id="88" name="直接连接符 87"/>
            <p:cNvCxnSpPr/>
            <p:nvPr/>
          </p:nvCxnSpPr>
          <p:spPr bwMode="auto">
            <a:xfrm rot="5400000">
              <a:off x="6184465" y="3501035"/>
              <a:ext cx="0" cy="972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7" name="等腰三角形 86"/>
            <p:cNvSpPr/>
            <p:nvPr/>
          </p:nvSpPr>
          <p:spPr bwMode="auto">
            <a:xfrm rot="5400000">
              <a:off x="6677446" y="3913196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734361" y="4072576"/>
            <a:ext cx="360039" cy="119168"/>
            <a:chOff x="5292080" y="3452075"/>
            <a:chExt cx="360039" cy="119168"/>
          </a:xfrm>
        </p:grpSpPr>
        <p:sp>
          <p:nvSpPr>
            <p:cNvPr id="213" name="等腰三角形 212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214" name="直接连接符 213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52" name="直接连接符 451"/>
          <p:cNvCxnSpPr>
            <a:cxnSpLocks/>
          </p:cNvCxnSpPr>
          <p:nvPr/>
        </p:nvCxnSpPr>
        <p:spPr bwMode="auto">
          <a:xfrm flipH="1">
            <a:off x="1221015" y="4514400"/>
            <a:ext cx="2297" cy="1872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5" name="文本框 354"/>
          <p:cNvSpPr txBox="1"/>
          <p:nvPr/>
        </p:nvSpPr>
        <p:spPr>
          <a:xfrm>
            <a:off x="6122062" y="4190891"/>
            <a:ext cx="8456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ADD/AND</a:t>
            </a:r>
            <a:endParaRPr lang="zh-CN" altLang="en-US" sz="1000" b="1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3" name="直接连接符 142"/>
          <p:cNvCxnSpPr/>
          <p:nvPr/>
        </p:nvCxnSpPr>
        <p:spPr bwMode="auto">
          <a:xfrm flipV="1">
            <a:off x="2421993" y="2048040"/>
            <a:ext cx="1726" cy="36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9" name="组合 318"/>
          <p:cNvGrpSpPr/>
          <p:nvPr/>
        </p:nvGrpSpPr>
        <p:grpSpPr>
          <a:xfrm>
            <a:off x="2350548" y="2176846"/>
            <a:ext cx="396344" cy="215444"/>
            <a:chOff x="7272000" y="2565484"/>
            <a:chExt cx="396344" cy="215444"/>
          </a:xfrm>
        </p:grpSpPr>
        <p:cxnSp>
          <p:nvCxnSpPr>
            <p:cNvPr id="320" name="直接连接符 319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1" name="文本框 320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</p:grpSp>
      <p:cxnSp>
        <p:nvCxnSpPr>
          <p:cNvPr id="265" name="直接连接符 264"/>
          <p:cNvCxnSpPr/>
          <p:nvPr/>
        </p:nvCxnSpPr>
        <p:spPr bwMode="auto">
          <a:xfrm>
            <a:off x="2258637" y="1111864"/>
            <a:ext cx="1726" cy="3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21" name="组合 420"/>
          <p:cNvGrpSpPr/>
          <p:nvPr/>
        </p:nvGrpSpPr>
        <p:grpSpPr>
          <a:xfrm>
            <a:off x="1134212" y="5442899"/>
            <a:ext cx="396344" cy="215444"/>
            <a:chOff x="7272000" y="2565484"/>
            <a:chExt cx="396344" cy="215444"/>
          </a:xfrm>
        </p:grpSpPr>
        <p:sp>
          <p:nvSpPr>
            <p:cNvPr id="423" name="文本框 422"/>
            <p:cNvSpPr txBox="1"/>
            <p:nvPr/>
          </p:nvSpPr>
          <p:spPr>
            <a:xfrm>
              <a:off x="7308344" y="2565484"/>
              <a:ext cx="36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16</a:t>
              </a:r>
              <a:endParaRPr lang="zh-CN" altLang="en-US" sz="1200" dirty="0"/>
            </a:p>
          </p:txBody>
        </p:sp>
        <p:cxnSp>
          <p:nvCxnSpPr>
            <p:cNvPr id="422" name="直接连接符 421"/>
            <p:cNvCxnSpPr/>
            <p:nvPr/>
          </p:nvCxnSpPr>
          <p:spPr bwMode="auto">
            <a:xfrm flipH="1">
              <a:off x="7272000" y="2626896"/>
              <a:ext cx="144000" cy="108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93" name="直接连接符 392"/>
          <p:cNvCxnSpPr/>
          <p:nvPr/>
        </p:nvCxnSpPr>
        <p:spPr bwMode="auto">
          <a:xfrm flipV="1">
            <a:off x="2277977" y="6368448"/>
            <a:ext cx="0" cy="2088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4" name="直接连接符 243"/>
          <p:cNvCxnSpPr/>
          <p:nvPr/>
        </p:nvCxnSpPr>
        <p:spPr bwMode="auto">
          <a:xfrm rot="16200000">
            <a:off x="1736994" y="6026858"/>
            <a:ext cx="1726" cy="1080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4" name="直接连接符 393"/>
          <p:cNvCxnSpPr/>
          <p:nvPr/>
        </p:nvCxnSpPr>
        <p:spPr bwMode="auto">
          <a:xfrm>
            <a:off x="1197857" y="5351128"/>
            <a:ext cx="0" cy="1224000"/>
          </a:xfrm>
          <a:prstGeom prst="line">
            <a:avLst/>
          </a:prstGeom>
          <a:solidFill>
            <a:schemeClr val="accent1"/>
          </a:solidFill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64" name="组合 363"/>
          <p:cNvGrpSpPr/>
          <p:nvPr/>
        </p:nvGrpSpPr>
        <p:grpSpPr>
          <a:xfrm>
            <a:off x="2170281" y="5732800"/>
            <a:ext cx="360039" cy="119168"/>
            <a:chOff x="5292080" y="3452075"/>
            <a:chExt cx="360039" cy="119168"/>
          </a:xfrm>
        </p:grpSpPr>
        <p:sp>
          <p:nvSpPr>
            <p:cNvPr id="365" name="等腰三角形 364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366" name="直接连接符 365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67" name="文本框 366"/>
          <p:cNvSpPr txBox="1"/>
          <p:nvPr/>
        </p:nvSpPr>
        <p:spPr>
          <a:xfrm>
            <a:off x="1557897" y="5669274"/>
            <a:ext cx="744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LD.MDR</a:t>
            </a:r>
            <a:endParaRPr lang="zh-CN" altLang="en-US" sz="1000" baseline="0" dirty="0"/>
          </a:p>
        </p:txBody>
      </p:sp>
      <p:grpSp>
        <p:nvGrpSpPr>
          <p:cNvPr id="400" name="组合 399"/>
          <p:cNvGrpSpPr/>
          <p:nvPr/>
        </p:nvGrpSpPr>
        <p:grpSpPr>
          <a:xfrm>
            <a:off x="1837251" y="6173636"/>
            <a:ext cx="360039" cy="119168"/>
            <a:chOff x="5292080" y="3452075"/>
            <a:chExt cx="360039" cy="119168"/>
          </a:xfrm>
        </p:grpSpPr>
        <p:sp>
          <p:nvSpPr>
            <p:cNvPr id="401" name="等腰三角形 400"/>
            <p:cNvSpPr/>
            <p:nvPr/>
          </p:nvSpPr>
          <p:spPr bwMode="auto">
            <a:xfrm rot="5400000">
              <a:off x="5525971" y="3445094"/>
              <a:ext cx="119168" cy="133129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 rot="5400000">
              <a:off x="5405536" y="3405478"/>
              <a:ext cx="0" cy="22691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3" name="文本框 402"/>
          <p:cNvSpPr txBox="1"/>
          <p:nvPr/>
        </p:nvSpPr>
        <p:spPr>
          <a:xfrm>
            <a:off x="1294916" y="6110110"/>
            <a:ext cx="695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aseline="0" dirty="0"/>
              <a:t>MIO.EN</a:t>
            </a:r>
            <a:endParaRPr lang="zh-CN" altLang="en-US" sz="1000" baseline="0" dirty="0"/>
          </a:p>
        </p:txBody>
      </p:sp>
      <p:sp>
        <p:nvSpPr>
          <p:cNvPr id="407" name="文本框 406"/>
          <p:cNvSpPr txBox="1"/>
          <p:nvPr/>
        </p:nvSpPr>
        <p:spPr>
          <a:xfrm>
            <a:off x="1629907" y="5333967"/>
            <a:ext cx="8426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000" baseline="0" dirty="0" err="1"/>
              <a:t>GateMDR</a:t>
            </a:r>
            <a:endParaRPr lang="zh-CN" altLang="en-US" sz="1000" baseline="0" dirty="0"/>
          </a:p>
        </p:txBody>
      </p:sp>
    </p:spTree>
    <p:extLst>
      <p:ext uri="{BB962C8B-B14F-4D97-AF65-F5344CB8AC3E}">
        <p14:creationId xmlns:p14="http://schemas.microsoft.com/office/powerpoint/2010/main" val="23303921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Next Lecture: Control Instructions</a:t>
            </a:r>
            <a:endParaRPr lang="zh-CN" altLang="en-US" dirty="0">
              <a:solidFill>
                <a:srgbClr val="003399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1CBB7B-8F77-4532-AF3B-692F6833BD27}" type="datetime1">
              <a:rPr lang="zh-CN" altLang="en-US" smtClean="0"/>
              <a:pPr>
                <a:defRPr/>
              </a:pPr>
              <a:t>2023/11/3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441A33-B750-4E2E-A7AE-D936BE1FEF48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  <p:sp>
        <p:nvSpPr>
          <p:cNvPr id="104" name="矩形 103"/>
          <p:cNvSpPr/>
          <p:nvPr/>
        </p:nvSpPr>
        <p:spPr bwMode="auto">
          <a:xfrm>
            <a:off x="232668" y="1124744"/>
            <a:ext cx="8659812" cy="4968552"/>
          </a:xfrm>
          <a:prstGeom prst="rect">
            <a:avLst/>
          </a:prstGeom>
          <a:solidFill>
            <a:srgbClr val="FF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244144" y="5450550"/>
            <a:ext cx="6450116" cy="541667"/>
            <a:chOff x="381000" y="3212976"/>
            <a:chExt cx="2868712" cy="288000"/>
          </a:xfrm>
        </p:grpSpPr>
        <p:sp>
          <p:nvSpPr>
            <p:cNvPr id="212" name="矩形 211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3" name="矩形 212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4" name="矩形 213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5" name="矩形 214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216" name="矩形 215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7" name="矩形 216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8" name="矩形 217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9" name="矩形 218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20" name="矩形 219"/>
            <p:cNvSpPr/>
            <p:nvPr/>
          </p:nvSpPr>
          <p:spPr bwMode="auto">
            <a:xfrm>
              <a:off x="1809712" y="3212976"/>
              <a:ext cx="144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TrapVector8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06" name="矩形 105"/>
          <p:cNvSpPr/>
          <p:nvPr/>
        </p:nvSpPr>
        <p:spPr bwMode="auto">
          <a:xfrm>
            <a:off x="664114" y="5448477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TRAP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2244144" y="1252106"/>
            <a:ext cx="6453289" cy="947962"/>
            <a:chOff x="345016" y="2996952"/>
            <a:chExt cx="2870123" cy="504024"/>
          </a:xfrm>
        </p:grpSpPr>
        <p:grpSp>
          <p:nvGrpSpPr>
            <p:cNvPr id="186" name="组合 185"/>
            <p:cNvGrpSpPr/>
            <p:nvPr/>
          </p:nvGrpSpPr>
          <p:grpSpPr>
            <a:xfrm>
              <a:off x="345016" y="3212976"/>
              <a:ext cx="2870123" cy="288000"/>
              <a:chOff x="381000" y="3212976"/>
              <a:chExt cx="2870123" cy="288000"/>
            </a:xfrm>
          </p:grpSpPr>
          <p:sp>
            <p:nvSpPr>
              <p:cNvPr id="204" name="矩形 203"/>
              <p:cNvSpPr/>
              <p:nvPr/>
            </p:nvSpPr>
            <p:spPr bwMode="auto">
              <a:xfrm>
                <a:off x="381000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05" name="矩形 204"/>
              <p:cNvSpPr/>
              <p:nvPr/>
            </p:nvSpPr>
            <p:spPr bwMode="auto">
              <a:xfrm>
                <a:off x="559589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06" name="矩形 205"/>
              <p:cNvSpPr/>
              <p:nvPr/>
            </p:nvSpPr>
            <p:spPr bwMode="auto">
              <a:xfrm>
                <a:off x="738178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 bwMode="auto">
              <a:xfrm>
                <a:off x="916767" y="3212976"/>
                <a:ext cx="180000" cy="288000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="1" baseline="0" dirty="0">
                    <a:solidFill>
                      <a:schemeClr val="bg1"/>
                    </a:solidFill>
                    <a:latin typeface="Arial" charset="0"/>
                  </a:rPr>
                  <a:t>0</a:t>
                </a:r>
                <a:endParaRPr kumimoji="0" lang="zh-CN" altLang="en-US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 bwMode="auto">
              <a:xfrm>
                <a:off x="1095356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n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 bwMode="auto">
              <a:xfrm>
                <a:off x="1273945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z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10" name="矩形 209"/>
              <p:cNvSpPr/>
              <p:nvPr/>
            </p:nvSpPr>
            <p:spPr bwMode="auto">
              <a:xfrm>
                <a:off x="1452534" y="3212976"/>
                <a:ext cx="180000" cy="288000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p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11" name="矩形 210"/>
              <p:cNvSpPr/>
              <p:nvPr/>
            </p:nvSpPr>
            <p:spPr bwMode="auto">
              <a:xfrm>
                <a:off x="1631123" y="3212976"/>
                <a:ext cx="162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PCoffset9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45016" y="2996952"/>
              <a:ext cx="2858832" cy="201861"/>
              <a:chOff x="395536" y="2924976"/>
              <a:chExt cx="2858832" cy="288000"/>
            </a:xfrm>
          </p:grpSpPr>
          <p:sp>
            <p:nvSpPr>
              <p:cNvPr id="188" name="矩形 187"/>
              <p:cNvSpPr/>
              <p:nvPr/>
            </p:nvSpPr>
            <p:spPr bwMode="auto">
              <a:xfrm>
                <a:off x="39553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15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57412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14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71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13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93130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12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110989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11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1288481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10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1467070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9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1645659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8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182424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7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2002837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6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2181426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5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2360015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4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2538604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3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2717193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2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 bwMode="auto">
              <a:xfrm>
                <a:off x="2895782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CN" sz="2000" baseline="0" dirty="0">
                    <a:latin typeface="Arial" charset="0"/>
                  </a:rPr>
                  <a:t>1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 bwMode="auto">
              <a:xfrm>
                <a:off x="3074368" y="2924976"/>
                <a:ext cx="180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rPr>
                  <a:t>0</a:t>
                </a:r>
                <a:endParaRPr kumimoji="0" lang="zh-CN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09" name="组合 108"/>
          <p:cNvGrpSpPr/>
          <p:nvPr/>
        </p:nvGrpSpPr>
        <p:grpSpPr>
          <a:xfrm>
            <a:off x="2244144" y="2251160"/>
            <a:ext cx="6459634" cy="541667"/>
            <a:chOff x="381000" y="3212976"/>
            <a:chExt cx="2872945" cy="288000"/>
          </a:xfrm>
        </p:grpSpPr>
        <p:sp>
          <p:nvSpPr>
            <p:cNvPr id="180" name="矩形 17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1273945" y="3212976"/>
              <a:ext cx="19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PCoffset11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2244144" y="2843918"/>
            <a:ext cx="6427902" cy="541667"/>
            <a:chOff x="381000" y="3212976"/>
            <a:chExt cx="2858832" cy="288000"/>
          </a:xfrm>
        </p:grpSpPr>
        <p:sp>
          <p:nvSpPr>
            <p:cNvPr id="166" name="矩形 16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 err="1">
                  <a:latin typeface="Arial" charset="0"/>
                </a:rPr>
                <a:t>BaseR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244144" y="3436676"/>
            <a:ext cx="6427902" cy="541667"/>
            <a:chOff x="381000" y="3212976"/>
            <a:chExt cx="2858832" cy="288000"/>
          </a:xfrm>
        </p:grpSpPr>
        <p:sp>
          <p:nvSpPr>
            <p:cNvPr id="150" name="矩形 14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1" name="矩形 15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2" name="矩形 15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3" name="矩形 15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54" name="矩形 15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5" name="矩形 15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6" name="矩形 15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7" name="矩形 15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2" name="矩形 111"/>
          <p:cNvSpPr/>
          <p:nvPr/>
        </p:nvSpPr>
        <p:spPr bwMode="auto">
          <a:xfrm>
            <a:off x="664114" y="1653225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BR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3" name="矩形 112"/>
          <p:cNvSpPr/>
          <p:nvPr/>
        </p:nvSpPr>
        <p:spPr bwMode="auto">
          <a:xfrm>
            <a:off x="664114" y="2840811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JSRR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664114" y="3434604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RTI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64114" y="2255830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JSR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244144" y="4031385"/>
            <a:ext cx="6427902" cy="541667"/>
            <a:chOff x="381000" y="3212976"/>
            <a:chExt cx="2858832" cy="288000"/>
          </a:xfrm>
        </p:grpSpPr>
        <p:sp>
          <p:nvSpPr>
            <p:cNvPr id="136" name="矩形 135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7" name="矩形 136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8" name="矩形 137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39" name="矩形 138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40" name="矩形 139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1" name="矩形 140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2" name="矩形 141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3" name="矩形 142"/>
            <p:cNvSpPr/>
            <p:nvPr/>
          </p:nvSpPr>
          <p:spPr bwMode="auto">
            <a:xfrm>
              <a:off x="1631123" y="3212976"/>
              <a:ext cx="54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 err="1">
                  <a:latin typeface="Arial" charset="0"/>
                </a:rPr>
                <a:t>BaseR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4" name="矩形 143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5" name="矩形 144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6" name="矩形 145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7" name="矩形 146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8" name="矩形 147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9" name="矩形 148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7" name="矩形 116"/>
          <p:cNvSpPr/>
          <p:nvPr/>
        </p:nvSpPr>
        <p:spPr bwMode="auto">
          <a:xfrm>
            <a:off x="664114" y="4029312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JMP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244144" y="4624020"/>
            <a:ext cx="6427902" cy="541667"/>
            <a:chOff x="381000" y="3212976"/>
            <a:chExt cx="2858832" cy="288000"/>
          </a:xfrm>
        </p:grpSpPr>
        <p:sp>
          <p:nvSpPr>
            <p:cNvPr id="120" name="矩形 119"/>
            <p:cNvSpPr/>
            <p:nvPr/>
          </p:nvSpPr>
          <p:spPr bwMode="auto">
            <a:xfrm>
              <a:off x="381000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559589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solidFill>
                    <a:schemeClr val="bg1"/>
                  </a:solidFill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738178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916767" y="3212976"/>
              <a:ext cx="180000" cy="288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="1" baseline="0" dirty="0">
                  <a:solidFill>
                    <a:schemeClr val="bg1"/>
                  </a:solidFill>
                  <a:latin typeface="Arial" charset="0"/>
                </a:rPr>
                <a:t>0</a:t>
              </a:r>
              <a:endPara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109535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1273945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1452534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631123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809712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988301" y="3212976"/>
              <a:ext cx="180000" cy="288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000" baseline="0" dirty="0">
                  <a:latin typeface="Arial" charset="0"/>
                </a:rPr>
                <a:t>1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2166890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2345479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2524068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2702657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2881246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3059832" y="3212976"/>
              <a:ext cx="18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rPr>
                <a:t>0</a:t>
              </a:r>
              <a:endPara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119" name="矩形 118"/>
          <p:cNvSpPr/>
          <p:nvPr/>
        </p:nvSpPr>
        <p:spPr bwMode="auto">
          <a:xfrm>
            <a:off x="664114" y="4621948"/>
            <a:ext cx="1426143" cy="54166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aseline="0" dirty="0">
                <a:latin typeface="Arial" charset="0"/>
              </a:rPr>
              <a:t>RET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65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022203400"/>
  <p:tag name="MH_LIBRARY" val="GRAPHI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OTHERS"/>
  <p:tag name="ID" val="553512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4075</TotalTime>
  <Pages>0</Pages>
  <Words>8406</Words>
  <Characters>0</Characters>
  <Application>Microsoft Office PowerPoint</Application>
  <DocSecurity>0</DocSecurity>
  <PresentationFormat>全屏显示(4:3)</PresentationFormat>
  <Lines>0</Lines>
  <Paragraphs>5738</Paragraphs>
  <Slides>78</Slides>
  <Notes>70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101" baseType="lpstr">
      <vt:lpstr>CourierPS</vt:lpstr>
      <vt:lpstr>Gungsuh</vt:lpstr>
      <vt:lpstr>仿宋</vt:lpstr>
      <vt:lpstr>黑体</vt:lpstr>
      <vt:lpstr>华文楷体</vt:lpstr>
      <vt:lpstr>华文新魏</vt:lpstr>
      <vt:lpstr>楷体</vt:lpstr>
      <vt:lpstr>宋体</vt:lpstr>
      <vt:lpstr>微软雅黑</vt:lpstr>
      <vt:lpstr>Arial</vt:lpstr>
      <vt:lpstr>Calibri</vt:lpstr>
      <vt:lpstr>Franklin Gothic Book</vt:lpstr>
      <vt:lpstr>Garamond</vt:lpstr>
      <vt:lpstr>Gill Sans MT</vt:lpstr>
      <vt:lpstr>Miriam Fixed</vt:lpstr>
      <vt:lpstr>Tahoma</vt:lpstr>
      <vt:lpstr>Wingdings</vt:lpstr>
      <vt:lpstr>Wingdings 3</vt:lpstr>
      <vt:lpstr>1_Office 主题​​</vt:lpstr>
      <vt:lpstr>学术交流模板3-中文</vt:lpstr>
      <vt:lpstr>2_Office 主题​​</vt:lpstr>
      <vt:lpstr>CorelDRAW</vt:lpstr>
      <vt:lpstr>Equation</vt:lpstr>
      <vt:lpstr>Chapter 5-2   The LC-3 Data Movement Instructions</vt:lpstr>
      <vt:lpstr>PowerPoint 演示文稿</vt:lpstr>
      <vt:lpstr>PowerPoint 演示文稿</vt:lpstr>
      <vt:lpstr>Great Idea #3 ：Abstraction</vt:lpstr>
      <vt:lpstr>LC-3 ISA Operate Instructions</vt:lpstr>
      <vt:lpstr>PowerPoint 演示文稿</vt:lpstr>
      <vt:lpstr>Today</vt:lpstr>
      <vt:lpstr>PowerPoint 演示文稿</vt:lpstr>
      <vt:lpstr>Today</vt:lpstr>
      <vt:lpstr>LC-3 Overview: Memory Map</vt:lpstr>
      <vt:lpstr>Data Movement  Instructions</vt:lpstr>
      <vt:lpstr>Data Movement Instructions</vt:lpstr>
      <vt:lpstr>PC-Relative Addressing Mode</vt:lpstr>
      <vt:lpstr>LD (PC-Relative)    LD DR, PCoffset9</vt:lpstr>
      <vt:lpstr>LD (PC-Relative) : LD R1, x1AF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 (PC-Relative)    ST DR, PCoffset9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Indirect Addressing Mode</vt:lpstr>
      <vt:lpstr>LDI (Indirect)     LDI  DR, PCoffset9</vt:lpstr>
      <vt:lpstr>LDI (Indirect) : LDI R1, x1AF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STI (Indirect)     STI  DR, PCoffset9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Base + Offset Addressing Mode</vt:lpstr>
      <vt:lpstr>LDR (Base+Offset)   LDR  DR, BaseR, offset6</vt:lpstr>
      <vt:lpstr>LDR (Base+Offset) : LD R1, R3, x1D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STR (Base+Offset)  STR  DR, BaseR, offset6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Load Effective Address</vt:lpstr>
      <vt:lpstr>LEA (Immediate)    LD DR, PCoffset9</vt:lpstr>
      <vt:lpstr>LEA (Immediate): LEA R1, x1AF</vt:lpstr>
      <vt:lpstr>PowerPoint 演示文稿</vt:lpstr>
      <vt:lpstr>PowerPoint 演示文稿</vt:lpstr>
      <vt:lpstr>PowerPoint 演示文稿</vt:lpstr>
      <vt:lpstr>PowerPoint 演示文稿</vt:lpstr>
      <vt:lpstr>Example</vt:lpstr>
      <vt:lpstr>PowerPoint 演示文稿</vt:lpstr>
      <vt:lpstr>Today: Data Movement  Instructions</vt:lpstr>
      <vt:lpstr>PowerPoint 演示文稿</vt:lpstr>
      <vt:lpstr>PowerPoint 演示文稿</vt:lpstr>
      <vt:lpstr>Next Lecture: Control Instructions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626</cp:revision>
  <cp:lastPrinted>2020-01-03T04:21:01Z</cp:lastPrinted>
  <dcterms:created xsi:type="dcterms:W3CDTF">2012-09-03T16:09:03Z</dcterms:created>
  <dcterms:modified xsi:type="dcterms:W3CDTF">2023-11-03T01:31:29Z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