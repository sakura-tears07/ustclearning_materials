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</p:sldMasterIdLst>
  <p:notesMasterIdLst>
    <p:notesMasterId r:id="rId32"/>
  </p:notesMasterIdLst>
  <p:sldIdLst>
    <p:sldId id="1541" r:id="rId3"/>
    <p:sldId id="1773" r:id="rId4"/>
    <p:sldId id="1776" r:id="rId5"/>
    <p:sldId id="1777" r:id="rId6"/>
    <p:sldId id="1712" r:id="rId7"/>
    <p:sldId id="1583" r:id="rId8"/>
    <p:sldId id="1584" r:id="rId9"/>
    <p:sldId id="1585" r:id="rId10"/>
    <p:sldId id="1775" r:id="rId11"/>
    <p:sldId id="1713" r:id="rId12"/>
    <p:sldId id="1714" r:id="rId13"/>
    <p:sldId id="1715" r:id="rId14"/>
    <p:sldId id="1716" r:id="rId15"/>
    <p:sldId id="1717" r:id="rId16"/>
    <p:sldId id="1718" r:id="rId17"/>
    <p:sldId id="1719" r:id="rId18"/>
    <p:sldId id="1720" r:id="rId19"/>
    <p:sldId id="1721" r:id="rId20"/>
    <p:sldId id="1722" r:id="rId21"/>
    <p:sldId id="599" r:id="rId22"/>
    <p:sldId id="600" r:id="rId23"/>
    <p:sldId id="601" r:id="rId24"/>
    <p:sldId id="1723" r:id="rId25"/>
    <p:sldId id="603" r:id="rId26"/>
    <p:sldId id="604" r:id="rId27"/>
    <p:sldId id="605" r:id="rId28"/>
    <p:sldId id="606" r:id="rId29"/>
    <p:sldId id="607" r:id="rId30"/>
    <p:sldId id="602" r:id="rId3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52A3"/>
    <a:srgbClr val="333399"/>
    <a:srgbClr val="003399"/>
    <a:srgbClr val="0000FF"/>
    <a:srgbClr val="CCFFFF"/>
    <a:srgbClr val="FFCCFF"/>
    <a:srgbClr val="0074BF"/>
    <a:srgbClr val="A6E0E0"/>
    <a:srgbClr val="CC33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92" autoAdjust="0"/>
    <p:restoredTop sz="86350" autoAdjust="0"/>
  </p:normalViewPr>
  <p:slideViewPr>
    <p:cSldViewPr>
      <p:cViewPr varScale="1">
        <p:scale>
          <a:sx n="93" d="100"/>
          <a:sy n="93" d="100"/>
        </p:scale>
        <p:origin x="648" y="33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-4968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20084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2025/11/4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06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576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403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689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807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249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948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07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878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783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960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312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2025/11/4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163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26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2095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592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34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1342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320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591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0612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87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88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755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18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2025/11/4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6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3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8-1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Subroutines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计算系统概论</a:t>
            </a:r>
            <a:r>
              <a:rPr lang="en-US" altLang="zh-CN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CS1002A.01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28AD21-6471-4BF0-9125-534899F54044}"/>
              </a:ext>
            </a:extLst>
          </p:cNvPr>
          <p:cNvSpPr txBox="1"/>
          <p:nvPr/>
        </p:nvSpPr>
        <p:spPr>
          <a:xfrm>
            <a:off x="2406644" y="508518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Control Instructions for</a:t>
            </a:r>
            <a:r>
              <a:rPr lang="zh-CN" altLang="en-US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Subroutines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Subroutines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DD9FF1F-939C-4071-B8B2-C9607942085A}"/>
              </a:ext>
            </a:extLst>
          </p:cNvPr>
          <p:cNvCxnSpPr/>
          <p:nvPr/>
        </p:nvCxnSpPr>
        <p:spPr>
          <a:xfrm>
            <a:off x="438669" y="479000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078863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05DD3-E3F1-4D4F-A6CA-04009534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Abstract Data Types</a:t>
            </a:r>
            <a:r>
              <a:rPr lang="zh-CN" altLang="en-US" dirty="0"/>
              <a:t>：</a:t>
            </a:r>
            <a:r>
              <a:rPr lang="en-US" altLang="zh-CN" dirty="0"/>
              <a:t> Data Structures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775C0-92AC-482E-8882-55EBF5A7B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Up to now, we have processed a single value</a:t>
            </a:r>
          </a:p>
          <a:p>
            <a:pPr lvl="1"/>
            <a:r>
              <a:rPr lang="en-US" altLang="zh-CN" dirty="0"/>
              <a:t>an integer</a:t>
            </a:r>
          </a:p>
          <a:p>
            <a:pPr lvl="1"/>
            <a:r>
              <a:rPr lang="en-US" altLang="zh-CN" dirty="0"/>
              <a:t>a floating point number, or </a:t>
            </a:r>
          </a:p>
          <a:p>
            <a:pPr lvl="1"/>
            <a:r>
              <a:rPr lang="en-US" altLang="zh-CN" dirty="0"/>
              <a:t>an ASCII character</a:t>
            </a:r>
          </a:p>
          <a:p>
            <a:r>
              <a:rPr lang="en-US" altLang="zh-CN" sz="2000" dirty="0"/>
              <a:t>How to store and organize values according some structure for efficient look-up/processing? --</a:t>
            </a:r>
            <a:r>
              <a:rPr lang="en-US" altLang="zh-CN" sz="2000" dirty="0">
                <a:solidFill>
                  <a:srgbClr val="FF0000"/>
                </a:solidFill>
              </a:rPr>
              <a:t>data structures</a:t>
            </a:r>
          </a:p>
          <a:p>
            <a:r>
              <a:rPr lang="en-US" altLang="zh-CN" sz="2000" dirty="0"/>
              <a:t>The real world is </a:t>
            </a:r>
            <a:r>
              <a:rPr lang="en-US" altLang="zh-CN" sz="2000" dirty="0">
                <a:solidFill>
                  <a:srgbClr val="FF0000"/>
                </a:solidFill>
              </a:rPr>
              <a:t>abstract data types</a:t>
            </a:r>
            <a:r>
              <a:rPr lang="en-US" altLang="zh-CN" sz="2000" dirty="0"/>
              <a:t>, or more colloquially </a:t>
            </a:r>
            <a:r>
              <a:rPr lang="en-US" altLang="zh-CN" sz="2000" dirty="0">
                <a:solidFill>
                  <a:srgbClr val="FF0000"/>
                </a:solidFill>
              </a:rPr>
              <a:t>data structures</a:t>
            </a:r>
            <a:r>
              <a:rPr lang="zh-CN" altLang="en-US" sz="2000" dirty="0"/>
              <a:t>，</a:t>
            </a:r>
            <a:r>
              <a:rPr lang="en-US" altLang="zh-CN" sz="2000" dirty="0"/>
              <a:t>far more complex than simple, single numbers. E.g.</a:t>
            </a:r>
          </a:p>
          <a:p>
            <a:pPr lvl="1"/>
            <a:r>
              <a:rPr lang="en-US" altLang="zh-CN" dirty="0"/>
              <a:t>a company’s organization chart</a:t>
            </a:r>
          </a:p>
          <a:p>
            <a:pPr lvl="1"/>
            <a:r>
              <a:rPr lang="en-US" altLang="zh-CN" dirty="0"/>
              <a:t>a list of items arranged in alphabetical order </a:t>
            </a:r>
          </a:p>
          <a:p>
            <a:r>
              <a:rPr lang="en-US" altLang="zh-CN" sz="2000" dirty="0"/>
              <a:t>In this chapter, we will study three abstract data types: </a:t>
            </a:r>
          </a:p>
          <a:p>
            <a:pPr lvl="1"/>
            <a:r>
              <a:rPr lang="en-US" altLang="zh-CN" dirty="0"/>
              <a:t>stacks</a:t>
            </a:r>
          </a:p>
          <a:p>
            <a:pPr lvl="1"/>
            <a:r>
              <a:rPr lang="en-US" altLang="zh-CN" dirty="0"/>
              <a:t>queues</a:t>
            </a:r>
          </a:p>
          <a:p>
            <a:pPr lvl="1"/>
            <a:r>
              <a:rPr lang="en-US" altLang="zh-CN" dirty="0"/>
              <a:t>and character strings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04DEA-3D09-4745-8F11-60512525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97500-9D1D-495D-AF4B-9625E9B7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09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05DD3-E3F1-4D4F-A6CA-04009534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Abstract Data Types</a:t>
            </a:r>
            <a:r>
              <a:rPr lang="zh-CN" altLang="en-US" dirty="0"/>
              <a:t>：</a:t>
            </a:r>
            <a:r>
              <a:rPr lang="en-US" altLang="zh-CN" dirty="0"/>
              <a:t> Data Structures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775C0-92AC-482E-8882-55EBF5A7B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will write programs to solve problems that require expressing information according to its structure.</a:t>
            </a:r>
          </a:p>
          <a:p>
            <a:r>
              <a:rPr lang="en-US" altLang="zh-CN" dirty="0"/>
              <a:t>Before we get to </a:t>
            </a:r>
            <a:r>
              <a:rPr lang="en-US" altLang="zh-CN" dirty="0">
                <a:solidFill>
                  <a:srgbClr val="FF0000"/>
                </a:solidFill>
              </a:rPr>
              <a:t>stacks, queues, and character strings</a:t>
            </a:r>
            <a:r>
              <a:rPr lang="en-US" altLang="zh-CN" dirty="0"/>
              <a:t>, however, we introduce a new concept that will prove very useful in manipulating data structures: subroutines, or what is also called functions.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04DEA-3D09-4745-8F11-60512525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97500-9D1D-495D-AF4B-9625E9B7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58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EE673B-8A09-4F93-B343-2464F4B7CD2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EFEB77-5D07-4107-9B09-F25808391CD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Subroutines</a:t>
            </a:r>
            <a:endParaRPr lang="zh-CN" altLang="en-US" b="0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964612" cy="5481638"/>
          </a:xfrm>
        </p:spPr>
        <p:txBody>
          <a:bodyPr/>
          <a:lstStyle/>
          <a:p>
            <a:r>
              <a:rPr lang="en-US" altLang="zh-CN" dirty="0"/>
              <a:t>A subroutine is a program fragment that. . 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Resides in user space (</a:t>
            </a:r>
            <a:r>
              <a:rPr lang="en-US" altLang="zh-CN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i.e</a:t>
            </a:r>
            <a:r>
              <a:rPr lang="en-US" altLang="zh-CN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not in OS)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Performs a well-defined task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Is invoked (called) multiple times by a user program 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control to the calling program when finished</a:t>
            </a:r>
          </a:p>
          <a:p>
            <a:r>
              <a:rPr lang="en-US" altLang="zh-CN" dirty="0"/>
              <a:t>Virtues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Reuse code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without re-typing it (and debugging it!)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Divide task into parts (or among multiple programmers)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Use vendor-supplied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library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of useful routines that software engineers require when they writes a program</a:t>
            </a:r>
          </a:p>
          <a:p>
            <a:pPr lvl="2"/>
            <a:r>
              <a:rPr lang="en-US" altLang="zh-CN" sz="2000" dirty="0">
                <a:latin typeface="Comic Sans MS" panose="030F0702030302020204" pitchFamily="66" charset="0"/>
                <a:ea typeface="楷体_GB2312" pitchFamily="49" charset="-122"/>
                <a:cs typeface="Courier New" panose="02070309020205020404" pitchFamily="49" charset="0"/>
              </a:rPr>
              <a:t>math library</a:t>
            </a:r>
          </a:p>
          <a:p>
            <a:pPr lvl="2"/>
            <a:r>
              <a:rPr lang="en-US" altLang="zh-CN" sz="2000" dirty="0">
                <a:latin typeface="Comic Sans MS" panose="030F0702030302020204" pitchFamily="66" charset="0"/>
                <a:ea typeface="楷体_GB2312" pitchFamily="49" charset="-122"/>
                <a:cs typeface="Courier New" panose="02070309020205020404" pitchFamily="49" charset="0"/>
              </a:rPr>
              <a:t>square root, sine, and </a:t>
            </a:r>
            <a:r>
              <a:rPr lang="en-US" altLang="zh-CN" sz="2000" dirty="0" err="1">
                <a:latin typeface="Comic Sans MS" panose="030F0702030302020204" pitchFamily="66" charset="0"/>
                <a:ea typeface="楷体_GB2312" pitchFamily="49" charset="-122"/>
                <a:cs typeface="Courier New" panose="02070309020205020404" pitchFamily="49" charset="0"/>
              </a:rPr>
              <a:t>arctangent,etc</a:t>
            </a:r>
            <a:r>
              <a:rPr lang="en-US" altLang="zh-CN" sz="2000" dirty="0">
                <a:latin typeface="Comic Sans MS" panose="030F0702030302020204" pitchFamily="66" charset="0"/>
                <a:ea typeface="楷体_GB2312" pitchFamily="49" charset="-122"/>
                <a:cs typeface="Courier New" panose="02070309020205020404" pitchFamily="49" charset="0"/>
              </a:rPr>
              <a:t>.</a:t>
            </a:r>
            <a:endParaRPr lang="zh-CN" altLang="en-US" sz="2000" dirty="0">
              <a:latin typeface="Comic Sans MS" panose="030F0702030302020204" pitchFamily="66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6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D952C-BED0-443E-BDC6-0E6CC38BF3C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D614C-7152-4F8B-B6CD-8DB81C1CB46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 simple </a:t>
            </a:r>
            <a:r>
              <a:rPr lang="en-US" altLang="zh-CN" dirty="0"/>
              <a:t>illustration of a part of a program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388" y="971550"/>
            <a:ext cx="8964612" cy="5810250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01; Service Routine for Keyboard Input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02	.ORIG	x04A0	;System call starting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03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04;START	ST	R7,SaveR7	;Save the linkage back to the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05;			;program?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06	ST	R1,SaveR1	;Save the values in the registers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07	ST	R2,SaveR2	;that are used so that they can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08	ST	R3,SaveR3	;be restored before RET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09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10;Output Newline on CRT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11	LD	R2,Newline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12 L1	LDI	R3,DSR	;Check DDR—is it free?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L1	;Loop until monitor is ready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14	STI	R2,DDR	;Move cursor to new clean 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15;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16;Output “Input a character”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17	LEA	R1,Prompt	;Prompt is starting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18			;of prompt string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19 Loop 	LDR	R0,R1,#0	;Get next prompt character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20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Input	;Check for end of prompt string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21 L2	LDI	R3,DSR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22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L2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23	STI	R0,DDR	;Write next character of prompt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24			;string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25	ADD	R1,R1,#1	;Increment prompt point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26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BRnzp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Loop	</a:t>
            </a:r>
          </a:p>
        </p:txBody>
      </p:sp>
    </p:spTree>
    <p:extLst>
      <p:ext uri="{BB962C8B-B14F-4D97-AF65-F5344CB8AC3E}">
        <p14:creationId xmlns:p14="http://schemas.microsoft.com/office/powerpoint/2010/main" val="148551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AB8132-55D4-48FA-A0D0-D8CE0587C31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F54B7E-D755-4B4B-BCE2-F07524F625B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 simple </a:t>
            </a:r>
            <a:r>
              <a:rPr lang="en-US" altLang="zh-CN" dirty="0"/>
              <a:t>illustration of a part of a program</a:t>
            </a:r>
            <a:endParaRPr lang="en-US" altLang="zh-CN" sz="1800" b="0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5616575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27;Input a character from KB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28 Input	LDI 	R3,KBSR	;Has a character been typed?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29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Input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30	LDI	R0,KBDR	;Load it into R0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32;Echo the character on CRT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33 L3	LDI	R3,DSR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34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L3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35 	STI	R0,DDR	;Echo input character to the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36 			;monitor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37;Output Newline on CRT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	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38 L4	LDI	R3,DSR	;Check CRTDR—is it free?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39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L4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40	STI	R2,DDR	;Move cursor to new clean 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42;Restore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43	LD	R1,SaveR1	;Service routine done, restore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44	LD	R2,SaveR2	;original values in registers.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45	LD	R3,SaveR3	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46; 	LD	R7,SaveR7	;Restore linkage back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47; 			;prior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to RET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48	RET		;Return to calling program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4513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 simple </a:t>
            </a:r>
            <a:r>
              <a:rPr lang="en-US" altLang="zh-CN" dirty="0"/>
              <a:t>illustration of a part of a program</a:t>
            </a:r>
            <a:endParaRPr lang="zh-CN" altLang="en-US" dirty="0"/>
          </a:p>
        </p:txBody>
      </p:sp>
      <p:sp>
        <p:nvSpPr>
          <p:cNvPr id="15363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93229F-F526-4381-BDEC-ECA137F64D1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F0030F-A955-4909-8652-529C49F9ADE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5556250"/>
          </a:xfrm>
          <a:prstGeom prst="rect">
            <a:avLst/>
          </a:prstGeom>
          <a:solidFill>
            <a:srgbClr val="A6E0E0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49;Memory for registers saved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50;	SaveR7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51	SaveR1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52	SaveR2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53	SaveR3	.FILL x0000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54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55	DSR	.FILL xF3FC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56	DDR	.FILL xF3FF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57	KBSR	.FILL xF400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58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	KBDR	.FILL xF401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arabicPlain" startAt="58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59	Newline	.FILL x000A	;ASCII code for newline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60	Prompt	.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STRINGZ”Input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a character&gt;”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61		.END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3081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733DC-8C81-4139-A8E2-65E78E61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Call/Return Mechanism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3BEC1-08C1-4B03-8AA8-E8EE6BFC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2025/11/4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A7D8F-A01F-4631-B12B-65D0849A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027E86-DBD4-49BC-B516-A87018822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04" y="982828"/>
            <a:ext cx="7848996" cy="55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43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Control Instructions for Subroutines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TrapVector8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TRAP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z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p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15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9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8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7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PCoffset11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BaseR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BR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JSRR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RTI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JSR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BaseR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JMP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0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RET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237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450D3-8D1D-48CB-8381-0FE959F6AA3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B1CC1D-D292-41E5-AD7F-F88C2A6F01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JSR</a:t>
            </a:r>
            <a:endParaRPr lang="zh-CN" altLang="en-US" b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195982-9069-0CE3-2186-F2DBE80F3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340768"/>
            <a:ext cx="7628445" cy="483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89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 (PC-Relative)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224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 (PC-Relative)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5757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 (PC-Relative)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6775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 (PC-Relative)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8640"/>
            <a:ext cx="4863271" cy="568215"/>
            <a:chOff x="4101216" y="188640"/>
            <a:chExt cx="4863271" cy="568215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9333"/>
              <a:ext cx="4863271" cy="567522"/>
              <a:chOff x="3706688" y="189333"/>
              <a:chExt cx="5257800" cy="567522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35047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44022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5135973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D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3231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887697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矩形 68"/>
          <p:cNvSpPr/>
          <p:nvPr/>
        </p:nvSpPr>
        <p:spPr bwMode="auto">
          <a:xfrm>
            <a:off x="3392528" y="5640309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 (PC-Relative)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50499" y="639998"/>
            <a:ext cx="8896977" cy="6141802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7437"/>
            <a:ext cx="4863271" cy="569418"/>
            <a:chOff x="4101216" y="187437"/>
            <a:chExt cx="4863271" cy="569418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7437"/>
              <a:ext cx="4863271" cy="569418"/>
              <a:chOff x="3706688" y="187437"/>
              <a:chExt cx="5257800" cy="569418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5" name="Text Box 4"/>
              <p:cNvSpPr txBox="1">
                <a:spLocks noChangeArrowheads="1"/>
              </p:cNvSpPr>
              <p:nvPr/>
            </p:nvSpPr>
            <p:spPr bwMode="auto">
              <a:xfrm>
                <a:off x="4842967" y="187437"/>
                <a:ext cx="480169" cy="307777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D</a:t>
                </a: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6717019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2" name="Text Box 10"/>
            <p:cNvSpPr txBox="1">
              <a:spLocks noChangeArrowheads="1"/>
            </p:cNvSpPr>
            <p:nvPr/>
          </p:nvSpPr>
          <p:spPr bwMode="auto">
            <a:xfrm>
              <a:off x="7470949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3" name="Text Box 10"/>
            <p:cNvSpPr txBox="1">
              <a:spLocks noChangeArrowheads="1"/>
            </p:cNvSpPr>
            <p:nvPr/>
          </p:nvSpPr>
          <p:spPr bwMode="auto">
            <a:xfrm>
              <a:off x="8251832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57624" y="3398999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0" name="直接连接符 379"/>
          <p:cNvCxnSpPr/>
          <p:nvPr/>
        </p:nvCxnSpPr>
        <p:spPr bwMode="auto">
          <a:xfrm>
            <a:off x="1218173" y="3672000"/>
            <a:ext cx="0" cy="10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092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D02479-66FB-4FC0-A078-DAD0B0BB9FC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6A4FC2-D1AB-4380-B2BC-9F3767DE209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JSRR</a:t>
            </a:r>
            <a:endParaRPr lang="zh-CN" altLang="en-US" b="0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00213"/>
            <a:ext cx="6911975" cy="477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969963"/>
            <a:ext cx="633730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924175"/>
            <a:ext cx="3048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6608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JSRR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097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53187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JSRR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371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JSRR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002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JSRR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79512" y="674767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8640"/>
            <a:ext cx="4863271" cy="568215"/>
            <a:chOff x="4101216" y="188640"/>
            <a:chExt cx="4863271" cy="568215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9333"/>
              <a:ext cx="4863271" cy="567522"/>
              <a:chOff x="3706688" y="189333"/>
              <a:chExt cx="5257800" cy="567522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35047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44022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5135973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D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3231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627325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57624" y="3398999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80" name="直接连接符 379"/>
          <p:cNvCxnSpPr/>
          <p:nvPr/>
        </p:nvCxnSpPr>
        <p:spPr bwMode="auto">
          <a:xfrm>
            <a:off x="1218173" y="3672000"/>
            <a:ext cx="0" cy="10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矩形 68"/>
          <p:cNvSpPr/>
          <p:nvPr/>
        </p:nvSpPr>
        <p:spPr bwMode="auto">
          <a:xfrm>
            <a:off x="3392528" y="5640309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JSRR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50499" y="639998"/>
            <a:ext cx="8896977" cy="6141802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7437"/>
            <a:ext cx="4863271" cy="569418"/>
            <a:chOff x="4101216" y="187437"/>
            <a:chExt cx="4863271" cy="569418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7437"/>
              <a:ext cx="4863271" cy="569418"/>
              <a:chOff x="3706688" y="187437"/>
              <a:chExt cx="5257800" cy="569418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5" name="Text Box 4"/>
              <p:cNvSpPr txBox="1">
                <a:spLocks noChangeArrowheads="1"/>
              </p:cNvSpPr>
              <p:nvPr/>
            </p:nvSpPr>
            <p:spPr bwMode="auto">
              <a:xfrm>
                <a:off x="4842967" y="187437"/>
                <a:ext cx="480169" cy="307777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D</a:t>
                </a: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6717019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2" name="Text Box 10"/>
            <p:cNvSpPr txBox="1">
              <a:spLocks noChangeArrowheads="1"/>
            </p:cNvSpPr>
            <p:nvPr/>
          </p:nvSpPr>
          <p:spPr bwMode="auto">
            <a:xfrm>
              <a:off x="7470949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3" name="Text Box 10"/>
            <p:cNvSpPr txBox="1">
              <a:spLocks noChangeArrowheads="1"/>
            </p:cNvSpPr>
            <p:nvPr/>
          </p:nvSpPr>
          <p:spPr bwMode="auto">
            <a:xfrm>
              <a:off x="8251832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555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8C6537-F030-404F-A529-C35054480D1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2025/11/4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6FF53B-8A79-4744-BBC6-1F68249DE81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RET instruction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RET – return instruction</a:t>
            </a:r>
          </a:p>
          <a:p>
            <a:pPr lvl="1"/>
            <a:r>
              <a:rPr lang="en-US" altLang="zh-CN"/>
              <a:t>How to return</a:t>
            </a:r>
          </a:p>
          <a:p>
            <a:pPr lvl="2"/>
            <a:r>
              <a:rPr lang="en-US" altLang="zh-CN"/>
              <a:t>Place address in R7 in PC, Return the execution to the last calling point.</a:t>
            </a:r>
          </a:p>
          <a:p>
            <a:pPr lvl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PC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 (R7)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grpSp>
        <p:nvGrpSpPr>
          <p:cNvPr id="8198" name="Group 19"/>
          <p:cNvGrpSpPr>
            <a:grpSpLocks/>
          </p:cNvGrpSpPr>
          <p:nvPr/>
        </p:nvGrpSpPr>
        <p:grpSpPr bwMode="auto">
          <a:xfrm>
            <a:off x="755650" y="3363913"/>
            <a:ext cx="6402388" cy="1182687"/>
            <a:chOff x="476" y="1570"/>
            <a:chExt cx="4033" cy="745"/>
          </a:xfrm>
        </p:grpSpPr>
        <p:sp>
          <p:nvSpPr>
            <p:cNvPr id="8199" name="Rectangle 5"/>
            <p:cNvSpPr>
              <a:spLocks noChangeArrowheads="1"/>
            </p:cNvSpPr>
            <p:nvPr/>
          </p:nvSpPr>
          <p:spPr bwMode="auto">
            <a:xfrm>
              <a:off x="1436" y="1831"/>
              <a:ext cx="2982" cy="274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8200" name="Text Box 6"/>
            <p:cNvSpPr txBox="1">
              <a:spLocks noChangeArrowheads="1"/>
            </p:cNvSpPr>
            <p:nvPr/>
          </p:nvSpPr>
          <p:spPr bwMode="auto">
            <a:xfrm>
              <a:off x="1379" y="1831"/>
              <a:ext cx="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1  1  0  0</a:t>
              </a:r>
            </a:p>
          </p:txBody>
        </p:sp>
        <p:sp>
          <p:nvSpPr>
            <p:cNvPr id="8201" name="Line 7"/>
            <p:cNvSpPr>
              <a:spLocks noChangeShapeType="1"/>
            </p:cNvSpPr>
            <p:nvPr/>
          </p:nvSpPr>
          <p:spPr bwMode="auto">
            <a:xfrm flipV="1">
              <a:off x="2234" y="1831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2" name="Text Box 8"/>
            <p:cNvSpPr txBox="1">
              <a:spLocks noChangeArrowheads="1"/>
            </p:cNvSpPr>
            <p:nvPr/>
          </p:nvSpPr>
          <p:spPr bwMode="auto">
            <a:xfrm>
              <a:off x="1427" y="1570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15 14 13 12</a:t>
              </a:r>
            </a:p>
          </p:txBody>
        </p:sp>
        <p:sp>
          <p:nvSpPr>
            <p:cNvPr id="8203" name="Text Box 9"/>
            <p:cNvSpPr txBox="1">
              <a:spLocks noChangeArrowheads="1"/>
            </p:cNvSpPr>
            <p:nvPr/>
          </p:nvSpPr>
          <p:spPr bwMode="auto">
            <a:xfrm>
              <a:off x="2195" y="1570"/>
              <a:ext cx="11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spcBef>
                  <a:spcPct val="0"/>
                </a:spcBef>
                <a:buFontTx/>
                <a:buNone/>
              </a:pP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11  10  9  8  7  6</a:t>
              </a:r>
            </a:p>
          </p:txBody>
        </p:sp>
        <p:sp>
          <p:nvSpPr>
            <p:cNvPr id="8204" name="Text Box 10"/>
            <p:cNvSpPr txBox="1">
              <a:spLocks noChangeArrowheads="1"/>
            </p:cNvSpPr>
            <p:nvPr/>
          </p:nvSpPr>
          <p:spPr bwMode="auto">
            <a:xfrm>
              <a:off x="3284" y="1570"/>
              <a:ext cx="11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spcBef>
                  <a:spcPct val="0"/>
                </a:spcBef>
                <a:buFontTx/>
                <a:buNone/>
              </a:pPr>
              <a:r>
                <a:rPr lang="zh-CN" altLang="en-US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5  4   3  2  1  0</a:t>
              </a:r>
            </a:p>
          </p:txBody>
        </p:sp>
        <p:sp>
          <p:nvSpPr>
            <p:cNvPr id="8205" name="Text Box 11"/>
            <p:cNvSpPr txBox="1">
              <a:spLocks noChangeArrowheads="1"/>
            </p:cNvSpPr>
            <p:nvPr/>
          </p:nvSpPr>
          <p:spPr bwMode="auto">
            <a:xfrm>
              <a:off x="2243" y="1831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0  0  0  </a:t>
              </a:r>
            </a:p>
          </p:txBody>
        </p:sp>
        <p:sp>
          <p:nvSpPr>
            <p:cNvPr id="8206" name="Line 13"/>
            <p:cNvSpPr>
              <a:spLocks noChangeShapeType="1"/>
            </p:cNvSpPr>
            <p:nvPr/>
          </p:nvSpPr>
          <p:spPr bwMode="auto">
            <a:xfrm flipV="1">
              <a:off x="2785" y="1831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Text Box 14"/>
            <p:cNvSpPr txBox="1">
              <a:spLocks noChangeArrowheads="1"/>
            </p:cNvSpPr>
            <p:nvPr/>
          </p:nvSpPr>
          <p:spPr bwMode="auto">
            <a:xfrm>
              <a:off x="476" y="1792"/>
              <a:ext cx="94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aseline="0" dirty="0">
                  <a:solidFill>
                    <a:srgbClr val="FF3300"/>
                  </a:solidFill>
                  <a:ea typeface="宋体" panose="02010600030101010101" pitchFamily="2" charset="-122"/>
                </a:rPr>
                <a:t>RET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aseline="0" dirty="0">
                  <a:solidFill>
                    <a:srgbClr val="FF3300"/>
                  </a:solidFill>
                  <a:ea typeface="宋体" panose="02010600030101010101" pitchFamily="2" charset="-122"/>
                </a:rPr>
                <a:t>(JMP R7)</a:t>
              </a:r>
            </a:p>
          </p:txBody>
        </p:sp>
        <p:sp>
          <p:nvSpPr>
            <p:cNvPr id="8208" name="Text Box 15"/>
            <p:cNvSpPr txBox="1">
              <a:spLocks noChangeArrowheads="1"/>
            </p:cNvSpPr>
            <p:nvPr/>
          </p:nvSpPr>
          <p:spPr bwMode="auto">
            <a:xfrm>
              <a:off x="2785" y="1831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1  1  1  </a:t>
              </a:r>
            </a:p>
          </p:txBody>
        </p:sp>
        <p:sp>
          <p:nvSpPr>
            <p:cNvPr id="8209" name="Text Box 16"/>
            <p:cNvSpPr txBox="1">
              <a:spLocks noChangeArrowheads="1"/>
            </p:cNvSpPr>
            <p:nvPr/>
          </p:nvSpPr>
          <p:spPr bwMode="auto">
            <a:xfrm>
              <a:off x="3319" y="1831"/>
              <a:ext cx="11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0  0  0  0  0  0</a:t>
              </a:r>
            </a:p>
          </p:txBody>
        </p:sp>
        <p:sp>
          <p:nvSpPr>
            <p:cNvPr id="8210" name="Line 17"/>
            <p:cNvSpPr>
              <a:spLocks noChangeShapeType="1"/>
            </p:cNvSpPr>
            <p:nvPr/>
          </p:nvSpPr>
          <p:spPr bwMode="auto">
            <a:xfrm flipV="1">
              <a:off x="3330" y="1831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112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591EA-128A-43C4-88C7-A44DE655EC2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34DFDC-AFF8-4DF9-B1CC-5C54687AE0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Example: Negate the value in R0</a:t>
            </a:r>
            <a:endParaRPr lang="zh-CN" altLang="en-US" b="0"/>
          </a:p>
        </p:txBody>
      </p:sp>
      <p:sp>
        <p:nvSpPr>
          <p:cNvPr id="25605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052736"/>
            <a:ext cx="8642350" cy="1655762"/>
          </a:xfrm>
          <a:solidFill>
            <a:srgbClr val="A6E0E0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</a:pPr>
            <a:r>
              <a:rPr lang="en-US" altLang="zh-CN" sz="1800" dirty="0" err="1">
                <a:latin typeface="Courier New" panose="02070309020205020404" pitchFamily="49" charset="0"/>
              </a:rPr>
              <a:t>TwosComp</a:t>
            </a:r>
            <a:r>
              <a:rPr lang="en-US" altLang="zh-CN" sz="1800" dirty="0">
                <a:latin typeface="Courier New" panose="02070309020205020404" pitchFamily="49" charset="0"/>
              </a:rPr>
              <a:t>	NOT	</a:t>
            </a:r>
            <a:r>
              <a:rPr lang="en-US" altLang="zh-CN" sz="1800" dirty="0">
                <a:solidFill>
                  <a:srgbClr val="FF3300"/>
                </a:solidFill>
                <a:latin typeface="Courier New" panose="02070309020205020404" pitchFamily="49" charset="0"/>
              </a:rPr>
              <a:t>R0,R0</a:t>
            </a:r>
            <a:r>
              <a:rPr lang="en-US" altLang="zh-CN" sz="1800" dirty="0">
                <a:latin typeface="Courier New" panose="02070309020205020404" pitchFamily="49" charset="0"/>
              </a:rPr>
              <a:t>		;flip bits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</a:pPr>
            <a:r>
              <a:rPr lang="en-US" altLang="zh-CN" sz="1800" dirty="0">
                <a:latin typeface="Courier New" panose="02070309020205020404" pitchFamily="49" charset="0"/>
              </a:rPr>
              <a:t>		ADD 	</a:t>
            </a:r>
            <a:r>
              <a:rPr lang="en-US" altLang="zh-CN" sz="1800" dirty="0">
                <a:solidFill>
                  <a:srgbClr val="FF3300"/>
                </a:solidFill>
                <a:latin typeface="Courier New" panose="02070309020205020404" pitchFamily="49" charset="0"/>
              </a:rPr>
              <a:t>R0,R0</a:t>
            </a:r>
            <a:r>
              <a:rPr lang="en-US" altLang="zh-CN" sz="1800" dirty="0">
                <a:latin typeface="Courier New" panose="02070309020205020404" pitchFamily="49" charset="0"/>
              </a:rPr>
              <a:t>,#1	;add one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</a:pPr>
            <a:r>
              <a:rPr lang="en-US" altLang="zh-CN" sz="1800" dirty="0">
                <a:latin typeface="Courier New" panose="02070309020205020404" pitchFamily="49" charset="0"/>
              </a:rPr>
              <a:t>	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  <a:t>RET</a:t>
            </a:r>
            <a:r>
              <a:rPr lang="en-US" altLang="zh-CN" sz="1800" dirty="0">
                <a:latin typeface="Courier New" panose="02070309020205020404" pitchFamily="49" charset="0"/>
              </a:rPr>
              <a:t>			;return to caller</a:t>
            </a:r>
          </a:p>
        </p:txBody>
      </p:sp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250825" y="3500438"/>
            <a:ext cx="8642350" cy="2376487"/>
          </a:xfrm>
          <a:prstGeom prst="rect">
            <a:avLst/>
          </a:prstGeom>
          <a:solidFill>
            <a:srgbClr val="A6E0E0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914400" algn="l"/>
                <a:tab pos="18288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68325" indent="-169863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914400" algn="l"/>
                <a:tab pos="18288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854075" indent="-171450">
              <a:spcBef>
                <a:spcPct val="20000"/>
              </a:spcBef>
              <a:buFont typeface="Gungsuh" pitchFamily="18" charset="-127"/>
              <a:buChar char="-"/>
              <a:tabLst>
                <a:tab pos="914400" algn="l"/>
                <a:tab pos="182880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69863">
              <a:spcBef>
                <a:spcPct val="20000"/>
              </a:spcBef>
              <a:buChar char="•"/>
              <a:tabLst>
                <a:tab pos="914400" algn="l"/>
                <a:tab pos="18288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435100" indent="-120650">
              <a:spcBef>
                <a:spcPct val="20000"/>
              </a:spcBef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23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95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67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39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;need to compute R4 = R1-R3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ADD 	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R0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,R3,#0	;copy R3 to R0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JSR 	TwosComp	;negate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ADD 	R4,R1,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R0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;add to 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...</a:t>
            </a:r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323850" y="2997200"/>
            <a:ext cx="3484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To call from a program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975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082CF5-C82E-4B48-8AF6-3A59A6B9645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D48F51-E248-4176-9618-A9FFBC51D0F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Using Subroutines</a:t>
            </a:r>
            <a:endParaRPr lang="zh-CN" altLang="en-US" b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Programmer must know</a:t>
            </a:r>
          </a:p>
          <a:p>
            <a:pPr lvl="1"/>
            <a:r>
              <a:rPr lang="en-US" altLang="zh-CN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Address: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or at least a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that will be bound to its address</a:t>
            </a:r>
          </a:p>
          <a:p>
            <a:pPr lvl="1"/>
            <a:r>
              <a:rPr lang="en-US" altLang="zh-CN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Function: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what it does</a:t>
            </a:r>
          </a:p>
          <a:p>
            <a:pPr lvl="2"/>
            <a:r>
              <a:rPr lang="en-US" altLang="zh-CN" sz="1800" dirty="0"/>
              <a:t>NOTE: The programmer does not need to know </a:t>
            </a:r>
            <a:r>
              <a:rPr lang="en-US" altLang="zh-CN" sz="1800" i="1" dirty="0"/>
              <a:t>how </a:t>
            </a:r>
            <a:r>
              <a:rPr lang="en-US" altLang="zh-CN" sz="1800" dirty="0"/>
              <a:t>the subroutine works, but what changes are visible in the machine</a:t>
            </a:r>
            <a:r>
              <a:rPr lang="en-US" altLang="zh-CN" sz="1800" dirty="0">
                <a:latin typeface="宋体" panose="02010600030101010101" pitchFamily="2" charset="-122"/>
              </a:rPr>
              <a:t>’</a:t>
            </a:r>
            <a:r>
              <a:rPr lang="en-US" altLang="zh-CN" sz="1800" dirty="0"/>
              <a:t>s state after the routine has run</a:t>
            </a:r>
          </a:p>
          <a:p>
            <a:pPr lvl="1"/>
            <a:r>
              <a:rPr lang="en-US" altLang="zh-CN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Arguments: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what they are and where they are placed</a:t>
            </a:r>
          </a:p>
          <a:p>
            <a:pPr lvl="1"/>
            <a:r>
              <a:rPr lang="en-US" altLang="zh-CN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values: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what they are and where they are placed</a:t>
            </a:r>
            <a:endParaRPr lang="en-US" altLang="zh-CN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FC63F1B2-3787-1168-0B73-9CC72058B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437112"/>
            <a:ext cx="7810351" cy="1008112"/>
          </a:xfrm>
          <a:prstGeom prst="rect">
            <a:avLst/>
          </a:prstGeom>
          <a:solidFill>
            <a:srgbClr val="A6E0E0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</a:pPr>
            <a:r>
              <a:rPr lang="en-US" altLang="zh-CN" sz="1800" kern="0" baseline="0" dirty="0" err="1">
                <a:latin typeface="Courier New" panose="02070309020205020404" pitchFamily="49" charset="0"/>
              </a:rPr>
              <a:t>TwosComp</a:t>
            </a:r>
            <a:r>
              <a:rPr lang="en-US" altLang="zh-CN" sz="1800" kern="0" baseline="0" dirty="0">
                <a:latin typeface="Courier New" panose="02070309020205020404" pitchFamily="49" charset="0"/>
              </a:rPr>
              <a:t>	NOT	</a:t>
            </a:r>
            <a:r>
              <a:rPr lang="en-US" altLang="zh-CN" sz="1800" kern="0" baseline="0" dirty="0">
                <a:solidFill>
                  <a:srgbClr val="FF3300"/>
                </a:solidFill>
                <a:latin typeface="Courier New" panose="02070309020205020404" pitchFamily="49" charset="0"/>
              </a:rPr>
              <a:t>R0,R0</a:t>
            </a:r>
            <a:r>
              <a:rPr lang="en-US" altLang="zh-CN" sz="1800" kern="0" baseline="0" dirty="0">
                <a:latin typeface="Courier New" panose="02070309020205020404" pitchFamily="49" charset="0"/>
              </a:rPr>
              <a:t>		;flip bits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</a:pPr>
            <a:r>
              <a:rPr lang="en-US" altLang="zh-CN" sz="1800" kern="0" baseline="0" dirty="0">
                <a:latin typeface="Courier New" panose="02070309020205020404" pitchFamily="49" charset="0"/>
              </a:rPr>
              <a:t>		ADD 	</a:t>
            </a:r>
            <a:r>
              <a:rPr lang="en-US" altLang="zh-CN" sz="1800" kern="0" baseline="0" dirty="0">
                <a:solidFill>
                  <a:srgbClr val="FF3300"/>
                </a:solidFill>
                <a:latin typeface="Courier New" panose="02070309020205020404" pitchFamily="49" charset="0"/>
              </a:rPr>
              <a:t>R0,R0</a:t>
            </a:r>
            <a:r>
              <a:rPr lang="en-US" altLang="zh-CN" sz="1800" kern="0" baseline="0" dirty="0">
                <a:latin typeface="Courier New" panose="02070309020205020404" pitchFamily="49" charset="0"/>
              </a:rPr>
              <a:t>,#1	;add one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</a:pPr>
            <a:r>
              <a:rPr lang="en-US" altLang="zh-CN" sz="1800" kern="0" baseline="0" dirty="0">
                <a:latin typeface="Courier New" panose="02070309020205020404" pitchFamily="49" charset="0"/>
              </a:rPr>
              <a:t>		</a:t>
            </a:r>
            <a:r>
              <a:rPr lang="en-US" altLang="zh-CN" sz="1800" kern="0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RET</a:t>
            </a:r>
            <a:r>
              <a:rPr lang="en-US" altLang="zh-CN" sz="1800" kern="0" baseline="0" dirty="0">
                <a:latin typeface="Courier New" panose="02070309020205020404" pitchFamily="49" charset="0"/>
              </a:rPr>
              <a:t>			;return to caller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E5446E5-DD6A-5AB2-35E0-60BCF9D13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83" y="5421429"/>
            <a:ext cx="7777435" cy="1353118"/>
          </a:xfrm>
          <a:prstGeom prst="rect">
            <a:avLst/>
          </a:prstGeom>
          <a:solidFill>
            <a:srgbClr val="A6E0E0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914400" algn="l"/>
                <a:tab pos="18288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68325" indent="-169863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914400" algn="l"/>
                <a:tab pos="18288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854075" indent="-171450">
              <a:spcBef>
                <a:spcPct val="20000"/>
              </a:spcBef>
              <a:buFont typeface="Gungsuh" pitchFamily="18" charset="-127"/>
              <a:buChar char="-"/>
              <a:tabLst>
                <a:tab pos="914400" algn="l"/>
                <a:tab pos="182880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69863">
              <a:spcBef>
                <a:spcPct val="20000"/>
              </a:spcBef>
              <a:buChar char="•"/>
              <a:tabLst>
                <a:tab pos="914400" algn="l"/>
                <a:tab pos="18288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435100" indent="-120650">
              <a:spcBef>
                <a:spcPct val="20000"/>
              </a:spcBef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23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95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67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3900" indent="-1206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1828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;need to compute R4 = R1-R3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ADD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R0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,R3,#0	;copy R3 to R0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JSR 	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TwosComp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;negate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914400" algn="l"/>
                <a:tab pos="18288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	ADD 	R4,R1,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R0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	;add to R1</a:t>
            </a:r>
          </a:p>
        </p:txBody>
      </p:sp>
    </p:spTree>
    <p:extLst>
      <p:ext uri="{BB962C8B-B14F-4D97-AF65-F5344CB8AC3E}">
        <p14:creationId xmlns:p14="http://schemas.microsoft.com/office/powerpoint/2010/main" val="2158847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0D62E5-5A54-422C-9F85-FB77E4BFC35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B2F15-25E5-4BDE-88CF-10009BB506F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Passing Information To Subroutines</a:t>
            </a:r>
            <a:endParaRPr lang="zh-CN" altLang="en-US" b="0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Argument(s)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Value </a:t>
            </a:r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passed in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to a subroutine is called an argument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This is a value needed by the subroutine to do its job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Examples</a:t>
            </a:r>
          </a:p>
          <a:p>
            <a:pPr lvl="2"/>
            <a:r>
              <a:rPr lang="en-US" altLang="zh-CN" sz="1800" dirty="0" err="1"/>
              <a:t>TwosComp</a:t>
            </a:r>
            <a:r>
              <a:rPr lang="en-US" altLang="zh-CN" sz="1800" dirty="0"/>
              <a:t>: R0 is number to be negated</a:t>
            </a:r>
          </a:p>
          <a:p>
            <a:pPr lvl="2"/>
            <a:r>
              <a:rPr lang="en-US" altLang="zh-CN" sz="1800" dirty="0"/>
              <a:t>OUT: R0 is character to be printed</a:t>
            </a:r>
          </a:p>
          <a:p>
            <a:pPr lvl="2"/>
            <a:r>
              <a:rPr lang="en-US" altLang="zh-CN" sz="1800" dirty="0"/>
              <a:t>PUTS: R0 is </a:t>
            </a:r>
            <a:r>
              <a:rPr lang="en-US" altLang="zh-CN" sz="1800" i="1" dirty="0"/>
              <a:t>address </a:t>
            </a:r>
            <a:r>
              <a:rPr lang="en-US" altLang="zh-CN" sz="1800" dirty="0"/>
              <a:t>of string to be printed</a:t>
            </a:r>
          </a:p>
          <a:p>
            <a:r>
              <a:rPr lang="en-US" altLang="zh-CN" dirty="0"/>
              <a:t>How?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 registers (simple, fast, but limited number)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 memory (many, but awkward, expensive)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Both</a:t>
            </a:r>
            <a:endParaRPr lang="en-US" altLang="zh-CN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248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DCBF28-5634-441D-AFB1-EAE39C247ED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E74E8B-D06B-4F49-8224-777E3941665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Getting Values From Subroutines</a:t>
            </a:r>
            <a:endParaRPr lang="zh-CN" altLang="en-US" b="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Return Values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 value </a:t>
            </a:r>
            <a:r>
              <a:rPr lang="en-US" altLang="zh-CN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passed out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of a subroutine is called a return value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This is the value that you called the subroutine to compute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Examples</a:t>
            </a:r>
          </a:p>
          <a:p>
            <a:pPr lvl="2"/>
            <a:r>
              <a:rPr lang="en-US" altLang="zh-CN" sz="1800" dirty="0" err="1"/>
              <a:t>TwosComp</a:t>
            </a:r>
            <a:r>
              <a:rPr lang="en-US" altLang="zh-CN" sz="1800" dirty="0"/>
              <a:t>: negated value is returned in R0</a:t>
            </a:r>
          </a:p>
          <a:p>
            <a:pPr lvl="2"/>
            <a:r>
              <a:rPr lang="en-US" altLang="zh-CN" sz="1800" dirty="0"/>
              <a:t>GETC: character read from the keyboard is returned in R0</a:t>
            </a:r>
          </a:p>
          <a:p>
            <a:r>
              <a:rPr lang="en-US" altLang="zh-CN" dirty="0"/>
              <a:t>How?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Registers, memory, or both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Single return value in register most common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293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4E2A11-22C9-46D0-B833-62E27A6D9BD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034C77-63A2-4011-96BB-8D0E4B6A0B6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Saving and Restore Registers</a:t>
            </a:r>
            <a:endParaRPr lang="zh-CN" altLang="en-US" b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Like service routines, must save and restore registers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Who saves what is part of the calling convention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Generally use “</a:t>
            </a:r>
            <a:r>
              <a:rPr lang="en-US" altLang="zh-CN" dirty="0" err="1">
                <a:solidFill>
                  <a:srgbClr val="FF0000"/>
                </a:solidFill>
              </a:rPr>
              <a:t>callee</a:t>
            </a:r>
            <a:r>
              <a:rPr lang="en-US" altLang="zh-CN" dirty="0">
                <a:solidFill>
                  <a:srgbClr val="FF0000"/>
                </a:solidFill>
              </a:rPr>
              <a:t>-save” strategy, except for return values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Same as trap service routines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Save anything that subroutine alters internally that shouldn’t be visible when the subroutine returns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Restore incoming arguments to original values (unless overwritten by return value)</a:t>
            </a:r>
          </a:p>
          <a:p>
            <a:r>
              <a:rPr lang="en-US" altLang="zh-CN" dirty="0"/>
              <a:t>Remember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MUST save R7 if you call any other subroutine or trap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Otherwise, you won’t be able to return!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2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77682F-A1A4-4A80-BBF3-07F7FD22662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E70C0C-7363-4779-B663-FB8A1697B4B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Subroutine Template</a:t>
            </a:r>
            <a:endParaRPr lang="zh-CN" altLang="en-US" b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388" y="981075"/>
            <a:ext cx="8839200" cy="4535488"/>
          </a:xfrm>
          <a:prstGeom prst="rect">
            <a:avLst/>
          </a:prstGeom>
          <a:solidFill>
            <a:srgbClr val="A6E0E0"/>
          </a:solidFill>
          <a:ln w="41275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01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SUB_NAME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02 	;Register Saving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03 	ST R0, SUB_R0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04 	ST R1, SUB_R1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05 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06 	ST R6, SUB_R6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07 	ST R7, SUB_R7;Return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08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09	;***Code***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11	;Register Restoring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12 	LD R0, SUB_R0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13 	LD R1, SUB_R1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14 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15 	LD R6, SUB_R6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16 	LD R7, SUB_R7	;Return address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17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2748314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4249</TotalTime>
  <Pages>0</Pages>
  <Words>3051</Words>
  <Characters>0</Characters>
  <Application>Microsoft Office PowerPoint</Application>
  <DocSecurity>0</DocSecurity>
  <PresentationFormat>全屏显示(4:3)</PresentationFormat>
  <Lines>0</Lines>
  <Paragraphs>1320</Paragraphs>
  <Slides>29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Gungsuh</vt:lpstr>
      <vt:lpstr>仿宋</vt:lpstr>
      <vt:lpstr>黑体</vt:lpstr>
      <vt:lpstr>华文新魏</vt:lpstr>
      <vt:lpstr>楷体</vt:lpstr>
      <vt:lpstr>楷体</vt:lpstr>
      <vt:lpstr>宋体</vt:lpstr>
      <vt:lpstr>微软雅黑</vt:lpstr>
      <vt:lpstr>Arial</vt:lpstr>
      <vt:lpstr>Calibri</vt:lpstr>
      <vt:lpstr>Comic Sans MS</vt:lpstr>
      <vt:lpstr>Courier New</vt:lpstr>
      <vt:lpstr>Tahoma</vt:lpstr>
      <vt:lpstr>Wingdings</vt:lpstr>
      <vt:lpstr>Wingdings 3</vt:lpstr>
      <vt:lpstr>1_Office 主题​​</vt:lpstr>
      <vt:lpstr>学术交流模板3-中文</vt:lpstr>
      <vt:lpstr>Chapter 8-1   Subroutines</vt:lpstr>
      <vt:lpstr>PowerPoint 演示文稿</vt:lpstr>
      <vt:lpstr>Abstract Data Types： Data Structures</vt:lpstr>
      <vt:lpstr>Abstract Data Types： Data Structures</vt:lpstr>
      <vt:lpstr>Subroutines</vt:lpstr>
      <vt:lpstr>A simple illustration of a part of a program</vt:lpstr>
      <vt:lpstr>A simple illustration of a part of a program</vt:lpstr>
      <vt:lpstr>A simple illustration of a part of a program</vt:lpstr>
      <vt:lpstr>The Call/Return Mechanism</vt:lpstr>
      <vt:lpstr>Control Instructions for Subroutines</vt:lpstr>
      <vt:lpstr>JSR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JSRR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RET instruction</vt:lpstr>
      <vt:lpstr>Example: Negate the value in R0</vt:lpstr>
      <vt:lpstr>Using Subroutines</vt:lpstr>
      <vt:lpstr>Passing Information To Subroutines</vt:lpstr>
      <vt:lpstr>Getting Values From Subroutines</vt:lpstr>
      <vt:lpstr>Saving and Restore Registers</vt:lpstr>
      <vt:lpstr>Subroutine Template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673</cp:revision>
  <cp:lastPrinted>1601-01-01T00:00:00Z</cp:lastPrinted>
  <dcterms:created xsi:type="dcterms:W3CDTF">2012-09-03T16:09:03Z</dcterms:created>
  <dcterms:modified xsi:type="dcterms:W3CDTF">2025-11-04T00:58:32Z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